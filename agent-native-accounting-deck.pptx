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0" r:id="rId4"/>
    <p:sldId id="261" r:id="rId5"/>
    <p:sldId id="262" r:id="rId6"/>
    <p:sldId id="263" r:id="rId7"/>
    <p:sldId id="264" r:id="rId8"/>
    <p:sldId id="265" r:id="rId9"/>
    <p:sldId id="269"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59"/>
    <p:restoredTop sz="81449"/>
  </p:normalViewPr>
  <p:slideViewPr>
    <p:cSldViewPr snapToGrid="0" snapToObjects="1">
      <p:cViewPr varScale="1">
        <p:scale>
          <a:sx n="147" d="100"/>
          <a:sy n="147" d="100"/>
        </p:scale>
        <p:origin x="232"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842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今天</a:t>
            </a:r>
            <a:r>
              <a:rPr lang="en-US"/>
              <a:t>跟大家讨论</a:t>
            </a:r>
            <a:r>
              <a:t>一件事：我们要把会计软件</a:t>
            </a:r>
            <a:r>
              <a:rPr lang="zh-CN" altLang="en-US"/>
              <a:t>按智能体时代的方式来</a:t>
            </a:r>
            <a:r>
              <a:t>重写一遍。</a:t>
            </a:r>
          </a:p>
          <a:p>
            <a:endParaRPr/>
          </a:p>
          <a:p>
            <a:r>
              <a:t>先把两条路分开。一条是在现有软件上挂个 AI 助手，该填的表还是得填。另一条是推倒重写，让软件直接把活干完，而不是等人干完了再记一笔。只有第二条真正改变什么，但它要求一套完全不同的底层。今天主要讲这套底层。</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这一页是我们全部的论点，分三块看。</a:t>
            </a:r>
          </a:p>
          <a:p>
            <a:endParaRPr/>
          </a:p>
          <a:p>
            <a:r>
              <a:t>第一块，传统软件的局限。它只能处理确定性的逻辑，所以复杂性都堆在一件事上：得由人通过各种表单，把需求翻译成程序能执行的结构。这就是为什么 SaaS 永远在功能和易用性之间做取舍，功能做多了没人会用，做少了又不够用。另外它处理不了非结构化的数据，凭证、发票、银行摘要，最后都得靠人一条条录进去。</a:t>
            </a:r>
          </a:p>
          <a:p>
            <a:endParaRPr/>
          </a:p>
          <a:p>
            <a:r>
              <a:t>第二块，大模型改变了什么。三件事。推理能力能吃下模糊的需求，不用先把需求写死；编码成本被极大压缩，所以界面可以按客户的需要动态生成，这一点我在第四个关键部件里会专门展开；多模态能直接读非结构化数据，录入这部分人力可以省掉。</a:t>
            </a:r>
          </a:p>
          <a:p>
            <a:endParaRPr/>
          </a:p>
          <a:p>
            <a:r>
              <a:t>第三块，为什么这件事在会计领域特别值得做。会计和税务本身法规复杂，又要面对不同行业，所以软件复杂度天然就高。同时它要处理大量文档和图片，而且对准确度的要求极高。复杂度高、非结构化多、准确度要求严，前面两块的能力刚好都用得上。</a:t>
            </a:r>
          </a:p>
          <a:p>
            <a:endParaRPr/>
          </a:p>
          <a:p>
            <a:r>
              <a:t>最后一句是我们真正赌的东西：我们赌的不是模型有多聪明，是会计这件事能验。结果进客户账之前，我们有办法证明它是对的。这句话的分量，下一页讲清楚。</a:t>
            </a:r>
          </a:p>
          <a:p>
            <a:endParaRPr/>
          </a:p>
          <a:p>
            <a:r>
              <a:t>如果有人问现有厂商为什么不直接做，架构那几页会从结构上回答。短版本是，他们需要的那个底座是数据层面的决定，事后补不上；而且他们的收入，恰好靠这套东西要省掉的那些席位。</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这一页回答两个问题：为什么是会计这个行业，以及为什么是我们。</a:t>
            </a:r>
          </a:p>
          <a:p>
            <a:endParaRPr/>
          </a:p>
          <a:p>
            <a:r>
              <a:t>先说行业。大部分脑力活，你没法机械地检查答案，所以人永远留在环里，产品的天花板就是打辅助。会计行业不一样，是因为它能验。借贷必须相等，试算表必须平，明细账要跟总账勾得上，银行对账差额必须为零，税务和申报规则都是成文的。这些规则是现成的，不用我们发明。</a:t>
            </a:r>
          </a:p>
          <a:p>
            <a:endParaRPr/>
          </a:p>
          <a:p>
            <a:r>
              <a:t>有了这些规则，我们才敢自动过账，而且说得清误差有多大；也才能只把真有歧义的那部分推给人。就这一件事，分开了一个 demo 和一套敢放到客户面前的系统。</a:t>
            </a:r>
          </a:p>
          <a:p>
            <a:endParaRPr/>
          </a:p>
          <a:p>
            <a:r>
              <a:t>再说为什么是我们。这些年我们的机器人在替客户执行机械步骤，一碰到要判断的地方就停下来等人。这些操作日志攒下来，等于画了一张图：哪一步是机械的，哪一步非人不可。一个从零起步的团队要花一年才摸出这张图，我们是把它当生产系统在养。它还告诉我们该先打哪几类、按什么顺序，按笔数排，也按出错率排。</a:t>
            </a:r>
          </a:p>
          <a:p>
            <a:endParaRPr/>
          </a:p>
          <a:p>
            <a:r>
              <a:t>有一点我要讲准。操作日志和流程数据，我们有；客户的账簿，我们不拥有。用来训练和评测的历史结账数据，是通过现有合作、在客户授权下拿的，有些协议要更新。这是个流程问题，不是拦路石，但我不想假装它不存在。</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接下来六页讲架构。在进去之前，我想先说清楚守得住的是哪几样东西。</a:t>
            </a:r>
          </a:p>
          <a:p>
            <a:endParaRPr/>
          </a:p>
          <a:p>
            <a:r>
              <a:t>厂商靠界面做差异化的时候，护城河是用户习惯和生态。等系统开始替客户干活，变得难抄的是另外四样。</a:t>
            </a:r>
          </a:p>
          <a:p>
            <a:endParaRPr/>
          </a:p>
          <a:p>
            <a:r>
              <a:t>第一样是校验。给模型写提示词谁都会，证明输出是对的几乎没人会。在一个有标准答案的行业里，校验本身就是产品。</a:t>
            </a:r>
          </a:p>
          <a:p>
            <a:endParaRPr/>
          </a:p>
          <a:p>
            <a:r>
              <a:t>第二样是上下文，也就是客户身上攒下来的规矩和历史。比如这家供应商一律进主营成本。这种东西是专有的状态，不是模型。</a:t>
            </a:r>
          </a:p>
          <a:p>
            <a:endParaRPr/>
          </a:p>
          <a:p>
            <a:r>
              <a:t>第三样是权限。我想特别说一下这一条，因为它最容易被低估。界面用惯了是一种偏好，而偏好一轮采购就能推翻；但往客户账上、银行、申报里写数的权限，后面挂着我们的责任，是一个有审批留痕的治理决定，要收回它得开管理层的会。</a:t>
            </a:r>
          </a:p>
          <a:p>
            <a:endParaRPr/>
          </a:p>
          <a:p>
            <a:r>
              <a:t>第四样是评测集。提示词一下午就抄走了，几年被复核过的结账数据抄不走。</a:t>
            </a:r>
          </a:p>
          <a:p>
            <a:endParaRPr/>
          </a:p>
          <a:p>
            <a:r>
              <a:t>也有些东西没有变。记录系统更重要了，不是更不重要。智能体需要一个有真值、有权限、有历史的底座，被淘汰的是界面，不是数据库。信任、安全、保密、专业规范，还是一切的前提；押上去的是客户的账和我们自己的名声，所以架构里那些控制手段，不是可选项。</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这是整套系统的架构。标题那句话就是我们的设计哲学：智能体负责决定，确定性代码负责执行，所有操作可验证可溯源。</a:t>
            </a:r>
          </a:p>
          <a:p>
            <a:endParaRPr/>
          </a:p>
          <a:p>
            <a:r>
              <a:t>我从下往上讲，因为这是真实的建设顺序。最底下是数据接入，银行、卡、工资、POS、应付邮箱、凭证、往年账套。往上是账簿内核，只追加、双时间维度、复式记账、全程可溯。再往上是工具层，所有动作都带类型、自己守不变量。再往上是持久化编排，把结账清单做成能断点续跑的状态机。然后才是智能体层，再上面是校验与护栏，最上面才是客户看到的界面。</a:t>
            </a:r>
          </a:p>
          <a:p>
            <a:endParaRPr/>
          </a:p>
          <a:p>
            <a:r>
              <a:t>请各位注意校验层的位置。它在智能体之上，在客户之下。智能体产出的任何东西，不过确定性检查，进不了客户的账。这是架构上的保证，不是一条政策，也不是我们对模型行为的承诺。</a:t>
            </a:r>
          </a:p>
          <a:p>
            <a:endParaRPr/>
          </a:p>
          <a:p>
            <a:r>
              <a:t>右边那一列是横向能力：审计溯源、评测回放、成本监控、智能体身份与最小权限。它们每一层都要用，所以单独拉出来。</a:t>
            </a:r>
          </a:p>
          <a:p>
            <a:endParaRPr/>
          </a:p>
          <a:p>
            <a:r>
              <a:t>三个菱形是我们认为专有、守得住的地方，分别是账簿内核、工具层、校验与护栏，而智能体层不在里面。这个赛道很多团队在智能体层上投得过重，因为那是看得见、能演示的部分，然后发现自己既没校验也没评测，压根判断不出来有没有变好。我们是故意反过来做的。</a:t>
            </a:r>
          </a:p>
          <a:p>
            <a:endParaRPr/>
          </a:p>
          <a:p>
            <a:r>
              <a:t>可能有人会问，为什么用持久化编排，不让智能体自己规划结账。因为结账是一份已知的清单，要拖好几天，中间得等客户回邮件，某一步失败还得有补偿逻辑。已知的流程我们用确定性方式建模，只在要判断的步骤里用智能体。让智能体在总账上自由发挥，是拿到一份自己都解释不清的财务重述的最快办法。</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这一层，抄提示词是抄不走的。</a:t>
            </a:r>
          </a:p>
          <a:p>
            <a:endParaRPr/>
          </a:p>
          <a:p>
            <a:r>
              <a:t>先说双时间维度，我举个例子。客户三月的账是四月关的，到了六月，有人来问我们三月三十一号那天认为的情况是什么、凭什么这么记。普通数据库答不上来，它只存当前状态。我们答得上来，因为我们把一件事什么时候成立、和我们什么时候知道它，分开存了。同一个机制，也让我们能把去年真实的结账数据拿出来，把智能体丢回去重跑一遍，量它的准确率。我们整套评测能力，就压在这一个数据内核的选择上。</a:t>
            </a:r>
          </a:p>
          <a:p>
            <a:endParaRPr/>
          </a:p>
          <a:p>
            <a:r>
              <a:t>第二条是不可变。更正走红冲，不直接改数。能改的账，事后说不清；能悄悄覆盖数据的智能体，给多少钱也不该收。</a:t>
            </a:r>
          </a:p>
          <a:p>
            <a:endParaRPr/>
          </a:p>
          <a:p>
            <a:r>
              <a:t>第三条是溯源。源凭证、抽取、推理轨迹、工具调用、命中哪条规矩、谁批的、最后过账，这一整条链要能查。在现有系统里，审计日志是贴在边上的合规材料；在这里它是承重墙。项目最常死在一句话上：这笔分录怎么来的，给我看看。只有在数据层上就为它设计过，这句话才答得上来。</a:t>
            </a:r>
          </a:p>
          <a:p>
            <a:endParaRPr/>
          </a:p>
          <a:p>
            <a:r>
              <a:t>还有一点，每个操作者都分类型，是人、是智能体，还是系统；智能体的身份、模型版本、提示词版本，都写在分录上。出了问题，能定位到是哪一版在什么时候做的。</a:t>
            </a:r>
          </a:p>
          <a:p>
            <a:endParaRPr/>
          </a:p>
          <a:p>
            <a:r>
              <a:t>我知道有人会算成本。只追加加上双时间维度的账簿，建起来、查起来都比可变表贵。这笔账我们在第一个月就认了，因为它事后补不回来。这一层占的工程量不小，但它几乎不会出现在 demo 里。</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工具层不是把 API 改个名字。API 假设调用方知道自己要什么，而工具层假设调用方很能干，但偶尔是错的。</a:t>
            </a:r>
          </a:p>
          <a:p>
            <a:endParaRPr/>
          </a:p>
          <a:p>
            <a:r>
              <a:t>第一点，不变量归工具管，不归调用方管。平时你会信自己前端传上来的数，这里反过来。每个工具都当调用方是错的，自己去卡平衡、卡期间、卡权限。</a:t>
            </a:r>
          </a:p>
          <a:p>
            <a:endParaRPr/>
          </a:p>
          <a:p>
            <a:r>
              <a:t>第二点，幂等是硬要求，因为智能体一定会重试。</a:t>
            </a:r>
          </a:p>
          <a:p>
            <a:endParaRPr/>
          </a:p>
          <a:p>
            <a:r>
              <a:t>第三点，粒度得反复磨。太细，智能体调四十次还把上下文丢了；太粗，它表达不出意图。这块必然要来回调整。</a:t>
            </a:r>
          </a:p>
          <a:p>
            <a:endParaRPr/>
          </a:p>
          <a:p>
            <a:r>
              <a:t>第四点，接口面必须小、必须好找。上下文是稀缺资源，不能把四百个接口摆在一个模型面前。</a:t>
            </a:r>
          </a:p>
          <a:p>
            <a:endParaRPr/>
          </a:p>
          <a:p>
            <a:r>
              <a:t>第五点，报错要能指路，因为智能体会读它然后重试。四百参数错误这种报错一点用没有；分录不平、借方一千二、贷方一千一百五、差五十，这样的报错能换来一次成功的重试。在这儿，报错文案是功能，不是细节。这一条最能说明这层跟普通 API 的区别，没建过这类系统的人不会把报错字符串当成功能需求。</a:t>
            </a:r>
          </a:p>
          <a:p>
            <a:endParaRPr/>
          </a:p>
          <a:p>
            <a:r>
              <a:t>如果这一页只留一句话，就是右边那条原则：不要指望模型在脑子里算数，也不要指望它在脑子里套规则。每一次状态变更都由模型走一个带类型的工具调用，由工具自己校验。智能体只管挑哪个工具、传什么参数；对不对，是工具的事。竞争对手 demo 里出现的每一个错数字，都是因为让模型自己算，而不是去调一个会算的东西。</a:t>
            </a:r>
          </a:p>
          <a:p>
            <a:endParaRPr/>
          </a:p>
          <a:p>
            <a:r>
              <a:t>有人会问 MCP 或者工具协议标准化。我们兼容，但那是集成细节，不是难点。难点是把大概三十个工具的粒度和不变量设计对，那靠的是会计专业，不是协议工作。</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这是第三个关键部件，也是我认为最值钱的一个。</a:t>
            </a:r>
          </a:p>
          <a:p>
            <a:endParaRPr/>
          </a:p>
          <a:p>
            <a:r>
              <a:t>跟现在用的软件比，最大的变化是校验的对象变了。以前只校验格式对不对，现在要校验一个格式没问题的答案，内容对不对。</a:t>
            </a:r>
          </a:p>
          <a:p>
            <a:endParaRPr/>
          </a:p>
          <a:p>
            <a:r>
              <a:t>我们分三层。第一层是硬性不变量，确定性的，不讲条件，提交之前一定跑，过不去就直接拦住，不是给个提醒。第二层是统计检查，跟上期比波动，看供应商和科目的搭配是不是反常。它抓的是不变量放过去的那一类，格式没错，内容错了；它出分，不下结论。第三层是分流，过线的自动过账，没过线的进复核队列。</a:t>
            </a:r>
          </a:p>
          <a:p>
            <a:endParaRPr/>
          </a:p>
          <a:p>
            <a:r>
              <a:t>这里有一件事我想强调。模型的置信度校得很差，而且一贯自信过头，所以问它有几成把握，不算一道控制。我们的置信度是从前两层的信号，加上跑几遍看结果一致不一致推出来的。</a:t>
            </a:r>
          </a:p>
          <a:p>
            <a:endParaRPr/>
          </a:p>
          <a:p>
            <a:r>
              <a:t>接下来是这一页真正的重点。剩下那部分不确定，我们不把它当成损耗，而是当成燃料。</a:t>
            </a:r>
          </a:p>
          <a:p>
            <a:endParaRPr/>
          </a:p>
          <a:p>
            <a:r>
              <a:t>低于阈值的条目，带完整上下文推给复核人，他只看该看的那一段。他改完之后，这次修改不是就地消失，而是当场落成一条显式规则，带版本、带适用范围。我强调显式，因为规则能拿给审阅的人看，向量不行。然后规则和修正一起进评测语料，而真值来自已经结完的账，所以我们可以把智能体丢回历史期间重跑，直接给它打分。下一轮，规则先命中，模型就少猜一次；模型或者提示词一改，先过语料回归，再碰客户。</a:t>
            </a:r>
          </a:p>
          <a:p>
            <a:endParaRPr/>
          </a:p>
          <a:p>
            <a:r>
              <a:t>这就形成一个飞轮：客户每复核一条，系统下一次就少问一条。自动过账率往上走，复核量往下走，而这两个数我们都在量。这条阈值就是钱，每涨一个点对应多少工时，我们算得出来。</a:t>
            </a:r>
          </a:p>
          <a:p>
            <a:endParaRPr/>
          </a:p>
          <a:p>
            <a:r>
              <a:t>也因为这样，我们以后汇报的单位跟软件公司不一样。我们不会拿上了一个功能来汇报，我们会拿某一类的自动过账率从七十一提到八十八、对应多少工时来汇报。进度是量出来的，不是说出来的。</a:t>
            </a:r>
          </a:p>
          <a:p>
            <a:endParaRPr/>
          </a:p>
          <a:p>
            <a:r>
              <a:t>我想老实说一句，这套语料和回放框架比产品本身更难做，而且要占资深会计的标注时间。但不投这一块，就没有这个飞轮，所有指标也都变成没法验证的。</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这是第四个关键部件，讲客户看到的那一层。</a:t>
            </a:r>
          </a:p>
          <a:p>
            <a:endParaRPr/>
          </a:p>
          <a:p>
            <a:r>
              <a:t>先说传统软件的做法。厂商必须先想好界面长什么样，再把所有客户塞进同一套界面里。每来一个新客户类型、一个新特例，就多一个页面、多一个字段、多一个开关。所以在传统软件里，界面是代码量最大、改得最勤的一块，原因就是它在替厂商吸收客户的多样性。</a:t>
            </a:r>
          </a:p>
          <a:p>
            <a:endParaRPr/>
          </a:p>
          <a:p>
            <a:r>
              <a:t>如果界面可以按需生成，这个约束就没了。客户提一个需求，界面当场生成给他用，我们不用先想好所有人要什么，再排期。第二页讲大模型带来的改变时提到编码成本被极大压缩，兑现的地方就是这里。</a:t>
            </a:r>
          </a:p>
          <a:p>
            <a:endParaRPr/>
          </a:p>
          <a:p>
            <a:r>
              <a:t>但第二点才是关键，我想特别强调。生成不等于一次性。用得顺的界面必须沉淀下来，存成这家客户自己的资产，下次直接调用。如果每次都重新生成、每次长得都不一样，那不叫界面，那叫抽奖，没有人敢拿它做账。</a:t>
            </a:r>
          </a:p>
          <a:p>
            <a:endParaRPr/>
          </a:p>
          <a:p>
            <a:r>
              <a:t>第三点，用他自己的叫法。科目怎么叫、流程怎么走、报表长什么样，都按这家客户的习惯来，不用他先学我们的术语。</a:t>
            </a:r>
          </a:p>
          <a:p>
            <a:endParaRPr/>
          </a:p>
          <a:p>
            <a:r>
              <a:t>第四点，这套界面归客户所有，他可以继续改。我们只负责托管，负责它一直跑得起来。</a:t>
            </a:r>
          </a:p>
          <a:p>
            <a:endParaRPr/>
          </a:p>
          <a:p>
            <a:r>
              <a:t>集成这件事的方向也反过来了。以前是我们排期做插件，客户排队等我们支持他那套系统；现在客户要接什么就接什么，智能体照人的操作方式去用那个系统，不用等我们的路线图。长尾集成从我们的成本，变成客户自己的能力。</a:t>
            </a:r>
          </a:p>
          <a:p>
            <a:endParaRPr/>
          </a:p>
          <a:p>
            <a:r>
              <a:t>会有人担心，界面能随便生成，账会不会被写坏。不会。生成出来的界面一样只能通过带类型的工具层动手，不变量、期间锁定、职责分离一条都绕不过去。这也正是为什么工具层要先建好，它在下面兜着。</a:t>
            </a:r>
          </a:p>
          <a:p>
            <a:endParaRPr/>
          </a:p>
          <a:p>
            <a:r>
              <a:t>最后一句是我最想留下的：传统软件的学习曲线，本质上是客户在为我们的设计买单。界面按需生成、归客户所有之后，这笔账就不存在了。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这一页收技术部分，用一张表把工程投入的形态讲清楚。先说明一下，这些百分比是形态上的估计，不是实测数据。</a:t>
            </a:r>
          </a:p>
          <a:p>
            <a:endParaRPr/>
          </a:p>
          <a:p>
            <a:r>
              <a:t>先看传统软件那一列。记录系统只占一成到一成五，是代码库里最小、最稳、也最值钱的一块；界面占三到四成，是最大、改得最勤的一块。主流会计软件底下的账簿内核可能就几千行，十年没怎么动；外面那层界面几十万行，每个版本都在改。</a:t>
            </a:r>
          </a:p>
          <a:p>
            <a:endParaRPr/>
          </a:p>
          <a:p>
            <a:r>
              <a:t>原因就是上一页讲的：界面在替厂商吸收客户的多样性。每来一个新客户类型、新特例、新监管差异，就多一个页面、多一个字段、多一张报表，而领域模型几乎什么都没吸。</a:t>
            </a:r>
          </a:p>
          <a:p>
            <a:endParaRPr/>
          </a:p>
          <a:p>
            <a:r>
              <a:t>再看我们这一列，我请各位重点看两处。</a:t>
            </a:r>
          </a:p>
          <a:p>
            <a:endParaRPr/>
          </a:p>
          <a:p>
            <a:r>
              <a:t>第一处，界面从三到四成降到一成到一成五，大概是原来的三分之一。不是因为我们少做了，而是多样性交给模型和按需生成的界面去吸收，不再往代码里堆页面。</a:t>
            </a:r>
          </a:p>
          <a:p>
            <a:endParaRPr/>
          </a:p>
          <a:p>
            <a:r>
              <a:t>第二处，表里有四行在传统软件那一列是一道横线，也就是根本不存在：工具层、校验与护栏、评测与真值语料，还有智能体层。这四行加起来差不多占一半的工程量。这就是工程形态上真正的差别：省下来的界面预算，全挪到了底座和校验上。而这四行里的前三行，正是刚才那四个关键部件的下半截。</a:t>
            </a:r>
          </a:p>
          <a:p>
            <a:endParaRPr/>
          </a:p>
          <a:p>
            <a:r>
              <a:t>还有两个细节。记录系统的占比反而升了，从一成到一成五升到一成五到两成，因为同样的内核，要求高多了。而智能体层只占约百分之五，是全表最小的几项之一。今天这已经是第二次说到它：它最便宜、最容易被换掉，所以我们刻意做得很薄，重心压在下面几层。</a:t>
            </a:r>
          </a:p>
          <a:p>
            <a:endParaRPr/>
          </a:p>
          <a:p>
            <a:r>
              <a:t>一句话总结：传统软件把工程预算花在让人在界面上更快，我们花在让机器的输出在底座上站得住。</a:t>
            </a:r>
          </a:p>
          <a:p>
            <a:endParaRPr/>
          </a:p>
          <a:p>
            <a:r>
              <a:t>如果各位关心我们的人数是不是比同类软件公司少，不是少，是结构不同。前端更少，数据和基础设施更多，再加上会计专业，而且是放在环里，不是放在旁边。</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0"/>
            </a:avLst>
          </a:prstGeom>
          <a:solidFill>
            <a:srgbClr val="111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12191695" cy="762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417320"/>
            <a:ext cx="10874959" cy="292608"/>
          </a:xfrm>
          <a:prstGeom prst="rect">
            <a:avLst/>
          </a:prstGeom>
          <a:noFill/>
        </p:spPr>
        <p:txBody>
          <a:bodyPr wrap="square" lIns="0" tIns="0" rIns="0" bIns="0" anchor="t">
            <a:spAutoFit/>
          </a:bodyPr>
          <a:lstStyle/>
          <a:p>
            <a:pPr algn="l">
              <a:lnSpc>
                <a:spcPct val="130000"/>
              </a:lnSpc>
              <a:spcAft>
                <a:spcPts val="600"/>
              </a:spcAft>
            </a:pPr>
            <a:r>
              <a:rPr sz="1250" b="1" i="0">
                <a:solidFill>
                  <a:srgbClr val="7AB8C8"/>
                </a:solidFill>
                <a:latin typeface="Helvetica Neue"/>
                <a:ea typeface="PingFang SC"/>
              </a:rPr>
              <a:t>August 2026</a:t>
            </a:r>
          </a:p>
        </p:txBody>
      </p:sp>
      <p:sp>
        <p:nvSpPr>
          <p:cNvPr id="5" name="TextBox 4"/>
          <p:cNvSpPr txBox="1"/>
          <p:nvPr/>
        </p:nvSpPr>
        <p:spPr>
          <a:xfrm>
            <a:off x="658368" y="2529458"/>
            <a:ext cx="10424160" cy="748666"/>
          </a:xfrm>
          <a:prstGeom prst="rect">
            <a:avLst/>
          </a:prstGeom>
          <a:noFill/>
        </p:spPr>
        <p:txBody>
          <a:bodyPr wrap="square" lIns="0" tIns="0" rIns="0" bIns="0" anchor="t">
            <a:spAutoFit/>
          </a:bodyPr>
          <a:lstStyle/>
          <a:p>
            <a:pPr algn="l">
              <a:lnSpc>
                <a:spcPct val="115000"/>
              </a:lnSpc>
              <a:spcAft>
                <a:spcPts val="600"/>
              </a:spcAft>
            </a:pPr>
            <a:r>
              <a:rPr sz="4600" b="1" i="0">
                <a:solidFill>
                  <a:srgbClr val="FFFFFF"/>
                </a:solidFill>
                <a:latin typeface="Helvetica Neue"/>
                <a:ea typeface="PingFang SC"/>
              </a:rPr>
              <a:t>Accounting Software
for the Agent Era</a:t>
            </a:r>
          </a:p>
        </p:txBody>
      </p:sp>
      <p:sp>
        <p:nvSpPr>
          <p:cNvPr id="6" name="Rectangle 5"/>
          <p:cNvSpPr/>
          <p:nvPr/>
        </p:nvSpPr>
        <p:spPr>
          <a:xfrm>
            <a:off x="658368" y="4846320"/>
            <a:ext cx="2011680" cy="3175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5120640"/>
            <a:ext cx="10874959" cy="270139"/>
          </a:xfrm>
          <a:prstGeom prst="rect">
            <a:avLst/>
          </a:prstGeom>
          <a:noFill/>
        </p:spPr>
        <p:txBody>
          <a:bodyPr wrap="square" lIns="0" tIns="0" rIns="0" bIns="0" anchor="t">
            <a:spAutoFit/>
          </a:bodyPr>
          <a:lstStyle/>
          <a:p>
            <a:pPr algn="l">
              <a:lnSpc>
                <a:spcPct val="130000"/>
              </a:lnSpc>
              <a:spcAft>
                <a:spcPts val="600"/>
              </a:spcAft>
            </a:pPr>
            <a:r>
              <a:rPr lang="en-US" sz="1500" b="0" i="0">
                <a:solidFill>
                  <a:srgbClr val="8E9CAE"/>
                </a:solidFill>
                <a:latin typeface="Helvetica Neue"/>
                <a:ea typeface="PingFang SC"/>
              </a:rPr>
              <a:t>AIMI</a:t>
            </a:r>
            <a:endParaRPr sz="1500" b="0" i="0">
              <a:solidFill>
                <a:srgbClr val="8E9CAE"/>
              </a:solidFill>
              <a:latin typeface="Helvetica Neue"/>
              <a:ea typeface="PingFang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01807" y="6528816"/>
            <a:ext cx="731520" cy="237744"/>
          </a:xfrm>
          <a:prstGeom prst="rect">
            <a:avLst/>
          </a:prstGeom>
          <a:noFill/>
        </p:spPr>
        <p:txBody>
          <a:bodyPr wrap="none">
            <a:spAutoFit/>
          </a:bodyPr>
          <a:lstStyle/>
          <a:p>
            <a:pPr algn="r"/>
            <a:r>
              <a:rPr sz="1000" b="0" i="0">
                <a:solidFill>
                  <a:srgbClr val="D5DCE4"/>
                </a:solidFill>
                <a:latin typeface="Helvetica Neue"/>
                <a:ea typeface="PingFang SC"/>
              </a:rPr>
              <a:t>1</a:t>
            </a:r>
          </a:p>
        </p:txBody>
      </p:sp>
      <p:sp>
        <p:nvSpPr>
          <p:cNvPr id="3" name="TextBox 2"/>
          <p:cNvSpPr txBox="1"/>
          <p:nvPr/>
        </p:nvSpPr>
        <p:spPr>
          <a:xfrm>
            <a:off x="658368" y="420624"/>
            <a:ext cx="10874959" cy="256032"/>
          </a:xfrm>
          <a:prstGeom prst="rect">
            <a:avLst/>
          </a:prstGeom>
          <a:noFill/>
        </p:spPr>
        <p:txBody>
          <a:bodyPr wrap="square" lIns="0" tIns="0" rIns="0" bIns="0" anchor="t">
            <a:spAutoFit/>
          </a:bodyPr>
          <a:lstStyle/>
          <a:p>
            <a:pPr algn="l">
              <a:lnSpc>
                <a:spcPct val="130000"/>
              </a:lnSpc>
              <a:spcAft>
                <a:spcPts val="600"/>
              </a:spcAft>
            </a:pPr>
            <a:r>
              <a:rPr sz="1100" b="1" i="0">
                <a:solidFill>
                  <a:srgbClr val="0E7490"/>
                </a:solidFill>
                <a:latin typeface="Helvetica Neue"/>
                <a:ea typeface="PingFang SC"/>
              </a:rPr>
              <a:t>Core argument</a:t>
            </a:r>
          </a:p>
        </p:txBody>
      </p:sp>
      <p:sp>
        <p:nvSpPr>
          <p:cNvPr id="4" name="TextBox 3"/>
          <p:cNvSpPr txBox="1"/>
          <p:nvPr/>
        </p:nvSpPr>
        <p:spPr>
          <a:xfrm>
            <a:off x="658368" y="749808"/>
            <a:ext cx="10874959" cy="421334"/>
          </a:xfrm>
          <a:prstGeom prst="rect">
            <a:avLst/>
          </a:prstGeom>
          <a:noFill/>
        </p:spPr>
        <p:txBody>
          <a:bodyPr wrap="square" lIns="0" tIns="0" rIns="0" bIns="0" anchor="t">
            <a:spAutoFit/>
          </a:bodyPr>
          <a:lstStyle/>
          <a:p>
            <a:pPr algn="l">
              <a:lnSpc>
                <a:spcPct val="120000"/>
              </a:lnSpc>
              <a:spcAft>
                <a:spcPts val="600"/>
              </a:spcAft>
            </a:pPr>
            <a:r>
              <a:rPr lang="zh-CN" altLang="en-US" sz="2500" b="1">
                <a:solidFill>
                  <a:srgbClr val="111A27"/>
                </a:solidFill>
                <a:latin typeface="Helvetica Neue"/>
                <a:ea typeface="PingFang SC"/>
              </a:rPr>
              <a:t>In the agent era, software is no longer just a tool</a:t>
            </a:r>
            <a:endParaRPr sz="2500" b="1" i="0">
              <a:solidFill>
                <a:srgbClr val="111A27"/>
              </a:solidFill>
              <a:latin typeface="Helvetica Neue"/>
              <a:ea typeface="PingFang SC"/>
            </a:endParaRPr>
          </a:p>
        </p:txBody>
      </p:sp>
      <p:sp>
        <p:nvSpPr>
          <p:cNvPr id="5" name="Rounded Rectangle 4"/>
          <p:cNvSpPr/>
          <p:nvPr/>
        </p:nvSpPr>
        <p:spPr>
          <a:xfrm>
            <a:off x="658368" y="2194559"/>
            <a:ext cx="3465576" cy="3187338"/>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14400" y="2432304"/>
            <a:ext cx="2962656" cy="324128"/>
          </a:xfrm>
          <a:prstGeom prst="rect">
            <a:avLst/>
          </a:prstGeom>
          <a:noFill/>
        </p:spPr>
        <p:txBody>
          <a:bodyPr wrap="square" lIns="0" tIns="0" rIns="0" bIns="0" anchor="t">
            <a:spAutoFit/>
          </a:bodyPr>
          <a:lstStyle/>
          <a:p>
            <a:pPr algn="l">
              <a:lnSpc>
                <a:spcPct val="130000"/>
              </a:lnSpc>
              <a:spcAft>
                <a:spcPts val="600"/>
              </a:spcAft>
            </a:pPr>
            <a:r>
              <a:rPr lang="en-US" b="1">
                <a:solidFill>
                  <a:srgbClr val="111A27"/>
                </a:solidFill>
                <a:latin typeface="Helvetica Neue"/>
                <a:ea typeface="PingFang SC"/>
              </a:rPr>
              <a:t>Traditional software</a:t>
            </a:r>
            <a:endParaRPr sz="1800" b="1" i="0">
              <a:solidFill>
                <a:srgbClr val="111A27"/>
              </a:solidFill>
              <a:latin typeface="Helvetica Neue"/>
              <a:ea typeface="PingFang SC"/>
            </a:endParaRPr>
          </a:p>
        </p:txBody>
      </p:sp>
      <p:sp>
        <p:nvSpPr>
          <p:cNvPr id="7" name="TextBox 6"/>
          <p:cNvSpPr txBox="1"/>
          <p:nvPr/>
        </p:nvSpPr>
        <p:spPr>
          <a:xfrm>
            <a:off x="914400" y="2962656"/>
            <a:ext cx="2962656" cy="1838965"/>
          </a:xfrm>
          <a:prstGeom prst="rect">
            <a:avLst/>
          </a:prstGeom>
          <a:noFill/>
        </p:spPr>
        <p:txBody>
          <a:bodyPr wrap="square" lIns="0" tIns="0" rIns="0" bIns="0" anchor="t">
            <a:spAutoFit/>
          </a:bodyPr>
          <a:lstStyle/>
          <a:p>
            <a:pPr algn="l">
              <a:lnSpc>
                <a:spcPct val="150000"/>
              </a:lnSpc>
              <a:spcAft>
                <a:spcPts val="600"/>
              </a:spcAft>
            </a:pPr>
            <a:r>
              <a:rPr lang="en-US" sz="1300" b="0" i="0">
                <a:solidFill>
                  <a:srgbClr val="333E4F"/>
                </a:solidFill>
                <a:latin typeface="Helvetica Neue"/>
                <a:ea typeface="PingFang SC"/>
              </a:rPr>
              <a:t>Traditional software only runs deterministic logic, so complexity lands in one place: people translating intent into code, form by form. Hence the eternal SaaS tradeoff.</a:t>
            </a:r>
            <a:endParaRPr lang="en-US" altLang="zh-CN" sz="1300" b="0" i="0">
              <a:solidFill>
                <a:srgbClr val="333E4F"/>
              </a:solidFill>
              <a:latin typeface="Helvetica Neue"/>
              <a:ea typeface="PingFang SC"/>
            </a:endParaRPr>
          </a:p>
          <a:p>
            <a:pPr algn="l">
              <a:lnSpc>
                <a:spcPct val="150000"/>
              </a:lnSpc>
              <a:spcAft>
                <a:spcPts val="600"/>
              </a:spcAft>
            </a:pPr>
            <a:r>
              <a:rPr lang="en-US" sz="1300">
                <a:solidFill>
                  <a:srgbClr val="333E4F"/>
                </a:solidFill>
                <a:latin typeface="Helvetica Neue"/>
                <a:ea typeface="PingFang SC"/>
              </a:rPr>
              <a:t>It also cannot read unstructured data, so document entry stays manual.</a:t>
            </a:r>
            <a:endParaRPr sz="1300" b="0" i="0">
              <a:solidFill>
                <a:srgbClr val="333E4F"/>
              </a:solidFill>
              <a:latin typeface="Helvetica Neue"/>
              <a:ea typeface="PingFang SC"/>
            </a:endParaRPr>
          </a:p>
        </p:txBody>
      </p:sp>
      <p:sp>
        <p:nvSpPr>
          <p:cNvPr id="8" name="Rounded Rectangle 7"/>
          <p:cNvSpPr/>
          <p:nvPr/>
        </p:nvSpPr>
        <p:spPr>
          <a:xfrm>
            <a:off x="4379975" y="2194559"/>
            <a:ext cx="3474719" cy="3187337"/>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636008" y="2432304"/>
            <a:ext cx="2962656" cy="324128"/>
          </a:xfrm>
          <a:prstGeom prst="rect">
            <a:avLst/>
          </a:prstGeom>
          <a:noFill/>
        </p:spPr>
        <p:txBody>
          <a:bodyPr wrap="square" lIns="0" tIns="0" rIns="0" bIns="0" anchor="t">
            <a:spAutoFit/>
          </a:bodyPr>
          <a:lstStyle/>
          <a:p>
            <a:pPr algn="l">
              <a:lnSpc>
                <a:spcPct val="130000"/>
              </a:lnSpc>
              <a:spcAft>
                <a:spcPts val="600"/>
              </a:spcAft>
            </a:pPr>
            <a:r>
              <a:rPr lang="en-US" sz="1800" b="1" i="0">
                <a:solidFill>
                  <a:srgbClr val="111A27"/>
                </a:solidFill>
                <a:latin typeface="Helvetica Neue"/>
                <a:ea typeface="PingFang SC"/>
              </a:rPr>
              <a:t>What LLM changed</a:t>
            </a:r>
            <a:endParaRPr sz="1800" b="1" i="0">
              <a:solidFill>
                <a:srgbClr val="111A27"/>
              </a:solidFill>
              <a:latin typeface="Helvetica Neue"/>
              <a:ea typeface="PingFang SC"/>
            </a:endParaRPr>
          </a:p>
        </p:txBody>
      </p:sp>
      <p:sp>
        <p:nvSpPr>
          <p:cNvPr id="10" name="TextBox 9"/>
          <p:cNvSpPr txBox="1"/>
          <p:nvPr/>
        </p:nvSpPr>
        <p:spPr>
          <a:xfrm>
            <a:off x="4636008" y="2962656"/>
            <a:ext cx="2962656" cy="1538883"/>
          </a:xfrm>
          <a:prstGeom prst="rect">
            <a:avLst/>
          </a:prstGeom>
          <a:noFill/>
        </p:spPr>
        <p:txBody>
          <a:bodyPr wrap="square" lIns="0" tIns="0" rIns="0" bIns="0" anchor="t">
            <a:spAutoFit/>
          </a:bodyPr>
          <a:lstStyle/>
          <a:p>
            <a:pPr algn="l">
              <a:lnSpc>
                <a:spcPct val="150000"/>
              </a:lnSpc>
              <a:spcAft>
                <a:spcPts val="600"/>
              </a:spcAft>
            </a:pPr>
            <a:r>
              <a:rPr lang="en-US" sz="1300" b="0" i="0">
                <a:solidFill>
                  <a:srgbClr val="333E4F"/>
                </a:solidFill>
                <a:latin typeface="Helvetica Neue"/>
                <a:ea typeface="PingFang SC"/>
              </a:rPr>
              <a:t>Model reasoning absorbs ambiguous requirements, and the cost of code has collapsed, so an interface can be generated per customer.</a:t>
            </a:r>
            <a:endParaRPr lang="en-US" altLang="zh-CN" sz="1300" b="0" i="0">
              <a:solidFill>
                <a:srgbClr val="333E4F"/>
              </a:solidFill>
              <a:latin typeface="Helvetica Neue"/>
              <a:ea typeface="PingFang SC"/>
            </a:endParaRPr>
          </a:p>
          <a:p>
            <a:pPr algn="l">
              <a:lnSpc>
                <a:spcPct val="150000"/>
              </a:lnSpc>
              <a:spcAft>
                <a:spcPts val="600"/>
              </a:spcAft>
            </a:pPr>
            <a:r>
              <a:rPr lang="zh-CN" altLang="en-US" sz="1300" b="0" i="0">
                <a:solidFill>
                  <a:srgbClr val="333E4F"/>
                </a:solidFill>
                <a:latin typeface="Helvetica Neue"/>
                <a:ea typeface="PingFang SC"/>
              </a:rPr>
              <a:t>Multimodal models read documents and images directly, removing most data-entry headcount.</a:t>
            </a:r>
            <a:endParaRPr sz="1300" b="0" i="0">
              <a:solidFill>
                <a:srgbClr val="333E4F"/>
              </a:solidFill>
              <a:latin typeface="Helvetica Neue"/>
              <a:ea typeface="PingFang SC"/>
            </a:endParaRPr>
          </a:p>
        </p:txBody>
      </p:sp>
      <p:sp>
        <p:nvSpPr>
          <p:cNvPr id="11" name="Rounded Rectangle 10"/>
          <p:cNvSpPr/>
          <p:nvPr/>
        </p:nvSpPr>
        <p:spPr>
          <a:xfrm>
            <a:off x="8101583" y="2194560"/>
            <a:ext cx="3431744" cy="3187336"/>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57615" y="2432304"/>
            <a:ext cx="2962656" cy="320472"/>
          </a:xfrm>
          <a:prstGeom prst="rect">
            <a:avLst/>
          </a:prstGeom>
          <a:noFill/>
        </p:spPr>
        <p:txBody>
          <a:bodyPr wrap="square" lIns="0" tIns="0" rIns="0" bIns="0" anchor="t">
            <a:spAutoFit/>
          </a:bodyPr>
          <a:lstStyle/>
          <a:p>
            <a:pPr algn="l">
              <a:lnSpc>
                <a:spcPct val="130000"/>
              </a:lnSpc>
              <a:spcAft>
                <a:spcPts val="600"/>
              </a:spcAft>
            </a:pPr>
            <a:r>
              <a:rPr lang="en-US" sz="1800" b="1" i="0">
                <a:solidFill>
                  <a:srgbClr val="7A3B08"/>
                </a:solidFill>
                <a:latin typeface="Helvetica Neue"/>
                <a:ea typeface="PingFang SC"/>
              </a:rPr>
              <a:t>Applied in accounting</a:t>
            </a:r>
            <a:endParaRPr sz="1800" b="1" i="0">
              <a:solidFill>
                <a:srgbClr val="7A3B08"/>
              </a:solidFill>
              <a:latin typeface="Helvetica Neue"/>
              <a:ea typeface="PingFang SC"/>
            </a:endParaRPr>
          </a:p>
        </p:txBody>
      </p:sp>
      <p:sp>
        <p:nvSpPr>
          <p:cNvPr id="13" name="TextBox 12"/>
          <p:cNvSpPr txBox="1"/>
          <p:nvPr/>
        </p:nvSpPr>
        <p:spPr>
          <a:xfrm>
            <a:off x="8357615" y="2962656"/>
            <a:ext cx="2962656" cy="1538883"/>
          </a:xfrm>
          <a:prstGeom prst="rect">
            <a:avLst/>
          </a:prstGeom>
          <a:noFill/>
        </p:spPr>
        <p:txBody>
          <a:bodyPr wrap="square" lIns="0" tIns="0" rIns="0" bIns="0" anchor="t">
            <a:spAutoFit/>
          </a:bodyPr>
          <a:lstStyle/>
          <a:p>
            <a:pPr>
              <a:lnSpc>
                <a:spcPct val="150000"/>
              </a:lnSpc>
              <a:spcAft>
                <a:spcPts val="600"/>
              </a:spcAft>
            </a:pPr>
            <a:r>
              <a:rPr lang="en-US" sz="1300" b="0" i="0">
                <a:solidFill>
                  <a:srgbClr val="333E4F"/>
                </a:solidFill>
                <a:latin typeface="Helvetica Neue"/>
                <a:ea typeface="PingFang SC"/>
              </a:rPr>
              <a:t>Accounting and tax rules are dense and every industry differs, so accounting software is inherently complex.</a:t>
            </a:r>
            <a:endParaRPr lang="en-US" altLang="zh-CN" sz="1300">
              <a:solidFill>
                <a:srgbClr val="333E4F"/>
              </a:solidFill>
              <a:latin typeface="Helvetica Neue"/>
              <a:ea typeface="PingFang SC"/>
            </a:endParaRPr>
          </a:p>
          <a:p>
            <a:pPr>
              <a:lnSpc>
                <a:spcPct val="150000"/>
              </a:lnSpc>
              <a:spcAft>
                <a:spcPts val="600"/>
              </a:spcAft>
            </a:pPr>
            <a:r>
              <a:rPr lang="en-US" sz="1300" b="0" i="0">
                <a:solidFill>
                  <a:srgbClr val="333E4F"/>
                </a:solidFill>
                <a:latin typeface="Helvetica Neue"/>
                <a:ea typeface="PingFang SC"/>
              </a:rPr>
              <a:t>The work runs on documents and images, and the accuracy bar is unusually high.</a:t>
            </a:r>
            <a:endParaRPr sz="1300" b="0" i="0">
              <a:solidFill>
                <a:srgbClr val="333E4F"/>
              </a:solidFill>
              <a:latin typeface="Helvetica Neue"/>
              <a:ea typeface="PingFang SC"/>
            </a:endParaRPr>
          </a:p>
        </p:txBody>
      </p:sp>
      <p:sp>
        <p:nvSpPr>
          <p:cNvPr id="15" name="TextBox 14"/>
          <p:cNvSpPr txBox="1"/>
          <p:nvPr/>
        </p:nvSpPr>
        <p:spPr>
          <a:xfrm>
            <a:off x="969264" y="5559552"/>
            <a:ext cx="10253167" cy="457200"/>
          </a:xfrm>
          <a:prstGeom prst="rect">
            <a:avLst/>
          </a:prstGeom>
          <a:noFill/>
        </p:spPr>
        <p:txBody>
          <a:bodyPr wrap="square" lIns="0" tIns="0" rIns="0" bIns="0" anchor="t">
            <a:spAutoFit/>
          </a:bodyPr>
          <a:lstStyle/>
          <a:p>
            <a:pPr algn="l">
              <a:lnSpc>
                <a:spcPct val="130000"/>
              </a:lnSpc>
              <a:spcAft>
                <a:spcPts val="600"/>
              </a:spcAft>
            </a:pPr>
            <a:r>
              <a:rPr sz="1600" b="1" i="0">
                <a:solidFill>
                  <a:srgbClr val="FFFFFF"/>
                </a:solidFill>
                <a:latin typeface="Helvetica Neue"/>
                <a:ea typeface="PingFang SC"/>
              </a:rPr>
              <a:t>We are not betting that models are clever. We are betting accounting is verifiable: we can prove an answer before it reaches a client's books.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01807" y="6528816"/>
            <a:ext cx="731520" cy="237744"/>
          </a:xfrm>
          <a:prstGeom prst="rect">
            <a:avLst/>
          </a:prstGeom>
          <a:noFill/>
        </p:spPr>
        <p:txBody>
          <a:bodyPr wrap="none">
            <a:spAutoFit/>
          </a:bodyPr>
          <a:lstStyle/>
          <a:p>
            <a:pPr algn="r"/>
            <a:r>
              <a:rPr sz="1000" b="0" i="0">
                <a:solidFill>
                  <a:srgbClr val="D5DCE4"/>
                </a:solidFill>
                <a:latin typeface="Helvetica Neue"/>
                <a:ea typeface="PingFang SC"/>
              </a:rPr>
              <a:t>2</a:t>
            </a:r>
          </a:p>
        </p:txBody>
      </p:sp>
      <p:sp>
        <p:nvSpPr>
          <p:cNvPr id="3" name="TextBox 2"/>
          <p:cNvSpPr txBox="1"/>
          <p:nvPr/>
        </p:nvSpPr>
        <p:spPr>
          <a:xfrm>
            <a:off x="658368" y="420624"/>
            <a:ext cx="10874959" cy="256032"/>
          </a:xfrm>
          <a:prstGeom prst="rect">
            <a:avLst/>
          </a:prstGeom>
          <a:noFill/>
        </p:spPr>
        <p:txBody>
          <a:bodyPr wrap="square" lIns="0" tIns="0" rIns="0" bIns="0" anchor="t">
            <a:spAutoFit/>
          </a:bodyPr>
          <a:lstStyle/>
          <a:p>
            <a:pPr algn="l">
              <a:lnSpc>
                <a:spcPct val="130000"/>
              </a:lnSpc>
              <a:spcAft>
                <a:spcPts val="600"/>
              </a:spcAft>
            </a:pPr>
            <a:r>
              <a:rPr sz="1100" b="1" i="0">
                <a:solidFill>
                  <a:srgbClr val="0E7490"/>
                </a:solidFill>
                <a:latin typeface="Helvetica Neue"/>
                <a:ea typeface="PingFang SC"/>
              </a:rPr>
              <a:t>Domain fit</a:t>
            </a:r>
          </a:p>
        </p:txBody>
      </p:sp>
      <p:sp>
        <p:nvSpPr>
          <p:cNvPr id="4" name="TextBox 3"/>
          <p:cNvSpPr txBox="1"/>
          <p:nvPr/>
        </p:nvSpPr>
        <p:spPr>
          <a:xfrm>
            <a:off x="658368" y="749808"/>
            <a:ext cx="10874959" cy="438133"/>
          </a:xfrm>
          <a:prstGeom prst="rect">
            <a:avLst/>
          </a:prstGeom>
          <a:noFill/>
        </p:spPr>
        <p:txBody>
          <a:bodyPr wrap="square" lIns="0" tIns="0" rIns="0" bIns="0" anchor="t">
            <a:spAutoFit/>
          </a:bodyPr>
          <a:lstStyle/>
          <a:p>
            <a:pPr algn="l">
              <a:lnSpc>
                <a:spcPct val="120000"/>
              </a:lnSpc>
              <a:spcAft>
                <a:spcPts val="600"/>
              </a:spcAft>
            </a:pPr>
            <a:r>
              <a:rPr sz="2600" b="1" i="0">
                <a:solidFill>
                  <a:srgbClr val="111A27"/>
                </a:solidFill>
                <a:latin typeface="Helvetica Neue"/>
                <a:ea typeface="PingFang SC"/>
              </a:rPr>
              <a:t>Why accounting is verifiable</a:t>
            </a:r>
          </a:p>
        </p:txBody>
      </p:sp>
      <p:sp>
        <p:nvSpPr>
          <p:cNvPr id="5" name="TextBox 4"/>
          <p:cNvSpPr txBox="1"/>
          <p:nvPr/>
        </p:nvSpPr>
        <p:spPr>
          <a:xfrm>
            <a:off x="658368" y="1719072"/>
            <a:ext cx="10424160" cy="610616"/>
          </a:xfrm>
          <a:prstGeom prst="rect">
            <a:avLst/>
          </a:prstGeom>
          <a:noFill/>
        </p:spPr>
        <p:txBody>
          <a:bodyPr wrap="square" lIns="0" tIns="0" rIns="0" bIns="0" anchor="t">
            <a:spAutoFit/>
          </a:bodyPr>
          <a:lstStyle/>
          <a:p>
            <a:pPr algn="l">
              <a:lnSpc>
                <a:spcPct val="140000"/>
              </a:lnSpc>
              <a:spcAft>
                <a:spcPts val="600"/>
              </a:spcAft>
            </a:pPr>
            <a:r>
              <a:rPr sz="1500" b="0" i="0">
                <a:solidFill>
                  <a:srgbClr val="333E4F"/>
                </a:solidFill>
                <a:latin typeface="Helvetica Neue"/>
                <a:ea typeface="PingFang SC"/>
              </a:rPr>
              <a:t>Most agent products end up stuck at assistive, because nobody can say whether the output is right. Law, consulting, most knowledge work: no answer key. Accounting is different.</a:t>
            </a:r>
          </a:p>
        </p:txBody>
      </p:sp>
      <p:sp>
        <p:nvSpPr>
          <p:cNvPr id="6" name="Rounded Rectangle 5"/>
          <p:cNvSpPr/>
          <p:nvPr/>
        </p:nvSpPr>
        <p:spPr>
          <a:xfrm>
            <a:off x="658368" y="2450591"/>
            <a:ext cx="3431744" cy="3279647"/>
          </a:xfrm>
          <a:prstGeom prst="roundRect">
            <a:avLst>
              <a:gd name="adj" fmla="val 4000"/>
            </a:avLst>
          </a:prstGeom>
          <a:solidFill>
            <a:srgbClr val="E4F0F4"/>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6112" y="2670048"/>
            <a:ext cx="3008376" cy="292608"/>
          </a:xfrm>
          <a:prstGeom prst="rect">
            <a:avLst/>
          </a:prstGeom>
          <a:noFill/>
        </p:spPr>
        <p:txBody>
          <a:bodyPr wrap="square" lIns="0" tIns="0" rIns="0" bIns="0" anchor="t">
            <a:spAutoFit/>
          </a:bodyPr>
          <a:lstStyle/>
          <a:p>
            <a:pPr algn="l">
              <a:lnSpc>
                <a:spcPct val="130000"/>
              </a:lnSpc>
              <a:spcAft>
                <a:spcPts val="600"/>
              </a:spcAft>
            </a:pPr>
            <a:r>
              <a:rPr sz="1400" b="1" i="0">
                <a:solidFill>
                  <a:srgbClr val="0A5366"/>
                </a:solidFill>
                <a:latin typeface="Helvetica Neue"/>
                <a:ea typeface="PingFang SC"/>
              </a:rPr>
              <a:t>1 · The rules already exist</a:t>
            </a:r>
          </a:p>
        </p:txBody>
      </p:sp>
      <p:sp>
        <p:nvSpPr>
          <p:cNvPr id="8" name="TextBox 7"/>
          <p:cNvSpPr txBox="1"/>
          <p:nvPr/>
        </p:nvSpPr>
        <p:spPr>
          <a:xfrm>
            <a:off x="896112" y="3090672"/>
            <a:ext cx="3008376" cy="2103120"/>
          </a:xfrm>
          <a:prstGeom prst="rect">
            <a:avLst/>
          </a:prstGeom>
          <a:noFill/>
        </p:spPr>
        <p:txBody>
          <a:bodyPr wrap="square" lIns="0" tIns="0" rIns="0" bIns="0">
            <a:spAutoFit/>
          </a:bodyPr>
          <a:lstStyle/>
          <a:p>
            <a:pPr>
              <a:lnSpc>
                <a:spcPct val="135000"/>
              </a:lnSpc>
              <a:spcAft>
                <a:spcPts val="900"/>
              </a:spcAft>
            </a:pPr>
            <a:r>
              <a:rPr sz="1250" b="0" i="0">
                <a:solidFill>
                  <a:srgbClr val="333E4F"/>
                </a:solidFill>
                <a:latin typeface="Helvetica Neue"/>
                <a:ea typeface="PingFang SC"/>
              </a:rPr>
              <a:t>— Debits must equal credits</a:t>
            </a:r>
          </a:p>
          <a:p>
            <a:pPr>
              <a:lnSpc>
                <a:spcPct val="135000"/>
              </a:lnSpc>
              <a:spcAft>
                <a:spcPts val="900"/>
              </a:spcAft>
            </a:pPr>
            <a:r>
              <a:rPr sz="1250" b="0" i="0">
                <a:solidFill>
                  <a:srgbClr val="333E4F"/>
                </a:solidFill>
                <a:latin typeface="Helvetica Neue"/>
                <a:ea typeface="PingFang SC"/>
              </a:rPr>
              <a:t>— The trial balance must balance</a:t>
            </a:r>
          </a:p>
          <a:p>
            <a:pPr>
              <a:lnSpc>
                <a:spcPct val="135000"/>
              </a:lnSpc>
              <a:spcAft>
                <a:spcPts val="900"/>
              </a:spcAft>
            </a:pPr>
            <a:r>
              <a:rPr sz="1250" b="0" i="0">
                <a:solidFill>
                  <a:srgbClr val="333E4F"/>
                </a:solidFill>
                <a:latin typeface="Helvetica Neue"/>
                <a:ea typeface="PingFang SC"/>
              </a:rPr>
              <a:t>— Subledgers must tie to the general ledger</a:t>
            </a:r>
          </a:p>
          <a:p>
            <a:pPr>
              <a:lnSpc>
                <a:spcPct val="135000"/>
              </a:lnSpc>
              <a:spcAft>
                <a:spcPts val="900"/>
              </a:spcAft>
            </a:pPr>
            <a:r>
              <a:rPr sz="1250" b="0" i="0">
                <a:solidFill>
                  <a:srgbClr val="333E4F"/>
                </a:solidFill>
                <a:latin typeface="Helvetica Neue"/>
                <a:ea typeface="PingFang SC"/>
              </a:rPr>
              <a:t>— Bank reconciliation must net to zero</a:t>
            </a:r>
          </a:p>
          <a:p>
            <a:pPr>
              <a:lnSpc>
                <a:spcPct val="135000"/>
              </a:lnSpc>
              <a:spcAft>
                <a:spcPts val="900"/>
              </a:spcAft>
            </a:pPr>
            <a:r>
              <a:rPr sz="1250" b="0" i="0">
                <a:solidFill>
                  <a:srgbClr val="333E4F"/>
                </a:solidFill>
                <a:latin typeface="Helvetica Neue"/>
                <a:ea typeface="PingFang SC"/>
              </a:rPr>
              <a:t>— Tax and filing rules are written down, not guessed</a:t>
            </a:r>
          </a:p>
        </p:txBody>
      </p:sp>
      <p:sp>
        <p:nvSpPr>
          <p:cNvPr id="9" name="Rounded Rectangle 8"/>
          <p:cNvSpPr/>
          <p:nvPr/>
        </p:nvSpPr>
        <p:spPr>
          <a:xfrm>
            <a:off x="4379976" y="2450591"/>
            <a:ext cx="3431744" cy="3279647"/>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17720" y="2670048"/>
            <a:ext cx="3008376" cy="292608"/>
          </a:xfrm>
          <a:prstGeom prst="rect">
            <a:avLst/>
          </a:prstGeom>
          <a:noFill/>
        </p:spPr>
        <p:txBody>
          <a:bodyPr wrap="square" lIns="0" tIns="0" rIns="0" bIns="0" anchor="t">
            <a:spAutoFit/>
          </a:bodyPr>
          <a:lstStyle/>
          <a:p>
            <a:pPr algn="l">
              <a:lnSpc>
                <a:spcPct val="130000"/>
              </a:lnSpc>
              <a:spcAft>
                <a:spcPts val="600"/>
              </a:spcAft>
            </a:pPr>
            <a:r>
              <a:rPr sz="1400" b="1" i="0">
                <a:solidFill>
                  <a:srgbClr val="7A3B08"/>
                </a:solidFill>
                <a:latin typeface="Helvetica Neue"/>
                <a:ea typeface="PingFang SC"/>
              </a:rPr>
              <a:t>2 · So we verify before we commit</a:t>
            </a:r>
          </a:p>
        </p:txBody>
      </p:sp>
      <p:sp>
        <p:nvSpPr>
          <p:cNvPr id="11" name="TextBox 10"/>
          <p:cNvSpPr txBox="1"/>
          <p:nvPr/>
        </p:nvSpPr>
        <p:spPr>
          <a:xfrm>
            <a:off x="4617720" y="3090672"/>
            <a:ext cx="3008376" cy="1232645"/>
          </a:xfrm>
          <a:prstGeom prst="rect">
            <a:avLst/>
          </a:prstGeom>
          <a:noFill/>
        </p:spPr>
        <p:txBody>
          <a:bodyPr wrap="square" lIns="0" tIns="0" rIns="0" bIns="0" anchor="t">
            <a:spAutoFit/>
          </a:bodyPr>
          <a:lstStyle/>
          <a:p>
            <a:pPr algn="l">
              <a:lnSpc>
                <a:spcPct val="155000"/>
              </a:lnSpc>
              <a:spcAft>
                <a:spcPts val="600"/>
              </a:spcAft>
            </a:pPr>
            <a:r>
              <a:rPr sz="1250" b="0" i="0">
                <a:solidFill>
                  <a:srgbClr val="333E4F"/>
                </a:solidFill>
                <a:latin typeface="Helvetica Neue"/>
                <a:ea typeface="PingFang SC"/>
              </a:rPr>
              <a:t>This one property separates a demo from a system you dare put in front of a client.
With it we can auto-post and state our error bound, and route only the genuinely ambiguous items to a person.</a:t>
            </a:r>
          </a:p>
        </p:txBody>
      </p:sp>
      <p:sp>
        <p:nvSpPr>
          <p:cNvPr id="12" name="Rounded Rectangle 11"/>
          <p:cNvSpPr/>
          <p:nvPr/>
        </p:nvSpPr>
        <p:spPr>
          <a:xfrm>
            <a:off x="8101583" y="2450592"/>
            <a:ext cx="3431744" cy="3279648"/>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39327" y="2670048"/>
            <a:ext cx="3008376" cy="292608"/>
          </a:xfrm>
          <a:prstGeom prst="rect">
            <a:avLst/>
          </a:prstGeom>
          <a:noFill/>
        </p:spPr>
        <p:txBody>
          <a:bodyPr wrap="square" lIns="0" tIns="0" rIns="0" bIns="0" anchor="t">
            <a:spAutoFit/>
          </a:bodyPr>
          <a:lstStyle/>
          <a:p>
            <a:pPr algn="l">
              <a:lnSpc>
                <a:spcPct val="130000"/>
              </a:lnSpc>
              <a:spcAft>
                <a:spcPts val="600"/>
              </a:spcAft>
            </a:pPr>
            <a:r>
              <a:rPr sz="1400" b="1" i="0">
                <a:solidFill>
                  <a:srgbClr val="7A3B08"/>
                </a:solidFill>
                <a:latin typeface="Helvetica Neue"/>
                <a:ea typeface="PingFang SC"/>
              </a:rPr>
              <a:t>3 · And we know where it stalls</a:t>
            </a:r>
          </a:p>
        </p:txBody>
      </p:sp>
      <p:sp>
        <p:nvSpPr>
          <p:cNvPr id="14" name="TextBox 13"/>
          <p:cNvSpPr txBox="1"/>
          <p:nvPr/>
        </p:nvSpPr>
        <p:spPr>
          <a:xfrm>
            <a:off x="8339327" y="3090672"/>
            <a:ext cx="3008376" cy="1828962"/>
          </a:xfrm>
          <a:prstGeom prst="rect">
            <a:avLst/>
          </a:prstGeom>
          <a:noFill/>
        </p:spPr>
        <p:txBody>
          <a:bodyPr wrap="square" lIns="0" tIns="0" rIns="0" bIns="0" anchor="t">
            <a:spAutoFit/>
          </a:bodyPr>
          <a:lstStyle/>
          <a:p>
            <a:pPr algn="l">
              <a:lnSpc>
                <a:spcPct val="155000"/>
              </a:lnSpc>
              <a:spcAft>
                <a:spcPts val="600"/>
              </a:spcAft>
            </a:pPr>
            <a:r>
              <a:rPr lang="en-US" sz="1250" b="0" i="0">
                <a:solidFill>
                  <a:srgbClr val="333E4F"/>
                </a:solidFill>
                <a:latin typeface="Helvetica Neue"/>
                <a:ea typeface="PingFang SC"/>
              </a:rPr>
              <a:t>We already drive these systems with RPA, which amounts to a map: which steps are mechanical, and which ones need a person.
The bots' operation logs, plus historical closes we reach through existing engagements, mean our ground-truth set does not start from zero.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01807" y="6528816"/>
            <a:ext cx="731520" cy="237744"/>
          </a:xfrm>
          <a:prstGeom prst="rect">
            <a:avLst/>
          </a:prstGeom>
          <a:noFill/>
        </p:spPr>
        <p:txBody>
          <a:bodyPr wrap="none">
            <a:spAutoFit/>
          </a:bodyPr>
          <a:lstStyle/>
          <a:p>
            <a:pPr algn="r"/>
            <a:r>
              <a:rPr sz="1000" b="0" i="0">
                <a:solidFill>
                  <a:srgbClr val="D5DCE4"/>
                </a:solidFill>
                <a:latin typeface="Helvetica Neue"/>
                <a:ea typeface="PingFang SC"/>
              </a:rPr>
              <a:t>3</a:t>
            </a:r>
          </a:p>
        </p:txBody>
      </p:sp>
      <p:sp>
        <p:nvSpPr>
          <p:cNvPr id="3" name="TextBox 2"/>
          <p:cNvSpPr txBox="1"/>
          <p:nvPr/>
        </p:nvSpPr>
        <p:spPr>
          <a:xfrm>
            <a:off x="658368" y="420624"/>
            <a:ext cx="10874959" cy="198068"/>
          </a:xfrm>
          <a:prstGeom prst="rect">
            <a:avLst/>
          </a:prstGeom>
          <a:noFill/>
        </p:spPr>
        <p:txBody>
          <a:bodyPr wrap="square" lIns="0" tIns="0" rIns="0" bIns="0" anchor="t">
            <a:spAutoFit/>
          </a:bodyPr>
          <a:lstStyle/>
          <a:p>
            <a:pPr algn="l">
              <a:lnSpc>
                <a:spcPct val="130000"/>
              </a:lnSpc>
              <a:spcAft>
                <a:spcPts val="600"/>
              </a:spcAft>
            </a:pPr>
            <a:r>
              <a:rPr lang="en-US" sz="1100" b="1">
                <a:solidFill>
                  <a:srgbClr val="0E7490"/>
                </a:solidFill>
                <a:latin typeface="Helvetica Neue"/>
                <a:ea typeface="PingFang SC"/>
              </a:rPr>
              <a:t>Defensibility</a:t>
            </a:r>
            <a:endParaRPr sz="1100" b="1" i="0">
              <a:solidFill>
                <a:srgbClr val="0E7490"/>
              </a:solidFill>
              <a:latin typeface="Helvetica Neue"/>
              <a:ea typeface="PingFang SC"/>
            </a:endParaRPr>
          </a:p>
        </p:txBody>
      </p:sp>
      <p:sp>
        <p:nvSpPr>
          <p:cNvPr id="4" name="TextBox 3"/>
          <p:cNvSpPr txBox="1"/>
          <p:nvPr/>
        </p:nvSpPr>
        <p:spPr>
          <a:xfrm>
            <a:off x="658368" y="749808"/>
            <a:ext cx="10874959" cy="438133"/>
          </a:xfrm>
          <a:prstGeom prst="rect">
            <a:avLst/>
          </a:prstGeom>
          <a:noFill/>
        </p:spPr>
        <p:txBody>
          <a:bodyPr wrap="square" lIns="0" tIns="0" rIns="0" bIns="0" anchor="t">
            <a:spAutoFit/>
          </a:bodyPr>
          <a:lstStyle/>
          <a:p>
            <a:pPr algn="l">
              <a:lnSpc>
                <a:spcPct val="120000"/>
              </a:lnSpc>
              <a:spcAft>
                <a:spcPts val="600"/>
              </a:spcAft>
            </a:pPr>
            <a:r>
              <a:rPr lang="en-US" sz="2600" b="1">
                <a:solidFill>
                  <a:srgbClr val="111A27"/>
                </a:solidFill>
                <a:latin typeface="Helvetica Neue"/>
                <a:ea typeface="PingFang SC"/>
              </a:rPr>
              <a:t>Where the moat sits in the agent era</a:t>
            </a:r>
            <a:endParaRPr sz="2600" b="1" i="0">
              <a:solidFill>
                <a:srgbClr val="111A27"/>
              </a:solidFill>
              <a:latin typeface="Helvetica Neue"/>
              <a:ea typeface="PingFang SC"/>
            </a:endParaRPr>
          </a:p>
        </p:txBody>
      </p:sp>
      <p:sp>
        <p:nvSpPr>
          <p:cNvPr id="5" name="TextBox 4"/>
          <p:cNvSpPr txBox="1"/>
          <p:nvPr/>
        </p:nvSpPr>
        <p:spPr>
          <a:xfrm>
            <a:off x="658368" y="1719072"/>
            <a:ext cx="10424160" cy="287451"/>
          </a:xfrm>
          <a:prstGeom prst="rect">
            <a:avLst/>
          </a:prstGeom>
          <a:noFill/>
        </p:spPr>
        <p:txBody>
          <a:bodyPr wrap="square" lIns="0" tIns="0" rIns="0" bIns="0" anchor="t">
            <a:spAutoFit/>
          </a:bodyPr>
          <a:lstStyle/>
          <a:p>
            <a:pPr algn="l">
              <a:lnSpc>
                <a:spcPct val="140000"/>
              </a:lnSpc>
              <a:spcAft>
                <a:spcPts val="600"/>
              </a:spcAft>
            </a:pPr>
            <a:r>
              <a:rPr lang="en-US" sz="1500">
                <a:solidFill>
                  <a:srgbClr val="333E4F"/>
                </a:solidFill>
                <a:latin typeface="Helvetica Neue"/>
                <a:ea typeface="PingFang SC"/>
              </a:rPr>
              <a:t>When vendors differentiated on the interface, the moat was user habit and ecosystem. In the agent era, what matters more is the control framework around the model.</a:t>
            </a:r>
            <a:endParaRPr sz="1500" b="0" i="0">
              <a:solidFill>
                <a:srgbClr val="333E4F"/>
              </a:solidFill>
              <a:latin typeface="Helvetica Neue"/>
              <a:ea typeface="PingFang SC"/>
            </a:endParaRPr>
          </a:p>
        </p:txBody>
      </p:sp>
      <p:sp>
        <p:nvSpPr>
          <p:cNvPr id="6" name="TextBox 5"/>
          <p:cNvSpPr txBox="1"/>
          <p:nvPr/>
        </p:nvSpPr>
        <p:spPr>
          <a:xfrm>
            <a:off x="658368" y="2432304"/>
            <a:ext cx="2542032" cy="347472"/>
          </a:xfrm>
          <a:prstGeom prst="rect">
            <a:avLst/>
          </a:prstGeom>
          <a:noFill/>
        </p:spPr>
        <p:txBody>
          <a:bodyPr wrap="square" lIns="0" tIns="0" rIns="0" bIns="0" anchor="t">
            <a:spAutoFit/>
          </a:bodyPr>
          <a:lstStyle/>
          <a:p>
            <a:pPr algn="l">
              <a:lnSpc>
                <a:spcPct val="130000"/>
              </a:lnSpc>
              <a:spcAft>
                <a:spcPts val="600"/>
              </a:spcAft>
            </a:pPr>
            <a:r>
              <a:rPr sz="1650" b="1" i="0">
                <a:solidFill>
                  <a:srgbClr val="0E7490"/>
                </a:solidFill>
                <a:latin typeface="Helvetica Neue"/>
                <a:ea typeface="PingFang SC"/>
              </a:rPr>
              <a:t>Verification</a:t>
            </a:r>
          </a:p>
        </p:txBody>
      </p:sp>
      <p:sp>
        <p:nvSpPr>
          <p:cNvPr id="7" name="TextBox 6"/>
          <p:cNvSpPr txBox="1"/>
          <p:nvPr/>
        </p:nvSpPr>
        <p:spPr>
          <a:xfrm>
            <a:off x="658368" y="2816352"/>
            <a:ext cx="2542032" cy="831061"/>
          </a:xfrm>
          <a:prstGeom prst="rect">
            <a:avLst/>
          </a:prstGeom>
          <a:noFill/>
        </p:spPr>
        <p:txBody>
          <a:bodyPr wrap="square" lIns="0" tIns="0" rIns="0" bIns="0" anchor="t">
            <a:spAutoFit/>
          </a:bodyPr>
          <a:lstStyle/>
          <a:p>
            <a:pPr algn="l">
              <a:lnSpc>
                <a:spcPct val="150000"/>
              </a:lnSpc>
              <a:spcAft>
                <a:spcPts val="600"/>
              </a:spcAft>
            </a:pPr>
            <a:r>
              <a:rPr sz="1250" b="0" i="0">
                <a:solidFill>
                  <a:srgbClr val="333E4F"/>
                </a:solidFill>
                <a:latin typeface="Helvetica Neue"/>
                <a:ea typeface="PingFang SC"/>
              </a:rPr>
              <a:t>Anyone can prompt a model; almost nobody can prove it's right. Where an answer key exists, the verifier is the product.</a:t>
            </a:r>
          </a:p>
        </p:txBody>
      </p:sp>
      <p:sp>
        <p:nvSpPr>
          <p:cNvPr id="8" name="TextBox 7"/>
          <p:cNvSpPr txBox="1"/>
          <p:nvPr/>
        </p:nvSpPr>
        <p:spPr>
          <a:xfrm>
            <a:off x="3419856" y="2432304"/>
            <a:ext cx="2542032" cy="347472"/>
          </a:xfrm>
          <a:prstGeom prst="rect">
            <a:avLst/>
          </a:prstGeom>
          <a:noFill/>
        </p:spPr>
        <p:txBody>
          <a:bodyPr wrap="square" lIns="0" tIns="0" rIns="0" bIns="0" anchor="t">
            <a:spAutoFit/>
          </a:bodyPr>
          <a:lstStyle/>
          <a:p>
            <a:pPr algn="l">
              <a:lnSpc>
                <a:spcPct val="130000"/>
              </a:lnSpc>
              <a:spcAft>
                <a:spcPts val="600"/>
              </a:spcAft>
            </a:pPr>
            <a:r>
              <a:rPr sz="1650" b="1" i="0">
                <a:solidFill>
                  <a:srgbClr val="0E7490"/>
                </a:solidFill>
                <a:latin typeface="Helvetica Neue"/>
                <a:ea typeface="PingFang SC"/>
              </a:rPr>
              <a:t>Context</a:t>
            </a:r>
          </a:p>
        </p:txBody>
      </p:sp>
      <p:sp>
        <p:nvSpPr>
          <p:cNvPr id="9" name="TextBox 8"/>
          <p:cNvSpPr txBox="1"/>
          <p:nvPr/>
        </p:nvSpPr>
        <p:spPr>
          <a:xfrm>
            <a:off x="3419856" y="2816352"/>
            <a:ext cx="2542032" cy="831061"/>
          </a:xfrm>
          <a:prstGeom prst="rect">
            <a:avLst/>
          </a:prstGeom>
          <a:noFill/>
        </p:spPr>
        <p:txBody>
          <a:bodyPr wrap="square" lIns="0" tIns="0" rIns="0" bIns="0" anchor="t">
            <a:spAutoFit/>
          </a:bodyPr>
          <a:lstStyle/>
          <a:p>
            <a:pPr algn="l">
              <a:lnSpc>
                <a:spcPct val="150000"/>
              </a:lnSpc>
              <a:spcAft>
                <a:spcPts val="600"/>
              </a:spcAft>
            </a:pPr>
            <a:r>
              <a:rPr sz="1250" b="0" i="0">
                <a:solidFill>
                  <a:srgbClr val="333E4F"/>
                </a:solidFill>
                <a:latin typeface="Helvetica Neue"/>
                <a:ea typeface="PingFang SC"/>
              </a:rPr>
              <a:t>Policy and history accumulated per client: this vendor always books to cost of sales. Proprietary state, not a model.</a:t>
            </a:r>
          </a:p>
        </p:txBody>
      </p:sp>
      <p:sp>
        <p:nvSpPr>
          <p:cNvPr id="10" name="TextBox 9"/>
          <p:cNvSpPr txBox="1"/>
          <p:nvPr/>
        </p:nvSpPr>
        <p:spPr>
          <a:xfrm>
            <a:off x="658368" y="4097821"/>
            <a:ext cx="2542032" cy="347472"/>
          </a:xfrm>
          <a:prstGeom prst="rect">
            <a:avLst/>
          </a:prstGeom>
          <a:noFill/>
        </p:spPr>
        <p:txBody>
          <a:bodyPr wrap="square" lIns="0" tIns="0" rIns="0" bIns="0" anchor="t">
            <a:spAutoFit/>
          </a:bodyPr>
          <a:lstStyle/>
          <a:p>
            <a:pPr algn="l">
              <a:lnSpc>
                <a:spcPct val="130000"/>
              </a:lnSpc>
              <a:spcAft>
                <a:spcPts val="600"/>
              </a:spcAft>
            </a:pPr>
            <a:r>
              <a:rPr sz="1650" b="1" i="0">
                <a:solidFill>
                  <a:srgbClr val="0E7490"/>
                </a:solidFill>
                <a:latin typeface="Helvetica Neue"/>
                <a:ea typeface="PingFang SC"/>
              </a:rPr>
              <a:t>Permission</a:t>
            </a:r>
          </a:p>
        </p:txBody>
      </p:sp>
      <p:sp>
        <p:nvSpPr>
          <p:cNvPr id="11" name="TextBox 10"/>
          <p:cNvSpPr txBox="1"/>
          <p:nvPr/>
        </p:nvSpPr>
        <p:spPr>
          <a:xfrm>
            <a:off x="658368" y="4481868"/>
            <a:ext cx="2532889" cy="1405706"/>
          </a:xfrm>
          <a:prstGeom prst="rect">
            <a:avLst/>
          </a:prstGeom>
          <a:noFill/>
        </p:spPr>
        <p:txBody>
          <a:bodyPr wrap="square" lIns="0" tIns="0" rIns="0" bIns="0" anchor="t">
            <a:spAutoFit/>
          </a:bodyPr>
          <a:lstStyle/>
          <a:p>
            <a:pPr algn="l">
              <a:lnSpc>
                <a:spcPct val="150000"/>
              </a:lnSpc>
              <a:spcAft>
                <a:spcPts val="600"/>
              </a:spcAft>
            </a:pPr>
            <a:r>
              <a:rPr sz="1250" b="0" i="0">
                <a:solidFill>
                  <a:srgbClr val="333E4F"/>
                </a:solidFill>
                <a:latin typeface="Helvetica Neue"/>
                <a:ea typeface="PingFang SC"/>
              </a:rPr>
              <a:t>Write access to the ledger, the bank, the filing. Revoking it is a governance decision with a liability trail, far stickier than being used to a screen.</a:t>
            </a:r>
          </a:p>
        </p:txBody>
      </p:sp>
      <p:sp>
        <p:nvSpPr>
          <p:cNvPr id="12" name="TextBox 11"/>
          <p:cNvSpPr txBox="1"/>
          <p:nvPr/>
        </p:nvSpPr>
        <p:spPr>
          <a:xfrm>
            <a:off x="3419856" y="4097821"/>
            <a:ext cx="2542032" cy="293798"/>
          </a:xfrm>
          <a:prstGeom prst="rect">
            <a:avLst/>
          </a:prstGeom>
          <a:noFill/>
        </p:spPr>
        <p:txBody>
          <a:bodyPr wrap="square" lIns="0" tIns="0" rIns="0" bIns="0" anchor="t">
            <a:spAutoFit/>
          </a:bodyPr>
          <a:lstStyle/>
          <a:p>
            <a:pPr algn="l">
              <a:lnSpc>
                <a:spcPct val="130000"/>
              </a:lnSpc>
              <a:spcAft>
                <a:spcPts val="600"/>
              </a:spcAft>
            </a:pPr>
            <a:r>
              <a:rPr sz="1650" b="1" i="0">
                <a:solidFill>
                  <a:srgbClr val="0E7490"/>
                </a:solidFill>
                <a:latin typeface="Helvetica Neue"/>
                <a:ea typeface="PingFang SC"/>
              </a:rPr>
              <a:t>Eval</a:t>
            </a:r>
          </a:p>
        </p:txBody>
      </p:sp>
      <p:sp>
        <p:nvSpPr>
          <p:cNvPr id="13" name="TextBox 12"/>
          <p:cNvSpPr txBox="1"/>
          <p:nvPr/>
        </p:nvSpPr>
        <p:spPr>
          <a:xfrm>
            <a:off x="3419856" y="4481869"/>
            <a:ext cx="2542032" cy="1051560"/>
          </a:xfrm>
          <a:prstGeom prst="rect">
            <a:avLst/>
          </a:prstGeom>
          <a:noFill/>
        </p:spPr>
        <p:txBody>
          <a:bodyPr wrap="square" lIns="0" tIns="0" rIns="0" bIns="0" anchor="t">
            <a:spAutoFit/>
          </a:bodyPr>
          <a:lstStyle/>
          <a:p>
            <a:pPr algn="l">
              <a:lnSpc>
                <a:spcPct val="150000"/>
              </a:lnSpc>
              <a:spcAft>
                <a:spcPts val="600"/>
              </a:spcAft>
            </a:pPr>
            <a:r>
              <a:rPr sz="1250" b="0" i="0">
                <a:solidFill>
                  <a:srgbClr val="333E4F"/>
                </a:solidFill>
                <a:latin typeface="Helvetica Neue"/>
                <a:ea typeface="PingFang SC"/>
              </a:rPr>
              <a:t>A corpus with verified outcomes, used for regression. Prompts copy in an afternoon; years of reviewed closes do not.</a:t>
            </a:r>
          </a:p>
        </p:txBody>
      </p:sp>
      <p:sp>
        <p:nvSpPr>
          <p:cNvPr id="14" name="Rounded Rectangle 13"/>
          <p:cNvSpPr/>
          <p:nvPr/>
        </p:nvSpPr>
        <p:spPr>
          <a:xfrm>
            <a:off x="6464807" y="2432304"/>
            <a:ext cx="5074920" cy="2926080"/>
          </a:xfrm>
          <a:prstGeom prst="roundRect">
            <a:avLst>
              <a:gd name="adj" fmla="val 4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739128" y="2651760"/>
            <a:ext cx="4572000" cy="274320"/>
          </a:xfrm>
          <a:prstGeom prst="rect">
            <a:avLst/>
          </a:prstGeom>
          <a:noFill/>
        </p:spPr>
        <p:txBody>
          <a:bodyPr wrap="square" lIns="0" tIns="0" rIns="0" bIns="0" anchor="t">
            <a:spAutoFit/>
          </a:bodyPr>
          <a:lstStyle/>
          <a:p>
            <a:pPr algn="l">
              <a:lnSpc>
                <a:spcPct val="130000"/>
              </a:lnSpc>
              <a:spcAft>
                <a:spcPts val="600"/>
              </a:spcAft>
            </a:pPr>
            <a:r>
              <a:rPr sz="1150" b="1" i="0">
                <a:solidFill>
                  <a:srgbClr val="6B7688"/>
                </a:solidFill>
                <a:latin typeface="Helvetica Neue"/>
                <a:ea typeface="PingFang SC"/>
              </a:rPr>
              <a:t>What does not change</a:t>
            </a:r>
          </a:p>
        </p:txBody>
      </p:sp>
      <p:sp>
        <p:nvSpPr>
          <p:cNvPr id="16" name="TextBox 15"/>
          <p:cNvSpPr txBox="1"/>
          <p:nvPr/>
        </p:nvSpPr>
        <p:spPr>
          <a:xfrm>
            <a:off x="6739128" y="3035808"/>
            <a:ext cx="4572000" cy="1576457"/>
          </a:xfrm>
          <a:prstGeom prst="rect">
            <a:avLst/>
          </a:prstGeom>
          <a:noFill/>
        </p:spPr>
        <p:txBody>
          <a:bodyPr wrap="square" lIns="0" tIns="0" rIns="0" bIns="0" anchor="t">
            <a:spAutoFit/>
          </a:bodyPr>
          <a:lstStyle/>
          <a:p>
            <a:pPr algn="l">
              <a:lnSpc>
                <a:spcPct val="160000"/>
              </a:lnSpc>
              <a:spcAft>
                <a:spcPts val="600"/>
              </a:spcAft>
            </a:pPr>
            <a:r>
              <a:rPr sz="1250" b="0" i="0">
                <a:solidFill>
                  <a:srgbClr val="333E4F"/>
                </a:solidFill>
                <a:latin typeface="Helvetica Neue"/>
                <a:ea typeface="PingFang SC"/>
              </a:rPr>
              <a:t>The system of record matters more, not less. An agent needs a substrate with truth, permissions and history; what gets obsoleted is the interface, not the database.
Trust, security, confidentiality and professional standards still gate everything. What is exposed is the client's books and our own name, so the controls in this architecture are not optional.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01807" y="6528816"/>
            <a:ext cx="731520" cy="237744"/>
          </a:xfrm>
          <a:prstGeom prst="rect">
            <a:avLst/>
          </a:prstGeom>
          <a:noFill/>
        </p:spPr>
        <p:txBody>
          <a:bodyPr wrap="none">
            <a:spAutoFit/>
          </a:bodyPr>
          <a:lstStyle/>
          <a:p>
            <a:pPr algn="r"/>
            <a:r>
              <a:rPr sz="1000" b="0" i="0">
                <a:solidFill>
                  <a:srgbClr val="D5DCE4"/>
                </a:solidFill>
                <a:latin typeface="Helvetica Neue"/>
                <a:ea typeface="PingFang SC"/>
              </a:rPr>
              <a:t>4</a:t>
            </a:r>
          </a:p>
        </p:txBody>
      </p:sp>
      <p:sp>
        <p:nvSpPr>
          <p:cNvPr id="3" name="TextBox 2"/>
          <p:cNvSpPr txBox="1"/>
          <p:nvPr/>
        </p:nvSpPr>
        <p:spPr>
          <a:xfrm>
            <a:off x="658368" y="420624"/>
            <a:ext cx="10874959" cy="256032"/>
          </a:xfrm>
          <a:prstGeom prst="rect">
            <a:avLst/>
          </a:prstGeom>
          <a:noFill/>
        </p:spPr>
        <p:txBody>
          <a:bodyPr wrap="square" lIns="0" tIns="0" rIns="0" bIns="0" anchor="t">
            <a:spAutoFit/>
          </a:bodyPr>
          <a:lstStyle/>
          <a:p>
            <a:pPr algn="l">
              <a:lnSpc>
                <a:spcPct val="130000"/>
              </a:lnSpc>
              <a:spcAft>
                <a:spcPts val="600"/>
              </a:spcAft>
            </a:pPr>
            <a:r>
              <a:rPr sz="1100" b="1" i="0">
                <a:solidFill>
                  <a:srgbClr val="0E7490"/>
                </a:solidFill>
                <a:latin typeface="Helvetica Neue"/>
                <a:ea typeface="PingFang SC"/>
              </a:rPr>
              <a:t>Architecture</a:t>
            </a:r>
          </a:p>
        </p:txBody>
      </p:sp>
      <p:sp>
        <p:nvSpPr>
          <p:cNvPr id="4" name="TextBox 3"/>
          <p:cNvSpPr txBox="1"/>
          <p:nvPr/>
        </p:nvSpPr>
        <p:spPr>
          <a:xfrm>
            <a:off x="658368" y="749808"/>
            <a:ext cx="10874959" cy="924612"/>
          </a:xfrm>
          <a:prstGeom prst="rect">
            <a:avLst/>
          </a:prstGeom>
          <a:noFill/>
        </p:spPr>
        <p:txBody>
          <a:bodyPr wrap="square" lIns="0" tIns="0" rIns="0" bIns="0" anchor="t">
            <a:spAutoFit/>
          </a:bodyPr>
          <a:lstStyle/>
          <a:p>
            <a:pPr algn="l">
              <a:lnSpc>
                <a:spcPct val="120000"/>
              </a:lnSpc>
              <a:spcAft>
                <a:spcPts val="600"/>
              </a:spcAft>
            </a:pPr>
            <a:r>
              <a:rPr sz="2400" b="1" i="0">
                <a:solidFill>
                  <a:srgbClr val="111A27"/>
                </a:solidFill>
                <a:latin typeface="Helvetica Neue"/>
                <a:ea typeface="PingFang SC"/>
              </a:rPr>
              <a:t>The agent decides, deterministic code executes,
and every action is verifiable and traceable</a:t>
            </a:r>
          </a:p>
        </p:txBody>
      </p:sp>
      <p:sp>
        <p:nvSpPr>
          <p:cNvPr id="5" name="Rounded Rectangle 4"/>
          <p:cNvSpPr/>
          <p:nvPr/>
        </p:nvSpPr>
        <p:spPr>
          <a:xfrm>
            <a:off x="658368" y="2212848"/>
            <a:ext cx="9006840" cy="470916"/>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9536" y="2313432"/>
            <a:ext cx="2377440" cy="243143"/>
          </a:xfrm>
          <a:prstGeom prst="rect">
            <a:avLst/>
          </a:prstGeom>
          <a:noFill/>
        </p:spPr>
        <p:txBody>
          <a:bodyPr wrap="square" lIns="0" tIns="0" rIns="0" bIns="0" anchor="t">
            <a:spAutoFit/>
          </a:bodyPr>
          <a:lstStyle/>
          <a:p>
            <a:pPr algn="l">
              <a:lnSpc>
                <a:spcPct val="130000"/>
              </a:lnSpc>
              <a:spcAft>
                <a:spcPts val="600"/>
              </a:spcAft>
            </a:pPr>
            <a:r>
              <a:rPr sz="1350" b="1" i="0">
                <a:solidFill>
                  <a:srgbClr val="111A27"/>
                </a:solidFill>
                <a:latin typeface="Helvetica Neue"/>
                <a:ea typeface="PingFang SC"/>
              </a:rPr>
              <a:t>Client surfaces</a:t>
            </a:r>
          </a:p>
        </p:txBody>
      </p:sp>
      <p:sp>
        <p:nvSpPr>
          <p:cNvPr id="7" name="TextBox 6"/>
          <p:cNvSpPr txBox="1"/>
          <p:nvPr/>
        </p:nvSpPr>
        <p:spPr>
          <a:xfrm>
            <a:off x="3401568" y="2331720"/>
            <a:ext cx="6035040" cy="207108"/>
          </a:xfrm>
          <a:prstGeom prst="rect">
            <a:avLst/>
          </a:prstGeom>
          <a:noFill/>
        </p:spPr>
        <p:txBody>
          <a:bodyPr wrap="square" lIns="0" tIns="0" rIns="0" bIns="0" anchor="t">
            <a:spAutoFit/>
          </a:bodyPr>
          <a:lstStyle/>
          <a:p>
            <a:pPr algn="l">
              <a:lnSpc>
                <a:spcPct val="130000"/>
              </a:lnSpc>
              <a:spcAft>
                <a:spcPts val="600"/>
              </a:spcAft>
            </a:pPr>
            <a:r>
              <a:rPr sz="1150" b="0" i="0">
                <a:solidFill>
                  <a:srgbClr val="333E4F"/>
                </a:solidFill>
                <a:latin typeface="Helvetica Neue"/>
                <a:ea typeface="PingFang SC"/>
              </a:rPr>
              <a:t>exception queue · chat and email · reporting</a:t>
            </a:r>
          </a:p>
        </p:txBody>
      </p:sp>
      <p:sp>
        <p:nvSpPr>
          <p:cNvPr id="8" name="Rounded Rectangle 7"/>
          <p:cNvSpPr/>
          <p:nvPr/>
        </p:nvSpPr>
        <p:spPr>
          <a:xfrm>
            <a:off x="658368" y="2752344"/>
            <a:ext cx="9006840" cy="470916"/>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59536" y="2852927"/>
            <a:ext cx="2377440" cy="310896"/>
          </a:xfrm>
          <a:prstGeom prst="rect">
            <a:avLst/>
          </a:prstGeom>
          <a:noFill/>
        </p:spPr>
        <p:txBody>
          <a:bodyPr wrap="square" lIns="0" tIns="0" rIns="0" bIns="0" anchor="t">
            <a:spAutoFit/>
          </a:bodyPr>
          <a:lstStyle/>
          <a:p>
            <a:pPr algn="l">
              <a:lnSpc>
                <a:spcPct val="130000"/>
              </a:lnSpc>
              <a:spcAft>
                <a:spcPts val="600"/>
              </a:spcAft>
            </a:pPr>
            <a:r>
              <a:rPr sz="1350" b="1" i="0">
                <a:solidFill>
                  <a:srgbClr val="111A27"/>
                </a:solidFill>
                <a:latin typeface="Helvetica Neue"/>
                <a:ea typeface="PingFang SC"/>
              </a:rPr>
              <a:t>Verification &amp; guardrails</a:t>
            </a:r>
          </a:p>
        </p:txBody>
      </p:sp>
      <p:sp>
        <p:nvSpPr>
          <p:cNvPr id="10" name="TextBox 9"/>
          <p:cNvSpPr txBox="1"/>
          <p:nvPr/>
        </p:nvSpPr>
        <p:spPr>
          <a:xfrm>
            <a:off x="3401568" y="2871215"/>
            <a:ext cx="6035040" cy="310896"/>
          </a:xfrm>
          <a:prstGeom prst="rect">
            <a:avLst/>
          </a:prstGeom>
          <a:noFill/>
        </p:spPr>
        <p:txBody>
          <a:bodyPr wrap="square" lIns="0" tIns="0" rIns="0" bIns="0" anchor="t">
            <a:spAutoFit/>
          </a:bodyPr>
          <a:lstStyle/>
          <a:p>
            <a:pPr algn="l">
              <a:lnSpc>
                <a:spcPct val="130000"/>
              </a:lnSpc>
              <a:spcAft>
                <a:spcPts val="600"/>
              </a:spcAft>
            </a:pPr>
            <a:r>
              <a:rPr sz="1150" b="0" i="0">
                <a:solidFill>
                  <a:srgbClr val="333E4F"/>
                </a:solidFill>
                <a:latin typeface="Helvetica Neue"/>
                <a:ea typeface="PingFang SC"/>
              </a:rPr>
              <a:t>hard invariants · variance and anomaly detection · confidence routing</a:t>
            </a:r>
          </a:p>
        </p:txBody>
      </p:sp>
      <p:sp>
        <p:nvSpPr>
          <p:cNvPr id="11" name="TextBox 10"/>
          <p:cNvSpPr txBox="1"/>
          <p:nvPr/>
        </p:nvSpPr>
        <p:spPr>
          <a:xfrm>
            <a:off x="9354312" y="2862072"/>
            <a:ext cx="274320" cy="274320"/>
          </a:xfrm>
          <a:prstGeom prst="rect">
            <a:avLst/>
          </a:prstGeom>
          <a:noFill/>
        </p:spPr>
        <p:txBody>
          <a:bodyPr wrap="square" lIns="0" tIns="0" rIns="0" bIns="0" anchor="t">
            <a:spAutoFit/>
          </a:bodyPr>
          <a:lstStyle/>
          <a:p>
            <a:pPr algn="l">
              <a:lnSpc>
                <a:spcPct val="130000"/>
              </a:lnSpc>
              <a:spcAft>
                <a:spcPts val="600"/>
              </a:spcAft>
            </a:pPr>
            <a:r>
              <a:rPr sz="1200" b="1" i="0">
                <a:solidFill>
                  <a:srgbClr val="B45309"/>
                </a:solidFill>
                <a:latin typeface="Helvetica Neue"/>
                <a:ea typeface="PingFang SC"/>
              </a:rPr>
              <a:t>◆</a:t>
            </a:r>
          </a:p>
        </p:txBody>
      </p:sp>
      <p:sp>
        <p:nvSpPr>
          <p:cNvPr id="12" name="Rounded Rectangle 11"/>
          <p:cNvSpPr/>
          <p:nvPr/>
        </p:nvSpPr>
        <p:spPr>
          <a:xfrm>
            <a:off x="658368" y="3291839"/>
            <a:ext cx="9006840" cy="470916"/>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59536" y="3392423"/>
            <a:ext cx="2377440" cy="310896"/>
          </a:xfrm>
          <a:prstGeom prst="rect">
            <a:avLst/>
          </a:prstGeom>
          <a:noFill/>
        </p:spPr>
        <p:txBody>
          <a:bodyPr wrap="square" lIns="0" tIns="0" rIns="0" bIns="0" anchor="t">
            <a:spAutoFit/>
          </a:bodyPr>
          <a:lstStyle/>
          <a:p>
            <a:pPr algn="l">
              <a:lnSpc>
                <a:spcPct val="130000"/>
              </a:lnSpc>
              <a:spcAft>
                <a:spcPts val="600"/>
              </a:spcAft>
            </a:pPr>
            <a:r>
              <a:rPr sz="1350" b="1" i="0">
                <a:solidFill>
                  <a:srgbClr val="111A27"/>
                </a:solidFill>
                <a:latin typeface="Helvetica Neue"/>
                <a:ea typeface="PingFang SC"/>
              </a:rPr>
              <a:t>Agent layer</a:t>
            </a:r>
          </a:p>
        </p:txBody>
      </p:sp>
      <p:sp>
        <p:nvSpPr>
          <p:cNvPr id="14" name="TextBox 13"/>
          <p:cNvSpPr txBox="1"/>
          <p:nvPr/>
        </p:nvSpPr>
        <p:spPr>
          <a:xfrm>
            <a:off x="3401568" y="3410711"/>
            <a:ext cx="6035040" cy="207108"/>
          </a:xfrm>
          <a:prstGeom prst="rect">
            <a:avLst/>
          </a:prstGeom>
          <a:noFill/>
        </p:spPr>
        <p:txBody>
          <a:bodyPr wrap="square" lIns="0" tIns="0" rIns="0" bIns="0" anchor="t">
            <a:spAutoFit/>
          </a:bodyPr>
          <a:lstStyle/>
          <a:p>
            <a:pPr algn="l">
              <a:lnSpc>
                <a:spcPct val="130000"/>
              </a:lnSpc>
              <a:spcAft>
                <a:spcPts val="600"/>
              </a:spcAft>
            </a:pPr>
            <a:r>
              <a:rPr sz="1150" b="0" i="0">
                <a:solidFill>
                  <a:srgbClr val="333E4F"/>
                </a:solidFill>
                <a:latin typeface="Helvetica Neue"/>
                <a:ea typeface="PingFang SC"/>
              </a:rPr>
              <a:t>supervisors · extraction · classification · matching · chasing · analysis</a:t>
            </a:r>
          </a:p>
        </p:txBody>
      </p:sp>
      <p:sp>
        <p:nvSpPr>
          <p:cNvPr id="15" name="Rounded Rectangle 14"/>
          <p:cNvSpPr/>
          <p:nvPr/>
        </p:nvSpPr>
        <p:spPr>
          <a:xfrm>
            <a:off x="658368" y="3831335"/>
            <a:ext cx="9006840" cy="470916"/>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59536" y="3931920"/>
            <a:ext cx="2377440" cy="310896"/>
          </a:xfrm>
          <a:prstGeom prst="rect">
            <a:avLst/>
          </a:prstGeom>
          <a:noFill/>
        </p:spPr>
        <p:txBody>
          <a:bodyPr wrap="square" lIns="0" tIns="0" rIns="0" bIns="0" anchor="t">
            <a:spAutoFit/>
          </a:bodyPr>
          <a:lstStyle/>
          <a:p>
            <a:pPr algn="l">
              <a:lnSpc>
                <a:spcPct val="130000"/>
              </a:lnSpc>
              <a:spcAft>
                <a:spcPts val="600"/>
              </a:spcAft>
            </a:pPr>
            <a:r>
              <a:rPr sz="1350" b="1" i="0">
                <a:solidFill>
                  <a:srgbClr val="111A27"/>
                </a:solidFill>
                <a:latin typeface="Helvetica Neue"/>
                <a:ea typeface="PingFang SC"/>
              </a:rPr>
              <a:t>Durable orchestration</a:t>
            </a:r>
          </a:p>
        </p:txBody>
      </p:sp>
      <p:sp>
        <p:nvSpPr>
          <p:cNvPr id="17" name="TextBox 16"/>
          <p:cNvSpPr txBox="1"/>
          <p:nvPr/>
        </p:nvSpPr>
        <p:spPr>
          <a:xfrm>
            <a:off x="3401568" y="3950207"/>
            <a:ext cx="6035040" cy="310896"/>
          </a:xfrm>
          <a:prstGeom prst="rect">
            <a:avLst/>
          </a:prstGeom>
          <a:noFill/>
        </p:spPr>
        <p:txBody>
          <a:bodyPr wrap="square" lIns="0" tIns="0" rIns="0" bIns="0" anchor="t">
            <a:spAutoFit/>
          </a:bodyPr>
          <a:lstStyle/>
          <a:p>
            <a:pPr algn="l">
              <a:lnSpc>
                <a:spcPct val="130000"/>
              </a:lnSpc>
              <a:spcAft>
                <a:spcPts val="600"/>
              </a:spcAft>
            </a:pPr>
            <a:r>
              <a:rPr sz="1150" b="0" i="0">
                <a:solidFill>
                  <a:srgbClr val="333E4F"/>
                </a:solidFill>
                <a:latin typeface="Helvetica Neue"/>
                <a:ea typeface="PingFang SC"/>
              </a:rPr>
              <a:t>the close checklist as a resumable state machine, not free-form agency</a:t>
            </a:r>
          </a:p>
        </p:txBody>
      </p:sp>
      <p:sp>
        <p:nvSpPr>
          <p:cNvPr id="18" name="Rounded Rectangle 17"/>
          <p:cNvSpPr/>
          <p:nvPr/>
        </p:nvSpPr>
        <p:spPr>
          <a:xfrm>
            <a:off x="658368" y="4370831"/>
            <a:ext cx="9006840" cy="470916"/>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59536" y="4471416"/>
            <a:ext cx="2377440" cy="243143"/>
          </a:xfrm>
          <a:prstGeom prst="rect">
            <a:avLst/>
          </a:prstGeom>
          <a:noFill/>
        </p:spPr>
        <p:txBody>
          <a:bodyPr wrap="square" lIns="0" tIns="0" rIns="0" bIns="0" anchor="t">
            <a:spAutoFit/>
          </a:bodyPr>
          <a:lstStyle/>
          <a:p>
            <a:pPr algn="l">
              <a:lnSpc>
                <a:spcPct val="130000"/>
              </a:lnSpc>
              <a:spcAft>
                <a:spcPts val="600"/>
              </a:spcAft>
            </a:pPr>
            <a:r>
              <a:rPr sz="1350" b="1" i="0">
                <a:solidFill>
                  <a:srgbClr val="111A27"/>
                </a:solidFill>
                <a:latin typeface="Helvetica Neue"/>
                <a:ea typeface="PingFang SC"/>
              </a:rPr>
              <a:t>Tool layer</a:t>
            </a:r>
          </a:p>
        </p:txBody>
      </p:sp>
      <p:sp>
        <p:nvSpPr>
          <p:cNvPr id="20" name="TextBox 19"/>
          <p:cNvSpPr txBox="1"/>
          <p:nvPr/>
        </p:nvSpPr>
        <p:spPr>
          <a:xfrm>
            <a:off x="3401568" y="4489703"/>
            <a:ext cx="6035040" cy="310896"/>
          </a:xfrm>
          <a:prstGeom prst="rect">
            <a:avLst/>
          </a:prstGeom>
          <a:noFill/>
        </p:spPr>
        <p:txBody>
          <a:bodyPr wrap="square" lIns="0" tIns="0" rIns="0" bIns="0" anchor="t">
            <a:spAutoFit/>
          </a:bodyPr>
          <a:lstStyle/>
          <a:p>
            <a:pPr algn="l">
              <a:lnSpc>
                <a:spcPct val="130000"/>
              </a:lnSpc>
              <a:spcAft>
                <a:spcPts val="600"/>
              </a:spcAft>
            </a:pPr>
            <a:r>
              <a:rPr sz="1150" b="0" i="0">
                <a:solidFill>
                  <a:srgbClr val="333E4F"/>
                </a:solidFill>
                <a:latin typeface="Helvetica Neue"/>
                <a:ea typeface="PingFang SC"/>
              </a:rPr>
              <a:t>typed, invariant-enforcing actions: post · reconcile · close period</a:t>
            </a:r>
          </a:p>
        </p:txBody>
      </p:sp>
      <p:sp>
        <p:nvSpPr>
          <p:cNvPr id="21" name="TextBox 20"/>
          <p:cNvSpPr txBox="1"/>
          <p:nvPr/>
        </p:nvSpPr>
        <p:spPr>
          <a:xfrm>
            <a:off x="9354312" y="4480559"/>
            <a:ext cx="274320" cy="274320"/>
          </a:xfrm>
          <a:prstGeom prst="rect">
            <a:avLst/>
          </a:prstGeom>
          <a:noFill/>
        </p:spPr>
        <p:txBody>
          <a:bodyPr wrap="square" lIns="0" tIns="0" rIns="0" bIns="0" anchor="t">
            <a:spAutoFit/>
          </a:bodyPr>
          <a:lstStyle/>
          <a:p>
            <a:pPr algn="l">
              <a:lnSpc>
                <a:spcPct val="130000"/>
              </a:lnSpc>
              <a:spcAft>
                <a:spcPts val="600"/>
              </a:spcAft>
            </a:pPr>
            <a:r>
              <a:rPr sz="1200" b="1" i="0">
                <a:solidFill>
                  <a:srgbClr val="B45309"/>
                </a:solidFill>
                <a:latin typeface="Helvetica Neue"/>
                <a:ea typeface="PingFang SC"/>
              </a:rPr>
              <a:t>◆</a:t>
            </a:r>
          </a:p>
        </p:txBody>
      </p:sp>
      <p:sp>
        <p:nvSpPr>
          <p:cNvPr id="22" name="Rounded Rectangle 21"/>
          <p:cNvSpPr/>
          <p:nvPr/>
        </p:nvSpPr>
        <p:spPr>
          <a:xfrm>
            <a:off x="658368" y="4910327"/>
            <a:ext cx="9006840" cy="470916"/>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59536" y="5010912"/>
            <a:ext cx="2377440" cy="310896"/>
          </a:xfrm>
          <a:prstGeom prst="rect">
            <a:avLst/>
          </a:prstGeom>
          <a:noFill/>
        </p:spPr>
        <p:txBody>
          <a:bodyPr wrap="square" lIns="0" tIns="0" rIns="0" bIns="0" anchor="t">
            <a:spAutoFit/>
          </a:bodyPr>
          <a:lstStyle/>
          <a:p>
            <a:pPr algn="l">
              <a:lnSpc>
                <a:spcPct val="130000"/>
              </a:lnSpc>
              <a:spcAft>
                <a:spcPts val="600"/>
              </a:spcAft>
            </a:pPr>
            <a:r>
              <a:rPr sz="1350" b="1" i="0">
                <a:solidFill>
                  <a:srgbClr val="111A27"/>
                </a:solidFill>
                <a:latin typeface="Helvetica Neue"/>
                <a:ea typeface="PingFang SC"/>
              </a:rPr>
              <a:t>Ledger core</a:t>
            </a:r>
          </a:p>
        </p:txBody>
      </p:sp>
      <p:sp>
        <p:nvSpPr>
          <p:cNvPr id="24" name="TextBox 23"/>
          <p:cNvSpPr txBox="1"/>
          <p:nvPr/>
        </p:nvSpPr>
        <p:spPr>
          <a:xfrm>
            <a:off x="3401568" y="5029199"/>
            <a:ext cx="6035040" cy="310896"/>
          </a:xfrm>
          <a:prstGeom prst="rect">
            <a:avLst/>
          </a:prstGeom>
          <a:noFill/>
        </p:spPr>
        <p:txBody>
          <a:bodyPr wrap="square" lIns="0" tIns="0" rIns="0" bIns="0" anchor="t">
            <a:spAutoFit/>
          </a:bodyPr>
          <a:lstStyle/>
          <a:p>
            <a:pPr algn="l">
              <a:lnSpc>
                <a:spcPct val="130000"/>
              </a:lnSpc>
              <a:spcAft>
                <a:spcPts val="600"/>
              </a:spcAft>
            </a:pPr>
            <a:r>
              <a:rPr sz="1150" b="0" i="0">
                <a:solidFill>
                  <a:srgbClr val="333E4F"/>
                </a:solidFill>
                <a:latin typeface="Helvetica Neue"/>
                <a:ea typeface="PingFang SC"/>
              </a:rPr>
              <a:t>append-only · bitemporal · double-entry · fully traceable</a:t>
            </a:r>
          </a:p>
        </p:txBody>
      </p:sp>
      <p:sp>
        <p:nvSpPr>
          <p:cNvPr id="25" name="TextBox 24"/>
          <p:cNvSpPr txBox="1"/>
          <p:nvPr/>
        </p:nvSpPr>
        <p:spPr>
          <a:xfrm>
            <a:off x="9354312" y="5020055"/>
            <a:ext cx="274320" cy="274320"/>
          </a:xfrm>
          <a:prstGeom prst="rect">
            <a:avLst/>
          </a:prstGeom>
          <a:noFill/>
        </p:spPr>
        <p:txBody>
          <a:bodyPr wrap="square" lIns="0" tIns="0" rIns="0" bIns="0" anchor="t">
            <a:spAutoFit/>
          </a:bodyPr>
          <a:lstStyle/>
          <a:p>
            <a:pPr algn="l">
              <a:lnSpc>
                <a:spcPct val="130000"/>
              </a:lnSpc>
              <a:spcAft>
                <a:spcPts val="600"/>
              </a:spcAft>
            </a:pPr>
            <a:r>
              <a:rPr sz="1200" b="1" i="0">
                <a:solidFill>
                  <a:srgbClr val="B45309"/>
                </a:solidFill>
                <a:latin typeface="Helvetica Neue"/>
                <a:ea typeface="PingFang SC"/>
              </a:rPr>
              <a:t>◆</a:t>
            </a:r>
          </a:p>
        </p:txBody>
      </p:sp>
      <p:sp>
        <p:nvSpPr>
          <p:cNvPr id="26" name="Rounded Rectangle 25"/>
          <p:cNvSpPr/>
          <p:nvPr/>
        </p:nvSpPr>
        <p:spPr>
          <a:xfrm>
            <a:off x="658368" y="5449823"/>
            <a:ext cx="9006840" cy="470916"/>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59536" y="5550407"/>
            <a:ext cx="2377440" cy="310896"/>
          </a:xfrm>
          <a:prstGeom prst="rect">
            <a:avLst/>
          </a:prstGeom>
          <a:noFill/>
        </p:spPr>
        <p:txBody>
          <a:bodyPr wrap="square" lIns="0" tIns="0" rIns="0" bIns="0" anchor="t">
            <a:spAutoFit/>
          </a:bodyPr>
          <a:lstStyle/>
          <a:p>
            <a:pPr algn="l">
              <a:lnSpc>
                <a:spcPct val="130000"/>
              </a:lnSpc>
              <a:spcAft>
                <a:spcPts val="600"/>
              </a:spcAft>
            </a:pPr>
            <a:r>
              <a:rPr sz="1350" b="1" i="0">
                <a:solidFill>
                  <a:srgbClr val="111A27"/>
                </a:solidFill>
                <a:latin typeface="Helvetica Neue"/>
                <a:ea typeface="PingFang SC"/>
              </a:rPr>
              <a:t>Data ingestion</a:t>
            </a:r>
          </a:p>
        </p:txBody>
      </p:sp>
      <p:sp>
        <p:nvSpPr>
          <p:cNvPr id="28" name="TextBox 27"/>
          <p:cNvSpPr txBox="1"/>
          <p:nvPr/>
        </p:nvSpPr>
        <p:spPr>
          <a:xfrm>
            <a:off x="3401568" y="5568695"/>
            <a:ext cx="6035040" cy="310896"/>
          </a:xfrm>
          <a:prstGeom prst="rect">
            <a:avLst/>
          </a:prstGeom>
          <a:noFill/>
        </p:spPr>
        <p:txBody>
          <a:bodyPr wrap="square" lIns="0" tIns="0" rIns="0" bIns="0" anchor="t">
            <a:spAutoFit/>
          </a:bodyPr>
          <a:lstStyle/>
          <a:p>
            <a:pPr algn="l">
              <a:lnSpc>
                <a:spcPct val="130000"/>
              </a:lnSpc>
              <a:spcAft>
                <a:spcPts val="600"/>
              </a:spcAft>
            </a:pPr>
            <a:r>
              <a:rPr sz="1150" b="0" i="0">
                <a:solidFill>
                  <a:srgbClr val="333E4F"/>
                </a:solidFill>
                <a:latin typeface="Helvetica Neue"/>
                <a:ea typeface="PingFang SC"/>
              </a:rPr>
              <a:t>banks · cards · payroll · POS · AP inbox · documents · prior-year books</a:t>
            </a:r>
          </a:p>
        </p:txBody>
      </p:sp>
      <p:sp>
        <p:nvSpPr>
          <p:cNvPr id="29" name="Rounded Rectangle 28"/>
          <p:cNvSpPr/>
          <p:nvPr/>
        </p:nvSpPr>
        <p:spPr>
          <a:xfrm>
            <a:off x="9848088" y="2212848"/>
            <a:ext cx="1673352" cy="3707891"/>
          </a:xfrm>
          <a:prstGeom prst="roundRect">
            <a:avLst>
              <a:gd name="adj" fmla="val 4000"/>
            </a:avLst>
          </a:prstGeom>
          <a:solidFill>
            <a:srgbClr val="E8EEF2"/>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994392" y="2340864"/>
            <a:ext cx="1380744" cy="274320"/>
          </a:xfrm>
          <a:prstGeom prst="rect">
            <a:avLst/>
          </a:prstGeom>
          <a:noFill/>
        </p:spPr>
        <p:txBody>
          <a:bodyPr wrap="square" lIns="0" tIns="0" rIns="0" bIns="0" anchor="t">
            <a:spAutoFit/>
          </a:bodyPr>
          <a:lstStyle/>
          <a:p>
            <a:pPr algn="l">
              <a:lnSpc>
                <a:spcPct val="130000"/>
              </a:lnSpc>
              <a:spcAft>
                <a:spcPts val="600"/>
              </a:spcAft>
            </a:pPr>
            <a:r>
              <a:rPr sz="1050" b="1" i="0">
                <a:solidFill>
                  <a:srgbClr val="6B7688"/>
                </a:solidFill>
                <a:latin typeface="Helvetica Neue"/>
                <a:ea typeface="PingFang SC"/>
              </a:rPr>
              <a:t>Cross-cutting</a:t>
            </a:r>
          </a:p>
        </p:txBody>
      </p:sp>
      <p:sp>
        <p:nvSpPr>
          <p:cNvPr id="31" name="TextBox 30"/>
          <p:cNvSpPr txBox="1"/>
          <p:nvPr/>
        </p:nvSpPr>
        <p:spPr>
          <a:xfrm>
            <a:off x="9994392" y="2761488"/>
            <a:ext cx="1380744" cy="509948"/>
          </a:xfrm>
          <a:prstGeom prst="rect">
            <a:avLst/>
          </a:prstGeom>
          <a:noFill/>
        </p:spPr>
        <p:txBody>
          <a:bodyPr wrap="square" lIns="0" tIns="0" rIns="0" bIns="0" anchor="t">
            <a:spAutoFit/>
          </a:bodyPr>
          <a:lstStyle/>
          <a:p>
            <a:pPr algn="l">
              <a:lnSpc>
                <a:spcPct val="135000"/>
              </a:lnSpc>
              <a:spcAft>
                <a:spcPts val="600"/>
              </a:spcAft>
            </a:pPr>
            <a:r>
              <a:rPr sz="1100" b="0" i="0">
                <a:solidFill>
                  <a:srgbClr val="333E4F"/>
                </a:solidFill>
                <a:latin typeface="Helvetica Neue"/>
                <a:ea typeface="PingFang SC"/>
              </a:rPr>
              <a:t>Audit</a:t>
            </a:r>
            <a:r>
              <a:rPr lang="en-US" sz="1100" b="0" i="0">
                <a:solidFill>
                  <a:srgbClr val="333E4F"/>
                </a:solidFill>
                <a:latin typeface="Helvetica Neue"/>
                <a:ea typeface="PingFang SC"/>
              </a:rPr>
              <a:t> trail</a:t>
            </a:r>
            <a:endParaRPr lang="en-US" altLang="zh-CN" sz="1100" b="0" i="0">
              <a:solidFill>
                <a:srgbClr val="333E4F"/>
              </a:solidFill>
              <a:latin typeface="Helvetica Neue"/>
              <a:ea typeface="PingFang SC"/>
            </a:endParaRPr>
          </a:p>
          <a:p>
            <a:pPr algn="l">
              <a:lnSpc>
                <a:spcPct val="135000"/>
              </a:lnSpc>
              <a:spcAft>
                <a:spcPts val="600"/>
              </a:spcAft>
            </a:pPr>
            <a:r>
              <a:rPr lang="en-US" sz="1100" b="0" i="0">
                <a:solidFill>
                  <a:srgbClr val="333E4F"/>
                </a:solidFill>
                <a:latin typeface="Helvetica Neue"/>
                <a:ea typeface="PingFang SC"/>
              </a:rPr>
              <a:t>Logging</a:t>
            </a:r>
            <a:endParaRPr sz="1100" b="0" i="0">
              <a:solidFill>
                <a:srgbClr val="333E4F"/>
              </a:solidFill>
              <a:latin typeface="Helvetica Neue"/>
              <a:ea typeface="PingFang SC"/>
            </a:endParaRPr>
          </a:p>
        </p:txBody>
      </p:sp>
      <p:sp>
        <p:nvSpPr>
          <p:cNvPr id="32" name="TextBox 31"/>
          <p:cNvSpPr txBox="1"/>
          <p:nvPr/>
        </p:nvSpPr>
        <p:spPr>
          <a:xfrm>
            <a:off x="9994392" y="3401568"/>
            <a:ext cx="1380744" cy="509948"/>
          </a:xfrm>
          <a:prstGeom prst="rect">
            <a:avLst/>
          </a:prstGeom>
          <a:noFill/>
        </p:spPr>
        <p:txBody>
          <a:bodyPr wrap="square" lIns="0" tIns="0" rIns="0" bIns="0" anchor="t">
            <a:spAutoFit/>
          </a:bodyPr>
          <a:lstStyle/>
          <a:p>
            <a:pPr algn="l">
              <a:lnSpc>
                <a:spcPct val="135000"/>
              </a:lnSpc>
              <a:spcAft>
                <a:spcPts val="600"/>
              </a:spcAft>
            </a:pPr>
            <a:r>
              <a:rPr sz="1100" b="0" i="0">
                <a:solidFill>
                  <a:srgbClr val="333E4F"/>
                </a:solidFill>
                <a:latin typeface="Helvetica Neue"/>
                <a:ea typeface="PingFang SC"/>
              </a:rPr>
              <a:t>Eval</a:t>
            </a:r>
            <a:r>
              <a:rPr lang="en-US" sz="1100" b="0" i="0">
                <a:solidFill>
                  <a:srgbClr val="333E4F"/>
                </a:solidFill>
                <a:latin typeface="Helvetica Neue"/>
                <a:ea typeface="PingFang SC"/>
              </a:rPr>
              <a:t>uations</a:t>
            </a:r>
            <a:r>
              <a:rPr sz="1100" b="0" i="0">
                <a:solidFill>
                  <a:srgbClr val="333E4F"/>
                </a:solidFill>
                <a:latin typeface="Helvetica Neue"/>
                <a:ea typeface="PingFang SC"/>
              </a:rPr>
              <a:t>
</a:t>
            </a:r>
            <a:r>
              <a:rPr lang="en-US" sz="1100" b="0" i="0">
                <a:solidFill>
                  <a:srgbClr val="333E4F"/>
                </a:solidFill>
                <a:latin typeface="Helvetica Neue"/>
                <a:ea typeface="PingFang SC"/>
              </a:rPr>
              <a:t>R</a:t>
            </a:r>
            <a:r>
              <a:rPr sz="1100" b="0" i="0">
                <a:solidFill>
                  <a:srgbClr val="333E4F"/>
                </a:solidFill>
                <a:latin typeface="Helvetica Neue"/>
                <a:ea typeface="PingFang SC"/>
              </a:rPr>
              <a:t>eplay</a:t>
            </a:r>
          </a:p>
        </p:txBody>
      </p:sp>
      <p:sp>
        <p:nvSpPr>
          <p:cNvPr id="33" name="TextBox 32"/>
          <p:cNvSpPr txBox="1"/>
          <p:nvPr/>
        </p:nvSpPr>
        <p:spPr>
          <a:xfrm>
            <a:off x="9994392" y="4041648"/>
            <a:ext cx="1380744" cy="507768"/>
          </a:xfrm>
          <a:prstGeom prst="rect">
            <a:avLst/>
          </a:prstGeom>
          <a:noFill/>
        </p:spPr>
        <p:txBody>
          <a:bodyPr wrap="square" lIns="0" tIns="0" rIns="0" bIns="0" anchor="t">
            <a:spAutoFit/>
          </a:bodyPr>
          <a:lstStyle/>
          <a:p>
            <a:pPr algn="l">
              <a:lnSpc>
                <a:spcPct val="135000"/>
              </a:lnSpc>
              <a:spcAft>
                <a:spcPts val="600"/>
              </a:spcAft>
            </a:pPr>
            <a:r>
              <a:rPr sz="1100" b="0" i="0">
                <a:solidFill>
                  <a:srgbClr val="333E4F"/>
                </a:solidFill>
                <a:latin typeface="Helvetica Neue"/>
                <a:ea typeface="PingFang SC"/>
              </a:rPr>
              <a:t>Cost</a:t>
            </a:r>
            <a:r>
              <a:rPr lang="en-US" sz="1100" b="0" i="0">
                <a:solidFill>
                  <a:srgbClr val="333E4F"/>
                </a:solidFill>
                <a:latin typeface="Helvetica Neue"/>
                <a:ea typeface="PingFang SC"/>
              </a:rPr>
              <a:t> </a:t>
            </a:r>
            <a:r>
              <a:rPr sz="1100" b="0" i="0">
                <a:solidFill>
                  <a:srgbClr val="333E4F"/>
                </a:solidFill>
                <a:latin typeface="Helvetica Neue"/>
                <a:ea typeface="PingFang SC"/>
              </a:rPr>
              <a:t>monitoring</a:t>
            </a:r>
            <a:endParaRPr lang="en-US" sz="1100" b="0" i="0">
              <a:solidFill>
                <a:srgbClr val="333E4F"/>
              </a:solidFill>
              <a:latin typeface="Helvetica Neue"/>
              <a:ea typeface="PingFang SC"/>
            </a:endParaRPr>
          </a:p>
          <a:p>
            <a:pPr algn="l">
              <a:lnSpc>
                <a:spcPct val="135000"/>
              </a:lnSpc>
              <a:spcAft>
                <a:spcPts val="600"/>
              </a:spcAft>
            </a:pPr>
            <a:r>
              <a:rPr lang="en-US" sz="1100">
                <a:solidFill>
                  <a:srgbClr val="333E4F"/>
                </a:solidFill>
                <a:latin typeface="Helvetica Neue"/>
                <a:ea typeface="PingFang SC"/>
              </a:rPr>
              <a:t>Telemetry</a:t>
            </a:r>
            <a:endParaRPr sz="1100" b="0" i="0">
              <a:solidFill>
                <a:srgbClr val="333E4F"/>
              </a:solidFill>
              <a:latin typeface="Helvetica Neue"/>
              <a:ea typeface="PingFang SC"/>
            </a:endParaRPr>
          </a:p>
        </p:txBody>
      </p:sp>
      <p:sp>
        <p:nvSpPr>
          <p:cNvPr id="34" name="TextBox 33"/>
          <p:cNvSpPr txBox="1"/>
          <p:nvPr/>
        </p:nvSpPr>
        <p:spPr>
          <a:xfrm>
            <a:off x="9994392" y="4681728"/>
            <a:ext cx="1380744" cy="509948"/>
          </a:xfrm>
          <a:prstGeom prst="rect">
            <a:avLst/>
          </a:prstGeom>
          <a:noFill/>
        </p:spPr>
        <p:txBody>
          <a:bodyPr wrap="square" lIns="0" tIns="0" rIns="0" bIns="0" anchor="t">
            <a:spAutoFit/>
          </a:bodyPr>
          <a:lstStyle/>
          <a:p>
            <a:pPr algn="l">
              <a:lnSpc>
                <a:spcPct val="135000"/>
              </a:lnSpc>
              <a:spcAft>
                <a:spcPts val="600"/>
              </a:spcAft>
            </a:pPr>
            <a:r>
              <a:rPr sz="1100" b="0" i="0">
                <a:solidFill>
                  <a:srgbClr val="333E4F"/>
                </a:solidFill>
                <a:latin typeface="Helvetica Neue"/>
                <a:ea typeface="PingFang SC"/>
              </a:rPr>
              <a:t>Agent identity
</a:t>
            </a:r>
            <a:r>
              <a:rPr lang="en-US" sz="1100" b="0" i="0">
                <a:solidFill>
                  <a:srgbClr val="333E4F"/>
                </a:solidFill>
                <a:latin typeface="Helvetica Neue"/>
                <a:ea typeface="PingFang SC"/>
              </a:rPr>
              <a:t>L</a:t>
            </a:r>
            <a:r>
              <a:rPr sz="1100" b="0" i="0">
                <a:solidFill>
                  <a:srgbClr val="333E4F"/>
                </a:solidFill>
                <a:latin typeface="Helvetica Neue"/>
                <a:ea typeface="PingFang SC"/>
              </a:rPr>
              <a:t>east privilege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01807" y="6528816"/>
            <a:ext cx="731520" cy="237744"/>
          </a:xfrm>
          <a:prstGeom prst="rect">
            <a:avLst/>
          </a:prstGeom>
          <a:noFill/>
        </p:spPr>
        <p:txBody>
          <a:bodyPr wrap="none">
            <a:spAutoFit/>
          </a:bodyPr>
          <a:lstStyle/>
          <a:p>
            <a:pPr algn="r"/>
            <a:r>
              <a:rPr sz="1000" b="0" i="0">
                <a:solidFill>
                  <a:srgbClr val="D5DCE4"/>
                </a:solidFill>
                <a:latin typeface="Helvetica Neue"/>
                <a:ea typeface="PingFang SC"/>
              </a:rPr>
              <a:t>5</a:t>
            </a:r>
          </a:p>
        </p:txBody>
      </p:sp>
      <p:sp>
        <p:nvSpPr>
          <p:cNvPr id="3" name="TextBox 2"/>
          <p:cNvSpPr txBox="1"/>
          <p:nvPr/>
        </p:nvSpPr>
        <p:spPr>
          <a:xfrm>
            <a:off x="658368" y="420624"/>
            <a:ext cx="10874959" cy="256032"/>
          </a:xfrm>
          <a:prstGeom prst="rect">
            <a:avLst/>
          </a:prstGeom>
          <a:noFill/>
        </p:spPr>
        <p:txBody>
          <a:bodyPr wrap="square" lIns="0" tIns="0" rIns="0" bIns="0" anchor="t">
            <a:spAutoFit/>
          </a:bodyPr>
          <a:lstStyle/>
          <a:p>
            <a:pPr algn="l">
              <a:lnSpc>
                <a:spcPct val="130000"/>
              </a:lnSpc>
              <a:spcAft>
                <a:spcPts val="600"/>
              </a:spcAft>
            </a:pPr>
            <a:r>
              <a:rPr sz="1100" b="1" i="0">
                <a:solidFill>
                  <a:srgbClr val="0E7490"/>
                </a:solidFill>
                <a:latin typeface="Helvetica Neue"/>
                <a:ea typeface="PingFang SC"/>
              </a:rPr>
              <a:t>Key component · 1 / 4</a:t>
            </a:r>
          </a:p>
        </p:txBody>
      </p:sp>
      <p:sp>
        <p:nvSpPr>
          <p:cNvPr id="4" name="TextBox 3"/>
          <p:cNvSpPr txBox="1"/>
          <p:nvPr/>
        </p:nvSpPr>
        <p:spPr>
          <a:xfrm>
            <a:off x="658368" y="749808"/>
            <a:ext cx="10874959" cy="438133"/>
          </a:xfrm>
          <a:prstGeom prst="rect">
            <a:avLst/>
          </a:prstGeom>
          <a:noFill/>
        </p:spPr>
        <p:txBody>
          <a:bodyPr wrap="square" lIns="0" tIns="0" rIns="0" bIns="0" anchor="t">
            <a:spAutoFit/>
          </a:bodyPr>
          <a:lstStyle/>
          <a:p>
            <a:pPr algn="l">
              <a:lnSpc>
                <a:spcPct val="120000"/>
              </a:lnSpc>
              <a:spcAft>
                <a:spcPts val="600"/>
              </a:spcAft>
            </a:pPr>
            <a:r>
              <a:rPr sz="2600" b="1" i="0">
                <a:solidFill>
                  <a:srgbClr val="111A27"/>
                </a:solidFill>
                <a:latin typeface="Helvetica Neue"/>
                <a:ea typeface="PingFang SC"/>
              </a:rPr>
              <a:t>Ledger core: append-only, bitemporal, traceable</a:t>
            </a:r>
          </a:p>
        </p:txBody>
      </p:sp>
      <p:sp>
        <p:nvSpPr>
          <p:cNvPr id="5" name="TextBox 4"/>
          <p:cNvSpPr txBox="1"/>
          <p:nvPr/>
        </p:nvSpPr>
        <p:spPr>
          <a:xfrm>
            <a:off x="658368" y="1719072"/>
            <a:ext cx="10332720" cy="590226"/>
          </a:xfrm>
          <a:prstGeom prst="rect">
            <a:avLst/>
          </a:prstGeom>
          <a:noFill/>
        </p:spPr>
        <p:txBody>
          <a:bodyPr wrap="square" lIns="0" tIns="0" rIns="0" bIns="0" anchor="t">
            <a:spAutoFit/>
          </a:bodyPr>
          <a:lstStyle/>
          <a:p>
            <a:pPr algn="l">
              <a:lnSpc>
                <a:spcPct val="140000"/>
              </a:lnSpc>
              <a:spcAft>
                <a:spcPts val="600"/>
              </a:spcAft>
            </a:pPr>
            <a:r>
              <a:rPr sz="1450" b="0" i="0">
                <a:solidFill>
                  <a:srgbClr val="333E4F"/>
                </a:solidFill>
                <a:latin typeface="Helvetica Neue"/>
                <a:ea typeface="PingFang SC"/>
              </a:rPr>
              <a:t>Ordinary software updates a row and moves on. Three requirements that none of the accounting packages we use support make that unacceptable. All three are data-layer decisions: miss them on day one and you cannot add them later.</a:t>
            </a:r>
          </a:p>
        </p:txBody>
      </p:sp>
      <p:sp>
        <p:nvSpPr>
          <p:cNvPr id="6" name="TextBox 5"/>
          <p:cNvSpPr txBox="1"/>
          <p:nvPr/>
        </p:nvSpPr>
        <p:spPr>
          <a:xfrm>
            <a:off x="658368" y="2450592"/>
            <a:ext cx="6766560" cy="3185809"/>
          </a:xfrm>
          <a:prstGeom prst="rect">
            <a:avLst/>
          </a:prstGeom>
          <a:noFill/>
        </p:spPr>
        <p:txBody>
          <a:bodyPr wrap="square" lIns="0" tIns="0" rIns="0" bIns="0">
            <a:spAutoFit/>
          </a:bodyPr>
          <a:lstStyle/>
          <a:p>
            <a:pPr>
              <a:lnSpc>
                <a:spcPct val="135000"/>
              </a:lnSpc>
              <a:spcBef>
                <a:spcPts val="1300"/>
              </a:spcBef>
              <a:spcAft>
                <a:spcPts val="200"/>
              </a:spcAft>
            </a:pPr>
            <a:r>
              <a:rPr sz="1300" b="1" i="0">
                <a:solidFill>
                  <a:srgbClr val="111A27"/>
                </a:solidFill>
                <a:latin typeface="Helvetica Neue"/>
                <a:ea typeface="PingFang SC"/>
              </a:rPr>
              <a:t>Bitemporal: booking date separate from effective date</a:t>
            </a:r>
          </a:p>
          <a:p>
            <a:pPr>
              <a:lnSpc>
                <a:spcPct val="135000"/>
              </a:lnSpc>
              <a:spcAft>
                <a:spcPts val="800"/>
              </a:spcAft>
            </a:pPr>
            <a:r>
              <a:rPr sz="1300" b="0" i="0">
                <a:solidFill>
                  <a:srgbClr val="333E4F"/>
                </a:solidFill>
                <a:latin typeface="Helvetica Neue"/>
                <a:ea typeface="PingFang SC"/>
              </a:rPr>
              <a:t>— We have to be able to answer what the books said on 31 March. More importantly, it is the only way to replay an agent over a historical period and score it. Our entire eval capability rests on this one data-core decision.</a:t>
            </a:r>
          </a:p>
          <a:p>
            <a:pPr>
              <a:lnSpc>
                <a:spcPct val="135000"/>
              </a:lnSpc>
              <a:spcBef>
                <a:spcPts val="1300"/>
              </a:spcBef>
              <a:spcAft>
                <a:spcPts val="200"/>
              </a:spcAft>
            </a:pPr>
            <a:r>
              <a:rPr sz="1300" b="1" i="0">
                <a:solidFill>
                  <a:srgbClr val="111A27"/>
                </a:solidFill>
                <a:latin typeface="Helvetica Neue"/>
                <a:ea typeface="PingFang SC"/>
              </a:rPr>
              <a:t>Immutable: corrections are reversing entries, not edits</a:t>
            </a:r>
          </a:p>
          <a:p>
            <a:pPr>
              <a:lnSpc>
                <a:spcPct val="135000"/>
              </a:lnSpc>
              <a:spcAft>
                <a:spcPts val="800"/>
              </a:spcAft>
            </a:pPr>
            <a:r>
              <a:rPr sz="1300" b="0" i="0">
                <a:solidFill>
                  <a:srgbClr val="333E4F"/>
                </a:solidFill>
                <a:latin typeface="Helvetica Neue"/>
                <a:ea typeface="PingFang SC"/>
              </a:rPr>
              <a:t>— A ledger you can edit cannot be explained after the fact, and an agent that can silently overwrite is not worth having at any price.</a:t>
            </a:r>
          </a:p>
          <a:p>
            <a:pPr>
              <a:lnSpc>
                <a:spcPct val="135000"/>
              </a:lnSpc>
              <a:spcBef>
                <a:spcPts val="1300"/>
              </a:spcBef>
              <a:spcAft>
                <a:spcPts val="200"/>
              </a:spcAft>
            </a:pPr>
            <a:r>
              <a:rPr sz="1300" b="1" i="0">
                <a:solidFill>
                  <a:srgbClr val="111A27"/>
                </a:solidFill>
                <a:latin typeface="Helvetica Neue"/>
                <a:ea typeface="PingFang SC"/>
              </a:rPr>
              <a:t>Provenance is first-class and queryable</a:t>
            </a:r>
          </a:p>
          <a:p>
            <a:pPr>
              <a:lnSpc>
                <a:spcPct val="135000"/>
              </a:lnSpc>
              <a:spcAft>
                <a:spcPts val="800"/>
              </a:spcAft>
            </a:pPr>
            <a:r>
              <a:rPr sz="1300" b="0" i="0">
                <a:solidFill>
                  <a:srgbClr val="333E4F"/>
                </a:solidFill>
                <a:latin typeface="Helvetica Neue"/>
                <a:ea typeface="PingFang SC"/>
              </a:rPr>
              <a:t>— source document → extraction → reasoning trace → tool call → policy applied → approver → posting. In existing systems the audit log is compliance paperwork bolted on the side; here it is load-bearing, and the work product stands on it.</a:t>
            </a:r>
          </a:p>
          <a:p>
            <a:pPr>
              <a:lnSpc>
                <a:spcPct val="135000"/>
              </a:lnSpc>
              <a:spcBef>
                <a:spcPts val="800"/>
              </a:spcBef>
              <a:spcAft>
                <a:spcPts val="200"/>
              </a:spcAft>
            </a:pPr>
            <a:r>
              <a:rPr sz="1100" b="0" i="1">
                <a:solidFill>
                  <a:srgbClr val="B45309"/>
                </a:solidFill>
                <a:latin typeface="Helvetica Neue"/>
                <a:ea typeface="PingFang SC"/>
              </a:rPr>
              <a:t>Every actor is typed: human, agent or system. The agent's identity, model version and prompt version are recorded on the entry itself.</a:t>
            </a:r>
          </a:p>
        </p:txBody>
      </p:sp>
      <p:sp>
        <p:nvSpPr>
          <p:cNvPr id="7" name="Rounded Rectangle 6"/>
          <p:cNvSpPr/>
          <p:nvPr/>
        </p:nvSpPr>
        <p:spPr>
          <a:xfrm>
            <a:off x="7836408" y="2450592"/>
            <a:ext cx="3675887" cy="3246120"/>
          </a:xfrm>
          <a:prstGeom prst="roundRect">
            <a:avLst>
              <a:gd name="adj" fmla="val 4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92440" y="2651760"/>
            <a:ext cx="3154680" cy="207044"/>
          </a:xfrm>
          <a:prstGeom prst="rect">
            <a:avLst/>
          </a:prstGeom>
          <a:noFill/>
        </p:spPr>
        <p:txBody>
          <a:bodyPr wrap="square" lIns="0" tIns="0" rIns="0" bIns="0" anchor="t">
            <a:spAutoFit/>
          </a:bodyPr>
          <a:lstStyle/>
          <a:p>
            <a:pPr algn="l">
              <a:lnSpc>
                <a:spcPct val="130000"/>
              </a:lnSpc>
              <a:spcAft>
                <a:spcPts val="600"/>
              </a:spcAft>
            </a:pPr>
            <a:r>
              <a:rPr sz="1150" b="1" i="0">
                <a:solidFill>
                  <a:srgbClr val="6B7688"/>
                </a:solidFill>
                <a:latin typeface="Helvetica Neue"/>
                <a:ea typeface="PingFang SC"/>
              </a:rPr>
              <a:t>Why this one matters most</a:t>
            </a:r>
          </a:p>
        </p:txBody>
      </p:sp>
      <p:sp>
        <p:nvSpPr>
          <p:cNvPr id="9" name="TextBox 8"/>
          <p:cNvSpPr txBox="1"/>
          <p:nvPr/>
        </p:nvSpPr>
        <p:spPr>
          <a:xfrm>
            <a:off x="8092440" y="3017520"/>
            <a:ext cx="3154680" cy="1530804"/>
          </a:xfrm>
          <a:prstGeom prst="rect">
            <a:avLst/>
          </a:prstGeom>
          <a:noFill/>
        </p:spPr>
        <p:txBody>
          <a:bodyPr wrap="square" lIns="0" tIns="0" rIns="0" bIns="0" anchor="t">
            <a:spAutoFit/>
          </a:bodyPr>
          <a:lstStyle/>
          <a:p>
            <a:pPr algn="l">
              <a:lnSpc>
                <a:spcPct val="155000"/>
              </a:lnSpc>
              <a:spcAft>
                <a:spcPts val="600"/>
              </a:spcAft>
            </a:pPr>
            <a:r>
              <a:rPr sz="1250" b="0" i="0">
                <a:solidFill>
                  <a:srgbClr val="333E4F"/>
                </a:solidFill>
                <a:latin typeface="Helvetica Neue"/>
                <a:ea typeface="PingFang SC"/>
              </a:rPr>
              <a:t>This layer cannot be copied by copying our prompts.
It also decides whether a client can take this in front of an auditor or a regulator. Engagements die on one question: show me how this entry was produced. That is answerable only if the data layer was designed for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01807" y="6528816"/>
            <a:ext cx="731520" cy="237744"/>
          </a:xfrm>
          <a:prstGeom prst="rect">
            <a:avLst/>
          </a:prstGeom>
          <a:noFill/>
        </p:spPr>
        <p:txBody>
          <a:bodyPr wrap="none">
            <a:spAutoFit/>
          </a:bodyPr>
          <a:lstStyle/>
          <a:p>
            <a:pPr algn="r"/>
            <a:r>
              <a:rPr sz="1000" b="0" i="0">
                <a:solidFill>
                  <a:srgbClr val="D5DCE4"/>
                </a:solidFill>
                <a:latin typeface="Helvetica Neue"/>
                <a:ea typeface="PingFang SC"/>
              </a:rPr>
              <a:t>6</a:t>
            </a:r>
          </a:p>
        </p:txBody>
      </p:sp>
      <p:sp>
        <p:nvSpPr>
          <p:cNvPr id="3" name="TextBox 2"/>
          <p:cNvSpPr txBox="1"/>
          <p:nvPr/>
        </p:nvSpPr>
        <p:spPr>
          <a:xfrm>
            <a:off x="658368" y="420624"/>
            <a:ext cx="10874959" cy="256032"/>
          </a:xfrm>
          <a:prstGeom prst="rect">
            <a:avLst/>
          </a:prstGeom>
          <a:noFill/>
        </p:spPr>
        <p:txBody>
          <a:bodyPr wrap="square" lIns="0" tIns="0" rIns="0" bIns="0" anchor="t">
            <a:spAutoFit/>
          </a:bodyPr>
          <a:lstStyle/>
          <a:p>
            <a:pPr algn="l">
              <a:lnSpc>
                <a:spcPct val="130000"/>
              </a:lnSpc>
              <a:spcAft>
                <a:spcPts val="600"/>
              </a:spcAft>
            </a:pPr>
            <a:r>
              <a:rPr sz="1100" b="1" i="0">
                <a:solidFill>
                  <a:srgbClr val="0E7490"/>
                </a:solidFill>
                <a:latin typeface="Helvetica Neue"/>
                <a:ea typeface="PingFang SC"/>
              </a:rPr>
              <a:t>Key component · 2 / 4</a:t>
            </a:r>
          </a:p>
        </p:txBody>
      </p:sp>
      <p:sp>
        <p:nvSpPr>
          <p:cNvPr id="4" name="TextBox 3"/>
          <p:cNvSpPr txBox="1"/>
          <p:nvPr/>
        </p:nvSpPr>
        <p:spPr>
          <a:xfrm>
            <a:off x="658368" y="749808"/>
            <a:ext cx="10874959" cy="438133"/>
          </a:xfrm>
          <a:prstGeom prst="rect">
            <a:avLst/>
          </a:prstGeom>
          <a:noFill/>
        </p:spPr>
        <p:txBody>
          <a:bodyPr wrap="square" lIns="0" tIns="0" rIns="0" bIns="0" anchor="t">
            <a:spAutoFit/>
          </a:bodyPr>
          <a:lstStyle/>
          <a:p>
            <a:pPr algn="l">
              <a:lnSpc>
                <a:spcPct val="120000"/>
              </a:lnSpc>
              <a:spcAft>
                <a:spcPts val="600"/>
              </a:spcAft>
            </a:pPr>
            <a:r>
              <a:rPr sz="2600" b="1" i="0">
                <a:solidFill>
                  <a:srgbClr val="111A27"/>
                </a:solidFill>
                <a:latin typeface="Helvetica Neue"/>
                <a:ea typeface="PingFang SC"/>
              </a:rPr>
              <a:t>Tool layer: an interface for a non-deterministic caller</a:t>
            </a:r>
          </a:p>
        </p:txBody>
      </p:sp>
      <p:sp>
        <p:nvSpPr>
          <p:cNvPr id="5" name="TextBox 4"/>
          <p:cNvSpPr txBox="1"/>
          <p:nvPr/>
        </p:nvSpPr>
        <p:spPr>
          <a:xfrm>
            <a:off x="658368" y="1719072"/>
            <a:ext cx="10332720" cy="277833"/>
          </a:xfrm>
          <a:prstGeom prst="rect">
            <a:avLst/>
          </a:prstGeom>
          <a:noFill/>
        </p:spPr>
        <p:txBody>
          <a:bodyPr wrap="square" lIns="0" tIns="0" rIns="0" bIns="0" anchor="t">
            <a:spAutoFit/>
          </a:bodyPr>
          <a:lstStyle/>
          <a:p>
            <a:pPr>
              <a:lnSpc>
                <a:spcPct val="140000"/>
              </a:lnSpc>
              <a:spcAft>
                <a:spcPts val="600"/>
              </a:spcAft>
            </a:pPr>
            <a:r>
              <a:rPr sz="1450" b="0" i="0">
                <a:solidFill>
                  <a:srgbClr val="333E4F"/>
                </a:solidFill>
                <a:latin typeface="Helvetica Neue"/>
                <a:ea typeface="PingFang SC"/>
              </a:rPr>
              <a:t>This is not an API with a new name. An API assumes the caller knows what it wants; the tool layer assumes a caller that is very capable but occasionally wrong.</a:t>
            </a:r>
          </a:p>
        </p:txBody>
      </p:sp>
      <p:sp>
        <p:nvSpPr>
          <p:cNvPr id="6" name="TextBox 5"/>
          <p:cNvSpPr txBox="1"/>
          <p:nvPr/>
        </p:nvSpPr>
        <p:spPr>
          <a:xfrm>
            <a:off x="658368" y="2337378"/>
            <a:ext cx="6766560" cy="4106702"/>
          </a:xfrm>
          <a:prstGeom prst="rect">
            <a:avLst/>
          </a:prstGeom>
          <a:noFill/>
        </p:spPr>
        <p:txBody>
          <a:bodyPr wrap="square" lIns="0" tIns="0" rIns="0" bIns="0">
            <a:spAutoFit/>
          </a:bodyPr>
          <a:lstStyle/>
          <a:p>
            <a:pPr>
              <a:lnSpc>
                <a:spcPct val="135000"/>
              </a:lnSpc>
              <a:spcBef>
                <a:spcPts val="1200"/>
              </a:spcBef>
              <a:spcAft>
                <a:spcPts val="200"/>
              </a:spcAft>
            </a:pPr>
            <a:r>
              <a:rPr sz="1300" b="1" i="0">
                <a:solidFill>
                  <a:srgbClr val="111A27"/>
                </a:solidFill>
                <a:latin typeface="Helvetica Neue"/>
                <a:ea typeface="PingFang SC"/>
              </a:rPr>
              <a:t>Invariants belong to the tool, not to the caller.</a:t>
            </a:r>
          </a:p>
          <a:p>
            <a:pPr>
              <a:lnSpc>
                <a:spcPct val="135000"/>
              </a:lnSpc>
              <a:spcAft>
                <a:spcPts val="700"/>
              </a:spcAft>
            </a:pPr>
            <a:r>
              <a:rPr sz="1300" b="0" i="0">
                <a:solidFill>
                  <a:srgbClr val="333E4F"/>
                </a:solidFill>
                <a:latin typeface="Helvetica Neue"/>
                <a:ea typeface="PingFang SC"/>
              </a:rPr>
              <a:t>— Normally you trust the data your own frontend sends. Here it is inverted: every tool assumes the caller is wrong, and enforces balance, period locks and permissions itself.</a:t>
            </a:r>
          </a:p>
          <a:p>
            <a:pPr>
              <a:lnSpc>
                <a:spcPct val="135000"/>
              </a:lnSpc>
              <a:spcBef>
                <a:spcPts val="1200"/>
              </a:spcBef>
              <a:spcAft>
                <a:spcPts val="200"/>
              </a:spcAft>
            </a:pPr>
            <a:r>
              <a:rPr sz="1300" b="1" i="0">
                <a:solidFill>
                  <a:srgbClr val="111A27"/>
                </a:solidFill>
                <a:latin typeface="Helvetica Neue"/>
                <a:ea typeface="PingFang SC"/>
              </a:rPr>
              <a:t>Idempotency is mandatory, because the agent will retry.</a:t>
            </a:r>
          </a:p>
          <a:p>
            <a:pPr>
              <a:lnSpc>
                <a:spcPct val="135000"/>
              </a:lnSpc>
              <a:spcBef>
                <a:spcPts val="1200"/>
              </a:spcBef>
              <a:spcAft>
                <a:spcPts val="200"/>
              </a:spcAft>
            </a:pPr>
            <a:r>
              <a:rPr sz="1300" b="1" i="0">
                <a:solidFill>
                  <a:srgbClr val="111A27"/>
                </a:solidFill>
                <a:latin typeface="Helvetica Neue"/>
                <a:ea typeface="PingFang SC"/>
              </a:rPr>
              <a:t>Granularity takes several passes to get right.</a:t>
            </a:r>
          </a:p>
          <a:p>
            <a:pPr>
              <a:lnSpc>
                <a:spcPct val="135000"/>
              </a:lnSpc>
              <a:spcAft>
                <a:spcPts val="700"/>
              </a:spcAft>
            </a:pPr>
            <a:r>
              <a:rPr sz="1300" b="0" i="0">
                <a:solidFill>
                  <a:srgbClr val="333E4F"/>
                </a:solidFill>
                <a:latin typeface="Helvetica Neue"/>
                <a:ea typeface="PingFang SC"/>
              </a:rPr>
              <a:t>Too fine and the agent burns forty calls and loses the thread; too coarse and it cannot express intent.</a:t>
            </a:r>
          </a:p>
          <a:p>
            <a:pPr>
              <a:lnSpc>
                <a:spcPct val="135000"/>
              </a:lnSpc>
              <a:spcBef>
                <a:spcPts val="1200"/>
              </a:spcBef>
              <a:spcAft>
                <a:spcPts val="200"/>
              </a:spcAft>
            </a:pPr>
            <a:r>
              <a:rPr sz="1300" b="1" i="0">
                <a:solidFill>
                  <a:srgbClr val="111A27"/>
                </a:solidFill>
                <a:latin typeface="Helvetica Neue"/>
                <a:ea typeface="PingFang SC"/>
              </a:rPr>
              <a:t>The surface must stay small and discoverable. Context is scarce; you cannot put four hundred endpoints in front of a model.</a:t>
            </a:r>
            <a:endParaRPr lang="en-US" sz="1300" b="1" i="0">
              <a:solidFill>
                <a:srgbClr val="111A27"/>
              </a:solidFill>
              <a:latin typeface="Helvetica Neue"/>
              <a:ea typeface="PingFang SC"/>
            </a:endParaRPr>
          </a:p>
          <a:p>
            <a:pPr>
              <a:lnSpc>
                <a:spcPct val="135000"/>
              </a:lnSpc>
              <a:spcBef>
                <a:spcPts val="1200"/>
              </a:spcBef>
              <a:spcAft>
                <a:spcPts val="200"/>
              </a:spcAft>
            </a:pPr>
            <a:r>
              <a:rPr lang="zh-CN" altLang="en-US" sz="1300" b="1">
                <a:solidFill>
                  <a:srgbClr val="111A27"/>
                </a:solidFill>
                <a:latin typeface="Helvetica Neue"/>
                <a:ea typeface="PingFang SC"/>
              </a:rPr>
              <a:t>Errors must point the way, because the agent reads them and retries.</a:t>
            </a:r>
          </a:p>
          <a:p>
            <a:pPr>
              <a:lnSpc>
                <a:spcPct val="135000"/>
              </a:lnSpc>
              <a:spcAft>
                <a:spcPts val="700"/>
              </a:spcAft>
            </a:pPr>
            <a:r>
              <a:rPr lang="en-US" altLang="zh-CN" sz="1300">
                <a:solidFill>
                  <a:srgbClr val="333E4F"/>
                </a:solidFill>
                <a:latin typeface="Helvetica Neue"/>
                <a:ea typeface="PingFang SC"/>
              </a:rPr>
              <a:t>"400 invalid parameter" is worthless. "Entry unbalanced: debits 1,200.00, credits 1,150.00, difference 50.00" buys a retry that succeeds. Here, error copy is a feature, not a detail.</a:t>
            </a:r>
          </a:p>
          <a:p>
            <a:pPr>
              <a:lnSpc>
                <a:spcPct val="135000"/>
              </a:lnSpc>
              <a:spcBef>
                <a:spcPts val="1200"/>
              </a:spcBef>
              <a:spcAft>
                <a:spcPts val="200"/>
              </a:spcAft>
            </a:pPr>
            <a:endParaRPr sz="1300" b="1" i="0">
              <a:solidFill>
                <a:srgbClr val="111A27"/>
              </a:solidFill>
              <a:latin typeface="Helvetica Neue"/>
              <a:ea typeface="PingFang SC"/>
            </a:endParaRPr>
          </a:p>
        </p:txBody>
      </p:sp>
      <p:sp>
        <p:nvSpPr>
          <p:cNvPr id="7" name="Rounded Rectangle 6"/>
          <p:cNvSpPr/>
          <p:nvPr/>
        </p:nvSpPr>
        <p:spPr>
          <a:xfrm>
            <a:off x="7836408" y="2450592"/>
            <a:ext cx="3675887" cy="2542032"/>
          </a:xfrm>
          <a:prstGeom prst="roundRect">
            <a:avLst>
              <a:gd name="adj" fmla="val 4000"/>
            </a:avLst>
          </a:prstGeom>
          <a:solidFill>
            <a:srgbClr val="E4F0F4"/>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92440" y="2651760"/>
            <a:ext cx="3154680" cy="207044"/>
          </a:xfrm>
          <a:prstGeom prst="rect">
            <a:avLst/>
          </a:prstGeom>
          <a:noFill/>
        </p:spPr>
        <p:txBody>
          <a:bodyPr wrap="square" lIns="0" tIns="0" rIns="0" bIns="0" anchor="t">
            <a:spAutoFit/>
          </a:bodyPr>
          <a:lstStyle/>
          <a:p>
            <a:pPr algn="l">
              <a:lnSpc>
                <a:spcPct val="130000"/>
              </a:lnSpc>
              <a:spcAft>
                <a:spcPts val="600"/>
              </a:spcAft>
            </a:pPr>
            <a:r>
              <a:rPr lang="en-US" sz="1150" b="1" i="0">
                <a:solidFill>
                  <a:srgbClr val="0A5366"/>
                </a:solidFill>
                <a:latin typeface="Helvetica Neue"/>
                <a:ea typeface="PingFang SC"/>
              </a:rPr>
              <a:t>Principle</a:t>
            </a:r>
            <a:endParaRPr sz="1150" b="1" i="0">
              <a:solidFill>
                <a:srgbClr val="0A5366"/>
              </a:solidFill>
              <a:latin typeface="Helvetica Neue"/>
              <a:ea typeface="PingFang SC"/>
            </a:endParaRPr>
          </a:p>
        </p:txBody>
      </p:sp>
      <p:sp>
        <p:nvSpPr>
          <p:cNvPr id="9" name="TextBox 8"/>
          <p:cNvSpPr txBox="1"/>
          <p:nvPr/>
        </p:nvSpPr>
        <p:spPr>
          <a:xfrm>
            <a:off x="8092440" y="3017520"/>
            <a:ext cx="3154680" cy="1828962"/>
          </a:xfrm>
          <a:prstGeom prst="rect">
            <a:avLst/>
          </a:prstGeom>
          <a:noFill/>
        </p:spPr>
        <p:txBody>
          <a:bodyPr wrap="square" lIns="0" tIns="0" rIns="0" bIns="0" anchor="t">
            <a:spAutoFit/>
          </a:bodyPr>
          <a:lstStyle/>
          <a:p>
            <a:pPr algn="l">
              <a:lnSpc>
                <a:spcPct val="155000"/>
              </a:lnSpc>
              <a:spcAft>
                <a:spcPts val="600"/>
              </a:spcAft>
            </a:pPr>
            <a:r>
              <a:rPr lang="en-US" sz="1250" b="0" i="0">
                <a:solidFill>
                  <a:srgbClr val="333E4F"/>
                </a:solidFill>
                <a:latin typeface="Helvetica Neue"/>
                <a:ea typeface="PingFang SC"/>
              </a:rPr>
              <a:t>Never expect the model to do arithmetic in its head, or to apply a rule in its head.
Every state change goes through a typed tool call, and the tool validates it. The agent picks which tool and which arguments; correctness is the tool's job.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40000"/>
              </a:lnSpc>
            </a:pPr>
            <a:r>
              <a:rPr sz="1100" b="1" i="0">
                <a:solidFill>
                  <a:srgbClr val="0E7490"/>
                </a:solidFill>
                <a:latin typeface="Helvetica Neue"/>
                <a:ea typeface="PingFang SC"/>
              </a:rPr>
              <a:t>Key component · 3 / 4</a:t>
            </a:r>
          </a:p>
        </p:txBody>
      </p:sp>
      <p:sp>
        <p:nvSpPr>
          <p:cNvPr id="3" name="TextBox 2"/>
          <p:cNvSpPr txBox="1"/>
          <p:nvPr/>
        </p:nvSpPr>
        <p:spPr>
          <a:xfrm>
            <a:off x="658368" y="749808"/>
            <a:ext cx="10874959" cy="457200"/>
          </a:xfrm>
          <a:prstGeom prst="rect">
            <a:avLst/>
          </a:prstGeom>
          <a:noFill/>
        </p:spPr>
        <p:txBody>
          <a:bodyPr wrap="square" lIns="0" tIns="0" rIns="0" bIns="0" anchor="t">
            <a:spAutoFit/>
          </a:bodyPr>
          <a:lstStyle/>
          <a:p>
            <a:pPr algn="l">
              <a:lnSpc>
                <a:spcPct val="120000"/>
              </a:lnSpc>
            </a:pPr>
            <a:r>
              <a:rPr sz="2600" b="1" i="0">
                <a:solidFill>
                  <a:srgbClr val="111A27"/>
                </a:solidFill>
                <a:latin typeface="Helvetica Neue"/>
                <a:ea typeface="PingFang SC"/>
              </a:rPr>
              <a:t>Verification, routing, and a loop that improves with use</a:t>
            </a:r>
          </a:p>
        </p:txBody>
      </p:sp>
      <p:sp>
        <p:nvSpPr>
          <p:cNvPr id="4" name="TextBox 3"/>
          <p:cNvSpPr txBox="1"/>
          <p:nvPr/>
        </p:nvSpPr>
        <p:spPr>
          <a:xfrm>
            <a:off x="658368" y="1316736"/>
            <a:ext cx="10424160" cy="566928"/>
          </a:xfrm>
          <a:prstGeom prst="rect">
            <a:avLst/>
          </a:prstGeom>
          <a:noFill/>
        </p:spPr>
        <p:txBody>
          <a:bodyPr wrap="square" lIns="0" tIns="0" rIns="0" bIns="0" anchor="t">
            <a:spAutoFit/>
          </a:bodyPr>
          <a:lstStyle/>
          <a:p>
            <a:pPr algn="l">
              <a:lnSpc>
                <a:spcPct val="140000"/>
              </a:lnSpc>
            </a:pPr>
            <a:r>
              <a:rPr sz="1400" b="0" i="0">
                <a:solidFill>
                  <a:srgbClr val="333E4F"/>
                </a:solidFill>
                <a:latin typeface="Helvetica Neue"/>
                <a:ea typeface="PingFang SC"/>
              </a:rPr>
              <a:t>The biggest change from the software in use today: we used to check only whether the format was valid, and now we check whether a well-formed answer is actually correct. The uncertainty left over is exactly what makes the system improve.</a:t>
            </a:r>
          </a:p>
        </p:txBody>
      </p:sp>
      <p:sp>
        <p:nvSpPr>
          <p:cNvPr id="5" name="Rounded Rectangle 4"/>
          <p:cNvSpPr/>
          <p:nvPr/>
        </p:nvSpPr>
        <p:spPr>
          <a:xfrm>
            <a:off x="658368" y="1920240"/>
            <a:ext cx="3465576" cy="1874519"/>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96112" y="2121408"/>
            <a:ext cx="2990088" cy="292608"/>
          </a:xfrm>
          <a:prstGeom prst="rect">
            <a:avLst/>
          </a:prstGeom>
          <a:noFill/>
        </p:spPr>
        <p:txBody>
          <a:bodyPr wrap="square" lIns="0" tIns="0" rIns="0" bIns="0" anchor="t">
            <a:spAutoFit/>
          </a:bodyPr>
          <a:lstStyle/>
          <a:p>
            <a:pPr algn="l">
              <a:lnSpc>
                <a:spcPct val="140000"/>
              </a:lnSpc>
            </a:pPr>
            <a:r>
              <a:rPr sz="1400" b="1" i="0">
                <a:solidFill>
                  <a:srgbClr val="111A27"/>
                </a:solidFill>
                <a:latin typeface="Helvetica Neue"/>
                <a:ea typeface="PingFang SC"/>
              </a:rPr>
              <a:t>Tier 1 · Hard invariants</a:t>
            </a:r>
          </a:p>
        </p:txBody>
      </p:sp>
      <p:sp>
        <p:nvSpPr>
          <p:cNvPr id="7" name="TextBox 6"/>
          <p:cNvSpPr txBox="1"/>
          <p:nvPr/>
        </p:nvSpPr>
        <p:spPr>
          <a:xfrm>
            <a:off x="896112" y="2468880"/>
            <a:ext cx="2990088" cy="1188720"/>
          </a:xfrm>
          <a:prstGeom prst="rect">
            <a:avLst/>
          </a:prstGeom>
          <a:noFill/>
        </p:spPr>
        <p:txBody>
          <a:bodyPr wrap="square" lIns="0" tIns="0" rIns="0" bIns="0" anchor="t">
            <a:spAutoFit/>
          </a:bodyPr>
          <a:lstStyle/>
          <a:p>
            <a:pPr algn="l">
              <a:lnSpc>
                <a:spcPct val="150000"/>
              </a:lnSpc>
            </a:pPr>
            <a:r>
              <a:rPr sz="1200" b="0" i="0">
                <a:solidFill>
                  <a:srgbClr val="333E4F"/>
                </a:solidFill>
                <a:latin typeface="Helvetica Neue"/>
                <a:ea typeface="PingFang SC"/>
              </a:rPr>
              <a:t>Deterministic and non-negotiable, run before anything commits: balance, trial-balance ties, subledger to GL, reconciliation difference, duplicates, period locks. Failing is a hard block.</a:t>
            </a:r>
          </a:p>
        </p:txBody>
      </p:sp>
      <p:sp>
        <p:nvSpPr>
          <p:cNvPr id="8" name="Rounded Rectangle 7"/>
          <p:cNvSpPr/>
          <p:nvPr/>
        </p:nvSpPr>
        <p:spPr>
          <a:xfrm>
            <a:off x="4379976" y="1920240"/>
            <a:ext cx="3465576" cy="1874519"/>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617720" y="2121408"/>
            <a:ext cx="2990088" cy="292608"/>
          </a:xfrm>
          <a:prstGeom prst="rect">
            <a:avLst/>
          </a:prstGeom>
          <a:noFill/>
        </p:spPr>
        <p:txBody>
          <a:bodyPr wrap="square" lIns="0" tIns="0" rIns="0" bIns="0" anchor="t">
            <a:spAutoFit/>
          </a:bodyPr>
          <a:lstStyle/>
          <a:p>
            <a:pPr algn="l">
              <a:lnSpc>
                <a:spcPct val="140000"/>
              </a:lnSpc>
            </a:pPr>
            <a:r>
              <a:rPr sz="1400" b="1" i="0">
                <a:solidFill>
                  <a:srgbClr val="111A27"/>
                </a:solidFill>
                <a:latin typeface="Helvetica Neue"/>
                <a:ea typeface="PingFang SC"/>
              </a:rPr>
              <a:t>Tier 2 · Statistical checks</a:t>
            </a:r>
          </a:p>
        </p:txBody>
      </p:sp>
      <p:sp>
        <p:nvSpPr>
          <p:cNvPr id="10" name="TextBox 9"/>
          <p:cNvSpPr txBox="1"/>
          <p:nvPr/>
        </p:nvSpPr>
        <p:spPr>
          <a:xfrm>
            <a:off x="4617720" y="2468880"/>
            <a:ext cx="2990088" cy="1188720"/>
          </a:xfrm>
          <a:prstGeom prst="rect">
            <a:avLst/>
          </a:prstGeom>
          <a:noFill/>
        </p:spPr>
        <p:txBody>
          <a:bodyPr wrap="square" lIns="0" tIns="0" rIns="0" bIns="0" anchor="t">
            <a:spAutoFit/>
          </a:bodyPr>
          <a:lstStyle/>
          <a:p>
            <a:pPr algn="l">
              <a:lnSpc>
                <a:spcPct val="150000"/>
              </a:lnSpc>
            </a:pPr>
            <a:r>
              <a:rPr sz="1200" b="0" i="0">
                <a:solidFill>
                  <a:srgbClr val="333E4F"/>
                </a:solidFill>
                <a:latin typeface="Helvetica Neue"/>
                <a:ea typeface="PingFang SC"/>
              </a:rPr>
              <a:t>Variance against prior periods, unusual vendor and account pairings, distribution anomalies. Catches what invariants let through: format fine, content wrong. It scores, it does not decide.</a:t>
            </a:r>
          </a:p>
        </p:txBody>
      </p:sp>
      <p:sp>
        <p:nvSpPr>
          <p:cNvPr id="11" name="Rounded Rectangle 10"/>
          <p:cNvSpPr/>
          <p:nvPr/>
        </p:nvSpPr>
        <p:spPr>
          <a:xfrm>
            <a:off x="8101583" y="1920240"/>
            <a:ext cx="3465576" cy="1874519"/>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39327" y="2121408"/>
            <a:ext cx="2990088" cy="292608"/>
          </a:xfrm>
          <a:prstGeom prst="rect">
            <a:avLst/>
          </a:prstGeom>
          <a:noFill/>
        </p:spPr>
        <p:txBody>
          <a:bodyPr wrap="square" lIns="0" tIns="0" rIns="0" bIns="0" anchor="t">
            <a:spAutoFit/>
          </a:bodyPr>
          <a:lstStyle/>
          <a:p>
            <a:pPr algn="l">
              <a:lnSpc>
                <a:spcPct val="140000"/>
              </a:lnSpc>
            </a:pPr>
            <a:r>
              <a:rPr sz="1400" b="1" i="0">
                <a:solidFill>
                  <a:srgbClr val="111A27"/>
                </a:solidFill>
                <a:latin typeface="Helvetica Neue"/>
                <a:ea typeface="PingFang SC"/>
              </a:rPr>
              <a:t>Tier 3 · Routing</a:t>
            </a:r>
          </a:p>
        </p:txBody>
      </p:sp>
      <p:sp>
        <p:nvSpPr>
          <p:cNvPr id="13" name="TextBox 12"/>
          <p:cNvSpPr txBox="1"/>
          <p:nvPr/>
        </p:nvSpPr>
        <p:spPr>
          <a:xfrm>
            <a:off x="8339327" y="2468880"/>
            <a:ext cx="2990088" cy="1188720"/>
          </a:xfrm>
          <a:prstGeom prst="rect">
            <a:avLst/>
          </a:prstGeom>
          <a:noFill/>
        </p:spPr>
        <p:txBody>
          <a:bodyPr wrap="square" lIns="0" tIns="0" rIns="0" bIns="0" anchor="t">
            <a:spAutoFit/>
          </a:bodyPr>
          <a:lstStyle/>
          <a:p>
            <a:pPr algn="l">
              <a:lnSpc>
                <a:spcPct val="150000"/>
              </a:lnSpc>
            </a:pPr>
            <a:r>
              <a:rPr sz="1200" b="0" i="0">
                <a:solidFill>
                  <a:srgbClr val="333E4F"/>
                </a:solidFill>
                <a:latin typeface="Helvetica Neue"/>
                <a:ea typeface="PingFang SC"/>
              </a:rPr>
              <a:t>Above the threshold, post automatically; below it, into the review queue with full context. Confidence comes from the first two tiers plus agreement across independent runs.</a:t>
            </a:r>
          </a:p>
        </p:txBody>
      </p:sp>
      <p:sp>
        <p:nvSpPr>
          <p:cNvPr id="14" name="TextBox 13"/>
          <p:cNvSpPr txBox="1"/>
          <p:nvPr/>
        </p:nvSpPr>
        <p:spPr>
          <a:xfrm>
            <a:off x="658368" y="3886200"/>
            <a:ext cx="10874959" cy="274320"/>
          </a:xfrm>
          <a:prstGeom prst="rect">
            <a:avLst/>
          </a:prstGeom>
          <a:noFill/>
        </p:spPr>
        <p:txBody>
          <a:bodyPr wrap="square" lIns="0" tIns="0" rIns="0" bIns="0" anchor="t">
            <a:spAutoFit/>
          </a:bodyPr>
          <a:lstStyle/>
          <a:p>
            <a:pPr algn="l">
              <a:lnSpc>
                <a:spcPct val="140000"/>
              </a:lnSpc>
            </a:pPr>
            <a:r>
              <a:rPr sz="1200" b="0" i="0">
                <a:solidFill>
                  <a:srgbClr val="6B7688"/>
                </a:solidFill>
                <a:latin typeface="Helvetica Neue"/>
                <a:ea typeface="PingFang SC"/>
              </a:rPr>
              <a:t>Confidence comes from the first two tiers and from agreement across independent runs, never from asking the model how sure it is.</a:t>
            </a:r>
          </a:p>
        </p:txBody>
      </p:sp>
      <p:sp>
        <p:nvSpPr>
          <p:cNvPr id="15" name="TextBox 14"/>
          <p:cNvSpPr txBox="1"/>
          <p:nvPr/>
        </p:nvSpPr>
        <p:spPr>
          <a:xfrm>
            <a:off x="658368" y="4133088"/>
            <a:ext cx="3657600" cy="256032"/>
          </a:xfrm>
          <a:prstGeom prst="rect">
            <a:avLst/>
          </a:prstGeom>
          <a:noFill/>
        </p:spPr>
        <p:txBody>
          <a:bodyPr wrap="square" lIns="0" tIns="0" rIns="0" bIns="0" anchor="t">
            <a:spAutoFit/>
          </a:bodyPr>
          <a:lstStyle/>
          <a:p>
            <a:pPr algn="l">
              <a:lnSpc>
                <a:spcPct val="140000"/>
              </a:lnSpc>
            </a:pPr>
            <a:r>
              <a:rPr sz="1150" b="1" i="0">
                <a:solidFill>
                  <a:srgbClr val="0E7490"/>
                </a:solidFill>
                <a:latin typeface="Helvetica Neue"/>
                <a:ea typeface="PingFang SC"/>
              </a:rPr>
              <a:t>The leftover uncertainty runs this loop</a:t>
            </a:r>
          </a:p>
        </p:txBody>
      </p:sp>
      <p:sp>
        <p:nvSpPr>
          <p:cNvPr id="16" name="Rounded Rectangle 15"/>
          <p:cNvSpPr/>
          <p:nvPr/>
        </p:nvSpPr>
        <p:spPr>
          <a:xfrm>
            <a:off x="658368" y="4462272"/>
            <a:ext cx="2551176" cy="13716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59536" y="4608576"/>
            <a:ext cx="2148840" cy="256032"/>
          </a:xfrm>
          <a:prstGeom prst="rect">
            <a:avLst/>
          </a:prstGeom>
          <a:noFill/>
        </p:spPr>
        <p:txBody>
          <a:bodyPr wrap="square" lIns="0" tIns="0" rIns="0" bIns="0" anchor="t">
            <a:spAutoFit/>
          </a:bodyPr>
          <a:lstStyle/>
          <a:p>
            <a:pPr algn="l">
              <a:lnSpc>
                <a:spcPct val="140000"/>
              </a:lnSpc>
            </a:pPr>
            <a:r>
              <a:rPr sz="1250" b="1" i="0">
                <a:solidFill>
                  <a:srgbClr val="0E7490"/>
                </a:solidFill>
                <a:latin typeface="Helvetica Neue"/>
                <a:ea typeface="PingFang SC"/>
              </a:rPr>
              <a:t>① Route to a person</a:t>
            </a:r>
          </a:p>
        </p:txBody>
      </p:sp>
      <p:sp>
        <p:nvSpPr>
          <p:cNvPr id="18" name="TextBox 17"/>
          <p:cNvSpPr txBox="1"/>
          <p:nvPr/>
        </p:nvSpPr>
        <p:spPr>
          <a:xfrm>
            <a:off x="859536" y="4937760"/>
            <a:ext cx="2148840" cy="786384"/>
          </a:xfrm>
          <a:prstGeom prst="rect">
            <a:avLst/>
          </a:prstGeom>
          <a:noFill/>
        </p:spPr>
        <p:txBody>
          <a:bodyPr wrap="square" lIns="0" tIns="0" rIns="0" bIns="0" anchor="t">
            <a:spAutoFit/>
          </a:bodyPr>
          <a:lstStyle/>
          <a:p>
            <a:pPr algn="l">
              <a:lnSpc>
                <a:spcPct val="145000"/>
              </a:lnSpc>
            </a:pPr>
            <a:r>
              <a:rPr sz="1100" b="0" i="0">
                <a:solidFill>
                  <a:srgbClr val="333E4F"/>
                </a:solidFill>
                <a:latin typeface="Helvetica Neue"/>
                <a:ea typeface="PingFang SC"/>
              </a:rPr>
              <a:t>Below-threshold items reach the reviewer with full context, not a screen to hunt through.</a:t>
            </a:r>
          </a:p>
        </p:txBody>
      </p:sp>
      <p:sp>
        <p:nvSpPr>
          <p:cNvPr id="19" name="TextBox 18"/>
          <p:cNvSpPr txBox="1"/>
          <p:nvPr/>
        </p:nvSpPr>
        <p:spPr>
          <a:xfrm>
            <a:off x="3246120" y="5010912"/>
            <a:ext cx="237744" cy="274320"/>
          </a:xfrm>
          <a:prstGeom prst="rect">
            <a:avLst/>
          </a:prstGeom>
          <a:noFill/>
        </p:spPr>
        <p:txBody>
          <a:bodyPr wrap="square" lIns="0" tIns="0" rIns="0" bIns="0" anchor="t">
            <a:spAutoFit/>
          </a:bodyPr>
          <a:lstStyle/>
          <a:p>
            <a:pPr algn="ctr">
              <a:lnSpc>
                <a:spcPct val="140000"/>
              </a:lnSpc>
            </a:pPr>
            <a:r>
              <a:rPr sz="1400" b="1" i="0">
                <a:solidFill>
                  <a:srgbClr val="B45309"/>
                </a:solidFill>
                <a:latin typeface="Helvetica Neue"/>
                <a:ea typeface="PingFang SC"/>
              </a:rPr>
              <a:t>→</a:t>
            </a:r>
          </a:p>
        </p:txBody>
      </p:sp>
      <p:sp>
        <p:nvSpPr>
          <p:cNvPr id="20" name="Rounded Rectangle 19"/>
          <p:cNvSpPr/>
          <p:nvPr/>
        </p:nvSpPr>
        <p:spPr>
          <a:xfrm>
            <a:off x="3468319" y="4462272"/>
            <a:ext cx="2551176" cy="13716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669487" y="4608576"/>
            <a:ext cx="2148840" cy="256032"/>
          </a:xfrm>
          <a:prstGeom prst="rect">
            <a:avLst/>
          </a:prstGeom>
          <a:noFill/>
        </p:spPr>
        <p:txBody>
          <a:bodyPr wrap="square" lIns="0" tIns="0" rIns="0" bIns="0" anchor="t">
            <a:spAutoFit/>
          </a:bodyPr>
          <a:lstStyle/>
          <a:p>
            <a:pPr algn="l">
              <a:lnSpc>
                <a:spcPct val="140000"/>
              </a:lnSpc>
            </a:pPr>
            <a:r>
              <a:rPr sz="1250" b="1" i="0">
                <a:solidFill>
                  <a:srgbClr val="0E7490"/>
                </a:solidFill>
                <a:latin typeface="Helvetica Neue"/>
                <a:ea typeface="PingFang SC"/>
              </a:rPr>
              <a:t>② Structure the fix</a:t>
            </a:r>
          </a:p>
        </p:txBody>
      </p:sp>
      <p:sp>
        <p:nvSpPr>
          <p:cNvPr id="22" name="TextBox 21"/>
          <p:cNvSpPr txBox="1"/>
          <p:nvPr/>
        </p:nvSpPr>
        <p:spPr>
          <a:xfrm>
            <a:off x="3669487" y="4937760"/>
            <a:ext cx="2148840" cy="786384"/>
          </a:xfrm>
          <a:prstGeom prst="rect">
            <a:avLst/>
          </a:prstGeom>
          <a:noFill/>
        </p:spPr>
        <p:txBody>
          <a:bodyPr wrap="square" lIns="0" tIns="0" rIns="0" bIns="0" anchor="t">
            <a:spAutoFit/>
          </a:bodyPr>
          <a:lstStyle/>
          <a:p>
            <a:pPr algn="l">
              <a:lnSpc>
                <a:spcPct val="145000"/>
              </a:lnSpc>
            </a:pPr>
            <a:r>
              <a:rPr sz="1100" b="0" i="0">
                <a:solidFill>
                  <a:srgbClr val="333E4F"/>
                </a:solidFill>
                <a:latin typeface="Helvetica Neue"/>
                <a:ea typeface="PingFang SC"/>
              </a:rPr>
              <a:t>Each fix becomes an explicit rule, versioned and scoped, not a silent vector entry.</a:t>
            </a:r>
          </a:p>
        </p:txBody>
      </p:sp>
      <p:sp>
        <p:nvSpPr>
          <p:cNvPr id="23" name="TextBox 22"/>
          <p:cNvSpPr txBox="1"/>
          <p:nvPr/>
        </p:nvSpPr>
        <p:spPr>
          <a:xfrm>
            <a:off x="6056071" y="5010912"/>
            <a:ext cx="237744" cy="274320"/>
          </a:xfrm>
          <a:prstGeom prst="rect">
            <a:avLst/>
          </a:prstGeom>
          <a:noFill/>
        </p:spPr>
        <p:txBody>
          <a:bodyPr wrap="square" lIns="0" tIns="0" rIns="0" bIns="0" anchor="t">
            <a:spAutoFit/>
          </a:bodyPr>
          <a:lstStyle/>
          <a:p>
            <a:pPr algn="ctr">
              <a:lnSpc>
                <a:spcPct val="140000"/>
              </a:lnSpc>
            </a:pPr>
            <a:r>
              <a:rPr sz="1400" b="1" i="0">
                <a:solidFill>
                  <a:srgbClr val="B45309"/>
                </a:solidFill>
                <a:latin typeface="Helvetica Neue"/>
                <a:ea typeface="PingFang SC"/>
              </a:rPr>
              <a:t>→</a:t>
            </a:r>
          </a:p>
        </p:txBody>
      </p:sp>
      <p:sp>
        <p:nvSpPr>
          <p:cNvPr id="24" name="Rounded Rectangle 23"/>
          <p:cNvSpPr/>
          <p:nvPr/>
        </p:nvSpPr>
        <p:spPr>
          <a:xfrm>
            <a:off x="6278270" y="4462272"/>
            <a:ext cx="2551176" cy="13716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479438" y="4608576"/>
            <a:ext cx="2148840" cy="256032"/>
          </a:xfrm>
          <a:prstGeom prst="rect">
            <a:avLst/>
          </a:prstGeom>
          <a:noFill/>
        </p:spPr>
        <p:txBody>
          <a:bodyPr wrap="square" lIns="0" tIns="0" rIns="0" bIns="0" anchor="t">
            <a:spAutoFit/>
          </a:bodyPr>
          <a:lstStyle/>
          <a:p>
            <a:pPr algn="l">
              <a:lnSpc>
                <a:spcPct val="140000"/>
              </a:lnSpc>
            </a:pPr>
            <a:r>
              <a:rPr sz="1250" b="1" i="0">
                <a:solidFill>
                  <a:srgbClr val="0E7490"/>
                </a:solidFill>
                <a:latin typeface="Helvetica Neue"/>
                <a:ea typeface="PingFang SC"/>
              </a:rPr>
              <a:t>③ Feed corpus and replay</a:t>
            </a:r>
          </a:p>
        </p:txBody>
      </p:sp>
      <p:sp>
        <p:nvSpPr>
          <p:cNvPr id="26" name="TextBox 25"/>
          <p:cNvSpPr txBox="1"/>
          <p:nvPr/>
        </p:nvSpPr>
        <p:spPr>
          <a:xfrm>
            <a:off x="6479438" y="4937760"/>
            <a:ext cx="2148840" cy="786384"/>
          </a:xfrm>
          <a:prstGeom prst="rect">
            <a:avLst/>
          </a:prstGeom>
          <a:noFill/>
        </p:spPr>
        <p:txBody>
          <a:bodyPr wrap="square" lIns="0" tIns="0" rIns="0" bIns="0" anchor="t">
            <a:spAutoFit/>
          </a:bodyPr>
          <a:lstStyle/>
          <a:p>
            <a:pPr algn="l">
              <a:lnSpc>
                <a:spcPct val="145000"/>
              </a:lnSpc>
            </a:pPr>
            <a:r>
              <a:rPr sz="1100" b="0" i="0">
                <a:solidFill>
                  <a:srgbClr val="333E4F"/>
                </a:solidFill>
                <a:latin typeface="Helvetica Neue"/>
                <a:ea typeface="PingFang SC"/>
              </a:rPr>
              <a:t>Rules and fixes enter the corpus. Replaying real closes gives a score.</a:t>
            </a:r>
          </a:p>
        </p:txBody>
      </p:sp>
      <p:sp>
        <p:nvSpPr>
          <p:cNvPr id="27" name="TextBox 26"/>
          <p:cNvSpPr txBox="1"/>
          <p:nvPr/>
        </p:nvSpPr>
        <p:spPr>
          <a:xfrm>
            <a:off x="8866022" y="5010912"/>
            <a:ext cx="237744" cy="274320"/>
          </a:xfrm>
          <a:prstGeom prst="rect">
            <a:avLst/>
          </a:prstGeom>
          <a:noFill/>
        </p:spPr>
        <p:txBody>
          <a:bodyPr wrap="square" lIns="0" tIns="0" rIns="0" bIns="0" anchor="t">
            <a:spAutoFit/>
          </a:bodyPr>
          <a:lstStyle/>
          <a:p>
            <a:pPr algn="ctr">
              <a:lnSpc>
                <a:spcPct val="140000"/>
              </a:lnSpc>
            </a:pPr>
            <a:r>
              <a:rPr sz="1400" b="1" i="0">
                <a:solidFill>
                  <a:srgbClr val="B45309"/>
                </a:solidFill>
                <a:latin typeface="Helvetica Neue"/>
                <a:ea typeface="PingFang SC"/>
              </a:rPr>
              <a:t>→</a:t>
            </a:r>
          </a:p>
        </p:txBody>
      </p:sp>
      <p:sp>
        <p:nvSpPr>
          <p:cNvPr id="28" name="Rounded Rectangle 27"/>
          <p:cNvSpPr/>
          <p:nvPr/>
        </p:nvSpPr>
        <p:spPr>
          <a:xfrm>
            <a:off x="9088221" y="4462272"/>
            <a:ext cx="2551176" cy="13716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289389" y="4608576"/>
            <a:ext cx="2148840" cy="256032"/>
          </a:xfrm>
          <a:prstGeom prst="rect">
            <a:avLst/>
          </a:prstGeom>
          <a:noFill/>
        </p:spPr>
        <p:txBody>
          <a:bodyPr wrap="square" lIns="0" tIns="0" rIns="0" bIns="0" anchor="t">
            <a:spAutoFit/>
          </a:bodyPr>
          <a:lstStyle/>
          <a:p>
            <a:pPr algn="l">
              <a:lnSpc>
                <a:spcPct val="140000"/>
              </a:lnSpc>
            </a:pPr>
            <a:r>
              <a:rPr sz="1250" b="1" i="0">
                <a:solidFill>
                  <a:srgbClr val="0E7490"/>
                </a:solidFill>
                <a:latin typeface="Helvetica Neue"/>
                <a:ea typeface="PingFang SC"/>
              </a:rPr>
              <a:t>④ Ask less next time</a:t>
            </a:r>
          </a:p>
        </p:txBody>
      </p:sp>
      <p:sp>
        <p:nvSpPr>
          <p:cNvPr id="30" name="TextBox 29"/>
          <p:cNvSpPr txBox="1"/>
          <p:nvPr/>
        </p:nvSpPr>
        <p:spPr>
          <a:xfrm>
            <a:off x="9289389" y="4937760"/>
            <a:ext cx="2148840" cy="786384"/>
          </a:xfrm>
          <a:prstGeom prst="rect">
            <a:avLst/>
          </a:prstGeom>
          <a:noFill/>
        </p:spPr>
        <p:txBody>
          <a:bodyPr wrap="square" lIns="0" tIns="0" rIns="0" bIns="0" anchor="t">
            <a:spAutoFit/>
          </a:bodyPr>
          <a:lstStyle/>
          <a:p>
            <a:pPr algn="l">
              <a:lnSpc>
                <a:spcPct val="145000"/>
              </a:lnSpc>
            </a:pPr>
            <a:r>
              <a:rPr sz="1100" b="0" i="0">
                <a:solidFill>
                  <a:srgbClr val="333E4F"/>
                </a:solidFill>
                <a:latin typeface="Helvetica Neue"/>
                <a:ea typeface="PingFang SC"/>
              </a:rPr>
              <a:t>Rules hit first, so the model guesses less. Changes clear regression before clients.</a:t>
            </a:r>
          </a:p>
        </p:txBody>
      </p:sp>
      <p:sp>
        <p:nvSpPr>
          <p:cNvPr id="31" name="Rounded Rectangle 30"/>
          <p:cNvSpPr/>
          <p:nvPr/>
        </p:nvSpPr>
        <p:spPr>
          <a:xfrm>
            <a:off x="658368" y="5961888"/>
            <a:ext cx="10874959" cy="457200"/>
          </a:xfrm>
          <a:prstGeom prst="roundRect">
            <a:avLst>
              <a:gd name="adj" fmla="val 4000"/>
            </a:avLst>
          </a:prstGeom>
          <a:solidFill>
            <a:srgbClr val="111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50976" y="6071616"/>
            <a:ext cx="10289743" cy="274320"/>
          </a:xfrm>
          <a:prstGeom prst="rect">
            <a:avLst/>
          </a:prstGeom>
          <a:noFill/>
        </p:spPr>
        <p:txBody>
          <a:bodyPr wrap="square" lIns="0" tIns="0" rIns="0" bIns="0" anchor="t">
            <a:spAutoFit/>
          </a:bodyPr>
          <a:lstStyle/>
          <a:p>
            <a:pPr algn="l">
              <a:lnSpc>
                <a:spcPct val="135000"/>
              </a:lnSpc>
            </a:pPr>
            <a:r>
              <a:rPr sz="1300" b="1" i="0">
                <a:solidFill>
                  <a:srgbClr val="FFFFFF"/>
                </a:solidFill>
                <a:latin typeface="Helvetica Neue"/>
                <a:ea typeface="PingFang SC"/>
              </a:rPr>
              <a:t>Every item a client reviews is one the system stops asking about. Auto-post climbs, review volume falls.</a:t>
            </a:r>
          </a:p>
        </p:txBody>
      </p:sp>
      <p:sp>
        <p:nvSpPr>
          <p:cNvPr id="33" name="TextBox 32"/>
          <p:cNvSpPr txBox="1"/>
          <p:nvPr/>
        </p:nvSpPr>
        <p:spPr>
          <a:xfrm>
            <a:off x="10801807" y="6528816"/>
            <a:ext cx="731520" cy="237744"/>
          </a:xfrm>
          <a:prstGeom prst="rect">
            <a:avLst/>
          </a:prstGeom>
          <a:noFill/>
        </p:spPr>
        <p:txBody>
          <a:bodyPr wrap="none" lIns="0" tIns="0" rIns="0" bIns="0">
            <a:spAutoFit/>
          </a:bodyPr>
          <a:lstStyle/>
          <a:p>
            <a:pPr algn="r"/>
            <a:r>
              <a:rPr sz="1000">
                <a:solidFill>
                  <a:srgbClr val="D5DCE4"/>
                </a:solidFill>
                <a:latin typeface="Helvetica Neue"/>
                <a:ea typeface="PingFang SC"/>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spAutoFit/>
          </a:bodyPr>
          <a:lstStyle/>
          <a:p>
            <a:pPr algn="l">
              <a:lnSpc>
                <a:spcPct val="145000"/>
              </a:lnSpc>
            </a:pPr>
            <a:r>
              <a:rPr sz="1100" b="1">
                <a:solidFill>
                  <a:srgbClr val="0E7490"/>
                </a:solidFill>
                <a:latin typeface="Helvetica Neue"/>
                <a:ea typeface="PingFang SC"/>
              </a:rPr>
              <a:t>Key component · 4 / 4</a:t>
            </a:r>
          </a:p>
        </p:txBody>
      </p:sp>
      <p:sp>
        <p:nvSpPr>
          <p:cNvPr id="3" name="TextBox 2"/>
          <p:cNvSpPr txBox="1"/>
          <p:nvPr/>
        </p:nvSpPr>
        <p:spPr>
          <a:xfrm>
            <a:off x="658368" y="749808"/>
            <a:ext cx="10874959" cy="457200"/>
          </a:xfrm>
          <a:prstGeom prst="rect">
            <a:avLst/>
          </a:prstGeom>
          <a:noFill/>
        </p:spPr>
        <p:txBody>
          <a:bodyPr wrap="square" lIns="0" tIns="0" rIns="0" bIns="0">
            <a:spAutoFit/>
          </a:bodyPr>
          <a:lstStyle/>
          <a:p>
            <a:pPr algn="l">
              <a:lnSpc>
                <a:spcPct val="120000"/>
              </a:lnSpc>
            </a:pPr>
            <a:r>
              <a:rPr sz="2600" b="1">
                <a:solidFill>
                  <a:srgbClr val="111A27"/>
                </a:solidFill>
                <a:latin typeface="Helvetica Neue"/>
                <a:ea typeface="PingFang SC"/>
              </a:rPr>
              <a:t>Interfaces: generated on demand, owned by the customer</a:t>
            </a:r>
          </a:p>
        </p:txBody>
      </p:sp>
      <p:sp>
        <p:nvSpPr>
          <p:cNvPr id="4" name="TextBox 3"/>
          <p:cNvSpPr txBox="1"/>
          <p:nvPr/>
        </p:nvSpPr>
        <p:spPr>
          <a:xfrm>
            <a:off x="658368" y="1316736"/>
            <a:ext cx="10424160" cy="566928"/>
          </a:xfrm>
          <a:prstGeom prst="rect">
            <a:avLst/>
          </a:prstGeom>
          <a:noFill/>
        </p:spPr>
        <p:txBody>
          <a:bodyPr wrap="square" lIns="0" tIns="0" rIns="0" bIns="0">
            <a:spAutoFit/>
          </a:bodyPr>
          <a:lstStyle/>
          <a:p>
            <a:pPr algn="l">
              <a:lnSpc>
                <a:spcPct val="140000"/>
              </a:lnSpc>
            </a:pPr>
            <a:r>
              <a:rPr sz="1400" b="0">
                <a:solidFill>
                  <a:srgbClr val="333E4F"/>
                </a:solidFill>
                <a:latin typeface="Helvetica Neue"/>
                <a:ea typeface="PingFang SC"/>
              </a:rPr>
              <a:t>Traditional software has to decide what the interface looks like first, then fit every customer into that one interface. If interfaces can be generated on demand and then persisted for reuse, that constraint disappears.</a:t>
            </a:r>
          </a:p>
        </p:txBody>
      </p:sp>
      <p:sp>
        <p:nvSpPr>
          <p:cNvPr id="5" name="Rounded Rectangle 4"/>
          <p:cNvSpPr/>
          <p:nvPr/>
        </p:nvSpPr>
        <p:spPr>
          <a:xfrm>
            <a:off x="658368" y="1965960"/>
            <a:ext cx="2551176" cy="18288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9536" y="2121408"/>
            <a:ext cx="2148840" cy="256032"/>
          </a:xfrm>
          <a:prstGeom prst="rect">
            <a:avLst/>
          </a:prstGeom>
          <a:noFill/>
        </p:spPr>
        <p:txBody>
          <a:bodyPr wrap="square" lIns="0" tIns="0" rIns="0" bIns="0">
            <a:spAutoFit/>
          </a:bodyPr>
          <a:lstStyle/>
          <a:p>
            <a:pPr algn="l">
              <a:lnSpc>
                <a:spcPct val="145000"/>
              </a:lnSpc>
            </a:pPr>
            <a:r>
              <a:rPr sz="1250" b="1">
                <a:solidFill>
                  <a:srgbClr val="0E7490"/>
                </a:solidFill>
                <a:latin typeface="Helvetica Neue"/>
                <a:ea typeface="PingFang SC"/>
              </a:rPr>
              <a:t>① Generated on demand</a:t>
            </a:r>
          </a:p>
        </p:txBody>
      </p:sp>
      <p:sp>
        <p:nvSpPr>
          <p:cNvPr id="7" name="TextBox 6"/>
          <p:cNvSpPr txBox="1"/>
          <p:nvPr/>
        </p:nvSpPr>
        <p:spPr>
          <a:xfrm>
            <a:off x="859536" y="2468880"/>
            <a:ext cx="2148840" cy="1170432"/>
          </a:xfrm>
          <a:prstGeom prst="rect">
            <a:avLst/>
          </a:prstGeom>
          <a:noFill/>
        </p:spPr>
        <p:txBody>
          <a:bodyPr wrap="square" lIns="0" tIns="0" rIns="0" bIns="0">
            <a:spAutoFit/>
          </a:bodyPr>
          <a:lstStyle/>
          <a:p>
            <a:pPr algn="l">
              <a:lnSpc>
                <a:spcPct val="150000"/>
              </a:lnSpc>
            </a:pPr>
            <a:r>
              <a:rPr sz="1150" b="0">
                <a:solidFill>
                  <a:srgbClr val="333E4F"/>
                </a:solidFill>
                <a:latin typeface="Helvetica Neue"/>
                <a:ea typeface="PingFang SC"/>
              </a:rPr>
              <a:t>A customer asks for something and the interface is generated for them on the spot. We do not have to anticipate what everyone wants and then schedule it.</a:t>
            </a:r>
          </a:p>
        </p:txBody>
      </p:sp>
      <p:sp>
        <p:nvSpPr>
          <p:cNvPr id="8" name="Rounded Rectangle 7"/>
          <p:cNvSpPr/>
          <p:nvPr/>
        </p:nvSpPr>
        <p:spPr>
          <a:xfrm>
            <a:off x="3468319" y="1965960"/>
            <a:ext cx="2551176" cy="18288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669487" y="2121408"/>
            <a:ext cx="2148840" cy="256032"/>
          </a:xfrm>
          <a:prstGeom prst="rect">
            <a:avLst/>
          </a:prstGeom>
          <a:noFill/>
        </p:spPr>
        <p:txBody>
          <a:bodyPr wrap="square" lIns="0" tIns="0" rIns="0" bIns="0">
            <a:spAutoFit/>
          </a:bodyPr>
          <a:lstStyle/>
          <a:p>
            <a:pPr algn="l">
              <a:lnSpc>
                <a:spcPct val="145000"/>
              </a:lnSpc>
            </a:pPr>
            <a:r>
              <a:rPr sz="1250" b="1">
                <a:solidFill>
                  <a:srgbClr val="0E7490"/>
                </a:solidFill>
                <a:latin typeface="Helvetica Neue"/>
                <a:ea typeface="PingFang SC"/>
              </a:rPr>
              <a:t>② Then persisted</a:t>
            </a:r>
          </a:p>
        </p:txBody>
      </p:sp>
      <p:sp>
        <p:nvSpPr>
          <p:cNvPr id="10" name="TextBox 9"/>
          <p:cNvSpPr txBox="1"/>
          <p:nvPr/>
        </p:nvSpPr>
        <p:spPr>
          <a:xfrm>
            <a:off x="3669487" y="2468880"/>
            <a:ext cx="2148840" cy="1170432"/>
          </a:xfrm>
          <a:prstGeom prst="rect">
            <a:avLst/>
          </a:prstGeom>
          <a:noFill/>
        </p:spPr>
        <p:txBody>
          <a:bodyPr wrap="square" lIns="0" tIns="0" rIns="0" bIns="0">
            <a:spAutoFit/>
          </a:bodyPr>
          <a:lstStyle/>
          <a:p>
            <a:pPr algn="l">
              <a:lnSpc>
                <a:spcPct val="150000"/>
              </a:lnSpc>
            </a:pPr>
            <a:r>
              <a:rPr sz="1150" b="0">
                <a:solidFill>
                  <a:srgbClr val="333E4F"/>
                </a:solidFill>
                <a:latin typeface="Helvetica Neue"/>
                <a:ea typeface="PingFang SC"/>
              </a:rPr>
              <a:t>An interface that works is saved as that customer's own asset and called again next time, instead of being regenerated differently on every use.</a:t>
            </a:r>
          </a:p>
        </p:txBody>
      </p:sp>
      <p:sp>
        <p:nvSpPr>
          <p:cNvPr id="11" name="Rounded Rectangle 10"/>
          <p:cNvSpPr/>
          <p:nvPr/>
        </p:nvSpPr>
        <p:spPr>
          <a:xfrm>
            <a:off x="6278270" y="1965960"/>
            <a:ext cx="2551176" cy="18288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79438" y="2121408"/>
            <a:ext cx="2148840" cy="256032"/>
          </a:xfrm>
          <a:prstGeom prst="rect">
            <a:avLst/>
          </a:prstGeom>
          <a:noFill/>
        </p:spPr>
        <p:txBody>
          <a:bodyPr wrap="square" lIns="0" tIns="0" rIns="0" bIns="0">
            <a:spAutoFit/>
          </a:bodyPr>
          <a:lstStyle/>
          <a:p>
            <a:pPr algn="l">
              <a:lnSpc>
                <a:spcPct val="145000"/>
              </a:lnSpc>
            </a:pPr>
            <a:r>
              <a:rPr sz="1250" b="1">
                <a:solidFill>
                  <a:srgbClr val="0E7490"/>
                </a:solidFill>
                <a:latin typeface="Helvetica Neue"/>
                <a:ea typeface="PingFang SC"/>
              </a:rPr>
              <a:t>③ Their own vocabulary</a:t>
            </a:r>
          </a:p>
        </p:txBody>
      </p:sp>
      <p:sp>
        <p:nvSpPr>
          <p:cNvPr id="13" name="TextBox 12"/>
          <p:cNvSpPr txBox="1"/>
          <p:nvPr/>
        </p:nvSpPr>
        <p:spPr>
          <a:xfrm>
            <a:off x="6479438" y="2468880"/>
            <a:ext cx="2148840" cy="1170432"/>
          </a:xfrm>
          <a:prstGeom prst="rect">
            <a:avLst/>
          </a:prstGeom>
          <a:noFill/>
        </p:spPr>
        <p:txBody>
          <a:bodyPr wrap="square" lIns="0" tIns="0" rIns="0" bIns="0">
            <a:spAutoFit/>
          </a:bodyPr>
          <a:lstStyle/>
          <a:p>
            <a:pPr algn="l">
              <a:lnSpc>
                <a:spcPct val="150000"/>
              </a:lnSpc>
            </a:pPr>
            <a:r>
              <a:rPr sz="1150" b="0">
                <a:solidFill>
                  <a:srgbClr val="333E4F"/>
                </a:solidFill>
                <a:latin typeface="Helvetica Neue"/>
                <a:ea typeface="PingFang SC"/>
              </a:rPr>
              <a:t>What the accounts are called, how the workflow runs, what the report looks like: all follow this customer's habits, so nobody has to learn our terminology first.</a:t>
            </a:r>
          </a:p>
        </p:txBody>
      </p:sp>
      <p:sp>
        <p:nvSpPr>
          <p:cNvPr id="14" name="Rounded Rectangle 13"/>
          <p:cNvSpPr/>
          <p:nvPr/>
        </p:nvSpPr>
        <p:spPr>
          <a:xfrm>
            <a:off x="9088221" y="1965960"/>
            <a:ext cx="2551176" cy="182880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289389" y="2121408"/>
            <a:ext cx="2148840" cy="256032"/>
          </a:xfrm>
          <a:prstGeom prst="rect">
            <a:avLst/>
          </a:prstGeom>
          <a:noFill/>
        </p:spPr>
        <p:txBody>
          <a:bodyPr wrap="square" lIns="0" tIns="0" rIns="0" bIns="0">
            <a:spAutoFit/>
          </a:bodyPr>
          <a:lstStyle/>
          <a:p>
            <a:pPr algn="l">
              <a:lnSpc>
                <a:spcPct val="145000"/>
              </a:lnSpc>
            </a:pPr>
            <a:r>
              <a:rPr sz="1250" b="1">
                <a:solidFill>
                  <a:srgbClr val="0E7490"/>
                </a:solidFill>
                <a:latin typeface="Helvetica Neue"/>
                <a:ea typeface="PingFang SC"/>
              </a:rPr>
              <a:t>④ Owned and editable</a:t>
            </a:r>
          </a:p>
        </p:txBody>
      </p:sp>
      <p:sp>
        <p:nvSpPr>
          <p:cNvPr id="16" name="TextBox 15"/>
          <p:cNvSpPr txBox="1"/>
          <p:nvPr/>
        </p:nvSpPr>
        <p:spPr>
          <a:xfrm>
            <a:off x="9289389" y="2468880"/>
            <a:ext cx="2148840" cy="1170432"/>
          </a:xfrm>
          <a:prstGeom prst="rect">
            <a:avLst/>
          </a:prstGeom>
          <a:noFill/>
        </p:spPr>
        <p:txBody>
          <a:bodyPr wrap="square" lIns="0" tIns="0" rIns="0" bIns="0">
            <a:spAutoFit/>
          </a:bodyPr>
          <a:lstStyle/>
          <a:p>
            <a:pPr algn="l">
              <a:lnSpc>
                <a:spcPct val="150000"/>
              </a:lnSpc>
            </a:pPr>
            <a:r>
              <a:rPr sz="1150" b="0">
                <a:solidFill>
                  <a:srgbClr val="333E4F"/>
                </a:solidFill>
                <a:latin typeface="Helvetica Neue"/>
                <a:ea typeface="PingFang SC"/>
              </a:rPr>
              <a:t>The interface belongs to them and they can keep changing it. We host it and keep it running.</a:t>
            </a:r>
          </a:p>
        </p:txBody>
      </p:sp>
      <p:sp>
        <p:nvSpPr>
          <p:cNvPr id="17" name="Rounded Rectangle 16"/>
          <p:cNvSpPr/>
          <p:nvPr/>
        </p:nvSpPr>
        <p:spPr>
          <a:xfrm>
            <a:off x="658368" y="3977639"/>
            <a:ext cx="5294376" cy="1554480"/>
          </a:xfrm>
          <a:prstGeom prst="roundRect">
            <a:avLst>
              <a:gd name="adj" fmla="val 4000"/>
            </a:avLst>
          </a:prstGeom>
          <a:solidFill>
            <a:srgbClr val="FAEEE3"/>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4400" y="4160520"/>
            <a:ext cx="4800600" cy="256032"/>
          </a:xfrm>
          <a:prstGeom prst="rect">
            <a:avLst/>
          </a:prstGeom>
          <a:noFill/>
        </p:spPr>
        <p:txBody>
          <a:bodyPr wrap="square" lIns="0" tIns="0" rIns="0" bIns="0">
            <a:spAutoFit/>
          </a:bodyPr>
          <a:lstStyle/>
          <a:p>
            <a:pPr algn="l">
              <a:lnSpc>
                <a:spcPct val="145000"/>
              </a:lnSpc>
            </a:pPr>
            <a:r>
              <a:rPr sz="1200" b="1">
                <a:solidFill>
                  <a:srgbClr val="B45309"/>
                </a:solidFill>
                <a:latin typeface="Helvetica Neue"/>
                <a:ea typeface="PingFang SC"/>
              </a:rPr>
              <a:t>Integration runs the other way now</a:t>
            </a:r>
          </a:p>
        </p:txBody>
      </p:sp>
      <p:sp>
        <p:nvSpPr>
          <p:cNvPr id="19" name="TextBox 18"/>
          <p:cNvSpPr txBox="1"/>
          <p:nvPr/>
        </p:nvSpPr>
        <p:spPr>
          <a:xfrm>
            <a:off x="914400" y="4498848"/>
            <a:ext cx="4800600" cy="960120"/>
          </a:xfrm>
          <a:prstGeom prst="rect">
            <a:avLst/>
          </a:prstGeom>
          <a:noFill/>
        </p:spPr>
        <p:txBody>
          <a:bodyPr wrap="square" lIns="0" tIns="0" rIns="0" bIns="0">
            <a:spAutoFit/>
          </a:bodyPr>
          <a:lstStyle/>
          <a:p>
            <a:pPr algn="l">
              <a:lnSpc>
                <a:spcPct val="150000"/>
              </a:lnSpc>
            </a:pPr>
            <a:r>
              <a:rPr sz="1200" b="0">
                <a:solidFill>
                  <a:srgbClr val="7A3B08"/>
                </a:solidFill>
                <a:latin typeface="Helvetica Neue"/>
                <a:ea typeface="PingFang SC"/>
              </a:rPr>
              <a:t>We used to schedule plugin work while customers queued for support. Now they connect whatever they want, and the agent drives it the way a person would, with no roadmap dependency. Long-tail integration moves from our cost to their capability.</a:t>
            </a:r>
          </a:p>
        </p:txBody>
      </p:sp>
      <p:sp>
        <p:nvSpPr>
          <p:cNvPr id="20" name="Rounded Rectangle 19"/>
          <p:cNvSpPr/>
          <p:nvPr/>
        </p:nvSpPr>
        <p:spPr>
          <a:xfrm>
            <a:off x="6245352" y="3977639"/>
            <a:ext cx="5285232" cy="1554480"/>
          </a:xfrm>
          <a:prstGeom prst="roundRect">
            <a:avLst>
              <a:gd name="adj" fmla="val 4000"/>
            </a:avLst>
          </a:prstGeom>
          <a:solidFill>
            <a:srgbClr val="F3F6F8"/>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501383" y="4160520"/>
            <a:ext cx="4791456" cy="256032"/>
          </a:xfrm>
          <a:prstGeom prst="rect">
            <a:avLst/>
          </a:prstGeom>
          <a:noFill/>
        </p:spPr>
        <p:txBody>
          <a:bodyPr wrap="square" lIns="0" tIns="0" rIns="0" bIns="0">
            <a:spAutoFit/>
          </a:bodyPr>
          <a:lstStyle/>
          <a:p>
            <a:pPr algn="l">
              <a:lnSpc>
                <a:spcPct val="145000"/>
              </a:lnSpc>
            </a:pPr>
            <a:r>
              <a:rPr sz="1200" b="1">
                <a:solidFill>
                  <a:srgbClr val="6B7688"/>
                </a:solidFill>
                <a:latin typeface="Helvetica Neue"/>
                <a:ea typeface="PingFang SC"/>
              </a:rPr>
              <a:t>The interface changes; the guardrails do not</a:t>
            </a:r>
          </a:p>
        </p:txBody>
      </p:sp>
      <p:sp>
        <p:nvSpPr>
          <p:cNvPr id="22" name="TextBox 21"/>
          <p:cNvSpPr txBox="1"/>
          <p:nvPr/>
        </p:nvSpPr>
        <p:spPr>
          <a:xfrm>
            <a:off x="6501383" y="4498848"/>
            <a:ext cx="4791456" cy="960120"/>
          </a:xfrm>
          <a:prstGeom prst="rect">
            <a:avLst/>
          </a:prstGeom>
          <a:noFill/>
        </p:spPr>
        <p:txBody>
          <a:bodyPr wrap="square" lIns="0" tIns="0" rIns="0" bIns="0">
            <a:spAutoFit/>
          </a:bodyPr>
          <a:lstStyle/>
          <a:p>
            <a:pPr algn="l">
              <a:lnSpc>
                <a:spcPct val="150000"/>
              </a:lnSpc>
            </a:pPr>
            <a:r>
              <a:rPr sz="1200" b="0">
                <a:solidFill>
                  <a:srgbClr val="333E4F"/>
                </a:solidFill>
                <a:latin typeface="Helvetica Neue"/>
                <a:ea typeface="PingFang SC"/>
              </a:rPr>
              <a:t>A generated interface still has to act through the typed tool layer. Invariants, period locks and separation of duties cannot be bypassed. So interfaces being freely generated and the books staying correct are not in conflict.</a:t>
            </a:r>
          </a:p>
        </p:txBody>
      </p:sp>
      <p:sp>
        <p:nvSpPr>
          <p:cNvPr id="23" name="Rounded Rectangle 22"/>
          <p:cNvSpPr/>
          <p:nvPr/>
        </p:nvSpPr>
        <p:spPr>
          <a:xfrm>
            <a:off x="658368" y="5715000"/>
            <a:ext cx="10874959" cy="548640"/>
          </a:xfrm>
          <a:prstGeom prst="roundRect">
            <a:avLst>
              <a:gd name="adj" fmla="val 4000"/>
            </a:avLst>
          </a:prstGeom>
          <a:solidFill>
            <a:srgbClr val="111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50976" y="5824728"/>
            <a:ext cx="10289743" cy="329184"/>
          </a:xfrm>
          <a:prstGeom prst="rect">
            <a:avLst/>
          </a:prstGeom>
          <a:noFill/>
        </p:spPr>
        <p:txBody>
          <a:bodyPr wrap="square" lIns="0" tIns="0" rIns="0" bIns="0">
            <a:spAutoFit/>
          </a:bodyPr>
          <a:lstStyle/>
          <a:p>
            <a:pPr algn="l">
              <a:lnSpc>
                <a:spcPct val="135000"/>
              </a:lnSpc>
            </a:pPr>
            <a:r>
              <a:rPr sz="1300" b="1">
                <a:solidFill>
                  <a:srgbClr val="FFFFFF"/>
                </a:solidFill>
                <a:latin typeface="Helvetica Neue"/>
                <a:ea typeface="PingFang SC"/>
              </a:rPr>
              <a:t>A learning curve is the customer paying for our design decisions. Generated, customer-owned interfaces remove that bill.</a:t>
            </a:r>
          </a:p>
        </p:txBody>
      </p:sp>
      <p:sp>
        <p:nvSpPr>
          <p:cNvPr id="25" name="TextBox 24"/>
          <p:cNvSpPr txBox="1"/>
          <p:nvPr/>
        </p:nvSpPr>
        <p:spPr>
          <a:xfrm>
            <a:off x="10801807" y="6528816"/>
            <a:ext cx="731520" cy="237744"/>
          </a:xfrm>
          <a:prstGeom prst="rect">
            <a:avLst/>
          </a:prstGeom>
          <a:noFill/>
        </p:spPr>
        <p:txBody>
          <a:bodyPr wrap="none" lIns="0" tIns="0" rIns="0" bIns="0">
            <a:spAutoFit/>
          </a:bodyPr>
          <a:lstStyle/>
          <a:p>
            <a:pPr algn="r"/>
            <a:r>
              <a:rPr sz="1000" b="0">
                <a:solidFill>
                  <a:srgbClr val="D5DCE4"/>
                </a:solidFill>
                <a:latin typeface="Helvetica Neue"/>
                <a:ea typeface="PingFang SC"/>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01807" y="6528816"/>
            <a:ext cx="731520" cy="237744"/>
          </a:xfrm>
          <a:prstGeom prst="rect">
            <a:avLst/>
          </a:prstGeom>
          <a:noFill/>
        </p:spPr>
        <p:txBody>
          <a:bodyPr wrap="none">
            <a:spAutoFit/>
          </a:bodyPr>
          <a:lstStyle/>
          <a:p>
            <a:pPr algn="r"/>
            <a:r>
              <a:rPr sz="1000" b="0" i="0">
                <a:solidFill>
                  <a:srgbClr val="D5DCE4"/>
                </a:solidFill>
                <a:latin typeface="Helvetica Neue"/>
                <a:ea typeface="PingFang SC"/>
              </a:rPr>
              <a:t>9</a:t>
            </a:r>
          </a:p>
        </p:txBody>
      </p:sp>
      <p:sp>
        <p:nvSpPr>
          <p:cNvPr id="3" name="TextBox 2"/>
          <p:cNvSpPr txBox="1"/>
          <p:nvPr/>
        </p:nvSpPr>
        <p:spPr>
          <a:xfrm>
            <a:off x="658368" y="420624"/>
            <a:ext cx="10874959" cy="256032"/>
          </a:xfrm>
          <a:prstGeom prst="rect">
            <a:avLst/>
          </a:prstGeom>
          <a:noFill/>
        </p:spPr>
        <p:txBody>
          <a:bodyPr wrap="square" lIns="0" tIns="0" rIns="0" bIns="0" anchor="t">
            <a:spAutoFit/>
          </a:bodyPr>
          <a:lstStyle/>
          <a:p>
            <a:pPr algn="l">
              <a:lnSpc>
                <a:spcPct val="130000"/>
              </a:lnSpc>
              <a:spcAft>
                <a:spcPts val="600"/>
              </a:spcAft>
            </a:pPr>
            <a:r>
              <a:rPr sz="1100" b="1" i="0">
                <a:solidFill>
                  <a:srgbClr val="0E7490"/>
                </a:solidFill>
                <a:latin typeface="Helvetica Neue"/>
                <a:ea typeface="PingFang SC"/>
              </a:rPr>
              <a:t>Engineering shape</a:t>
            </a:r>
          </a:p>
        </p:txBody>
      </p:sp>
      <p:sp>
        <p:nvSpPr>
          <p:cNvPr id="4" name="TextBox 3"/>
          <p:cNvSpPr txBox="1"/>
          <p:nvPr/>
        </p:nvSpPr>
        <p:spPr>
          <a:xfrm>
            <a:off x="658368" y="749808"/>
            <a:ext cx="10874959" cy="438133"/>
          </a:xfrm>
          <a:prstGeom prst="rect">
            <a:avLst/>
          </a:prstGeom>
          <a:noFill/>
        </p:spPr>
        <p:txBody>
          <a:bodyPr wrap="square" lIns="0" tIns="0" rIns="0" bIns="0" anchor="t">
            <a:spAutoFit/>
          </a:bodyPr>
          <a:lstStyle/>
          <a:p>
            <a:pPr algn="l">
              <a:lnSpc>
                <a:spcPct val="120000"/>
              </a:lnSpc>
              <a:spcAft>
                <a:spcPts val="600"/>
              </a:spcAft>
            </a:pPr>
            <a:r>
              <a:rPr sz="2600" b="1" i="0">
                <a:solidFill>
                  <a:srgbClr val="111A27"/>
                </a:solidFill>
                <a:latin typeface="Helvetica Neue"/>
                <a:ea typeface="PingFang SC"/>
              </a:rPr>
              <a:t>How the engineering shape changes</a:t>
            </a:r>
          </a:p>
        </p:txBody>
      </p:sp>
      <p:graphicFrame>
        <p:nvGraphicFramePr>
          <p:cNvPr id="6" name="Table 5"/>
          <p:cNvGraphicFramePr>
            <a:graphicFrameLocks noGrp="1"/>
          </p:cNvGraphicFramePr>
          <p:nvPr>
            <p:extLst>
              <p:ext uri="{D42A27DB-BD31-4B8C-83A1-F6EECF244321}">
                <p14:modId xmlns:p14="http://schemas.microsoft.com/office/powerpoint/2010/main" val="842050530"/>
              </p:ext>
            </p:extLst>
          </p:nvPr>
        </p:nvGraphicFramePr>
        <p:xfrm>
          <a:off x="658368" y="1953330"/>
          <a:ext cx="10872216" cy="3346704"/>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294376">
                  <a:extLst>
                    <a:ext uri="{9D8B030D-6E8A-4147-A177-3AD203B41FA5}">
                      <a16:colId xmlns:a16="http://schemas.microsoft.com/office/drawing/2014/main" val="20003"/>
                    </a:ext>
                  </a:extLst>
                </a:gridCol>
              </a:tblGrid>
              <a:tr h="384048">
                <a:tc>
                  <a:txBody>
                    <a:bodyPr/>
                    <a:lstStyle/>
                    <a:p>
                      <a:pPr>
                        <a:lnSpc>
                          <a:spcPct val="125000"/>
                        </a:lnSpc>
                      </a:pPr>
                      <a:r>
                        <a:rPr sz="1150" b="1" i="0">
                          <a:solidFill>
                            <a:srgbClr val="FFFFFF"/>
                          </a:solidFill>
                          <a:latin typeface="Helvetica Neue"/>
                          <a:ea typeface="PingFang SC"/>
                        </a:rPr>
                        <a:t>Layer</a:t>
                      </a:r>
                    </a:p>
                  </a:txBody>
                  <a:tcPr marR="73152" marT="36576" marB="36576" anchor="ctr">
                    <a:solidFill>
                      <a:srgbClr val="111A27"/>
                    </a:solidFill>
                  </a:tcPr>
                </a:tc>
                <a:tc>
                  <a:txBody>
                    <a:bodyPr/>
                    <a:lstStyle/>
                    <a:p>
                      <a:pPr>
                        <a:lnSpc>
                          <a:spcPct val="125000"/>
                        </a:lnSpc>
                      </a:pPr>
                      <a:r>
                        <a:rPr sz="1150" b="1" i="0">
                          <a:solidFill>
                            <a:srgbClr val="FFFFFF"/>
                          </a:solidFill>
                          <a:latin typeface="Helvetica Neue"/>
                          <a:ea typeface="PingFang SC"/>
                        </a:rPr>
                        <a:t>Traditional</a:t>
                      </a:r>
                    </a:p>
                  </a:txBody>
                  <a:tcPr marR="73152" marT="36576" marB="36576" anchor="ctr">
                    <a:solidFill>
                      <a:srgbClr val="111A27"/>
                    </a:solidFill>
                  </a:tcPr>
                </a:tc>
                <a:tc>
                  <a:txBody>
                    <a:bodyPr/>
                    <a:lstStyle/>
                    <a:p>
                      <a:pPr>
                        <a:lnSpc>
                          <a:spcPct val="125000"/>
                        </a:lnSpc>
                      </a:pPr>
                      <a:r>
                        <a:rPr sz="1150" b="1" i="0">
                          <a:solidFill>
                            <a:srgbClr val="FFFFFF"/>
                          </a:solidFill>
                          <a:latin typeface="Helvetica Neue"/>
                          <a:ea typeface="PingFang SC"/>
                        </a:rPr>
                        <a:t>Ours</a:t>
                      </a:r>
                    </a:p>
                  </a:txBody>
                  <a:tcPr marR="73152" marT="36576" marB="36576" anchor="ctr">
                    <a:solidFill>
                      <a:srgbClr val="111A27"/>
                    </a:solidFill>
                  </a:tcPr>
                </a:tc>
                <a:tc>
                  <a:txBody>
                    <a:bodyPr/>
                    <a:lstStyle/>
                    <a:p>
                      <a:pPr>
                        <a:lnSpc>
                          <a:spcPct val="125000"/>
                        </a:lnSpc>
                      </a:pPr>
                      <a:r>
                        <a:rPr sz="1150" b="1" i="0">
                          <a:solidFill>
                            <a:srgbClr val="FFFFFF"/>
                          </a:solidFill>
                          <a:latin typeface="Helvetica Neue"/>
                          <a:ea typeface="PingFang SC"/>
                        </a:rPr>
                        <a:t>What changes</a:t>
                      </a:r>
                    </a:p>
                  </a:txBody>
                  <a:tcPr marR="73152" marT="36576" marB="36576" anchor="ctr">
                    <a:solidFill>
                      <a:srgbClr val="111A27"/>
                    </a:solidFill>
                  </a:tcPr>
                </a:tc>
                <a:extLst>
                  <a:ext uri="{0D108BD9-81ED-4DB2-BD59-A6C34878D82A}">
                    <a16:rowId xmlns:a16="http://schemas.microsoft.com/office/drawing/2014/main" val="10000"/>
                  </a:ext>
                </a:extLst>
              </a:tr>
              <a:tr h="329184">
                <a:tc>
                  <a:txBody>
                    <a:bodyPr/>
                    <a:lstStyle/>
                    <a:p>
                      <a:pPr>
                        <a:lnSpc>
                          <a:spcPct val="125000"/>
                        </a:lnSpc>
                      </a:pPr>
                      <a:r>
                        <a:rPr sz="1150" b="1" i="0">
                          <a:solidFill>
                            <a:srgbClr val="111A27"/>
                          </a:solidFill>
                          <a:latin typeface="Helvetica Neue"/>
                          <a:ea typeface="PingFang SC"/>
                        </a:rPr>
                        <a:t>System of record</a:t>
                      </a:r>
                    </a:p>
                  </a:txBody>
                  <a:tcPr marR="73152" marT="36576" marB="36576" anchor="ctr">
                    <a:solidFill>
                      <a:srgbClr val="FFFFFF"/>
                    </a:solidFill>
                  </a:tcPr>
                </a:tc>
                <a:tc>
                  <a:txBody>
                    <a:bodyPr/>
                    <a:lstStyle/>
                    <a:p>
                      <a:pPr>
                        <a:lnSpc>
                          <a:spcPct val="125000"/>
                        </a:lnSpc>
                      </a:pPr>
                      <a:r>
                        <a:rPr sz="1150" b="0" i="0">
                          <a:solidFill>
                            <a:srgbClr val="333E4F"/>
                          </a:solidFill>
                          <a:latin typeface="Helvetica Neue"/>
                          <a:ea typeface="PingFang SC"/>
                        </a:rPr>
                        <a:t>10–15%</a:t>
                      </a:r>
                    </a:p>
                  </a:txBody>
                  <a:tcPr marR="73152" marT="36576" marB="36576" anchor="ctr">
                    <a:solidFill>
                      <a:srgbClr val="FFFFFF"/>
                    </a:solidFill>
                  </a:tcPr>
                </a:tc>
                <a:tc>
                  <a:txBody>
                    <a:bodyPr/>
                    <a:lstStyle/>
                    <a:p>
                      <a:pPr>
                        <a:lnSpc>
                          <a:spcPct val="125000"/>
                        </a:lnSpc>
                      </a:pPr>
                      <a:r>
                        <a:rPr sz="1150" b="0" i="0">
                          <a:solidFill>
                            <a:srgbClr val="7A3B08"/>
                          </a:solidFill>
                          <a:latin typeface="Helvetica Neue"/>
                          <a:ea typeface="PingFang SC"/>
                        </a:rPr>
                        <a:t>15–20%</a:t>
                      </a:r>
                    </a:p>
                  </a:txBody>
                  <a:tcPr marR="73152" marT="36576" marB="36576" anchor="ctr">
                    <a:solidFill>
                      <a:srgbClr val="FAEEE3"/>
                    </a:solidFill>
                  </a:tcPr>
                </a:tc>
                <a:tc>
                  <a:txBody>
                    <a:bodyPr/>
                    <a:lstStyle/>
                    <a:p>
                      <a:pPr>
                        <a:lnSpc>
                          <a:spcPct val="125000"/>
                        </a:lnSpc>
                      </a:pPr>
                      <a:r>
                        <a:rPr lang="en-US" sz="1150" b="0" i="0">
                          <a:solidFill>
                            <a:srgbClr val="333E4F"/>
                          </a:solidFill>
                          <a:latin typeface="Helvetica Neue"/>
                          <a:ea typeface="PingFang SC"/>
                        </a:rPr>
                        <a:t>Same core, a much higher bar</a:t>
                      </a:r>
                      <a:endParaRPr sz="1150" b="0" i="0">
                        <a:solidFill>
                          <a:srgbClr val="333E4F"/>
                        </a:solidFill>
                        <a:latin typeface="Helvetica Neue"/>
                        <a:ea typeface="PingFang SC"/>
                      </a:endParaRPr>
                    </a:p>
                  </a:txBody>
                  <a:tcPr marR="73152" marT="36576" marB="36576" anchor="ctr">
                    <a:solidFill>
                      <a:srgbClr val="FFFFFF"/>
                    </a:solidFill>
                  </a:tcPr>
                </a:tc>
                <a:extLst>
                  <a:ext uri="{0D108BD9-81ED-4DB2-BD59-A6C34878D82A}">
                    <a16:rowId xmlns:a16="http://schemas.microsoft.com/office/drawing/2014/main" val="10001"/>
                  </a:ext>
                </a:extLst>
              </a:tr>
              <a:tr h="329184">
                <a:tc>
                  <a:txBody>
                    <a:bodyPr/>
                    <a:lstStyle/>
                    <a:p>
                      <a:pPr>
                        <a:lnSpc>
                          <a:spcPct val="125000"/>
                        </a:lnSpc>
                      </a:pPr>
                      <a:r>
                        <a:rPr sz="1150" b="1" i="0">
                          <a:solidFill>
                            <a:srgbClr val="111A27"/>
                          </a:solidFill>
                          <a:latin typeface="Helvetica Neue"/>
                          <a:ea typeface="PingFang SC"/>
                        </a:rPr>
                        <a:t>Tool layer (typed actions)</a:t>
                      </a:r>
                    </a:p>
                  </a:txBody>
                  <a:tcPr marR="73152" marT="36576" marB="36576" anchor="ctr">
                    <a:solidFill>
                      <a:srgbClr val="F3F6F8"/>
                    </a:solidFill>
                  </a:tcPr>
                </a:tc>
                <a:tc>
                  <a:txBody>
                    <a:bodyPr/>
                    <a:lstStyle/>
                    <a:p>
                      <a:pPr>
                        <a:lnSpc>
                          <a:spcPct val="125000"/>
                        </a:lnSpc>
                      </a:pPr>
                      <a:r>
                        <a:rPr sz="1150" b="0" i="0">
                          <a:solidFill>
                            <a:srgbClr val="333E4F"/>
                          </a:solidFill>
                          <a:latin typeface="Helvetica Neue"/>
                          <a:ea typeface="PingFang SC"/>
                        </a:rPr>
                        <a:t>—</a:t>
                      </a:r>
                    </a:p>
                  </a:txBody>
                  <a:tcPr marR="73152" marT="36576" marB="36576" anchor="ctr">
                    <a:solidFill>
                      <a:srgbClr val="F3F6F8"/>
                    </a:solidFill>
                  </a:tcPr>
                </a:tc>
                <a:tc>
                  <a:txBody>
                    <a:bodyPr/>
                    <a:lstStyle/>
                    <a:p>
                      <a:pPr>
                        <a:lnSpc>
                          <a:spcPct val="125000"/>
                        </a:lnSpc>
                      </a:pPr>
                      <a:r>
                        <a:rPr sz="1150" b="0" i="0">
                          <a:solidFill>
                            <a:srgbClr val="7A3B08"/>
                          </a:solidFill>
                          <a:latin typeface="Helvetica Neue"/>
                          <a:ea typeface="PingFang SC"/>
                        </a:rPr>
                        <a:t>15–20%</a:t>
                      </a:r>
                    </a:p>
                  </a:txBody>
                  <a:tcPr marR="73152" marT="36576" marB="36576" anchor="ctr">
                    <a:solidFill>
                      <a:srgbClr val="FAEEE3"/>
                    </a:solidFill>
                  </a:tcPr>
                </a:tc>
                <a:tc>
                  <a:txBody>
                    <a:bodyPr/>
                    <a:lstStyle/>
                    <a:p>
                      <a:pPr>
                        <a:lnSpc>
                          <a:spcPct val="125000"/>
                        </a:lnSpc>
                      </a:pPr>
                      <a:r>
                        <a:rPr sz="1150" b="0" i="0">
                          <a:solidFill>
                            <a:srgbClr val="333E4F"/>
                          </a:solidFill>
                          <a:latin typeface="Helvetica Neue"/>
                          <a:ea typeface="PingFang SC"/>
                        </a:rPr>
                        <a:t>New, and not a conventional API</a:t>
                      </a:r>
                    </a:p>
                  </a:txBody>
                  <a:tcPr marR="73152" marT="36576" marB="36576" anchor="ctr">
                    <a:solidFill>
                      <a:srgbClr val="F3F6F8"/>
                    </a:solidFill>
                  </a:tcPr>
                </a:tc>
                <a:extLst>
                  <a:ext uri="{0D108BD9-81ED-4DB2-BD59-A6C34878D82A}">
                    <a16:rowId xmlns:a16="http://schemas.microsoft.com/office/drawing/2014/main" val="10002"/>
                  </a:ext>
                </a:extLst>
              </a:tr>
              <a:tr h="329184">
                <a:tc>
                  <a:txBody>
                    <a:bodyPr/>
                    <a:lstStyle/>
                    <a:p>
                      <a:pPr>
                        <a:lnSpc>
                          <a:spcPct val="125000"/>
                        </a:lnSpc>
                      </a:pPr>
                      <a:r>
                        <a:rPr sz="1150" b="1" i="0">
                          <a:solidFill>
                            <a:srgbClr val="111A27"/>
                          </a:solidFill>
                          <a:latin typeface="Helvetica Neue"/>
                          <a:ea typeface="PingFang SC"/>
                        </a:rPr>
                        <a:t>Verification &amp; guardrails</a:t>
                      </a:r>
                    </a:p>
                  </a:txBody>
                  <a:tcPr marR="73152" marT="36576" marB="36576" anchor="ctr">
                    <a:solidFill>
                      <a:srgbClr val="FFFFFF"/>
                    </a:solidFill>
                  </a:tcPr>
                </a:tc>
                <a:tc>
                  <a:txBody>
                    <a:bodyPr/>
                    <a:lstStyle/>
                    <a:p>
                      <a:pPr>
                        <a:lnSpc>
                          <a:spcPct val="125000"/>
                        </a:lnSpc>
                      </a:pPr>
                      <a:r>
                        <a:rPr sz="1150" b="0" i="0">
                          <a:solidFill>
                            <a:srgbClr val="333E4F"/>
                          </a:solidFill>
                          <a:latin typeface="Helvetica Neue"/>
                          <a:ea typeface="PingFang SC"/>
                        </a:rPr>
                        <a:t>—</a:t>
                      </a:r>
                    </a:p>
                  </a:txBody>
                  <a:tcPr marR="73152" marT="36576" marB="36576" anchor="ctr">
                    <a:solidFill>
                      <a:srgbClr val="FFFFFF"/>
                    </a:solidFill>
                  </a:tcPr>
                </a:tc>
                <a:tc>
                  <a:txBody>
                    <a:bodyPr/>
                    <a:lstStyle/>
                    <a:p>
                      <a:pPr>
                        <a:lnSpc>
                          <a:spcPct val="125000"/>
                        </a:lnSpc>
                      </a:pPr>
                      <a:r>
                        <a:rPr sz="1150" b="0" i="0">
                          <a:solidFill>
                            <a:srgbClr val="7A3B08"/>
                          </a:solidFill>
                          <a:latin typeface="Helvetica Neue"/>
                          <a:ea typeface="PingFang SC"/>
                        </a:rPr>
                        <a:t>~15%</a:t>
                      </a:r>
                    </a:p>
                  </a:txBody>
                  <a:tcPr marR="73152" marT="36576" marB="36576" anchor="ctr">
                    <a:solidFill>
                      <a:srgbClr val="FAEEE3"/>
                    </a:solidFill>
                  </a:tcPr>
                </a:tc>
                <a:tc>
                  <a:txBody>
                    <a:bodyPr/>
                    <a:lstStyle/>
                    <a:p>
                      <a:pPr>
                        <a:lnSpc>
                          <a:spcPct val="125000"/>
                        </a:lnSpc>
                      </a:pPr>
                      <a:r>
                        <a:rPr sz="1150" b="0" i="0">
                          <a:solidFill>
                            <a:srgbClr val="333E4F"/>
                          </a:solidFill>
                          <a:latin typeface="Helvetica Neue"/>
                          <a:ea typeface="PingFang SC"/>
                        </a:rPr>
                        <a:t>New, no counterpart in existing software</a:t>
                      </a:r>
                    </a:p>
                  </a:txBody>
                  <a:tcPr marR="73152" marT="36576" marB="36576" anchor="ctr">
                    <a:solidFill>
                      <a:srgbClr val="FFFFFF"/>
                    </a:solidFill>
                  </a:tcPr>
                </a:tc>
                <a:extLst>
                  <a:ext uri="{0D108BD9-81ED-4DB2-BD59-A6C34878D82A}">
                    <a16:rowId xmlns:a16="http://schemas.microsoft.com/office/drawing/2014/main" val="10003"/>
                  </a:ext>
                </a:extLst>
              </a:tr>
              <a:tr h="329184">
                <a:tc>
                  <a:txBody>
                    <a:bodyPr/>
                    <a:lstStyle/>
                    <a:p>
                      <a:pPr>
                        <a:lnSpc>
                          <a:spcPct val="125000"/>
                        </a:lnSpc>
                      </a:pPr>
                      <a:r>
                        <a:rPr sz="1150" b="1" i="0">
                          <a:solidFill>
                            <a:srgbClr val="111A27"/>
                          </a:solidFill>
                          <a:latin typeface="Helvetica Neue"/>
                          <a:ea typeface="PingFang SC"/>
                        </a:rPr>
                        <a:t>Evals &amp; ground-truth corpus</a:t>
                      </a:r>
                    </a:p>
                  </a:txBody>
                  <a:tcPr marR="73152" marT="36576" marB="36576" anchor="ctr">
                    <a:solidFill>
                      <a:srgbClr val="F3F6F8"/>
                    </a:solidFill>
                  </a:tcPr>
                </a:tc>
                <a:tc>
                  <a:txBody>
                    <a:bodyPr/>
                    <a:lstStyle/>
                    <a:p>
                      <a:pPr>
                        <a:lnSpc>
                          <a:spcPct val="125000"/>
                        </a:lnSpc>
                      </a:pPr>
                      <a:r>
                        <a:rPr sz="1150" b="0" i="0">
                          <a:solidFill>
                            <a:srgbClr val="333E4F"/>
                          </a:solidFill>
                          <a:latin typeface="Helvetica Neue"/>
                          <a:ea typeface="PingFang SC"/>
                        </a:rPr>
                        <a:t>—</a:t>
                      </a:r>
                    </a:p>
                  </a:txBody>
                  <a:tcPr marR="73152" marT="36576" marB="36576" anchor="ctr">
                    <a:solidFill>
                      <a:srgbClr val="F3F6F8"/>
                    </a:solidFill>
                  </a:tcPr>
                </a:tc>
                <a:tc>
                  <a:txBody>
                    <a:bodyPr/>
                    <a:lstStyle/>
                    <a:p>
                      <a:pPr>
                        <a:lnSpc>
                          <a:spcPct val="125000"/>
                        </a:lnSpc>
                      </a:pPr>
                      <a:r>
                        <a:rPr sz="1150" b="0" i="0">
                          <a:solidFill>
                            <a:srgbClr val="7A3B08"/>
                          </a:solidFill>
                          <a:latin typeface="Helvetica Neue"/>
                          <a:ea typeface="PingFang SC"/>
                        </a:rPr>
                        <a:t>10–15%</a:t>
                      </a:r>
                    </a:p>
                  </a:txBody>
                  <a:tcPr marR="73152" marT="36576" marB="36576" anchor="ctr">
                    <a:solidFill>
                      <a:srgbClr val="FAEEE3"/>
                    </a:solidFill>
                  </a:tcPr>
                </a:tc>
                <a:tc>
                  <a:txBody>
                    <a:bodyPr/>
                    <a:lstStyle/>
                    <a:p>
                      <a:pPr>
                        <a:lnSpc>
                          <a:spcPct val="125000"/>
                        </a:lnSpc>
                      </a:pPr>
                      <a:r>
                        <a:rPr sz="1150" b="0" i="0">
                          <a:solidFill>
                            <a:srgbClr val="333E4F"/>
                          </a:solidFill>
                          <a:latin typeface="Helvetica Neue"/>
                          <a:ea typeface="PingFang SC"/>
                        </a:rPr>
                        <a:t>New, both the test suite and the spec</a:t>
                      </a:r>
                    </a:p>
                  </a:txBody>
                  <a:tcPr marR="73152" marT="36576" marB="36576" anchor="ctr">
                    <a:solidFill>
                      <a:srgbClr val="F3F6F8"/>
                    </a:solidFill>
                  </a:tcPr>
                </a:tc>
                <a:extLst>
                  <a:ext uri="{0D108BD9-81ED-4DB2-BD59-A6C34878D82A}">
                    <a16:rowId xmlns:a16="http://schemas.microsoft.com/office/drawing/2014/main" val="10004"/>
                  </a:ext>
                </a:extLst>
              </a:tr>
              <a:tr h="329184">
                <a:tc>
                  <a:txBody>
                    <a:bodyPr/>
                    <a:lstStyle/>
                    <a:p>
                      <a:pPr>
                        <a:lnSpc>
                          <a:spcPct val="125000"/>
                        </a:lnSpc>
                      </a:pPr>
                      <a:r>
                        <a:rPr sz="1150" b="1" i="0">
                          <a:solidFill>
                            <a:srgbClr val="111A27"/>
                          </a:solidFill>
                          <a:latin typeface="Helvetica Neue"/>
                          <a:ea typeface="PingFang SC"/>
                        </a:rPr>
                        <a:t>Durable orchestration</a:t>
                      </a:r>
                    </a:p>
                  </a:txBody>
                  <a:tcPr marR="73152" marT="36576" marB="36576" anchor="ctr">
                    <a:solidFill>
                      <a:srgbClr val="FFFFFF"/>
                    </a:solidFill>
                  </a:tcPr>
                </a:tc>
                <a:tc>
                  <a:txBody>
                    <a:bodyPr/>
                    <a:lstStyle/>
                    <a:p>
                      <a:pPr>
                        <a:lnSpc>
                          <a:spcPct val="125000"/>
                        </a:lnSpc>
                      </a:pPr>
                      <a:r>
                        <a:rPr sz="1150" b="0" i="0">
                          <a:solidFill>
                            <a:srgbClr val="333E4F"/>
                          </a:solidFill>
                          <a:latin typeface="Helvetica Neue"/>
                          <a:ea typeface="PingFang SC"/>
                        </a:rPr>
                        <a:t>~2%</a:t>
                      </a:r>
                    </a:p>
                  </a:txBody>
                  <a:tcPr marR="73152" marT="36576" marB="36576" anchor="ctr">
                    <a:solidFill>
                      <a:srgbClr val="FFFFFF"/>
                    </a:solidFill>
                  </a:tcPr>
                </a:tc>
                <a:tc>
                  <a:txBody>
                    <a:bodyPr/>
                    <a:lstStyle/>
                    <a:p>
                      <a:pPr>
                        <a:lnSpc>
                          <a:spcPct val="125000"/>
                        </a:lnSpc>
                      </a:pPr>
                      <a:r>
                        <a:rPr sz="1150" b="0" i="0">
                          <a:solidFill>
                            <a:srgbClr val="7A3B08"/>
                          </a:solidFill>
                          <a:latin typeface="Helvetica Neue"/>
                          <a:ea typeface="PingFang SC"/>
                        </a:rPr>
                        <a:t>~5%</a:t>
                      </a:r>
                    </a:p>
                  </a:txBody>
                  <a:tcPr marR="73152" marT="36576" marB="36576" anchor="ctr">
                    <a:solidFill>
                      <a:srgbClr val="FAEEE3"/>
                    </a:solidFill>
                  </a:tcPr>
                </a:tc>
                <a:tc>
                  <a:txBody>
                    <a:bodyPr/>
                    <a:lstStyle/>
                    <a:p>
                      <a:pPr>
                        <a:lnSpc>
                          <a:spcPct val="125000"/>
                        </a:lnSpc>
                      </a:pPr>
                      <a:r>
                        <a:rPr sz="1150" b="0" i="0">
                          <a:solidFill>
                            <a:srgbClr val="333E4F"/>
                          </a:solidFill>
                          <a:latin typeface="Helvetica Neue"/>
                          <a:ea typeface="PingFang SC"/>
                        </a:rPr>
                        <a:t>Not the same thing as cron and queues</a:t>
                      </a:r>
                    </a:p>
                  </a:txBody>
                  <a:tcPr marR="73152" marT="36576" marB="36576" anchor="ctr">
                    <a:solidFill>
                      <a:srgbClr val="FFFFFF"/>
                    </a:solidFill>
                  </a:tcPr>
                </a:tc>
                <a:extLst>
                  <a:ext uri="{0D108BD9-81ED-4DB2-BD59-A6C34878D82A}">
                    <a16:rowId xmlns:a16="http://schemas.microsoft.com/office/drawing/2014/main" val="10005"/>
                  </a:ext>
                </a:extLst>
              </a:tr>
              <a:tr h="329184">
                <a:tc>
                  <a:txBody>
                    <a:bodyPr/>
                    <a:lstStyle/>
                    <a:p>
                      <a:pPr>
                        <a:lnSpc>
                          <a:spcPct val="125000"/>
                        </a:lnSpc>
                      </a:pPr>
                      <a:r>
                        <a:rPr sz="1150" b="1" i="0">
                          <a:solidFill>
                            <a:srgbClr val="111A27"/>
                          </a:solidFill>
                          <a:latin typeface="Helvetica Neue"/>
                          <a:ea typeface="PingFang SC"/>
                        </a:rPr>
                        <a:t>Agent layer (prompts, memory)</a:t>
                      </a:r>
                    </a:p>
                  </a:txBody>
                  <a:tcPr marR="73152" marT="36576" marB="36576" anchor="ctr">
                    <a:solidFill>
                      <a:srgbClr val="F3F6F8"/>
                    </a:solidFill>
                  </a:tcPr>
                </a:tc>
                <a:tc>
                  <a:txBody>
                    <a:bodyPr/>
                    <a:lstStyle/>
                    <a:p>
                      <a:pPr>
                        <a:lnSpc>
                          <a:spcPct val="125000"/>
                        </a:lnSpc>
                      </a:pPr>
                      <a:r>
                        <a:rPr sz="1150" b="0" i="0">
                          <a:solidFill>
                            <a:srgbClr val="333E4F"/>
                          </a:solidFill>
                          <a:latin typeface="Helvetica Neue"/>
                          <a:ea typeface="PingFang SC"/>
                        </a:rPr>
                        <a:t>—</a:t>
                      </a:r>
                    </a:p>
                  </a:txBody>
                  <a:tcPr marR="73152" marT="36576" marB="36576" anchor="ctr">
                    <a:solidFill>
                      <a:srgbClr val="F3F6F8"/>
                    </a:solidFill>
                  </a:tcPr>
                </a:tc>
                <a:tc>
                  <a:txBody>
                    <a:bodyPr/>
                    <a:lstStyle/>
                    <a:p>
                      <a:pPr>
                        <a:lnSpc>
                          <a:spcPct val="125000"/>
                        </a:lnSpc>
                      </a:pPr>
                      <a:r>
                        <a:rPr sz="1150" b="0" i="0">
                          <a:solidFill>
                            <a:srgbClr val="7A3B08"/>
                          </a:solidFill>
                          <a:latin typeface="Helvetica Neue"/>
                          <a:ea typeface="PingFang SC"/>
                        </a:rPr>
                        <a:t>~5%</a:t>
                      </a:r>
                    </a:p>
                  </a:txBody>
                  <a:tcPr marR="73152" marT="36576" marB="36576" anchor="ctr">
                    <a:solidFill>
                      <a:srgbClr val="FAEEE3"/>
                    </a:solidFill>
                  </a:tcPr>
                </a:tc>
                <a:tc>
                  <a:txBody>
                    <a:bodyPr/>
                    <a:lstStyle/>
                    <a:p>
                      <a:pPr>
                        <a:lnSpc>
                          <a:spcPct val="125000"/>
                        </a:lnSpc>
                      </a:pPr>
                      <a:r>
                        <a:rPr sz="1150" b="0" i="0">
                          <a:solidFill>
                            <a:srgbClr val="333E4F"/>
                          </a:solidFill>
                          <a:latin typeface="Helvetica Neue"/>
                          <a:ea typeface="PingFang SC"/>
                        </a:rPr>
                        <a:t>New, but smaller than people expect</a:t>
                      </a:r>
                    </a:p>
                  </a:txBody>
                  <a:tcPr marR="73152" marT="36576" marB="36576" anchor="ctr">
                    <a:solidFill>
                      <a:srgbClr val="F3F6F8"/>
                    </a:solidFill>
                  </a:tcPr>
                </a:tc>
                <a:extLst>
                  <a:ext uri="{0D108BD9-81ED-4DB2-BD59-A6C34878D82A}">
                    <a16:rowId xmlns:a16="http://schemas.microsoft.com/office/drawing/2014/main" val="10006"/>
                  </a:ext>
                </a:extLst>
              </a:tr>
              <a:tr h="329184">
                <a:tc>
                  <a:txBody>
                    <a:bodyPr/>
                    <a:lstStyle/>
                    <a:p>
                      <a:pPr>
                        <a:lnSpc>
                          <a:spcPct val="125000"/>
                        </a:lnSpc>
                      </a:pPr>
                      <a:r>
                        <a:rPr sz="1150" b="1" i="0">
                          <a:solidFill>
                            <a:srgbClr val="111A27"/>
                          </a:solidFill>
                          <a:latin typeface="Helvetica Neue"/>
                          <a:ea typeface="PingFang SC"/>
                        </a:rPr>
                        <a:t>Interface</a:t>
                      </a:r>
                    </a:p>
                  </a:txBody>
                  <a:tcPr marR="73152" marT="36576" marB="36576" anchor="ctr">
                    <a:solidFill>
                      <a:srgbClr val="FFFFFF"/>
                    </a:solidFill>
                  </a:tcPr>
                </a:tc>
                <a:tc>
                  <a:txBody>
                    <a:bodyPr/>
                    <a:lstStyle/>
                    <a:p>
                      <a:pPr>
                        <a:lnSpc>
                          <a:spcPct val="125000"/>
                        </a:lnSpc>
                      </a:pPr>
                      <a:r>
                        <a:rPr sz="1150" b="0" i="0">
                          <a:solidFill>
                            <a:srgbClr val="333E4F"/>
                          </a:solidFill>
                          <a:latin typeface="Helvetica Neue"/>
                          <a:ea typeface="PingFang SC"/>
                        </a:rPr>
                        <a:t>30–40%</a:t>
                      </a:r>
                    </a:p>
                  </a:txBody>
                  <a:tcPr marR="73152" marT="36576" marB="36576" anchor="ctr">
                    <a:solidFill>
                      <a:srgbClr val="FFFFFF"/>
                    </a:solidFill>
                  </a:tcPr>
                </a:tc>
                <a:tc>
                  <a:txBody>
                    <a:bodyPr/>
                    <a:lstStyle/>
                    <a:p>
                      <a:pPr>
                        <a:lnSpc>
                          <a:spcPct val="125000"/>
                        </a:lnSpc>
                      </a:pPr>
                      <a:r>
                        <a:rPr sz="1150" b="0" i="0">
                          <a:solidFill>
                            <a:srgbClr val="7A3B08"/>
                          </a:solidFill>
                          <a:latin typeface="Helvetica Neue"/>
                          <a:ea typeface="PingFang SC"/>
                        </a:rPr>
                        <a:t>10–15%</a:t>
                      </a:r>
                    </a:p>
                  </a:txBody>
                  <a:tcPr marR="73152" marT="36576" marB="36576" anchor="ctr">
                    <a:solidFill>
                      <a:srgbClr val="FAEEE3"/>
                    </a:solidFill>
                  </a:tcPr>
                </a:tc>
                <a:tc>
                  <a:txBody>
                    <a:bodyPr/>
                    <a:lstStyle/>
                    <a:p>
                      <a:pPr>
                        <a:lnSpc>
                          <a:spcPct val="125000"/>
                        </a:lnSpc>
                      </a:pPr>
                      <a:r>
                        <a:rPr sz="1150" b="0" i="0">
                          <a:solidFill>
                            <a:srgbClr val="333E4F"/>
                          </a:solidFill>
                          <a:latin typeface="Helvetica Neue"/>
                          <a:ea typeface="PingFang SC"/>
                        </a:rPr>
                        <a:t>Share drops sharply, nature changes too</a:t>
                      </a:r>
                    </a:p>
                  </a:txBody>
                  <a:tcPr marR="73152" marT="36576" marB="36576" anchor="ctr">
                    <a:solidFill>
                      <a:srgbClr val="FFFFFF"/>
                    </a:solidFill>
                  </a:tcPr>
                </a:tc>
                <a:extLst>
                  <a:ext uri="{0D108BD9-81ED-4DB2-BD59-A6C34878D82A}">
                    <a16:rowId xmlns:a16="http://schemas.microsoft.com/office/drawing/2014/main" val="10007"/>
                  </a:ext>
                </a:extLst>
              </a:tr>
              <a:tr h="329184">
                <a:tc>
                  <a:txBody>
                    <a:bodyPr/>
                    <a:lstStyle/>
                    <a:p>
                      <a:pPr>
                        <a:lnSpc>
                          <a:spcPct val="125000"/>
                        </a:lnSpc>
                      </a:pPr>
                      <a:r>
                        <a:rPr sz="1150" b="1" i="0">
                          <a:solidFill>
                            <a:srgbClr val="111A27"/>
                          </a:solidFill>
                          <a:latin typeface="Helvetica Neue"/>
                          <a:ea typeface="PingFang SC"/>
                        </a:rPr>
                        <a:t>Data integration</a:t>
                      </a:r>
                    </a:p>
                  </a:txBody>
                  <a:tcPr marR="73152" marT="36576" marB="36576" anchor="ctr">
                    <a:solidFill>
                      <a:srgbClr val="F3F6F8"/>
                    </a:solidFill>
                  </a:tcPr>
                </a:tc>
                <a:tc>
                  <a:txBody>
                    <a:bodyPr/>
                    <a:lstStyle/>
                    <a:p>
                      <a:pPr>
                        <a:lnSpc>
                          <a:spcPct val="125000"/>
                        </a:lnSpc>
                      </a:pPr>
                      <a:r>
                        <a:rPr sz="1150" b="0" i="0">
                          <a:solidFill>
                            <a:srgbClr val="333E4F"/>
                          </a:solidFill>
                          <a:latin typeface="Helvetica Neue"/>
                          <a:ea typeface="PingFang SC"/>
                        </a:rPr>
                        <a:t>10–15%</a:t>
                      </a:r>
                    </a:p>
                  </a:txBody>
                  <a:tcPr marR="73152" marT="36576" marB="36576" anchor="ctr">
                    <a:solidFill>
                      <a:srgbClr val="F3F6F8"/>
                    </a:solidFill>
                  </a:tcPr>
                </a:tc>
                <a:tc>
                  <a:txBody>
                    <a:bodyPr/>
                    <a:lstStyle/>
                    <a:p>
                      <a:pPr>
                        <a:lnSpc>
                          <a:spcPct val="125000"/>
                        </a:lnSpc>
                      </a:pPr>
                      <a:r>
                        <a:rPr sz="1150" b="0" i="0">
                          <a:solidFill>
                            <a:srgbClr val="7A3B08"/>
                          </a:solidFill>
                          <a:latin typeface="Helvetica Neue"/>
                          <a:ea typeface="PingFang SC"/>
                        </a:rPr>
                        <a:t>~10%</a:t>
                      </a:r>
                    </a:p>
                  </a:txBody>
                  <a:tcPr marR="73152" marT="36576" marB="36576" anchor="ctr">
                    <a:solidFill>
                      <a:srgbClr val="FAEEE3"/>
                    </a:solidFill>
                  </a:tcPr>
                </a:tc>
                <a:tc>
                  <a:txBody>
                    <a:bodyPr/>
                    <a:lstStyle/>
                    <a:p>
                      <a:pPr>
                        <a:lnSpc>
                          <a:spcPct val="125000"/>
                        </a:lnSpc>
                      </a:pPr>
                      <a:r>
                        <a:rPr lang="en-US" sz="1150" b="0" i="0">
                          <a:solidFill>
                            <a:srgbClr val="333E4F"/>
                          </a:solidFill>
                          <a:latin typeface="Helvetica Neue"/>
                          <a:ea typeface="PingFang SC"/>
                        </a:rPr>
                        <a:t>Similar, plus an agent-driven fallback</a:t>
                      </a:r>
                    </a:p>
                  </a:txBody>
                  <a:tcPr marR="73152" marT="36576" marB="36576" anchor="ctr">
                    <a:solidFill>
                      <a:srgbClr val="F3F6F8"/>
                    </a:solidFill>
                  </a:tcPr>
                </a:tc>
                <a:extLst>
                  <a:ext uri="{0D108BD9-81ED-4DB2-BD59-A6C34878D82A}">
                    <a16:rowId xmlns:a16="http://schemas.microsoft.com/office/drawing/2014/main" val="10008"/>
                  </a:ext>
                </a:extLst>
              </a:tr>
              <a:tr h="329184">
                <a:tc>
                  <a:txBody>
                    <a:bodyPr/>
                    <a:lstStyle/>
                    <a:p>
                      <a:pPr>
                        <a:lnSpc>
                          <a:spcPct val="125000"/>
                        </a:lnSpc>
                      </a:pPr>
                      <a:r>
                        <a:rPr sz="1150" b="1" i="0">
                          <a:solidFill>
                            <a:srgbClr val="111A27"/>
                          </a:solidFill>
                          <a:latin typeface="Helvetica Neue"/>
                          <a:ea typeface="PingFang SC"/>
                        </a:rPr>
                        <a:t>Platform</a:t>
                      </a:r>
                    </a:p>
                  </a:txBody>
                  <a:tcPr marR="73152" marT="36576" marB="36576" anchor="ctr">
                    <a:solidFill>
                      <a:srgbClr val="FFFFFF"/>
                    </a:solidFill>
                  </a:tcPr>
                </a:tc>
                <a:tc>
                  <a:txBody>
                    <a:bodyPr/>
                    <a:lstStyle/>
                    <a:p>
                      <a:pPr>
                        <a:lnSpc>
                          <a:spcPct val="125000"/>
                        </a:lnSpc>
                      </a:pPr>
                      <a:r>
                        <a:rPr sz="1150" b="0" i="0">
                          <a:solidFill>
                            <a:srgbClr val="333E4F"/>
                          </a:solidFill>
                          <a:latin typeface="Helvetica Neue"/>
                          <a:ea typeface="PingFang SC"/>
                        </a:rPr>
                        <a:t>~15%</a:t>
                      </a:r>
                    </a:p>
                  </a:txBody>
                  <a:tcPr marR="73152" marT="36576" marB="36576" anchor="ctr">
                    <a:solidFill>
                      <a:srgbClr val="FFFFFF"/>
                    </a:solidFill>
                  </a:tcPr>
                </a:tc>
                <a:tc>
                  <a:txBody>
                    <a:bodyPr/>
                    <a:lstStyle/>
                    <a:p>
                      <a:pPr>
                        <a:lnSpc>
                          <a:spcPct val="125000"/>
                        </a:lnSpc>
                      </a:pPr>
                      <a:r>
                        <a:rPr sz="1150" b="0" i="0">
                          <a:solidFill>
                            <a:srgbClr val="7A3B08"/>
                          </a:solidFill>
                          <a:latin typeface="Helvetica Neue"/>
                          <a:ea typeface="PingFang SC"/>
                        </a:rPr>
                        <a:t>~15%</a:t>
                      </a:r>
                    </a:p>
                  </a:txBody>
                  <a:tcPr marR="73152" marT="36576" marB="36576" anchor="ctr">
                    <a:solidFill>
                      <a:srgbClr val="FAEEE3"/>
                    </a:solidFill>
                  </a:tcPr>
                </a:tc>
                <a:tc>
                  <a:txBody>
                    <a:bodyPr/>
                    <a:lstStyle/>
                    <a:p>
                      <a:pPr>
                        <a:lnSpc>
                          <a:spcPct val="125000"/>
                        </a:lnSpc>
                      </a:pPr>
                      <a:r>
                        <a:rPr sz="1150" b="0" i="0">
                          <a:solidFill>
                            <a:srgbClr val="333E4F"/>
                          </a:solidFill>
                          <a:latin typeface="Helvetica Neue"/>
                          <a:ea typeface="PingFang SC"/>
                        </a:rPr>
                        <a:t>Adds agent identity and cost telemetry</a:t>
                      </a:r>
                    </a:p>
                  </a:txBody>
                  <a:tcPr marR="73152" marT="36576" marB="36576" anchor="ctr">
                    <a:solidFill>
                      <a:srgbClr val="FFFFFF"/>
                    </a:solidFill>
                  </a:tcPr>
                </a:tc>
                <a:extLst>
                  <a:ext uri="{0D108BD9-81ED-4DB2-BD59-A6C34878D82A}">
                    <a16:rowId xmlns:a16="http://schemas.microsoft.com/office/drawing/2014/main" val="10009"/>
                  </a:ext>
                </a:extLst>
              </a:tr>
            </a:tbl>
          </a:graphicData>
        </a:graphic>
      </p:graphicFrame>
      <p:sp>
        <p:nvSpPr>
          <p:cNvPr id="7" name="Rounded Rectangle 6"/>
          <p:cNvSpPr/>
          <p:nvPr/>
        </p:nvSpPr>
        <p:spPr>
          <a:xfrm>
            <a:off x="658368" y="5595251"/>
            <a:ext cx="10874959" cy="694944"/>
          </a:xfrm>
          <a:prstGeom prst="roundRect">
            <a:avLst>
              <a:gd name="adj" fmla="val 4000"/>
            </a:avLst>
          </a:prstGeom>
          <a:solidFill>
            <a:srgbClr val="111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50976" y="5759843"/>
            <a:ext cx="10289743" cy="411480"/>
          </a:xfrm>
          <a:prstGeom prst="rect">
            <a:avLst/>
          </a:prstGeom>
          <a:noFill/>
        </p:spPr>
        <p:txBody>
          <a:bodyPr wrap="square" lIns="0" tIns="0" rIns="0" bIns="0" anchor="t">
            <a:spAutoFit/>
          </a:bodyPr>
          <a:lstStyle/>
          <a:p>
            <a:pPr algn="l">
              <a:lnSpc>
                <a:spcPct val="135000"/>
              </a:lnSpc>
              <a:spcAft>
                <a:spcPts val="600"/>
              </a:spcAft>
            </a:pPr>
            <a:r>
              <a:rPr sz="1400" b="1" i="0">
                <a:solidFill>
                  <a:srgbClr val="FFFFFF"/>
                </a:solidFill>
                <a:latin typeface="Helvetica Neue"/>
                <a:ea typeface="PingFang SC"/>
              </a:rPr>
              <a:t>Traditional software made people faster at the interface. We make the machine's output defensible at the substrate.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3202</Words>
  <Application>Microsoft Macintosh PowerPoint</Application>
  <PresentationFormat>Widescreen</PresentationFormat>
  <Paragraphs>307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Chunliang Lyu</cp:lastModifiedBy>
  <cp:revision>17</cp:revision>
  <dcterms:created xsi:type="dcterms:W3CDTF">2013-01-27T09:14:16Z</dcterms:created>
  <dcterms:modified xsi:type="dcterms:W3CDTF">2026-08-17T03:30:03Z</dcterms:modified>
  <cp:category/>
</cp:coreProperties>
</file>