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"There are two ways to do AI in an accounting firm. One is to buy a copilot</a:t>
            </a:r>
          </a:p>
          <a:p>
            <a:r>
              <a:t>for the software we already have. The other is to replace the software with something that</a:t>
            </a:r>
          </a:p>
          <a:p>
            <a:r>
              <a:t>produces the work product. Only the second one changes our cost structure, and it needs a</a:t>
            </a:r>
          </a:p>
          <a:p>
            <a:r>
              <a:t>different technical foundation — which is what this deck is about."</a:t>
            </a:r>
          </a:p>
          <a:p/>
          <a:p>
            <a:r>
              <a:t>Our vantage matters and you should say it early: we are not a software company guessing at</a:t>
            </a:r>
          </a:p>
          <a:p>
            <a:r>
              <a:t>what accountants need. We are the firm. We have the engagements, the write access, the</a:t>
            </a:r>
          </a:p>
          <a:p>
            <a:r>
              <a:t>domain experts, and — the part nobody else can buy — years of closed, reviewed, filed books</a:t>
            </a:r>
          </a:p>
          <a:p>
            <a:r>
              <a:t>to measure a machine against.</a:t>
            </a:r>
          </a:p>
          <a:p/>
          <a:p>
            <a:r>
              <a:t>Structure: technical background (3 slides), why this domain is uniquely suited (1), the</a:t>
            </a:r>
          </a:p>
          <a:p>
            <a:r>
              <a:t>architecture and its four load-bearing components (6), the two hard problems (1), then</a:t>
            </a:r>
          </a:p>
          <a:p>
            <a:r>
              <a:t>phase 2 in detail with the investment. Tell them the architecture section is the real</a:t>
            </a:r>
          </a:p>
          <a:p>
            <a:r>
              <a:t>content and to interrupt there.</a:t>
            </a:r>
          </a:p>
          <a:p/>
          <a:p>
            <a:r>
              <a:t>[FILL BEFORE USE] firm name, date, presenter, contact.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argument in one slide. Deliver it, pause, then say the rest of the deck</a:t>
            </a:r>
          </a:p>
          <a:p>
            <a:r>
              <a:t>defends the third box and the dark bar.</a:t>
            </a:r>
          </a:p>
          <a:p/>
          <a:p>
            <a:r>
              <a:t>The first box is the point most people miss: the reason accounting software makes us fill in</a:t>
            </a:r>
          </a:p>
          <a:p>
            <a:r>
              <a:t>forms is not laziness or bad design. It is that deterministic code physically cannot handle</a:t>
            </a:r>
          </a:p>
          <a:p>
            <a:r>
              <a:t>"it depends", so the ambiguity had to go somewhere, and it went to us. Every hour of our</a:t>
            </a:r>
          </a:p>
          <a:p>
            <a:r>
              <a:t>staff time is the cost of that architectural constraint.</a:t>
            </a:r>
          </a:p>
          <a:p/>
          <a:p>
            <a:r>
              <a:t>The dark bar is the sentence to repeat if you get only one. Almost every agent pitch in the</a:t>
            </a:r>
          </a:p>
          <a:p>
            <a:r>
              <a:t>market cannot say it, because almost no domain lets you check the answer mechanically. Ours</a:t>
            </a:r>
          </a:p>
          <a:p>
            <a:r>
              <a:t>does.</a:t>
            </a:r>
          </a:p>
          <a:p/>
          <a:p>
            <a:r>
              <a:t>If someone jumps ahead to "why won't the incumbents just ship this" — park it, you answer it</a:t>
            </a:r>
          </a:p>
          <a:p>
            <a:r>
              <a:t>structurally on the architecture slides. The short version: the substrate they would need is</a:t>
            </a:r>
          </a:p>
          <a:p>
            <a:r>
              <a:t>a schema decision they cannot retrofit, and their revenue depends on the seats this removes.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replaces the business-model background from the earlier draft. It does the same</a:t>
            </a:r>
          </a:p>
          <a:p>
            <a:r>
              <a:t>setup job but in technical terms, which suits both the audience and the fact that we are</a:t>
            </a:r>
          </a:p>
          <a:p>
            <a:r>
              <a:t>insiders describing tools we use daily.</a:t>
            </a:r>
          </a:p>
          <a:p/>
          <a:p>
            <a:r>
              <a:t>The third column is the one to slow down on, because it is the pivot for the entire</a:t>
            </a:r>
          </a:p>
          <a:p>
            <a:r>
              <a:t>architecture section. Say it plainly: "Every accounting system we have ever used validates</a:t>
            </a:r>
          </a:p>
          <a:p>
            <a:r>
              <a:t>syntax, not semantics. It will happily let us post a perfectly balanced entry to completely</a:t>
            </a:r>
          </a:p>
          <a:p>
            <a:r>
              <a:t>the wrong account. Well-formed and correct are different questions, and no software we own</a:t>
            </a:r>
          </a:p>
          <a:p>
            <a:r>
              <a:t>asks the second one." Then: the whole point of what we are building is a system that asks</a:t>
            </a:r>
          </a:p>
          <a:p>
            <a:r>
              <a:t>the second question, and can answer it.</a:t>
            </a:r>
          </a:p>
          <a:p/>
          <a:p>
            <a:r>
              <a:t>The fourth column is where the audience feels it. Everyone in the room who has staffed a</a:t>
            </a:r>
          </a:p>
          <a:p>
            <a:r>
              <a:t>close knows that the software's job ends exactly where the expensive part begins.</a:t>
            </a:r>
          </a:p>
          <a:p/>
          <a:p>
            <a:r>
              <a:t>Watch the tone — do not bash Xero or QBO. Their design was correct for the constraint they</a:t>
            </a:r>
          </a:p>
          <a:p>
            <a:r>
              <a:t>faced. Being fair about that makes the claim that the constraint has lifted more credible,</a:t>
            </a:r>
          </a:p>
          <a:p>
            <a:r>
              <a:t>not less.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only possible because we are the firm, and it is our strongest credibility</a:t>
            </a:r>
          </a:p>
          <a:p>
            <a:r>
              <a:t>asset in the room. A software startup has to guess at this split. We can produce it from</a:t>
            </a:r>
          </a:p>
          <a:p>
            <a:r>
              <a:t>time records.</a:t>
            </a:r>
          </a:p>
          <a:p/>
          <a:p>
            <a:r>
              <a:t>Run the contrast explicitly: everything on the left is what we pay a software licence for.</a:t>
            </a:r>
          </a:p>
          <a:p>
            <a:r>
              <a:t>Everything on the right is what we pay salaries for. The right-hand column is roughly an</a:t>
            </a:r>
          </a:p>
          <a:p>
            <a:r>
              <a:t>order of magnitude more expensive than the left, and no software we own touches any line</a:t>
            </a:r>
          </a:p>
          <a:p>
            <a:r>
              <a:t>of it. That gap is the opportunity, stated without any market-sizing hand-waving.</a:t>
            </a:r>
          </a:p>
          <a:p/>
          <a:p>
            <a:r>
              <a:t>The bottom bar carries the 60/40 warning, and it matters commercially: a system that</a:t>
            </a:r>
          </a:p>
          <a:p>
            <a:r>
              <a:t>automates 80% of transactions may have automated 30% of the cost, because the residual tail</a:t>
            </a:r>
          </a:p>
          <a:p>
            <a:r>
              <a:t>is where the hours concentrate. We will report on hours, not transaction counts, and we can</a:t>
            </a:r>
          </a:p>
          <a:p>
            <a:r>
              <a:t>because we bill in hours.</a:t>
            </a:r>
          </a:p>
          <a:p/>
          <a:p>
            <a:r>
              <a:t>ACTION: fill in the real activity-level hours before presenting. This is the single most</a:t>
            </a:r>
          </a:p>
          <a:p>
            <a:r>
              <a:t>persuasive number in the deck and we are the only ones who have it. Do not present the</a:t>
            </a:r>
          </a:p>
          <a:p>
            <a:r>
              <a:t>placeholder.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earns credibility precisely by refusing the hype framing. Any investor who has</a:t>
            </a:r>
          </a:p>
          <a:p>
            <a:r>
              <a:t>sat through forty AI pitches has heard "AI changes everything"; very few have heard a</a:t>
            </a:r>
          </a:p>
          <a:p>
            <a:r>
              <a:t>precise statement of which constraints lifted and which did not.</a:t>
            </a:r>
          </a:p>
          <a:p/>
          <a:p>
            <a:r>
              <a:t>Walk the rows left to right, one sentence each. Then deliver the bottom box close to</a:t>
            </a:r>
          </a:p>
          <a:p>
            <a:r>
              <a:t>verbatim — it is the most quotable line in the deck.</a:t>
            </a:r>
          </a:p>
          <a:p/>
          <a:p>
            <a:r>
              <a:t>Expected pushback: "the long-tail claim is doing a lot of work." Concede it partially and</a:t>
            </a:r>
          </a:p>
          <a:p>
            <a:r>
              <a:t>immediately — marginal cost on the tail falls a great deal but not to zero, and reliability</a:t>
            </a:r>
          </a:p>
          <a:p>
            <a:r>
              <a:t>on tail cases is measurably worse than on the common case. That is exactly why the</a:t>
            </a:r>
          </a:p>
          <a:p>
            <a:r>
              <a:t>architecture has a verification layer and a human review queue rather than assumed</a:t>
            </a:r>
          </a:p>
          <a:p>
            <a:r>
              <a:t>autonomy. Point forward to the verification slide; do not defend more than the evidence</a:t>
            </a:r>
          </a:p>
          <a:p>
            <a:r>
              <a:t>supports.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audience should leave remembering, and it answers two questions at</a:t>
            </a:r>
          </a:p>
          <a:p>
            <a:r>
              <a:t>once: why this vertical, and why us rather than a well-funded software company.</a:t>
            </a:r>
          </a:p>
          <a:p/>
          <a:p>
            <a:r>
              <a:t>Make the general point first. In most knowledge work you cannot check the answer</a:t>
            </a:r>
          </a:p>
          <a:p>
            <a:r>
              <a:t>mechanically, so a human never leaves the loop and the product ceiling is assistive. We did</a:t>
            </a:r>
          </a:p>
          <a:p>
            <a:r>
              <a:t>not pick accounting because it is exciting. We picked it because it is verifiable.</a:t>
            </a:r>
          </a:p>
          <a:p/>
          <a:p>
            <a:r>
              <a:t>Then panel 3, which is the firm-specific half and the part an outsider cannot replicate.</a:t>
            </a:r>
          </a:p>
          <a:p>
            <a:r>
              <a:t>Spell it out: a startup in this space spends its first two years trying to acquire what is</a:t>
            </a:r>
          </a:p>
          <a:p>
            <a:r>
              <a:t>sitting in our document management system. Every closed month is an input-output pair with</a:t>
            </a:r>
          </a:p>
          <a:p>
            <a:r>
              <a:t>a verified outcome and, often, the reviewer's notes explaining the judgment. That is a</a:t>
            </a:r>
          </a:p>
          <a:p>
            <a:r>
              <a:t>training and evaluation corpus, and it is proprietary.</a:t>
            </a:r>
          </a:p>
          <a:p/>
          <a:p>
            <a:r>
              <a:t>If asked how much: have the count ready — entities, months closed, years of archive. It is</a:t>
            </a:r>
          </a:p>
          <a:p>
            <a:r>
              <a:t>the most concrete asset claim we can make, so it should be a real number.</a:t>
            </a:r>
          </a:p>
          <a:p/>
          <a:p>
            <a:r>
              <a:t>Caveat to volunteer before they raise it: the archive needs consent and confidentiality</a:t>
            </a:r>
          </a:p>
          <a:p>
            <a:r>
              <a:t>review before use, and engagement letters may need updating. We have looked at it; it is a</a:t>
            </a:r>
          </a:p>
          <a:p>
            <a:r>
              <a:t>process question, not a blocker. Do not pretend the question does not exist.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into the architecture. It tells the audience what to look for in the next</a:t>
            </a:r>
          </a:p>
          <a:p>
            <a:r>
              <a:t>six slides.</a:t>
            </a:r>
          </a:p>
          <a:p/>
          <a:p>
            <a:r>
              <a:t>Draw out permission specifically, because it is the one an investor will underrate. UI habit</a:t>
            </a:r>
          </a:p>
          <a:p>
            <a:r>
              <a:t>is a preference and preferences get overridden in a procurement cycle. Write access to a</a:t>
            </a:r>
          </a:p>
          <a:p>
            <a:r>
              <a:t>client's ledger and bank, with our professional liability attached, is a governance decision</a:t>
            </a:r>
          </a:p>
          <a:p>
            <a:r>
              <a:t>with a documented approval trail. Reversing it requires a partner-level conversation, not a</a:t>
            </a:r>
          </a:p>
          <a:p>
            <a:r>
              <a:t>preference change.</a:t>
            </a:r>
          </a:p>
          <a:p/>
          <a:p>
            <a:r>
              <a:t>The "what does not change" panel is deliberate and it buys more credibility than anything</a:t>
            </a:r>
          </a:p>
          <a:p>
            <a:r>
              <a:t>else on the slide. Everyone in this category has heard someone claim agents make databases</a:t>
            </a:r>
          </a:p>
          <a:p>
            <a:r>
              <a:t>or systems of record obsolete. Saying plainly that the ledger becomes MORE important signals</a:t>
            </a:r>
          </a:p>
          <a:p>
            <a:r>
              <a:t>we have actually built something.</a:t>
            </a:r>
          </a:p>
          <a:p/>
          <a:p>
            <a:r>
              <a:t>The bottom bar sets up the biggest surprise in the architecture section — that the agent</a:t>
            </a:r>
          </a:p>
          <a:p>
            <a:r>
              <a:t>layer is one of the smallest line items. Plant it here so it lands twice.</a:t>
            </a:r>
          </a:p>
          <a:p/>
          <a:p>
            <a:r>
              <a:t>If asked which of the four we have today: be honest. Verification is built, evals are in</a:t>
            </a:r>
          </a:p>
          <a:p>
            <a:r>
              <a:t>progress, context accrues per client per month, permission comes with each engagement. Do</a:t>
            </a:r>
          </a:p>
          <a:p>
            <a:r>
              <a:t>not claim all four are mature.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the most time here. Read the title as a sentence — it is the design philosophy in nine</a:t>
            </a:r>
          </a:p>
          <a:p>
            <a:r>
              <a:t>words, and it is what makes this defensible to a peer reviewer.</a:t>
            </a:r>
          </a:p>
          <a:p/>
          <a:p>
            <a:r>
              <a:t>Walk it bottom-up, not top-down: ingestion, ledger, tools, orchestration, agents,</a:t>
            </a:r>
          </a:p>
          <a:p>
            <a:r>
              <a:t>verification, surfaces. Bottom-up is the build order and it makes the dependency structure</a:t>
            </a:r>
          </a:p>
          <a:p>
            <a:r>
              <a:t>obvious.</a:t>
            </a:r>
          </a:p>
          <a:p/>
          <a:p>
            <a:r>
              <a:t>The point to hammer: the three diamonds are where the value is, and the agent layer is not</a:t>
            </a:r>
          </a:p>
          <a:p>
            <a:r>
              <a:t>one of them. Teams in this category over-invest in the agent layer because it is the</a:t>
            </a:r>
          </a:p>
          <a:p>
            <a:r>
              <a:t>visible, demo-able part, then find they have no verification and no evals and cannot tell</a:t>
            </a:r>
          </a:p>
          <a:p>
            <a:r>
              <a:t>whether they are improving. We inverted that deliberately.</a:t>
            </a:r>
          </a:p>
          <a:p/>
          <a:p>
            <a:r>
              <a:t>Second point, and it is the one a technical investor will test: verification sits ABOVE the</a:t>
            </a:r>
          </a:p>
          <a:p>
            <a:r>
              <a:t>agent and BELOW the client. Nothing the agent produces reaches a client's books without</a:t>
            </a:r>
          </a:p>
          <a:p>
            <a:r>
              <a:t>passing deterministic checks first. That is an architectural guarantee, not a policy or a</a:t>
            </a:r>
          </a:p>
          <a:p>
            <a:r>
              <a:t>promise about model behaviour.</a:t>
            </a:r>
          </a:p>
          <a:p/>
          <a:p>
            <a:r>
              <a:t>Expect: "why durable orchestration rather than letting the agent plan the close?" Answer: a</a:t>
            </a:r>
          </a:p>
          <a:p>
            <a:r>
              <a:t>close is a known checklist that spans days, waits on client email, and needs compensation</a:t>
            </a:r>
          </a:p>
          <a:p>
            <a:r>
              <a:t>logic when a step fails. We model the known process deterministically and use agents only</a:t>
            </a:r>
          </a:p>
          <a:p>
            <a:r>
              <a:t>inside the judgment-bearing steps. Free-roaming agency over a general ledger is how you get</a:t>
            </a:r>
          </a:p>
          <a:p>
            <a:r>
              <a:t>a restatement you cannot explain.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land: "this is the layer a competitor cannot copy by copying our prompts."</a:t>
            </a:r>
          </a:p>
          <a:p/>
          <a:p>
            <a:r>
              <a:t>Bitemporality needs a concrete example. Use this one: a client's March books were closed in</a:t>
            </a:r>
          </a:p>
          <a:p>
            <a:r>
              <a:t>April. In June a reviewer asks what we believed on 31 March and why. A normal database</a:t>
            </a:r>
          </a:p>
          <a:p>
            <a:r>
              <a:t>cannot answer that — it holds current state only. We can, because we store both when a fact</a:t>
            </a:r>
          </a:p>
          <a:p>
            <a:r>
              <a:t>became true and when we learned it. The same mechanism is what lets us take last year's real</a:t>
            </a:r>
          </a:p>
          <a:p>
            <a:r>
              <a:t>closed books and replay our agents against them to measure accuracy, which is our entire</a:t>
            </a:r>
          </a:p>
          <a:p>
            <a:r>
              <a:t>evaluation strategy.</a:t>
            </a:r>
          </a:p>
          <a:p/>
          <a:p>
            <a:r>
              <a:t>If a technical investor pushes on cost: yes, append-only bitemporal ledgers are more</a:t>
            </a:r>
          </a:p>
          <a:p>
            <a:r>
              <a:t>expensive to build and query than mutable tables. We accepted that in month one precisely</a:t>
            </a:r>
          </a:p>
          <a:p>
            <a:r>
              <a:t>because it is unrecoverable later.</a:t>
            </a:r>
          </a:p>
          <a:p/>
          <a:p>
            <a:r>
              <a:t>The last line of the panel is worth saying out loud — 15 to 20% of effort and almost none of</a:t>
            </a:r>
          </a:p>
          <a:p>
            <a:r>
              <a:t>the demo. That asymmetry tells them where our engineering judgment sits.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error-message point is what convinces engineers we have actually shipped this. Nobody</a:t>
            </a:r>
          </a:p>
          <a:p>
            <a:r>
              <a:t>who has not built an agent system thinks of error strings as a functional requirement. Give</a:t>
            </a:r>
          </a:p>
          <a:p>
            <a:r>
              <a:t>the unbalanced-entry example verbatim.</a:t>
            </a:r>
          </a:p>
          <a:p/>
          <a:p>
            <a:r>
              <a:t>The inverted trust relationship is the second thing to emphasise, and it resonates with</a:t>
            </a:r>
          </a:p>
          <a:p>
            <a:r>
              <a:t>anyone who understands financial controls. Every engineer has written validation in the</a:t>
            </a:r>
          </a:p>
          <a:p>
            <a:r>
              <a:t>frontend and trusted it. You cannot do that when the caller is a model, so the invariant has</a:t>
            </a:r>
          </a:p>
          <a:p>
            <a:r>
              <a:t>to live in the tool. Small idea, large consequences for how the codebase is organised.</a:t>
            </a:r>
          </a:p>
          <a:p/>
          <a:p>
            <a:r>
              <a:t>The rule box is the one to repeat if you get a single point across: the model never does</a:t>
            </a:r>
          </a:p>
          <a:p>
            <a:r>
              <a:t>arithmetic. Every wrong number in a competitor's demo comes from letting the model compute</a:t>
            </a:r>
          </a:p>
          <a:p>
            <a:r>
              <a:t>instead of calling something that computes.</a:t>
            </a:r>
          </a:p>
          <a:p/>
          <a:p>
            <a:r>
              <a:t>If asked about MCP or tool-protocol standardisation: we are compatible, but it is an</a:t>
            </a:r>
          </a:p>
          <a:p>
            <a:r>
              <a:t>integration detail, not the hard part. The hard part is designing the right thirty or so</a:t>
            </a:r>
          </a:p>
          <a:p>
            <a:r>
              <a:t>tools at the right granularity with the right invariants, and that took our accountants,</a:t>
            </a:r>
          </a:p>
          <a:p>
            <a:r>
              <a:t>not protocol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technical heart of the deck. If they remember one architecture slide, it should</a:t>
            </a:r>
          </a:p>
          <a:p>
            <a:r>
              <a:t>be this one.</a:t>
            </a:r>
          </a:p>
          <a:p/>
          <a:p>
            <a:r>
              <a:t>Open with the syntactic-to-semantic line, then the three tiers briefly. Spend your remaining</a:t>
            </a:r>
          </a:p>
          <a:p>
            <a:r>
              <a:t>time on the bottom-left box, because it is the most common failure in the category and</a:t>
            </a:r>
          </a:p>
          <a:p>
            <a:r>
              <a:t>stating it clearly is a strong credibility signal: models are overconfident, so</a:t>
            </a:r>
          </a:p>
          <a:p>
            <a:r>
              <a:t>self-reported confidence is not a control. We derive confidence from verification signals</a:t>
            </a:r>
          </a:p>
          <a:p>
            <a:r>
              <a:t>and from agreement between independent passes, and we calibrate it against known outcomes.</a:t>
            </a:r>
          </a:p>
          <a:p/>
          <a:p>
            <a:r>
              <a:t>Then the bottom-right box, which is the commercial translation. The routing threshold IS the</a:t>
            </a:r>
          </a:p>
          <a:p>
            <a:r>
              <a:t>business case. Every point of auto-post rate is a measurable number of hours. That is why</a:t>
            </a:r>
          </a:p>
          <a:p>
            <a:r>
              <a:t>this is a forecast rather than a hope: we can see the rate per transaction category and we</a:t>
            </a:r>
          </a:p>
          <a:p>
            <a:r>
              <a:t>know what each point is worth in staff time.</a:t>
            </a:r>
          </a:p>
          <a:p/>
          <a:p>
            <a:r>
              <a:t>Likely question: "what is your current auto-post rate?" Have the real number per category</a:t>
            </a:r>
          </a:p>
          <a:p>
            <a:r>
              <a:t>with the denominator defined. If it is early, give the number and the trend. Never give a</a:t>
            </a:r>
          </a:p>
          <a:p>
            <a:r>
              <a:t>blended number without the denominator — a technical investor will assume you are hiding</a:t>
            </a:r>
          </a:p>
          <a:p>
            <a:r>
              <a:t>the mix, and they will be right to.</a:t>
            </a:r>
          </a:p>
          <a:p/>
          <a:p>
            <a:r>
              <a:t>Also worth volunteering: every reviewer correction becomes an explicit, versioned rule</a:t>
            </a:r>
          </a:p>
          <a:p>
            <a:r>
              <a:t>first and a retrieval example second, because a rule can be shown to a reviewer and an</a:t>
            </a:r>
          </a:p>
          <a:p>
            <a:r>
              <a:t>embedding cannot.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first bullet, not the theory — it is the firm's unfair advantage stated as an</a:t>
            </a:r>
          </a:p>
          <a:p>
            <a:r>
              <a:t>engineering practice. Our archive is not a nice dataset to have; it is the measurement</a:t>
            </a:r>
          </a:p>
          <a:p>
            <a:r>
              <a:t>instrument that makes every other claim in this deck checkable.</a:t>
            </a:r>
          </a:p>
          <a:p/>
          <a:p>
            <a:r>
              <a:t>Second, be honest that evals are harder than the product. Teams underinvest here, lose the</a:t>
            </a:r>
          </a:p>
          <a:p>
            <a:r>
              <a:t>ability to tell whether they are improving, and end up optimising on impressions. Our eval</a:t>
            </a:r>
          </a:p>
          <a:p>
            <a:r>
              <a:t>corpus needs a data pipeline plus senior accountant time to label — that senior time is a</a:t>
            </a:r>
          </a:p>
          <a:p>
            <a:r>
              <a:t>real cost and it shows up in the phase 2 investment slide.</a:t>
            </a:r>
          </a:p>
          <a:p/>
          <a:p>
            <a:r>
              <a:t>The panel on the right is genuinely useful to an investor because it tells them what board</a:t>
            </a:r>
          </a:p>
          <a:p>
            <a:r>
              <a:t>reporting will look like. We will not come with "we shipped a feature." We will come with</a:t>
            </a:r>
          </a:p>
          <a:p>
            <a:r>
              <a:t>"auto-post rate on this category moved from 71 to 88, here is what that is worth in hours."</a:t>
            </a:r>
          </a:p>
          <a:p>
            <a:r>
              <a:t>Say that explicitly — it is a better governance relationship and it signals we know what to</a:t>
            </a:r>
          </a:p>
          <a:p>
            <a:r>
              <a:t>measure.</a:t>
            </a:r>
          </a:p>
          <a:p/>
          <a:p>
            <a:r>
              <a:t>The competitive point, if pressed on what stops a well-funded entrant: prompts copy in an</a:t>
            </a:r>
          </a:p>
          <a:p>
            <a:r>
              <a:t>afternoon. A corpus of thousands of reviewed closes with the corrections attached is years</a:t>
            </a:r>
          </a:p>
          <a:p>
            <a:r>
              <a:t>of accumulated professional work tied to client relationships. That and write permission are</a:t>
            </a:r>
          </a:p>
          <a:p>
            <a:r>
              <a:t>the honest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this slide and do not soften it. Volunteering the hard problems with mitigations</a:t>
            </a:r>
          </a:p>
          <a:p>
            <a:r>
              <a:t>already built is the strongest credibility move available, because every sophisticated</a:t>
            </a:r>
          </a:p>
          <a:p>
            <a:r>
              <a:t>investor already knows about compounding error rates and is waiting to see whether we do.</a:t>
            </a:r>
          </a:p>
          <a:p/>
          <a:p>
            <a:r>
              <a:t>On reliability: the arithmetic is the argument. 0.95^20 = 0.36. Say the number out loud.</a:t>
            </a:r>
          </a:p>
          <a:p>
            <a:r>
              <a:t>Then make clear the fix is architectural rather than a better prompt, and that the</a:t>
            </a:r>
          </a:p>
          <a:p>
            <a:r>
              <a:t>architecture two slides back was designed around exactly this — short spans, verification</a:t>
            </a:r>
          </a:p>
          <a:p>
            <a:r>
              <a:t>between them, deterministic orchestration.</a:t>
            </a:r>
          </a:p>
          <a:p/>
          <a:p>
            <a:r>
              <a:t>Offer the filter explicitly: "when you look at others in this space, ask how long their</a:t>
            </a:r>
          </a:p>
          <a:p>
            <a:r>
              <a:t>autonomous chains run and what verifies each step. It is a fast way to tell who has shipped</a:t>
            </a:r>
          </a:p>
          <a:p>
            <a:r>
              <a:t>something."</a:t>
            </a:r>
          </a:p>
          <a:p/>
          <a:p>
            <a:r>
              <a:t>On security: prompt injection into an agent with ledger and bank write access is the</a:t>
            </a:r>
          </a:p>
          <a:p>
            <a:r>
              <a:t>scenario that should worry a partner, and we should be the ones to raise it. Walk the four</a:t>
            </a:r>
          </a:p>
          <a:p>
            <a:r>
              <a:t>mitigations. Separation of duties in code lands especially well with this audience — we took</a:t>
            </a:r>
          </a:p>
          <a:p>
            <a:r>
              <a:t>a human control framework and applied it to a software actor.</a:t>
            </a:r>
          </a:p>
          <a:p/>
          <a:p>
            <a:r>
              <a:t>Our own liability is the honest framing of the stakes here. It is not an abstract product</a:t>
            </a:r>
          </a:p>
          <a:p>
            <a:r>
              <a:t>risk; it is the firm's licence and reputation. Saying so is why the controls line in the</a:t>
            </a:r>
          </a:p>
          <a:p>
            <a:r>
              <a:t>phase 2 budget is not negotiable.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Percentages are directional — the shape of such codebases rather than measured data. Say so;</a:t>
            </a:r>
          </a:p>
          <a:p>
            <a:r>
              <a:t>a technical investor will respect the caveat and stop probing the digits.</a:t>
            </a:r>
          </a:p>
          <a:p/>
          <a:p>
            <a:r>
              <a:t>Two observations to draw out.</a:t>
            </a:r>
          </a:p>
          <a:p/>
          <a:p>
            <a:r>
              <a:t>The interface absorbed all the heterogeneity in conventional software. Every new client</a:t>
            </a:r>
          </a:p>
          <a:p>
            <a:r>
              <a:t>segment, edge case and regulatory variation arrived as a new screen, field or report, while</a:t>
            </a:r>
          </a:p>
          <a:p>
            <a:r>
              <a:t>the domain model absorbed almost none of it. Interface complexity is client diversity</a:t>
            </a:r>
          </a:p>
          <a:p>
            <a:r>
              <a:t>projected onto deterministic code. Agents absorb that diversity in the model instead, which</a:t>
            </a:r>
          </a:p>
          <a:p>
            <a:r>
              <a:t>is why the UI share roughly halves and why we need one excellent surface rather than forty</a:t>
            </a:r>
          </a:p>
          <a:p>
            <a:r>
              <a:t>screens.</a:t>
            </a:r>
          </a:p>
          <a:p/>
          <a:p>
            <a:r>
              <a:t>The agent layer is one of the smallest lines. This is the third time they will hear it and</a:t>
            </a:r>
          </a:p>
          <a:p>
            <a:r>
              <a:t>it is still the most counterintuitive thing in the deck.</a:t>
            </a:r>
          </a:p>
          <a:p/>
          <a:p>
            <a:r>
              <a:t>The closing bar is the one-sentence summary of the technical section. Deliver it and stop —</a:t>
            </a:r>
          </a:p>
          <a:p>
            <a:r>
              <a:t>this is the right place to take questions before the phase 2 detail.</a:t>
            </a:r>
          </a:p>
          <a:p/>
          <a:p>
            <a:r>
              <a:t>If asked "is your headcount lower than a software company's?" — no, differently shaped:</a:t>
            </a:r>
          </a:p>
          <a:p>
            <a:r>
              <a:t>fewer frontend engineers, more data and infrastructure engineering, plus our own accountants</a:t>
            </a:r>
          </a:p>
          <a:p>
            <a:r>
              <a:t>inside the loop rather than beside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phase 2 conversation lives on. The three-phase strip at the top is</a:t>
            </a:r>
          </a:p>
          <a:p>
            <a:r>
              <a:t>deliberately thin — the phasing is already agreed, so do not re-litigate it. Point at it</a:t>
            </a:r>
          </a:p>
          <a:p>
            <a:r>
              <a:t>once and move down.</a:t>
            </a:r>
          </a:p>
          <a:p/>
          <a:p>
            <a:r>
              <a:t>Workstreams 1 and 2 are highlighted because they are the critical path and the two that can</a:t>
            </a:r>
          </a:p>
          <a:p>
            <a:r>
              <a:t>sink the phase. Everything else can slip a month; these cannot.</a:t>
            </a:r>
          </a:p>
          <a:p/>
          <a:p>
            <a:r>
              <a:t>On workstream 1, the detail that matters is the dual-write diff harness. We do not flip the</a:t>
            </a:r>
          </a:p>
          <a:p>
            <a:r>
              <a:t>primary ledger on a judgment call. We run both systems in parallel, diff every entry</a:t>
            </a:r>
          </a:p>
          <a:p>
            <a:r>
              <a:t>automatically, and require zero diff across three consecutive closes before switching. That</a:t>
            </a:r>
          </a:p>
          <a:p>
            <a:r>
              <a:t>is a testable gate rather than a decision, and it is what makes the cutover defensible to a</a:t>
            </a:r>
          </a:p>
          <a:p>
            <a:r>
              <a:t>partner group.</a:t>
            </a:r>
          </a:p>
          <a:p/>
          <a:p>
            <a:r>
              <a:t>On workstream 2, say plainly that migration is the most underestimated line item in this</a:t>
            </a:r>
          </a:p>
          <a:p>
            <a:r>
              <a:t>kind of programme. Reconstructing an opening trial balance that ties to the prior</a:t>
            </a:r>
          </a:p>
          <a:p>
            <a:r>
              <a:t>accountant's closing balance, per entity, is unglamorous and correctness-critical, and every</a:t>
            </a:r>
          </a:p>
          <a:p>
            <a:r>
              <a:t>engagement needs it before anything else works. We have budgeted it as a first-class</a:t>
            </a:r>
          </a:p>
          <a:p>
            <a:r>
              <a:t>workstream rather than a task, and imported records are tagged with a distinct provenance</a:t>
            </a:r>
          </a:p>
          <a:p>
            <a:r>
              <a:t>class so we never claim verified lineage we do not have.</a:t>
            </a:r>
          </a:p>
          <a:p/>
          <a:p>
            <a:r>
              <a:t>Workstream 4's checkpointing detail is worth ten seconds with a technical audience: on</a:t>
            </a:r>
          </a:p>
          <a:p>
            <a:r>
              <a:t>resume, a durable workflow must not silently re-run a model call and get a different answer.</a:t>
            </a:r>
          </a:p>
          <a:p>
            <a:r>
              <a:t>We checkpoint the decision, not just the step. Very few teams get this right.</a:t>
            </a:r>
          </a:p>
          <a:p/>
          <a:p>
            <a:r>
              <a:t>Workstream 7 exists because our licence is the asset at risk. Do not let it be read as</a:t>
            </a:r>
          </a:p>
          <a:p>
            <a:r>
              <a:t>overhead.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column is the point of this slide. Every workstream has a testable exit condition</a:t>
            </a:r>
          </a:p>
          <a:p>
            <a:r>
              <a:t>rather than a delivery date, which is how you should ask us to govern it. Read two or three</a:t>
            </a:r>
          </a:p>
          <a:p>
            <a:r>
              <a:t>of the gates out loud — they are unusually concrete for a technology plan and that is the</a:t>
            </a:r>
          </a:p>
          <a:p>
            <a:r>
              <a:t>impression to leave.</a:t>
            </a:r>
          </a:p>
          <a:p/>
          <a:p>
            <a:r>
              <a:t>Three things to draw out from the bottom panels.</a:t>
            </a:r>
          </a:p>
          <a:p/>
          <a:p>
            <a:r>
              <a:t>The agent layer is about 1.5 of 16.5 FTE. Point at it. It is the fourth time in the deck</a:t>
            </a:r>
          </a:p>
          <a:p>
            <a:r>
              <a:t>that the demo-able part turns out to be the small part, and by now it should read as</a:t>
            </a:r>
          </a:p>
          <a:p>
            <a:r>
              <a:t>discipline rather than as an oversight.</a:t>
            </a:r>
          </a:p>
          <a:p/>
          <a:p>
            <a:r>
              <a:t>Accountants in the loop are simultaneously delivery, labelling function and spec authors.</a:t>
            </a:r>
          </a:p>
          <a:p>
            <a:r>
              <a:t>An investor may read this as services headcount that hurts the multiple. The answer: it</a:t>
            </a:r>
          </a:p>
          <a:p>
            <a:r>
              <a:t>grows sublinearly with revenue and it produces the corpus that is the moat. The number to</a:t>
            </a:r>
          </a:p>
          <a:p>
            <a:r>
              <a:t>put on a board slide every month is entities per reviewer, and it should improve every</a:t>
            </a:r>
          </a:p>
          <a:p>
            <a:r>
              <a:t>quarter.</a:t>
            </a:r>
          </a:p>
          <a:p/>
          <a:p>
            <a:r>
              <a:t>Senior review time for labelling is a real, easily-forgotten cost. Partner and manager hours</a:t>
            </a:r>
          </a:p>
          <a:p>
            <a:r>
              <a:t>spent labelling are hours not billed. Budget them explicitly rather than pretending they are</a:t>
            </a:r>
          </a:p>
          <a:p>
            <a:r>
              <a:t>free, because if you do not, the eval corpus quietly does not get built.</a:t>
            </a:r>
          </a:p>
          <a:p/>
          <a:p>
            <a:r>
              <a:t>Inference sits in COGS, not R&amp;D. Most plans in this category get this wrong, and getting it</a:t>
            </a:r>
          </a:p>
          <a:p>
            <a:r>
              <a:t>right is what makes the cost-per-close comparison honest.</a:t>
            </a:r>
          </a:p>
          <a:p/>
          <a:p>
            <a:r>
              <a:t>[FILL BEFORE USE] total investment and the loaded-cost comparison. Never present the</a:t>
            </a:r>
          </a:p>
          <a:p>
            <a:r>
              <a:t>bracketed placeholders live.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handing them the scorecard. Offering the metrics you can be judged on — including</a:t>
            </a:r>
          </a:p>
          <a:p>
            <a:r>
              <a:t>the one that can end the programme — is a stronger close than a projection, and it sets up</a:t>
            </a:r>
          </a:p>
          <a:p>
            <a:r>
              <a:t>the governance relationship we actually want.</a:t>
            </a:r>
          </a:p>
          <a:p/>
          <a:p>
            <a:r>
              <a:t>On auto-post rate: always with the denominator and the category mix. A blended number with</a:t>
            </a:r>
          </a:p>
          <a:p>
            <a:r>
              <a:t>no denominator is the standard way companies in this category flatter themselves, and a</a:t>
            </a:r>
          </a:p>
          <a:p>
            <a:r>
              <a:t>technical investor will assume that is what is happening unless you pre-empt it.</a:t>
            </a:r>
          </a:p>
          <a:p/>
          <a:p>
            <a:r>
              <a:t>The line above the gates box is the one to say slowly, because it reframes the whole risk</a:t>
            </a:r>
          </a:p>
          <a:p>
            <a:r>
              <a:t>conversation and only an accounting firm can say it credibly: our current error rate is not</a:t>
            </a:r>
          </a:p>
          <a:p>
            <a:r>
              <a:t>zero. Every firm restates, corrects and re-files. The honest bar for the agent is our own</a:t>
            </a:r>
          </a:p>
          <a:p>
            <a:r>
              <a:t>measured baseline, not perfection, and we intend to publish both numbers. That converts an</a:t>
            </a:r>
          </a:p>
          <a:p>
            <a:r>
              <a:t>unbounded fear into a comparison — and we are the only party in the room with the data to</a:t>
            </a:r>
          </a:p>
          <a:p>
            <a:r>
              <a:t>make it.</a:t>
            </a:r>
          </a:p>
          <a:p/>
          <a:p>
            <a:r>
              <a:t>On restatement rate: note deliberately that this one is governed against an absolute</a:t>
            </a:r>
          </a:p>
          <a:p>
            <a:r>
              <a:t>ceiling, not a trend. Everything else we optimise; this one we bound. That distinction is</a:t>
            </a:r>
          </a:p>
          <a:p>
            <a:r>
              <a:t>what a partner group needs to hear before approving write access.</a:t>
            </a:r>
          </a:p>
          <a:p/>
          <a:p>
            <a:r>
              <a:t>Final line is the positioning statement. Say it, stop, take questions.</a:t>
            </a:r>
          </a:p>
          <a:p/>
          <a:p>
            <a:r>
              <a:t>Backup slides worth having ready: cost-per-close model at current token prices, the activity</a:t>
            </a:r>
          </a:p>
          <a:p>
            <a:r>
              <a:t>level hours breakdown from time records, competitive landscape, and the liability,</a:t>
            </a:r>
          </a:p>
          <a:p>
            <a:r>
              <a:t>consent and engagement-letter structure.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695" cy="76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325880"/>
            <a:ext cx="10874959" cy="274320"/>
          </a:xfrm>
          <a:prstGeom prst="rect">
            <a:avLst/>
          </a:prstGeom>
          <a:noFill/>
        </p:spPr>
        <p:txBody>
          <a:bodyPr wrap="square" anchor="t" lIns="0" rIns="0" tIns="0" bIns="0">
            <a:spAutoFit/>
          </a:bodyPr>
          <a:lstStyle/>
          <a:p>
            <a:pPr algn="l">
              <a:lnSpc>
                <a:spcPct val="125000"/>
              </a:lnSpc>
              <a:spcAft>
                <a:spcPts val="600"/>
              </a:spcAft>
            </a:pPr>
            <a:r>
              <a:rPr sz="1150" b="1" i="0">
                <a:solidFill>
                  <a:srgbClr val="7AB8C8"/>
                </a:solidFill>
                <a:latin typeface="Helvetica Neue"/>
              </a:rPr>
              <a:t>[FIRM]  ·  STRATEGY  ·  [MONTH] 2026</a:t>
            </a:r>
          </a:p>
        </p:txBody>
      </p:sp>
      <p:sp>
        <p:nvSpPr>
          <p:cNvPr id="5" name="TextBox 4"/>
          <p:cNvSpPr txBox="1"/>
          <p:nvPr/>
        </p:nvSpPr>
        <p:spPr>
          <a:xfrm>
            <a:off x="658368" y="1828800"/>
            <a:ext cx="10424160" cy="1828800"/>
          </a:xfrm>
          <a:prstGeom prst="rect">
            <a:avLst/>
          </a:prstGeom>
          <a:noFill/>
        </p:spPr>
        <p:txBody>
          <a:bodyPr wrap="square" anchor="t" lIns="0" rIns="0" tIns="0" bIns="0">
            <a:spAutoFit/>
          </a:bodyPr>
          <a:lstStyle/>
          <a:p>
            <a:pPr algn="l">
              <a:lnSpc>
                <a:spcPct val="110000"/>
              </a:lnSpc>
              <a:spcAft>
                <a:spcPts val="600"/>
              </a:spcAft>
            </a:pPr>
            <a:r>
              <a:rPr sz="3800" b="1" i="0">
                <a:solidFill>
                  <a:srgbClr val="FFFFFF"/>
                </a:solidFill>
                <a:latin typeface="Helvetica Neue"/>
              </a:rPr>
              <a:t>Replacing the Accounting Software
With Something That Does the Accounting</a:t>
            </a:r>
          </a:p>
        </p:txBody>
      </p:sp>
      <p:sp>
        <p:nvSpPr>
          <p:cNvPr id="6" name="TextBox 5"/>
          <p:cNvSpPr txBox="1"/>
          <p:nvPr/>
        </p:nvSpPr>
        <p:spPr>
          <a:xfrm>
            <a:off x="658368" y="3931920"/>
            <a:ext cx="9326880" cy="1188720"/>
          </a:xfrm>
          <a:prstGeom prst="rect">
            <a:avLst/>
          </a:prstGeom>
          <a:noFill/>
        </p:spPr>
        <p:txBody>
          <a:bodyPr wrap="square" anchor="t" lIns="0" rIns="0" tIns="0" bIns="0">
            <a:spAutoFit/>
          </a:bodyPr>
          <a:lstStyle/>
          <a:p>
            <a:pPr algn="l">
              <a:lnSpc>
                <a:spcPct val="140000"/>
              </a:lnSpc>
              <a:spcAft>
                <a:spcPts val="600"/>
              </a:spcAft>
            </a:pPr>
            <a:r>
              <a:rPr sz="1600" b="0" i="0">
                <a:solidFill>
                  <a:srgbClr val="B9C4D2"/>
                </a:solidFill>
                <a:latin typeface="Helvetica Neue"/>
              </a:rPr>
              <a:t>We are an accounting firm. Our software checks that debits equal credits. It has never once decided whether an expense belongs in an account — and that decision is the job. It is now automatable, in the one domain where the answer can be proven.</a:t>
            </a:r>
          </a:p>
        </p:txBody>
      </p:sp>
      <p:sp>
        <p:nvSpPr>
          <p:cNvPr id="7" name="Rectangle 6"/>
          <p:cNvSpPr/>
          <p:nvPr/>
        </p:nvSpPr>
        <p:spPr>
          <a:xfrm>
            <a:off x="658368" y="5440680"/>
            <a:ext cx="2011680" cy="3175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687568"/>
            <a:ext cx="10874959" cy="365760"/>
          </a:xfrm>
          <a:prstGeom prst="rect">
            <a:avLst/>
          </a:prstGeom>
          <a:noFill/>
        </p:spPr>
        <p:txBody>
          <a:bodyPr wrap="square" anchor="t" lIns="0" rIns="0" tIns="0" bIns="0">
            <a:spAutoFit/>
          </a:bodyPr>
          <a:lstStyle/>
          <a:p>
            <a:pPr algn="l">
              <a:lnSpc>
                <a:spcPct val="125000"/>
              </a:lnSpc>
              <a:spcAft>
                <a:spcPts val="600"/>
              </a:spcAft>
            </a:pPr>
            <a:r>
              <a:rPr sz="1200" b="0" i="0">
                <a:solidFill>
                  <a:srgbClr val="6E7C8E"/>
                </a:solidFill>
                <a:latin typeface="Helvetica Neue"/>
              </a:rPr>
              <a:t>[presenter, title]  ·  [contact]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THE THESIS</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500" b="1" i="0">
                <a:solidFill>
                  <a:srgbClr val="111A27"/>
                </a:solidFill>
                <a:latin typeface="Helvetica Neue"/>
              </a:rPr>
              <a:t>Software stopped at the edge of the work.
That edge was a technical limit, and it moved.</a:t>
            </a:r>
          </a:p>
        </p:txBody>
      </p:sp>
      <p:sp>
        <p:nvSpPr>
          <p:cNvPr id="5" name="Rounded Rectangle 4"/>
          <p:cNvSpPr/>
          <p:nvPr/>
        </p:nvSpPr>
        <p:spPr>
          <a:xfrm>
            <a:off x="658368" y="2148840"/>
            <a:ext cx="3465576" cy="288036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377440"/>
            <a:ext cx="2962656" cy="365760"/>
          </a:xfrm>
          <a:prstGeom prst="rect">
            <a:avLst/>
          </a:prstGeom>
          <a:noFill/>
        </p:spPr>
        <p:txBody>
          <a:bodyPr wrap="square" anchor="t" lIns="0" rIns="0" tIns="0" bIns="0">
            <a:spAutoFit/>
          </a:bodyPr>
          <a:lstStyle/>
          <a:p>
            <a:pPr algn="l">
              <a:lnSpc>
                <a:spcPct val="125000"/>
              </a:lnSpc>
              <a:spcAft>
                <a:spcPts val="600"/>
              </a:spcAft>
            </a:pPr>
            <a:r>
              <a:rPr sz="1750" b="1" i="0">
                <a:solidFill>
                  <a:srgbClr val="111A27"/>
                </a:solidFill>
                <a:latin typeface="Helvetica Neue"/>
              </a:rPr>
              <a:t>The constraint</a:t>
            </a:r>
          </a:p>
        </p:txBody>
      </p:sp>
      <p:sp>
        <p:nvSpPr>
          <p:cNvPr id="7" name="TextBox 6"/>
          <p:cNvSpPr txBox="1"/>
          <p:nvPr/>
        </p:nvSpPr>
        <p:spPr>
          <a:xfrm>
            <a:off x="914400" y="2880360"/>
            <a:ext cx="2962656" cy="1920240"/>
          </a:xfrm>
          <a:prstGeom prst="rect">
            <a:avLst/>
          </a:prstGeom>
          <a:noFill/>
        </p:spPr>
        <p:txBody>
          <a:bodyPr wrap="square" anchor="t" lIns="0" rIns="0" tIns="0" bIns="0">
            <a:spAutoFit/>
          </a:bodyPr>
          <a:lstStyle/>
          <a:p>
            <a:pPr algn="l">
              <a:lnSpc>
                <a:spcPct val="142000"/>
              </a:lnSpc>
              <a:spcAft>
                <a:spcPts val="600"/>
              </a:spcAft>
            </a:pPr>
            <a:r>
              <a:rPr sz="1300" b="0" i="0">
                <a:solidFill>
                  <a:srgbClr val="333E4F"/>
                </a:solidFill>
                <a:latin typeface="Helvetica Neue"/>
              </a:rPr>
              <a:t>Deterministic code cannot act under ambiguity. Every path has to be enumerated in advance, and there is no path for "it depends". So every judgment was routed out of the software and into a person.</a:t>
            </a:r>
          </a:p>
        </p:txBody>
      </p:sp>
      <p:sp>
        <p:nvSpPr>
          <p:cNvPr id="8" name="Rounded Rectangle 7"/>
          <p:cNvSpPr/>
          <p:nvPr/>
        </p:nvSpPr>
        <p:spPr>
          <a:xfrm>
            <a:off x="4379976" y="2148840"/>
            <a:ext cx="3465576" cy="288036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36008" y="2377440"/>
            <a:ext cx="2962656" cy="365760"/>
          </a:xfrm>
          <a:prstGeom prst="rect">
            <a:avLst/>
          </a:prstGeom>
          <a:noFill/>
        </p:spPr>
        <p:txBody>
          <a:bodyPr wrap="square" anchor="t" lIns="0" rIns="0" tIns="0" bIns="0">
            <a:spAutoFit/>
          </a:bodyPr>
          <a:lstStyle/>
          <a:p>
            <a:pPr algn="l">
              <a:lnSpc>
                <a:spcPct val="125000"/>
              </a:lnSpc>
              <a:spcAft>
                <a:spcPts val="600"/>
              </a:spcAft>
            </a:pPr>
            <a:r>
              <a:rPr sz="1750" b="1" i="0">
                <a:solidFill>
                  <a:srgbClr val="111A27"/>
                </a:solidFill>
                <a:latin typeface="Helvetica Neue"/>
              </a:rPr>
              <a:t>What lifted</a:t>
            </a:r>
          </a:p>
        </p:txBody>
      </p:sp>
      <p:sp>
        <p:nvSpPr>
          <p:cNvPr id="10" name="TextBox 9"/>
          <p:cNvSpPr txBox="1"/>
          <p:nvPr/>
        </p:nvSpPr>
        <p:spPr>
          <a:xfrm>
            <a:off x="4636008" y="2880360"/>
            <a:ext cx="2962656" cy="1920240"/>
          </a:xfrm>
          <a:prstGeom prst="rect">
            <a:avLst/>
          </a:prstGeom>
          <a:noFill/>
        </p:spPr>
        <p:txBody>
          <a:bodyPr wrap="square" anchor="t" lIns="0" rIns="0" tIns="0" bIns="0">
            <a:spAutoFit/>
          </a:bodyPr>
          <a:lstStyle/>
          <a:p>
            <a:pPr algn="l">
              <a:lnSpc>
                <a:spcPct val="142000"/>
              </a:lnSpc>
              <a:spcAft>
                <a:spcPts val="600"/>
              </a:spcAft>
            </a:pPr>
            <a:r>
              <a:rPr sz="1300" b="0" i="0">
                <a:solidFill>
                  <a:srgbClr val="333E4F"/>
                </a:solidFill>
                <a:latin typeface="Helvetica Neue"/>
              </a:rPr>
              <a:t>Models tolerate ambiguity, cover the long tail at near-zero marginal cost, and need no interface built in advance. Three specific engineering properties — not a claim that models are clever.</a:t>
            </a:r>
          </a:p>
        </p:txBody>
      </p:sp>
      <p:sp>
        <p:nvSpPr>
          <p:cNvPr id="11" name="Rounded Rectangle 10"/>
          <p:cNvSpPr/>
          <p:nvPr/>
        </p:nvSpPr>
        <p:spPr>
          <a:xfrm>
            <a:off x="8101583" y="2148840"/>
            <a:ext cx="3465576" cy="288036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57615" y="2377440"/>
            <a:ext cx="2962656" cy="365760"/>
          </a:xfrm>
          <a:prstGeom prst="rect">
            <a:avLst/>
          </a:prstGeom>
          <a:noFill/>
        </p:spPr>
        <p:txBody>
          <a:bodyPr wrap="square" anchor="t" lIns="0" rIns="0" tIns="0" bIns="0">
            <a:spAutoFit/>
          </a:bodyPr>
          <a:lstStyle/>
          <a:p>
            <a:pPr algn="l">
              <a:lnSpc>
                <a:spcPct val="125000"/>
              </a:lnSpc>
              <a:spcAft>
                <a:spcPts val="600"/>
              </a:spcAft>
            </a:pPr>
            <a:r>
              <a:rPr sz="1750" b="1" i="0">
                <a:solidFill>
                  <a:srgbClr val="7A3B08"/>
                </a:solidFill>
                <a:latin typeface="Helvetica Neue"/>
              </a:rPr>
              <a:t>Why here, why us</a:t>
            </a:r>
          </a:p>
        </p:txBody>
      </p:sp>
      <p:sp>
        <p:nvSpPr>
          <p:cNvPr id="13" name="TextBox 12"/>
          <p:cNvSpPr txBox="1"/>
          <p:nvPr/>
        </p:nvSpPr>
        <p:spPr>
          <a:xfrm>
            <a:off x="8357615" y="2880360"/>
            <a:ext cx="2962656" cy="1920240"/>
          </a:xfrm>
          <a:prstGeom prst="rect">
            <a:avLst/>
          </a:prstGeom>
          <a:noFill/>
        </p:spPr>
        <p:txBody>
          <a:bodyPr wrap="square" anchor="t" lIns="0" rIns="0" tIns="0" bIns="0">
            <a:spAutoFit/>
          </a:bodyPr>
          <a:lstStyle/>
          <a:p>
            <a:pPr algn="l">
              <a:lnSpc>
                <a:spcPct val="142000"/>
              </a:lnSpc>
              <a:spcAft>
                <a:spcPts val="600"/>
              </a:spcAft>
            </a:pPr>
            <a:r>
              <a:rPr sz="1300" b="0" i="0">
                <a:solidFill>
                  <a:srgbClr val="333E4F"/>
                </a:solidFill>
                <a:latin typeface="Helvetica Neue"/>
              </a:rPr>
              <a:t>Accounting is one of the few domains where correctness is machine-checkable. And we already hold years of verified closes to measure against — the asset every other agent company has to manufacture.</a:t>
            </a:r>
          </a:p>
        </p:txBody>
      </p:sp>
      <p:sp>
        <p:nvSpPr>
          <p:cNvPr id="14" name="Rounded Rectangle 13"/>
          <p:cNvSpPr/>
          <p:nvPr/>
        </p:nvSpPr>
        <p:spPr>
          <a:xfrm>
            <a:off x="658368" y="5257800"/>
            <a:ext cx="10874959" cy="100584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9264" y="5532120"/>
            <a:ext cx="10253167" cy="548640"/>
          </a:xfrm>
          <a:prstGeom prst="rect">
            <a:avLst/>
          </a:prstGeom>
          <a:noFill/>
        </p:spPr>
        <p:txBody>
          <a:bodyPr wrap="square" anchor="t" lIns="0" rIns="0" tIns="0" bIns="0">
            <a:spAutoFit/>
          </a:bodyPr>
          <a:lstStyle/>
          <a:p>
            <a:pPr algn="l">
              <a:lnSpc>
                <a:spcPct val="130000"/>
              </a:lnSpc>
              <a:spcAft>
                <a:spcPts val="600"/>
              </a:spcAft>
            </a:pPr>
            <a:r>
              <a:rPr sz="1600" b="1" i="0">
                <a:solidFill>
                  <a:srgbClr val="FFFFFF"/>
                </a:solidFill>
                <a:latin typeface="Helvetica Neue"/>
              </a:rPr>
              <a:t>The bet is not that models are smart. It is that accounting is verifiable — so we can prove our output is correct before it ever touches a client's 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2</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TECHNICAL BACKGROUND · 1 OF 3</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Why our accounting software is shaped the way it is</a:t>
            </a:r>
          </a:p>
        </p:txBody>
      </p:sp>
      <p:sp>
        <p:nvSpPr>
          <p:cNvPr id="5" name="TextBox 4"/>
          <p:cNvSpPr txBox="1"/>
          <p:nvPr/>
        </p:nvSpPr>
        <p:spPr>
          <a:xfrm>
            <a:off x="658368" y="1737360"/>
            <a:ext cx="10241280" cy="548640"/>
          </a:xfrm>
          <a:prstGeom prst="rect">
            <a:avLst/>
          </a:prstGeom>
          <a:noFill/>
        </p:spPr>
        <p:txBody>
          <a:bodyPr wrap="square" anchor="t" lIns="0" rIns="0" tIns="0" bIns="0">
            <a:spAutoFit/>
          </a:bodyPr>
          <a:lstStyle/>
          <a:p>
            <a:pPr algn="l">
              <a:lnSpc>
                <a:spcPct val="135000"/>
              </a:lnSpc>
              <a:spcAft>
                <a:spcPts val="600"/>
              </a:spcAft>
            </a:pPr>
            <a:r>
              <a:rPr sz="1500" b="0" i="0">
                <a:solidFill>
                  <a:srgbClr val="333E4F"/>
                </a:solidFill>
                <a:latin typeface="Helvetica Neue"/>
              </a:rPr>
              <a:t>Not a criticism of the vendors — a consequence of what deterministic software can and cannot do. Four design choices follow from one limit, and all four put the work on us.</a:t>
            </a:r>
          </a:p>
        </p:txBody>
      </p:sp>
      <p:sp>
        <p:nvSpPr>
          <p:cNvPr id="6" name="TextBox 5"/>
          <p:cNvSpPr txBox="1"/>
          <p:nvPr/>
        </p:nvSpPr>
        <p:spPr>
          <a:xfrm>
            <a:off x="658368" y="2487168"/>
            <a:ext cx="2551176" cy="566928"/>
          </a:xfrm>
          <a:prstGeom prst="rect">
            <a:avLst/>
          </a:prstGeom>
          <a:noFill/>
        </p:spPr>
        <p:txBody>
          <a:bodyPr wrap="square" anchor="t" lIns="0" rIns="0" tIns="0" bIns="0">
            <a:spAutoFit/>
          </a:bodyPr>
          <a:lstStyle/>
          <a:p>
            <a:pPr algn="l">
              <a:lnSpc>
                <a:spcPct val="115000"/>
              </a:lnSpc>
              <a:spcAft>
                <a:spcPts val="600"/>
              </a:spcAft>
            </a:pPr>
            <a:r>
              <a:rPr sz="1600" b="1" i="0">
                <a:solidFill>
                  <a:srgbClr val="0E7490"/>
                </a:solidFill>
                <a:latin typeface="Helvetica Neue"/>
              </a:rPr>
              <a:t>Pre-specified paths</a:t>
            </a:r>
          </a:p>
        </p:txBody>
      </p:sp>
      <p:sp>
        <p:nvSpPr>
          <p:cNvPr id="7" name="TextBox 6"/>
          <p:cNvSpPr txBox="1"/>
          <p:nvPr/>
        </p:nvSpPr>
        <p:spPr>
          <a:xfrm>
            <a:off x="658368" y="3182112"/>
            <a:ext cx="25511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Every branch must be enumerated by a developer before it runs. There is no code path for "this invoice is ambiguous". Anything requiring interpretation has to leave the program.</a:t>
            </a:r>
          </a:p>
        </p:txBody>
      </p:sp>
      <p:sp>
        <p:nvSpPr>
          <p:cNvPr id="8" name="TextBox 7"/>
          <p:cNvSpPr txBox="1"/>
          <p:nvPr/>
        </p:nvSpPr>
        <p:spPr>
          <a:xfrm>
            <a:off x="3438144" y="2487168"/>
            <a:ext cx="2551176" cy="566928"/>
          </a:xfrm>
          <a:prstGeom prst="rect">
            <a:avLst/>
          </a:prstGeom>
          <a:noFill/>
        </p:spPr>
        <p:txBody>
          <a:bodyPr wrap="square" anchor="t" lIns="0" rIns="0" tIns="0" bIns="0">
            <a:spAutoFit/>
          </a:bodyPr>
          <a:lstStyle/>
          <a:p>
            <a:pPr algn="l">
              <a:lnSpc>
                <a:spcPct val="115000"/>
              </a:lnSpc>
              <a:spcAft>
                <a:spcPts val="600"/>
              </a:spcAft>
            </a:pPr>
            <a:r>
              <a:rPr sz="1600" b="1" i="0">
                <a:solidFill>
                  <a:srgbClr val="0E7490"/>
                </a:solidFill>
                <a:latin typeface="Helvetica Neue"/>
              </a:rPr>
              <a:t>The form as adapter</a:t>
            </a:r>
          </a:p>
        </p:txBody>
      </p:sp>
      <p:sp>
        <p:nvSpPr>
          <p:cNvPr id="9" name="TextBox 8"/>
          <p:cNvSpPr txBox="1"/>
          <p:nvPr/>
        </p:nvSpPr>
        <p:spPr>
          <a:xfrm>
            <a:off x="3438144" y="3182112"/>
            <a:ext cx="25511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A form converts fuzzy human intent into a structure the program can execute. That is its actual function. Forms are the scar tissue of the constraint above — which is why there are so many of them.</a:t>
            </a:r>
          </a:p>
        </p:txBody>
      </p:sp>
      <p:sp>
        <p:nvSpPr>
          <p:cNvPr id="10" name="TextBox 9"/>
          <p:cNvSpPr txBox="1"/>
          <p:nvPr/>
        </p:nvSpPr>
        <p:spPr>
          <a:xfrm>
            <a:off x="6217920" y="2487168"/>
            <a:ext cx="2551176" cy="566928"/>
          </a:xfrm>
          <a:prstGeom prst="rect">
            <a:avLst/>
          </a:prstGeom>
          <a:noFill/>
        </p:spPr>
        <p:txBody>
          <a:bodyPr wrap="square" anchor="t" lIns="0" rIns="0" tIns="0" bIns="0">
            <a:spAutoFit/>
          </a:bodyPr>
          <a:lstStyle/>
          <a:p>
            <a:pPr algn="l">
              <a:lnSpc>
                <a:spcPct val="115000"/>
              </a:lnSpc>
              <a:spcAft>
                <a:spcPts val="600"/>
              </a:spcAft>
            </a:pPr>
            <a:r>
              <a:rPr sz="1600" b="1" i="0">
                <a:solidFill>
                  <a:srgbClr val="0E7490"/>
                </a:solidFill>
                <a:latin typeface="Helvetica Neue"/>
              </a:rPr>
              <a:t>Validation is syntactic</a:t>
            </a:r>
          </a:p>
        </p:txBody>
      </p:sp>
      <p:sp>
        <p:nvSpPr>
          <p:cNvPr id="11" name="TextBox 10"/>
          <p:cNvSpPr txBox="1"/>
          <p:nvPr/>
        </p:nvSpPr>
        <p:spPr>
          <a:xfrm>
            <a:off x="6217920" y="3182112"/>
            <a:ext cx="25511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The software checks that the date is a date and the entry balances. It does not check whether the expense belongs in that account. Well-formed and correct are different questions, and it only asks the first.</a:t>
            </a:r>
          </a:p>
        </p:txBody>
      </p:sp>
      <p:sp>
        <p:nvSpPr>
          <p:cNvPr id="12" name="TextBox 11"/>
          <p:cNvSpPr txBox="1"/>
          <p:nvPr/>
        </p:nvSpPr>
        <p:spPr>
          <a:xfrm>
            <a:off x="8997696" y="2487168"/>
            <a:ext cx="2551176" cy="566928"/>
          </a:xfrm>
          <a:prstGeom prst="rect">
            <a:avLst/>
          </a:prstGeom>
          <a:noFill/>
        </p:spPr>
        <p:txBody>
          <a:bodyPr wrap="square" anchor="t" lIns="0" rIns="0" tIns="0" bIns="0">
            <a:spAutoFit/>
          </a:bodyPr>
          <a:lstStyle/>
          <a:p>
            <a:pPr algn="l">
              <a:lnSpc>
                <a:spcPct val="115000"/>
              </a:lnSpc>
              <a:spcAft>
                <a:spcPts val="600"/>
              </a:spcAft>
            </a:pPr>
            <a:r>
              <a:rPr sz="1600" b="1" i="0">
                <a:solidFill>
                  <a:srgbClr val="0E7490"/>
                </a:solidFill>
                <a:latin typeface="Helvetica Neue"/>
              </a:rPr>
              <a:t>The human is the error handler</a:t>
            </a:r>
          </a:p>
        </p:txBody>
      </p:sp>
      <p:sp>
        <p:nvSpPr>
          <p:cNvPr id="13" name="TextBox 12"/>
          <p:cNvSpPr txBox="1"/>
          <p:nvPr/>
        </p:nvSpPr>
        <p:spPr>
          <a:xfrm>
            <a:off x="8997696" y="3182112"/>
            <a:ext cx="25511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Semantic correctness was outsourced to us. The vendor's contract is: prevent invalid states, show a clear error. A far cheaper contract than being right — and the reason our cost structure is people.</a:t>
            </a:r>
          </a:p>
        </p:txBody>
      </p:sp>
      <p:sp>
        <p:nvSpPr>
          <p:cNvPr id="14" name="Rounded Rectangle 13"/>
          <p:cNvSpPr/>
          <p:nvPr/>
        </p:nvSpPr>
        <p:spPr>
          <a:xfrm>
            <a:off x="658368" y="5440680"/>
            <a:ext cx="10874959" cy="914400"/>
          </a:xfrm>
          <a:prstGeom prst="roundRect">
            <a:avLst>
              <a:gd name="adj" fmla="val 4000"/>
            </a:avLst>
          </a:prstGeom>
          <a:solidFill>
            <a:srgbClr val="FA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5669280"/>
            <a:ext cx="10289743" cy="548640"/>
          </a:xfrm>
          <a:prstGeom prst="rect">
            <a:avLst/>
          </a:prstGeom>
          <a:noFill/>
        </p:spPr>
        <p:txBody>
          <a:bodyPr wrap="square" anchor="t" lIns="0" rIns="0" tIns="0" bIns="0">
            <a:spAutoFit/>
          </a:bodyPr>
          <a:lstStyle/>
          <a:p>
            <a:pPr algn="l">
              <a:lnSpc>
                <a:spcPct val="130000"/>
              </a:lnSpc>
              <a:spcAft>
                <a:spcPts val="600"/>
              </a:spcAft>
            </a:pPr>
            <a:r>
              <a:rPr sz="1450" b="1" i="0">
                <a:solidFill>
                  <a:srgbClr val="7A3B08"/>
                </a:solidFill>
                <a:latin typeface="Helvetica Neue"/>
              </a:rPr>
              <a:t>Our software was never trying to do the accounting. It was trying to stop us from entering something impossible. Everything in this deck follows from taking on the harder contract: being right, and proving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3</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TECHNICAL BACKGROUND · 2 OF 3</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The consequence, in our own P&amp;L: where the hours actually go</a:t>
            </a:r>
          </a:p>
        </p:txBody>
      </p:sp>
      <p:sp>
        <p:nvSpPr>
          <p:cNvPr id="5" name="Rounded Rectangle 4"/>
          <p:cNvSpPr/>
          <p:nvPr/>
        </p:nvSpPr>
        <p:spPr>
          <a:xfrm>
            <a:off x="658368" y="1783080"/>
            <a:ext cx="5294376" cy="379476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1993392"/>
            <a:ext cx="4754880" cy="274320"/>
          </a:xfrm>
          <a:prstGeom prst="rect">
            <a:avLst/>
          </a:prstGeom>
          <a:noFill/>
        </p:spPr>
        <p:txBody>
          <a:bodyPr wrap="square" anchor="t" lIns="0" rIns="0" tIns="0" bIns="0">
            <a:spAutoFit/>
          </a:bodyPr>
          <a:lstStyle/>
          <a:p>
            <a:pPr algn="l">
              <a:lnSpc>
                <a:spcPct val="125000"/>
              </a:lnSpc>
              <a:spcAft>
                <a:spcPts val="600"/>
              </a:spcAft>
            </a:pPr>
            <a:r>
              <a:rPr sz="1100" b="1" i="0">
                <a:solidFill>
                  <a:srgbClr val="6B7688"/>
                </a:solidFill>
                <a:latin typeface="Helvetica Neue"/>
              </a:rPr>
              <a:t>WHAT THE SOFTWARE ALREADY DOES WELL</a:t>
            </a:r>
          </a:p>
        </p:txBody>
      </p:sp>
      <p:sp>
        <p:nvSpPr>
          <p:cNvPr id="7" name="TextBox 6"/>
          <p:cNvSpPr txBox="1"/>
          <p:nvPr/>
        </p:nvSpPr>
        <p:spPr>
          <a:xfrm>
            <a:off x="932688" y="2286000"/>
            <a:ext cx="4754880" cy="274320"/>
          </a:xfrm>
          <a:prstGeom prst="rect">
            <a:avLst/>
          </a:prstGeom>
          <a:noFill/>
        </p:spPr>
        <p:txBody>
          <a:bodyPr wrap="square" anchor="t" lIns="0" rIns="0" tIns="0" bIns="0">
            <a:spAutoFit/>
          </a:bodyPr>
          <a:lstStyle/>
          <a:p>
            <a:pPr algn="l">
              <a:lnSpc>
                <a:spcPct val="125000"/>
              </a:lnSpc>
              <a:spcAft>
                <a:spcPts val="600"/>
              </a:spcAft>
            </a:pPr>
            <a:r>
              <a:rPr sz="1300" b="1" i="0">
                <a:solidFill>
                  <a:srgbClr val="111A27"/>
                </a:solidFill>
                <a:latin typeface="Helvetica Neue"/>
              </a:rPr>
              <a:t>Deterministic, solved, and not where our cost is</a:t>
            </a:r>
          </a:p>
        </p:txBody>
      </p:sp>
      <p:sp>
        <p:nvSpPr>
          <p:cNvPr id="8" name="TextBox 7"/>
          <p:cNvSpPr txBox="1"/>
          <p:nvPr/>
        </p:nvSpPr>
        <p:spPr>
          <a:xfrm>
            <a:off x="932688" y="2697480"/>
            <a:ext cx="4754880" cy="1828800"/>
          </a:xfrm>
          <a:prstGeom prst="rect">
            <a:avLst/>
          </a:prstGeom>
          <a:noFill/>
        </p:spPr>
        <p:txBody>
          <a:bodyPr wrap="square" lIns="0" rIns="0" tIns="0" bIns="0">
            <a:spAutoFit/>
          </a:bodyPr>
          <a:lstStyle/>
          <a:p>
            <a:pPr>
              <a:lnSpc>
                <a:spcPct val="128000"/>
              </a:lnSpc>
              <a:spcAft>
                <a:spcPts val="800"/>
              </a:spcAft>
            </a:pPr>
            <a:r>
              <a:rPr sz="1300">
                <a:solidFill>
                  <a:srgbClr val="333E4F"/>
                </a:solidFill>
                <a:latin typeface="Helvetica Neue"/>
              </a:rPr>
              <a:t>— Posting mechanics and arithmetic</a:t>
            </a:r>
          </a:p>
          <a:p>
            <a:pPr>
              <a:lnSpc>
                <a:spcPct val="128000"/>
              </a:lnSpc>
              <a:spcAft>
                <a:spcPts val="800"/>
              </a:spcAft>
            </a:pPr>
            <a:r>
              <a:rPr sz="1300">
                <a:solidFill>
                  <a:srgbClr val="333E4F"/>
                </a:solidFill>
                <a:latin typeface="Helvetica Neue"/>
              </a:rPr>
              <a:t>— Statement and report generation</a:t>
            </a:r>
          </a:p>
          <a:p>
            <a:pPr>
              <a:lnSpc>
                <a:spcPct val="128000"/>
              </a:lnSpc>
              <a:spcAft>
                <a:spcPts val="800"/>
              </a:spcAft>
            </a:pPr>
            <a:r>
              <a:rPr sz="1300">
                <a:solidFill>
                  <a:srgbClr val="333E4F"/>
                </a:solidFill>
                <a:latin typeface="Helvetica Neue"/>
              </a:rPr>
              <a:t>— Storage, retrieval, period structure</a:t>
            </a:r>
          </a:p>
          <a:p>
            <a:pPr>
              <a:lnSpc>
                <a:spcPct val="128000"/>
              </a:lnSpc>
              <a:spcAft>
                <a:spcPts val="800"/>
              </a:spcAft>
            </a:pPr>
            <a:r>
              <a:rPr sz="1300">
                <a:solidFill>
                  <a:srgbClr val="333E4F"/>
                </a:solidFill>
                <a:latin typeface="Helvetica Neue"/>
              </a:rPr>
              <a:t>— Syntactic validation and balance checks</a:t>
            </a:r>
          </a:p>
          <a:p>
            <a:pPr>
              <a:lnSpc>
                <a:spcPct val="128000"/>
              </a:lnSpc>
              <a:spcAft>
                <a:spcPts val="800"/>
              </a:spcAft>
            </a:pPr>
            <a:r>
              <a:rPr sz="1300">
                <a:solidFill>
                  <a:srgbClr val="333E4F"/>
                </a:solidFill>
                <a:latin typeface="Helvetica Neue"/>
              </a:rPr>
              <a:t>— Bank feed plumbing</a:t>
            </a:r>
          </a:p>
        </p:txBody>
      </p:sp>
      <p:sp>
        <p:nvSpPr>
          <p:cNvPr id="9" name="TextBox 8"/>
          <p:cNvSpPr txBox="1"/>
          <p:nvPr/>
        </p:nvSpPr>
        <p:spPr>
          <a:xfrm>
            <a:off x="932688" y="5029200"/>
            <a:ext cx="4754880" cy="365760"/>
          </a:xfrm>
          <a:prstGeom prst="rect">
            <a:avLst/>
          </a:prstGeom>
          <a:noFill/>
        </p:spPr>
        <p:txBody>
          <a:bodyPr wrap="square" anchor="t" lIns="0" rIns="0" tIns="0" bIns="0">
            <a:spAutoFit/>
          </a:bodyPr>
          <a:lstStyle/>
          <a:p>
            <a:pPr algn="l">
              <a:lnSpc>
                <a:spcPct val="125000"/>
              </a:lnSpc>
              <a:spcAft>
                <a:spcPts val="600"/>
              </a:spcAft>
            </a:pPr>
            <a:r>
              <a:rPr sz="1250" b="0" i="1">
                <a:solidFill>
                  <a:srgbClr val="6B7688"/>
                </a:solidFill>
                <a:latin typeface="Helvetica Neue"/>
              </a:rPr>
              <a:t>We should keep all of this. None of it is the problem.</a:t>
            </a:r>
          </a:p>
        </p:txBody>
      </p:sp>
      <p:sp>
        <p:nvSpPr>
          <p:cNvPr id="10" name="Rounded Rectangle 9"/>
          <p:cNvSpPr/>
          <p:nvPr/>
        </p:nvSpPr>
        <p:spPr>
          <a:xfrm>
            <a:off x="6245352" y="1783080"/>
            <a:ext cx="5294376" cy="379476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19672" y="1993392"/>
            <a:ext cx="4754880" cy="274320"/>
          </a:xfrm>
          <a:prstGeom prst="rect">
            <a:avLst/>
          </a:prstGeom>
          <a:noFill/>
        </p:spPr>
        <p:txBody>
          <a:bodyPr wrap="square" anchor="t" lIns="0" rIns="0" tIns="0" bIns="0">
            <a:spAutoFit/>
          </a:bodyPr>
          <a:lstStyle/>
          <a:p>
            <a:pPr algn="l">
              <a:lnSpc>
                <a:spcPct val="125000"/>
              </a:lnSpc>
              <a:spcAft>
                <a:spcPts val="600"/>
              </a:spcAft>
            </a:pPr>
            <a:r>
              <a:rPr sz="1100" b="1" i="0">
                <a:solidFill>
                  <a:srgbClr val="B45309"/>
                </a:solidFill>
                <a:latin typeface="Helvetica Neue"/>
              </a:rPr>
              <a:t>WHAT A PERSON DOES ON EVERY ENGAGEMENT</a:t>
            </a:r>
          </a:p>
        </p:txBody>
      </p:sp>
      <p:sp>
        <p:nvSpPr>
          <p:cNvPr id="12" name="TextBox 11"/>
          <p:cNvSpPr txBox="1"/>
          <p:nvPr/>
        </p:nvSpPr>
        <p:spPr>
          <a:xfrm>
            <a:off x="6519672" y="2286000"/>
            <a:ext cx="4754880" cy="274320"/>
          </a:xfrm>
          <a:prstGeom prst="rect">
            <a:avLst/>
          </a:prstGeom>
          <a:noFill/>
        </p:spPr>
        <p:txBody>
          <a:bodyPr wrap="square" anchor="t" lIns="0" rIns="0" tIns="0" bIns="0">
            <a:spAutoFit/>
          </a:bodyPr>
          <a:lstStyle/>
          <a:p>
            <a:pPr algn="l">
              <a:lnSpc>
                <a:spcPct val="125000"/>
              </a:lnSpc>
              <a:spcAft>
                <a:spcPts val="600"/>
              </a:spcAft>
            </a:pPr>
            <a:r>
              <a:rPr sz="1300" b="1" i="0">
                <a:solidFill>
                  <a:srgbClr val="111A27"/>
                </a:solidFill>
                <a:latin typeface="Helvetica Neue"/>
              </a:rPr>
              <a:t>Semantic judgment — and effectively all of our cost</a:t>
            </a:r>
          </a:p>
        </p:txBody>
      </p:sp>
      <p:sp>
        <p:nvSpPr>
          <p:cNvPr id="13" name="TextBox 12"/>
          <p:cNvSpPr txBox="1"/>
          <p:nvPr/>
        </p:nvSpPr>
        <p:spPr>
          <a:xfrm>
            <a:off x="6519672" y="2697480"/>
            <a:ext cx="4754880" cy="2194560"/>
          </a:xfrm>
          <a:prstGeom prst="rect">
            <a:avLst/>
          </a:prstGeom>
          <a:noFill/>
        </p:spPr>
        <p:txBody>
          <a:bodyPr wrap="square" lIns="0" rIns="0" tIns="0" bIns="0">
            <a:spAutoFit/>
          </a:bodyPr>
          <a:lstStyle/>
          <a:p>
            <a:pPr>
              <a:lnSpc>
                <a:spcPct val="128000"/>
              </a:lnSpc>
              <a:spcAft>
                <a:spcPts val="600"/>
              </a:spcAft>
            </a:pPr>
            <a:r>
              <a:rPr sz="1300">
                <a:solidFill>
                  <a:srgbClr val="333E4F"/>
                </a:solidFill>
                <a:latin typeface="Helvetica Neue"/>
              </a:rPr>
              <a:t>— Classifying ambiguous transactions and vendors</a:t>
            </a:r>
          </a:p>
          <a:p>
            <a:pPr>
              <a:lnSpc>
                <a:spcPct val="128000"/>
              </a:lnSpc>
              <a:spcAft>
                <a:spcPts val="600"/>
              </a:spcAft>
            </a:pPr>
            <a:r>
              <a:rPr sz="1300">
                <a:solidFill>
                  <a:srgbClr val="333E4F"/>
                </a:solidFill>
                <a:latin typeface="Helvetica Neue"/>
              </a:rPr>
              <a:t>— Matching and clearing reconciliation exceptions</a:t>
            </a:r>
          </a:p>
          <a:p>
            <a:pPr>
              <a:lnSpc>
                <a:spcPct val="128000"/>
              </a:lnSpc>
              <a:spcAft>
                <a:spcPts val="600"/>
              </a:spcAft>
            </a:pPr>
            <a:r>
              <a:rPr sz="1300">
                <a:solidFill>
                  <a:srgbClr val="333E4F"/>
                </a:solidFill>
                <a:latin typeface="Helvetica Neue"/>
              </a:rPr>
              <a:t>— Chasing the client for missing documents</a:t>
            </a:r>
          </a:p>
          <a:p>
            <a:pPr>
              <a:lnSpc>
                <a:spcPct val="128000"/>
              </a:lnSpc>
              <a:spcAft>
                <a:spcPts val="600"/>
              </a:spcAft>
            </a:pPr>
            <a:r>
              <a:rPr sz="1300">
                <a:solidFill>
                  <a:srgbClr val="333E4F"/>
                </a:solidFill>
                <a:latin typeface="Helvetica Neue"/>
              </a:rPr>
              <a:t>— Capitalise-or-expense and accrual judgment</a:t>
            </a:r>
          </a:p>
          <a:p>
            <a:pPr>
              <a:lnSpc>
                <a:spcPct val="128000"/>
              </a:lnSpc>
              <a:spcAft>
                <a:spcPts val="600"/>
              </a:spcAft>
            </a:pPr>
            <a:r>
              <a:rPr sz="1300">
                <a:solidFill>
                  <a:srgbClr val="333E4F"/>
                </a:solidFill>
                <a:latin typeface="Helvetica Neue"/>
              </a:rPr>
              <a:t>— Intercompany, allocations, unusual one-offs</a:t>
            </a:r>
          </a:p>
          <a:p>
            <a:pPr>
              <a:lnSpc>
                <a:spcPct val="128000"/>
              </a:lnSpc>
              <a:spcAft>
                <a:spcPts val="600"/>
              </a:spcAft>
            </a:pPr>
            <a:r>
              <a:rPr sz="1300">
                <a:solidFill>
                  <a:srgbClr val="333E4F"/>
                </a:solidFill>
                <a:latin typeface="Helvetica Neue"/>
              </a:rPr>
              <a:t>— Variance investigation, review and sign-off</a:t>
            </a:r>
          </a:p>
        </p:txBody>
      </p:sp>
      <p:sp>
        <p:nvSpPr>
          <p:cNvPr id="14" name="Rounded Rectangle 13"/>
          <p:cNvSpPr/>
          <p:nvPr/>
        </p:nvSpPr>
        <p:spPr>
          <a:xfrm>
            <a:off x="658368" y="5715000"/>
            <a:ext cx="10874959" cy="749808"/>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5897880"/>
            <a:ext cx="10289743" cy="457200"/>
          </a:xfrm>
          <a:prstGeom prst="rect">
            <a:avLst/>
          </a:prstGeom>
          <a:noFill/>
        </p:spPr>
        <p:txBody>
          <a:bodyPr wrap="square" anchor="t" lIns="0" rIns="0" tIns="0" bIns="0">
            <a:spAutoFit/>
          </a:bodyPr>
          <a:lstStyle/>
          <a:p>
            <a:pPr algn="l">
              <a:lnSpc>
                <a:spcPct val="130000"/>
              </a:lnSpc>
              <a:spcAft>
                <a:spcPts val="600"/>
              </a:spcAft>
            </a:pPr>
            <a:r>
              <a:rPr sz="1300" b="1" i="0">
                <a:solidFill>
                  <a:srgbClr val="111A27"/>
                </a:solidFill>
                <a:latin typeface="Helvetica Neue"/>
              </a:rPr>
              <a:t>We can size this precisely, and we should: we already have the time records. Instrument hours by activity, not transaction counts — the easy majority of transactions is a small minority of the cost.  [FILL: our hours per close by activity, from time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4</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TECHNICAL BACKGROUND · 3 OF 3</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Three constraints forced that design. All three just lifted.</a:t>
            </a:r>
          </a:p>
        </p:txBody>
      </p:sp>
      <p:graphicFrame>
        <p:nvGraphicFramePr>
          <p:cNvPr id="5" name="Table 4"/>
          <p:cNvGraphicFramePr>
            <a:graphicFrameLocks noGrp="1"/>
          </p:cNvGraphicFramePr>
          <p:nvPr/>
        </p:nvGraphicFramePr>
        <p:xfrm>
          <a:off x="658368" y="1874519"/>
          <a:ext cx="10872216" cy="3712464"/>
        </p:xfrm>
        <a:graphic>
          <a:graphicData uri="http://schemas.openxmlformats.org/drawingml/2006/table">
            <a:tbl>
              <a:tblPr>
                <a:tableStyleId>{5C22544A-7EE6-4342-B048-85BDC9FD1C3A}</a:tableStyleId>
              </a:tblPr>
              <a:tblGrid>
                <a:gridCol w="3017520"/>
                <a:gridCol w="3922776"/>
                <a:gridCol w="3931920"/>
              </a:tblGrid>
              <a:tr h="420624">
                <a:tc>
                  <a:txBody>
                    <a:bodyPr wrap="square"/>
                    <a:lstStyle/>
                    <a:p>
                      <a:r>
                        <a:rPr sz="1250" b="1">
                          <a:solidFill>
                            <a:srgbClr val="FFFFFF"/>
                          </a:solidFill>
                          <a:latin typeface="Helvetica Neue"/>
                        </a:rPr>
                        <a:t>The constraint</a:t>
                      </a:r>
                    </a:p>
                  </a:txBody>
                  <a:tcPr marL="91440" marR="73152" marT="36576" marB="36576" anchor="ctr">
                    <a:solidFill>
                      <a:srgbClr val="111A27"/>
                    </a:solidFill>
                  </a:tcPr>
                </a:tc>
                <a:tc>
                  <a:txBody>
                    <a:bodyPr wrap="square"/>
                    <a:lstStyle/>
                    <a:p>
                      <a:r>
                        <a:rPr sz="1250" b="1">
                          <a:solidFill>
                            <a:srgbClr val="FFFFFF"/>
                          </a:solidFill>
                          <a:latin typeface="Helvetica Neue"/>
                        </a:rPr>
                        <a:t>What it forced</a:t>
                      </a:r>
                    </a:p>
                  </a:txBody>
                  <a:tcPr marL="91440" marR="73152" marT="36576" marB="36576" anchor="ctr">
                    <a:solidFill>
                      <a:srgbClr val="111A27"/>
                    </a:solidFill>
                  </a:tcPr>
                </a:tc>
                <a:tc>
                  <a:txBody>
                    <a:bodyPr wrap="square"/>
                    <a:lstStyle/>
                    <a:p>
                      <a:r>
                        <a:rPr sz="1250" b="1">
                          <a:solidFill>
                            <a:srgbClr val="FFFFFF"/>
                          </a:solidFill>
                          <a:latin typeface="Helvetica Neue"/>
                        </a:rPr>
                        <a:t>What changes now</a:t>
                      </a:r>
                    </a:p>
                  </a:txBody>
                  <a:tcPr marL="91440" marR="73152" marT="36576" marB="36576" anchor="ctr">
                    <a:solidFill>
                      <a:srgbClr val="111A27"/>
                    </a:solidFill>
                  </a:tcPr>
                </a:tc>
              </a:tr>
              <a:tr h="1097280">
                <a:tc>
                  <a:txBody>
                    <a:bodyPr wrap="square"/>
                    <a:lstStyle/>
                    <a:p>
                      <a:r>
                        <a:rPr sz="1250" b="1">
                          <a:solidFill>
                            <a:srgbClr val="111A27"/>
                          </a:solidFill>
                          <a:latin typeface="Helvetica Neue"/>
                        </a:rPr>
                        <a:t>No tolerance for ambiguity</a:t>
                      </a:r>
                    </a:p>
                  </a:txBody>
                  <a:tcPr marL="91440" marR="73152" marT="36576" marB="36576" anchor="ctr">
                    <a:solidFill>
                      <a:srgbClr val="FFFFFF"/>
                    </a:solidFill>
                  </a:tcPr>
                </a:tc>
                <a:tc>
                  <a:txBody>
                    <a:bodyPr wrap="square"/>
                    <a:lstStyle/>
                    <a:p>
                      <a:r>
                        <a:rPr sz="1250">
                          <a:solidFill>
                            <a:srgbClr val="333E4F"/>
                          </a:solidFill>
                          <a:latin typeface="Helvetica Neue"/>
                        </a:rPr>
                        <a:t>Every path pre-specified. Anything needing interpretation of unstructured input was handed to a person behind a form.</a:t>
                      </a:r>
                    </a:p>
                  </a:txBody>
                  <a:tcPr marL="91440" marR="73152" marT="36576" marB="36576" anchor="ctr">
                    <a:solidFill>
                      <a:srgbClr val="FFFFFF"/>
                    </a:solidFill>
                  </a:tcPr>
                </a:tc>
                <a:tc>
                  <a:txBody>
                    <a:bodyPr wrap="square"/>
                    <a:lstStyle/>
                    <a:p>
                      <a:r>
                        <a:rPr sz="1250">
                          <a:solidFill>
                            <a:srgbClr val="7A3B08"/>
                          </a:solidFill>
                          <a:latin typeface="Helvetica Neue"/>
                        </a:rPr>
                        <a:t>Models absorb messy documents, bank memos, contracts and email threads — the exact inputs the software pushed onto our staff.</a:t>
                      </a:r>
                    </a:p>
                  </a:txBody>
                  <a:tcPr marL="91440" marR="73152" marT="36576" marB="36576" anchor="ctr">
                    <a:solidFill>
                      <a:srgbClr val="FAEEE3"/>
                    </a:solidFill>
                  </a:tcPr>
                </a:tc>
              </a:tr>
              <a:tr h="1097280">
                <a:tc>
                  <a:txBody>
                    <a:bodyPr wrap="square"/>
                    <a:lstStyle/>
                    <a:p>
                      <a:r>
                        <a:rPr sz="1250" b="1">
                          <a:solidFill>
                            <a:srgbClr val="111A27"/>
                          </a:solidFill>
                          <a:latin typeface="Helvetica Neue"/>
                        </a:rPr>
                        <a:t>No economics for the long tail</a:t>
                      </a:r>
                    </a:p>
                  </a:txBody>
                  <a:tcPr marL="91440" marR="73152" marT="36576" marB="36576" anchor="ctr">
                    <a:solidFill>
                      <a:srgbClr val="F3F6F8"/>
                    </a:solidFill>
                  </a:tcPr>
                </a:tc>
                <a:tc>
                  <a:txBody>
                    <a:bodyPr wrap="square"/>
                    <a:lstStyle/>
                    <a:p>
                      <a:r>
                        <a:rPr sz="1250">
                          <a:solidFill>
                            <a:srgbClr val="333E4F"/>
                          </a:solidFill>
                          <a:latin typeface="Helvetica Neue"/>
                        </a:rPr>
                        <a:t>The 1,000th edge case costs as much to build as the first. Vendors served the common case and left the tail to us and to spreadsheets.</a:t>
                      </a:r>
                    </a:p>
                  </a:txBody>
                  <a:tcPr marL="91440" marR="73152" marT="36576" marB="36576" anchor="ctr">
                    <a:solidFill>
                      <a:srgbClr val="F3F6F8"/>
                    </a:solidFill>
                  </a:tcPr>
                </a:tc>
                <a:tc>
                  <a:txBody>
                    <a:bodyPr wrap="square"/>
                    <a:lstStyle/>
                    <a:p>
                      <a:r>
                        <a:rPr sz="1250">
                          <a:solidFill>
                            <a:srgbClr val="7A3B08"/>
                          </a:solidFill>
                          <a:latin typeface="Helvetica Neue"/>
                        </a:rPr>
                        <a:t>Marginal cost of covering an edge case approaches the cost of describing it. The tail becomes addressable for the first time.</a:t>
                      </a:r>
                    </a:p>
                  </a:txBody>
                  <a:tcPr marL="91440" marR="73152" marT="36576" marB="36576" anchor="ctr">
                    <a:solidFill>
                      <a:srgbClr val="FAEEE3"/>
                    </a:solidFill>
                  </a:tcPr>
                </a:tc>
              </a:tr>
              <a:tr h="1097280">
                <a:tc>
                  <a:txBody>
                    <a:bodyPr wrap="square"/>
                    <a:lstStyle/>
                    <a:p>
                      <a:r>
                        <a:rPr sz="1250" b="1">
                          <a:solidFill>
                            <a:srgbClr val="111A27"/>
                          </a:solidFill>
                          <a:latin typeface="Helvetica Neue"/>
                        </a:rPr>
                        <a:t>Every capability needed a pre-built interface</a:t>
                      </a:r>
                    </a:p>
                  </a:txBody>
                  <a:tcPr marL="91440" marR="73152" marT="36576" marB="36576" anchor="ctr">
                    <a:solidFill>
                      <a:srgbClr val="FFFFFF"/>
                    </a:solidFill>
                  </a:tcPr>
                </a:tc>
                <a:tc>
                  <a:txBody>
                    <a:bodyPr wrap="square"/>
                    <a:lstStyle/>
                    <a:p>
                      <a:r>
                        <a:rPr sz="1250">
                          <a:solidFill>
                            <a:srgbClr val="333E4F"/>
                          </a:solidFill>
                          <a:latin typeface="Helvetica Neue"/>
                        </a:rPr>
                        <a:t>We could only direct the software through affordances a product manager imagined and a roadmap funded.</a:t>
                      </a:r>
                    </a:p>
                  </a:txBody>
                  <a:tcPr marL="91440" marR="73152" marT="36576" marB="36576" anchor="ctr">
                    <a:solidFill>
                      <a:srgbClr val="FFFFFF"/>
                    </a:solidFill>
                  </a:tcPr>
                </a:tc>
                <a:tc>
                  <a:txBody>
                    <a:bodyPr wrap="square"/>
                    <a:lstStyle/>
                    <a:p>
                      <a:r>
                        <a:rPr sz="1250">
                          <a:solidFill>
                            <a:srgbClr val="7A3B08"/>
                          </a:solidFill>
                          <a:latin typeface="Helvetica Neue"/>
                        </a:rPr>
                        <a:t>Natural language is a universal interface. Nobody has to anticipate the request in advance for it to be answerable.</a:t>
                      </a:r>
                    </a:p>
                  </a:txBody>
                  <a:tcPr marL="91440" marR="73152" marT="36576" marB="36576" anchor="ctr">
                    <a:solidFill>
                      <a:srgbClr val="FAEEE3"/>
                    </a:solidFill>
                  </a:tcPr>
                </a:tc>
              </a:tr>
            </a:tbl>
          </a:graphicData>
        </a:graphic>
      </p:graphicFrame>
      <p:sp>
        <p:nvSpPr>
          <p:cNvPr id="6" name="Rounded Rectangle 5"/>
          <p:cNvSpPr/>
          <p:nvPr/>
        </p:nvSpPr>
        <p:spPr>
          <a:xfrm>
            <a:off x="658368" y="5650992"/>
            <a:ext cx="10874959" cy="777240"/>
          </a:xfrm>
          <a:prstGeom prst="roundRect">
            <a:avLst>
              <a:gd name="adj" fmla="val 4000"/>
            </a:avLst>
          </a:prstGeom>
          <a:solidFill>
            <a:srgbClr val="E4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50976" y="5833872"/>
            <a:ext cx="10289743" cy="457200"/>
          </a:xfrm>
          <a:prstGeom prst="rect">
            <a:avLst/>
          </a:prstGeom>
          <a:noFill/>
        </p:spPr>
        <p:txBody>
          <a:bodyPr wrap="square" anchor="t" lIns="0" rIns="0" tIns="0" bIns="0">
            <a:spAutoFit/>
          </a:bodyPr>
          <a:lstStyle/>
          <a:p>
            <a:pPr algn="l">
              <a:lnSpc>
                <a:spcPct val="130000"/>
              </a:lnSpc>
              <a:spcAft>
                <a:spcPts val="600"/>
              </a:spcAft>
            </a:pPr>
            <a:r>
              <a:rPr sz="1400" b="1" i="0">
                <a:solidFill>
                  <a:srgbClr val="0A5366"/>
                </a:solidFill>
                <a:latin typeface="Helvetica Neue"/>
              </a:rPr>
              <a:t>This is the technical claim under the whole strategy — three specific properties, not a general belief about AI: ambiguity tolerance, near-zero marginal cost on the long tail, and an interface nobody has to build in advance.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5</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DOMAIN FIT</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Accounting is the best domain for this, and the reason is verification</a:t>
            </a:r>
          </a:p>
        </p:txBody>
      </p:sp>
      <p:sp>
        <p:nvSpPr>
          <p:cNvPr id="5" name="TextBox 4"/>
          <p:cNvSpPr txBox="1"/>
          <p:nvPr/>
        </p:nvSpPr>
        <p:spPr>
          <a:xfrm>
            <a:off x="658368" y="1719072"/>
            <a:ext cx="10424160" cy="548640"/>
          </a:xfrm>
          <a:prstGeom prst="rect">
            <a:avLst/>
          </a:prstGeom>
          <a:noFill/>
        </p:spPr>
        <p:txBody>
          <a:bodyPr wrap="square" anchor="t" lIns="0" rIns="0" tIns="0" bIns="0">
            <a:spAutoFit/>
          </a:bodyPr>
          <a:lstStyle/>
          <a:p>
            <a:pPr algn="l">
              <a:lnSpc>
                <a:spcPct val="135000"/>
              </a:lnSpc>
              <a:spcAft>
                <a:spcPts val="600"/>
              </a:spcAft>
            </a:pPr>
            <a:r>
              <a:rPr sz="1500" b="0" i="0">
                <a:solidFill>
                  <a:srgbClr val="333E4F"/>
                </a:solidFill>
                <a:latin typeface="Helvetica Neue"/>
              </a:rPr>
              <a:t>Most agent products cap out at "assistive" because nobody can mechanically tell whether the output is right. In law, in consulting, in most knowledge work there is no oracle. Accounting hands us one.</a:t>
            </a:r>
          </a:p>
        </p:txBody>
      </p:sp>
      <p:sp>
        <p:nvSpPr>
          <p:cNvPr id="6" name="Rounded Rectangle 5"/>
          <p:cNvSpPr/>
          <p:nvPr/>
        </p:nvSpPr>
        <p:spPr>
          <a:xfrm>
            <a:off x="658368" y="2395728"/>
            <a:ext cx="3465576" cy="2852928"/>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6112" y="2606040"/>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0A5366"/>
                </a:solidFill>
                <a:latin typeface="Helvetica Neue"/>
              </a:rPr>
              <a:t>1 · The domain gives us a verifier</a:t>
            </a:r>
          </a:p>
        </p:txBody>
      </p:sp>
      <p:sp>
        <p:nvSpPr>
          <p:cNvPr id="8" name="TextBox 7"/>
          <p:cNvSpPr txBox="1"/>
          <p:nvPr/>
        </p:nvSpPr>
        <p:spPr>
          <a:xfrm>
            <a:off x="896112" y="2999232"/>
            <a:ext cx="3008376" cy="2011680"/>
          </a:xfrm>
          <a:prstGeom prst="rect">
            <a:avLst/>
          </a:prstGeom>
          <a:noFill/>
        </p:spPr>
        <p:txBody>
          <a:bodyPr wrap="square" lIns="0" rIns="0" tIns="0" bIns="0">
            <a:spAutoFit/>
          </a:bodyPr>
          <a:lstStyle/>
          <a:p>
            <a:pPr>
              <a:lnSpc>
                <a:spcPct val="128000"/>
              </a:lnSpc>
              <a:spcAft>
                <a:spcPts val="700"/>
              </a:spcAft>
            </a:pPr>
            <a:r>
              <a:rPr sz="1250">
                <a:solidFill>
                  <a:srgbClr val="333E4F"/>
                </a:solidFill>
                <a:latin typeface="Helvetica Neue"/>
              </a:rPr>
              <a:t>— Debits must equal credits on every entry</a:t>
            </a:r>
          </a:p>
          <a:p>
            <a:pPr>
              <a:lnSpc>
                <a:spcPct val="128000"/>
              </a:lnSpc>
              <a:spcAft>
                <a:spcPts val="700"/>
              </a:spcAft>
            </a:pPr>
            <a:r>
              <a:rPr sz="1250">
                <a:solidFill>
                  <a:srgbClr val="333E4F"/>
                </a:solidFill>
                <a:latin typeface="Helvetica Neue"/>
              </a:rPr>
              <a:t>— Trial balance must tie</a:t>
            </a:r>
          </a:p>
          <a:p>
            <a:pPr>
              <a:lnSpc>
                <a:spcPct val="128000"/>
              </a:lnSpc>
              <a:spcAft>
                <a:spcPts val="700"/>
              </a:spcAft>
            </a:pPr>
            <a:r>
              <a:rPr sz="1250">
                <a:solidFill>
                  <a:srgbClr val="333E4F"/>
                </a:solidFill>
                <a:latin typeface="Helvetica Neue"/>
              </a:rPr>
              <a:t>— Subledgers must tie to control accounts</a:t>
            </a:r>
          </a:p>
          <a:p>
            <a:pPr>
              <a:lnSpc>
                <a:spcPct val="128000"/>
              </a:lnSpc>
              <a:spcAft>
                <a:spcPts val="700"/>
              </a:spcAft>
            </a:pPr>
            <a:r>
              <a:rPr sz="1250">
                <a:solidFill>
                  <a:srgbClr val="333E4F"/>
                </a:solidFill>
                <a:latin typeface="Helvetica Neue"/>
              </a:rPr>
              <a:t>— Bank reconciliation must net to zero</a:t>
            </a:r>
          </a:p>
          <a:p>
            <a:pPr>
              <a:lnSpc>
                <a:spcPct val="128000"/>
              </a:lnSpc>
              <a:spcAft>
                <a:spcPts val="700"/>
              </a:spcAft>
            </a:pPr>
            <a:r>
              <a:rPr sz="1250">
                <a:solidFill>
                  <a:srgbClr val="333E4F"/>
                </a:solidFill>
                <a:latin typeface="Helvetica Neue"/>
              </a:rPr>
              <a:t>— Tax and filing rules are codified, not inferred</a:t>
            </a:r>
          </a:p>
        </p:txBody>
      </p:sp>
      <p:sp>
        <p:nvSpPr>
          <p:cNvPr id="9" name="Rounded Rectangle 8"/>
          <p:cNvSpPr/>
          <p:nvPr/>
        </p:nvSpPr>
        <p:spPr>
          <a:xfrm>
            <a:off x="4379976" y="2395728"/>
            <a:ext cx="3465576" cy="2852928"/>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7720" y="2606040"/>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7A3B08"/>
                </a:solidFill>
                <a:latin typeface="Helvetica Neue"/>
              </a:rPr>
              <a:t>2 · So we can verify before we commit</a:t>
            </a:r>
          </a:p>
        </p:txBody>
      </p:sp>
      <p:sp>
        <p:nvSpPr>
          <p:cNvPr id="11" name="TextBox 10"/>
          <p:cNvSpPr txBox="1"/>
          <p:nvPr/>
        </p:nvSpPr>
        <p:spPr>
          <a:xfrm>
            <a:off x="4617720" y="2999232"/>
            <a:ext cx="30083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That single capability is the difference between a demo and a system we would put in front of a client.
It lets us auto-post with a measured error bound, route only genuine ambiguity to a person, and state our own accuracy in terms an external reviewer will accept.</a:t>
            </a:r>
          </a:p>
        </p:txBody>
      </p:sp>
      <p:sp>
        <p:nvSpPr>
          <p:cNvPr id="12" name="Rounded Rectangle 11"/>
          <p:cNvSpPr/>
          <p:nvPr/>
        </p:nvSpPr>
        <p:spPr>
          <a:xfrm>
            <a:off x="8101583" y="2395728"/>
            <a:ext cx="3465576" cy="2852928"/>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39327" y="2606040"/>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7A3B08"/>
                </a:solidFill>
                <a:latin typeface="Helvetica Neue"/>
              </a:rPr>
              <a:t>3 · And we already own the ground truth</a:t>
            </a:r>
          </a:p>
        </p:txBody>
      </p:sp>
      <p:sp>
        <p:nvSpPr>
          <p:cNvPr id="14" name="TextBox 13"/>
          <p:cNvSpPr txBox="1"/>
          <p:nvPr/>
        </p:nvSpPr>
        <p:spPr>
          <a:xfrm>
            <a:off x="8339327" y="2999232"/>
            <a:ext cx="3008376" cy="210312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Every closed, reviewed, filed month in our archive is a labelled example with a verified outcome.
Most agent companies have to manufacture or buy this. We have years of it, tied to real engagements, with the reviewer's reasoning still on file.</a:t>
            </a:r>
          </a:p>
        </p:txBody>
      </p:sp>
      <p:sp>
        <p:nvSpPr>
          <p:cNvPr id="15" name="Rounded Rectangle 14"/>
          <p:cNvSpPr/>
          <p:nvPr/>
        </p:nvSpPr>
        <p:spPr>
          <a:xfrm>
            <a:off x="658368" y="5468112"/>
            <a:ext cx="10874959" cy="86868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69264" y="5669280"/>
            <a:ext cx="10253167" cy="502920"/>
          </a:xfrm>
          <a:prstGeom prst="rect">
            <a:avLst/>
          </a:prstGeom>
          <a:noFill/>
        </p:spPr>
        <p:txBody>
          <a:bodyPr wrap="square" anchor="t" lIns="0" rIns="0" tIns="0" bIns="0">
            <a:spAutoFit/>
          </a:bodyPr>
          <a:lstStyle/>
          <a:p>
            <a:pPr algn="l">
              <a:lnSpc>
                <a:spcPct val="130000"/>
              </a:lnSpc>
              <a:spcAft>
                <a:spcPts val="600"/>
              </a:spcAft>
            </a:pPr>
            <a:r>
              <a:rPr sz="1500" b="1" i="0">
                <a:solidFill>
                  <a:srgbClr val="FFFFFF"/>
                </a:solidFill>
                <a:latin typeface="Helvetica Neue"/>
              </a:rPr>
              <a:t>An oracle plus a labelled archive is not a nice-to-have. It is the reason autonomy is shippable in accounting before it is shippable almost anywhere else — and the reason it is shippable in this firm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6</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WHAT THIS CHANGES</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Where the defensible engineering sits now</a:t>
            </a:r>
          </a:p>
        </p:txBody>
      </p:sp>
      <p:sp>
        <p:nvSpPr>
          <p:cNvPr id="5" name="TextBox 4"/>
          <p:cNvSpPr txBox="1"/>
          <p:nvPr/>
        </p:nvSpPr>
        <p:spPr>
          <a:xfrm>
            <a:off x="658368" y="1719072"/>
            <a:ext cx="10424160" cy="548640"/>
          </a:xfrm>
          <a:prstGeom prst="rect">
            <a:avLst/>
          </a:prstGeom>
          <a:noFill/>
        </p:spPr>
        <p:txBody>
          <a:bodyPr wrap="square" anchor="t" lIns="0" rIns="0" tIns="0" bIns="0">
            <a:spAutoFit/>
          </a:bodyPr>
          <a:lstStyle/>
          <a:p>
            <a:pPr algn="l">
              <a:lnSpc>
                <a:spcPct val="135000"/>
              </a:lnSpc>
              <a:spcAft>
                <a:spcPts val="600"/>
              </a:spcAft>
            </a:pPr>
            <a:r>
              <a:rPr sz="1500" b="0" i="0">
                <a:solidFill>
                  <a:srgbClr val="333E4F"/>
                </a:solidFill>
                <a:latin typeface="Helvetica Neue"/>
              </a:rPr>
              <a:t>When the vendor's differentiation was the interface, the moat was habit and configuration. When the system does the work, four different things become hard to copy — and none of them is the prompt.</a:t>
            </a:r>
          </a:p>
        </p:txBody>
      </p:sp>
      <p:sp>
        <p:nvSpPr>
          <p:cNvPr id="6" name="TextBox 5"/>
          <p:cNvSpPr txBox="1"/>
          <p:nvPr/>
        </p:nvSpPr>
        <p:spPr>
          <a:xfrm>
            <a:off x="658368" y="2395728"/>
            <a:ext cx="2542032" cy="274320"/>
          </a:xfrm>
          <a:prstGeom prst="rect">
            <a:avLst/>
          </a:prstGeom>
          <a:noFill/>
        </p:spPr>
        <p:txBody>
          <a:bodyPr wrap="square" anchor="t" lIns="0" rIns="0" tIns="0" bIns="0">
            <a:spAutoFit/>
          </a:bodyPr>
          <a:lstStyle/>
          <a:p>
            <a:pPr algn="l">
              <a:lnSpc>
                <a:spcPct val="125000"/>
              </a:lnSpc>
              <a:spcAft>
                <a:spcPts val="600"/>
              </a:spcAft>
            </a:pPr>
            <a:r>
              <a:rPr sz="1600" b="1" i="0">
                <a:solidFill>
                  <a:srgbClr val="0E7490"/>
                </a:solidFill>
                <a:latin typeface="Helvetica Neue"/>
              </a:rPr>
              <a:t>Verification</a:t>
            </a:r>
          </a:p>
        </p:txBody>
      </p:sp>
      <p:sp>
        <p:nvSpPr>
          <p:cNvPr id="7" name="TextBox 6"/>
          <p:cNvSpPr txBox="1"/>
          <p:nvPr/>
        </p:nvSpPr>
        <p:spPr>
          <a:xfrm>
            <a:off x="658368" y="2761488"/>
            <a:ext cx="2542032" cy="100584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Anyone can prompt a model. Almost nobody can prove the output is correct. In a domain with an oracle, the verifier is the product.</a:t>
            </a:r>
          </a:p>
        </p:txBody>
      </p:sp>
      <p:sp>
        <p:nvSpPr>
          <p:cNvPr id="8" name="TextBox 7"/>
          <p:cNvSpPr txBox="1"/>
          <p:nvPr/>
        </p:nvSpPr>
        <p:spPr>
          <a:xfrm>
            <a:off x="3419856" y="2395728"/>
            <a:ext cx="2542032" cy="274320"/>
          </a:xfrm>
          <a:prstGeom prst="rect">
            <a:avLst/>
          </a:prstGeom>
          <a:noFill/>
        </p:spPr>
        <p:txBody>
          <a:bodyPr wrap="square" anchor="t" lIns="0" rIns="0" tIns="0" bIns="0">
            <a:spAutoFit/>
          </a:bodyPr>
          <a:lstStyle/>
          <a:p>
            <a:pPr algn="l">
              <a:lnSpc>
                <a:spcPct val="125000"/>
              </a:lnSpc>
              <a:spcAft>
                <a:spcPts val="600"/>
              </a:spcAft>
            </a:pPr>
            <a:r>
              <a:rPr sz="1600" b="1" i="0">
                <a:solidFill>
                  <a:srgbClr val="0E7490"/>
                </a:solidFill>
                <a:latin typeface="Helvetica Neue"/>
              </a:rPr>
              <a:t>Context</a:t>
            </a:r>
          </a:p>
        </p:txBody>
      </p:sp>
      <p:sp>
        <p:nvSpPr>
          <p:cNvPr id="9" name="TextBox 8"/>
          <p:cNvSpPr txBox="1"/>
          <p:nvPr/>
        </p:nvSpPr>
        <p:spPr>
          <a:xfrm>
            <a:off x="3419856" y="2761488"/>
            <a:ext cx="2542032" cy="100584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Accumulated client-specific policy and history: this vendor is always COGS, this client capitalises above [$2,500]. Proprietary state, not a model.</a:t>
            </a:r>
          </a:p>
        </p:txBody>
      </p:sp>
      <p:sp>
        <p:nvSpPr>
          <p:cNvPr id="10" name="TextBox 9"/>
          <p:cNvSpPr txBox="1"/>
          <p:nvPr/>
        </p:nvSpPr>
        <p:spPr>
          <a:xfrm>
            <a:off x="658368" y="3877056"/>
            <a:ext cx="2542032" cy="274320"/>
          </a:xfrm>
          <a:prstGeom prst="rect">
            <a:avLst/>
          </a:prstGeom>
          <a:noFill/>
        </p:spPr>
        <p:txBody>
          <a:bodyPr wrap="square" anchor="t" lIns="0" rIns="0" tIns="0" bIns="0">
            <a:spAutoFit/>
          </a:bodyPr>
          <a:lstStyle/>
          <a:p>
            <a:pPr algn="l">
              <a:lnSpc>
                <a:spcPct val="125000"/>
              </a:lnSpc>
              <a:spcAft>
                <a:spcPts val="600"/>
              </a:spcAft>
            </a:pPr>
            <a:r>
              <a:rPr sz="1600" b="1" i="0">
                <a:solidFill>
                  <a:srgbClr val="0E7490"/>
                </a:solidFill>
                <a:latin typeface="Helvetica Neue"/>
              </a:rPr>
              <a:t>Permission</a:t>
            </a:r>
          </a:p>
        </p:txBody>
      </p:sp>
      <p:sp>
        <p:nvSpPr>
          <p:cNvPr id="11" name="TextBox 10"/>
          <p:cNvSpPr txBox="1"/>
          <p:nvPr/>
        </p:nvSpPr>
        <p:spPr>
          <a:xfrm>
            <a:off x="658368" y="4242816"/>
            <a:ext cx="2542032" cy="100584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Write access to the ledger, the bank, the filing. Reversing that is a governance decision with a liability trail — a far stronger lock-in than UI habit.</a:t>
            </a:r>
          </a:p>
        </p:txBody>
      </p:sp>
      <p:sp>
        <p:nvSpPr>
          <p:cNvPr id="12" name="TextBox 11"/>
          <p:cNvSpPr txBox="1"/>
          <p:nvPr/>
        </p:nvSpPr>
        <p:spPr>
          <a:xfrm>
            <a:off x="3419856" y="3877056"/>
            <a:ext cx="2542032" cy="274320"/>
          </a:xfrm>
          <a:prstGeom prst="rect">
            <a:avLst/>
          </a:prstGeom>
          <a:noFill/>
        </p:spPr>
        <p:txBody>
          <a:bodyPr wrap="square" anchor="t" lIns="0" rIns="0" tIns="0" bIns="0">
            <a:spAutoFit/>
          </a:bodyPr>
          <a:lstStyle/>
          <a:p>
            <a:pPr algn="l">
              <a:lnSpc>
                <a:spcPct val="125000"/>
              </a:lnSpc>
              <a:spcAft>
                <a:spcPts val="600"/>
              </a:spcAft>
            </a:pPr>
            <a:r>
              <a:rPr sz="1600" b="1" i="0">
                <a:solidFill>
                  <a:srgbClr val="0E7490"/>
                </a:solidFill>
                <a:latin typeface="Helvetica Neue"/>
              </a:rPr>
              <a:t>Evals</a:t>
            </a:r>
          </a:p>
        </p:txBody>
      </p:sp>
      <p:sp>
        <p:nvSpPr>
          <p:cNvPr id="13" name="TextBox 12"/>
          <p:cNvSpPr txBox="1"/>
          <p:nvPr/>
        </p:nvSpPr>
        <p:spPr>
          <a:xfrm>
            <a:off x="3419856" y="4242816"/>
            <a:ext cx="2542032" cy="100584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A corpus of verified outcomes to regression-test against. Prompts copy in an afternoon; a decade of reviewed closes does not.</a:t>
            </a:r>
          </a:p>
        </p:txBody>
      </p:sp>
      <p:sp>
        <p:nvSpPr>
          <p:cNvPr id="14" name="Rounded Rectangle 13"/>
          <p:cNvSpPr/>
          <p:nvPr/>
        </p:nvSpPr>
        <p:spPr>
          <a:xfrm>
            <a:off x="6464807" y="2395728"/>
            <a:ext cx="5074920" cy="2852928"/>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739128" y="2615184"/>
            <a:ext cx="4572000" cy="274320"/>
          </a:xfrm>
          <a:prstGeom prst="rect">
            <a:avLst/>
          </a:prstGeom>
          <a:noFill/>
        </p:spPr>
        <p:txBody>
          <a:bodyPr wrap="square" anchor="t" lIns="0" rIns="0" tIns="0" bIns="0">
            <a:spAutoFit/>
          </a:bodyPr>
          <a:lstStyle/>
          <a:p>
            <a:pPr algn="l">
              <a:lnSpc>
                <a:spcPct val="125000"/>
              </a:lnSpc>
              <a:spcAft>
                <a:spcPts val="600"/>
              </a:spcAft>
            </a:pPr>
            <a:r>
              <a:rPr sz="1100" b="1" i="0">
                <a:solidFill>
                  <a:srgbClr val="6B7688"/>
                </a:solidFill>
                <a:latin typeface="Helvetica Neue"/>
              </a:rPr>
              <a:t>WHAT DOES NOT CHANGE</a:t>
            </a:r>
          </a:p>
        </p:txBody>
      </p:sp>
      <p:sp>
        <p:nvSpPr>
          <p:cNvPr id="16" name="TextBox 15"/>
          <p:cNvSpPr txBox="1"/>
          <p:nvPr/>
        </p:nvSpPr>
        <p:spPr>
          <a:xfrm>
            <a:off x="6739128" y="2962656"/>
            <a:ext cx="4572000" cy="2194560"/>
          </a:xfrm>
          <a:prstGeom prst="rect">
            <a:avLst/>
          </a:prstGeom>
          <a:noFill/>
        </p:spPr>
        <p:txBody>
          <a:bodyPr wrap="square" anchor="t" lIns="0" rIns="0" tIns="0" bIns="0">
            <a:spAutoFit/>
          </a:bodyPr>
          <a:lstStyle/>
          <a:p>
            <a:pPr algn="l">
              <a:lnSpc>
                <a:spcPct val="144000"/>
              </a:lnSpc>
              <a:spcAft>
                <a:spcPts val="600"/>
              </a:spcAft>
            </a:pPr>
            <a:r>
              <a:rPr sz="1250" b="0" i="0">
                <a:solidFill>
                  <a:srgbClr val="333E4F"/>
                </a:solidFill>
                <a:latin typeface="Helvetica Neue"/>
              </a:rPr>
              <a:t>The system of record matters more, not less. Agents need a substrate with truth, permissions and history — they make interfaces obsolete, not databases. Anyone who tells you the ledger goes away has not built one.
Trust, security, confidentiality and professional standards still gate everything. Our licence and our reputation are the assets at risk, which is why the controls in this architecture are not optional extras.</a:t>
            </a:r>
          </a:p>
        </p:txBody>
      </p:sp>
      <p:sp>
        <p:nvSpPr>
          <p:cNvPr id="17" name="Rounded Rectangle 16"/>
          <p:cNvSpPr/>
          <p:nvPr/>
        </p:nvSpPr>
        <p:spPr>
          <a:xfrm>
            <a:off x="658368" y="5468112"/>
            <a:ext cx="10874959" cy="822960"/>
          </a:xfrm>
          <a:prstGeom prst="roundRect">
            <a:avLst>
              <a:gd name="adj" fmla="val 4000"/>
            </a:avLst>
          </a:prstGeom>
          <a:solidFill>
            <a:srgbClr val="FA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5669280"/>
            <a:ext cx="10289743" cy="457200"/>
          </a:xfrm>
          <a:prstGeom prst="rect">
            <a:avLst/>
          </a:prstGeom>
          <a:noFill/>
        </p:spPr>
        <p:txBody>
          <a:bodyPr wrap="square" anchor="t" lIns="0" rIns="0" tIns="0" bIns="0">
            <a:spAutoFit/>
          </a:bodyPr>
          <a:lstStyle/>
          <a:p>
            <a:pPr algn="l">
              <a:lnSpc>
                <a:spcPct val="130000"/>
              </a:lnSpc>
              <a:spcAft>
                <a:spcPts val="600"/>
              </a:spcAft>
            </a:pPr>
            <a:r>
              <a:rPr sz="1400" b="1" i="0">
                <a:solidFill>
                  <a:srgbClr val="7A3B08"/>
                </a:solidFill>
                <a:latin typeface="Helvetica Neue"/>
              </a:rPr>
              <a:t>Note what is not on this list: the agent layer. Prompts are the cheapest and most replaceable component in the system, and we have deliberately built the least of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7</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ARCHITECTURE</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400" b="1" i="0">
                <a:solidFill>
                  <a:srgbClr val="111A27"/>
                </a:solidFill>
                <a:latin typeface="Helvetica Neue"/>
              </a:rPr>
              <a:t>The agent decides. Deterministic code executes.
Nothing commits unverified.</a:t>
            </a:r>
          </a:p>
        </p:txBody>
      </p:sp>
      <p:sp>
        <p:nvSpPr>
          <p:cNvPr id="5" name="Rounded Rectangle 4"/>
          <p:cNvSpPr/>
          <p:nvPr/>
        </p:nvSpPr>
        <p:spPr>
          <a:xfrm>
            <a:off x="658368" y="2212848"/>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59536" y="2281428"/>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Client surfaces</a:t>
            </a:r>
          </a:p>
        </p:txBody>
      </p:sp>
      <p:sp>
        <p:nvSpPr>
          <p:cNvPr id="7" name="TextBox 6"/>
          <p:cNvSpPr txBox="1"/>
          <p:nvPr/>
        </p:nvSpPr>
        <p:spPr>
          <a:xfrm>
            <a:off x="3675887" y="2299716"/>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exception queue (the real UI) · chat &amp; email · client reporting</a:t>
            </a:r>
          </a:p>
        </p:txBody>
      </p:sp>
      <p:sp>
        <p:nvSpPr>
          <p:cNvPr id="8" name="Rounded Rectangle 7"/>
          <p:cNvSpPr/>
          <p:nvPr/>
        </p:nvSpPr>
        <p:spPr>
          <a:xfrm>
            <a:off x="658368" y="2752344"/>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536" y="2820924"/>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Verification &amp; guardrails</a:t>
            </a:r>
          </a:p>
        </p:txBody>
      </p:sp>
      <p:sp>
        <p:nvSpPr>
          <p:cNvPr id="10" name="TextBox 9"/>
          <p:cNvSpPr txBox="1"/>
          <p:nvPr/>
        </p:nvSpPr>
        <p:spPr>
          <a:xfrm>
            <a:off x="3675887" y="2839212"/>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hard invariants · anomaly and variance · confidence routing</a:t>
            </a:r>
          </a:p>
        </p:txBody>
      </p:sp>
      <p:sp>
        <p:nvSpPr>
          <p:cNvPr id="11" name="TextBox 10"/>
          <p:cNvSpPr txBox="1"/>
          <p:nvPr/>
        </p:nvSpPr>
        <p:spPr>
          <a:xfrm>
            <a:off x="9354312" y="2834639"/>
            <a:ext cx="274320" cy="274320"/>
          </a:xfrm>
          <a:prstGeom prst="rect">
            <a:avLst/>
          </a:prstGeom>
          <a:noFill/>
        </p:spPr>
        <p:txBody>
          <a:bodyPr wrap="square" anchor="t" lIns="0" rIns="0" tIns="0" bIns="0">
            <a:spAutoFit/>
          </a:bodyPr>
          <a:lstStyle/>
          <a:p>
            <a:pPr algn="l">
              <a:lnSpc>
                <a:spcPct val="125000"/>
              </a:lnSpc>
              <a:spcAft>
                <a:spcPts val="600"/>
              </a:spcAft>
            </a:pPr>
            <a:r>
              <a:rPr sz="1200" b="1" i="0">
                <a:solidFill>
                  <a:srgbClr val="B45309"/>
                </a:solidFill>
                <a:latin typeface="Helvetica Neue"/>
              </a:rPr>
              <a:t>◆</a:t>
            </a:r>
          </a:p>
        </p:txBody>
      </p:sp>
      <p:sp>
        <p:nvSpPr>
          <p:cNvPr id="12" name="Rounded Rectangle 11"/>
          <p:cNvSpPr/>
          <p:nvPr/>
        </p:nvSpPr>
        <p:spPr>
          <a:xfrm>
            <a:off x="658368" y="3291839"/>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59536" y="3360420"/>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Agent layer</a:t>
            </a:r>
          </a:p>
        </p:txBody>
      </p:sp>
      <p:sp>
        <p:nvSpPr>
          <p:cNvPr id="14" name="TextBox 13"/>
          <p:cNvSpPr txBox="1"/>
          <p:nvPr/>
        </p:nvSpPr>
        <p:spPr>
          <a:xfrm>
            <a:off x="3675887" y="3378708"/>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workflow supervisors · extract · classify · match · chase · analyse</a:t>
            </a:r>
          </a:p>
        </p:txBody>
      </p:sp>
      <p:sp>
        <p:nvSpPr>
          <p:cNvPr id="15" name="Rounded Rectangle 14"/>
          <p:cNvSpPr/>
          <p:nvPr/>
        </p:nvSpPr>
        <p:spPr>
          <a:xfrm>
            <a:off x="658368" y="3831335"/>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9536" y="3899915"/>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Durable orchestration</a:t>
            </a:r>
          </a:p>
        </p:txBody>
      </p:sp>
      <p:sp>
        <p:nvSpPr>
          <p:cNvPr id="17" name="TextBox 16"/>
          <p:cNvSpPr txBox="1"/>
          <p:nvPr/>
        </p:nvSpPr>
        <p:spPr>
          <a:xfrm>
            <a:off x="3675887" y="3918203"/>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the close checklist as a resumable state machine, not free-form agency</a:t>
            </a:r>
          </a:p>
        </p:txBody>
      </p:sp>
      <p:sp>
        <p:nvSpPr>
          <p:cNvPr id="18" name="Rounded Rectangle 17"/>
          <p:cNvSpPr/>
          <p:nvPr/>
        </p:nvSpPr>
        <p:spPr>
          <a:xfrm>
            <a:off x="658368" y="4370831"/>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59536" y="4439412"/>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Deterministic tool layer</a:t>
            </a:r>
          </a:p>
        </p:txBody>
      </p:sp>
      <p:sp>
        <p:nvSpPr>
          <p:cNvPr id="20" name="TextBox 19"/>
          <p:cNvSpPr txBox="1"/>
          <p:nvPr/>
        </p:nvSpPr>
        <p:spPr>
          <a:xfrm>
            <a:off x="3675887" y="4457699"/>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typed, invariant-enforcing actions: post_entry · reconcile · close_period</a:t>
            </a:r>
          </a:p>
        </p:txBody>
      </p:sp>
      <p:sp>
        <p:nvSpPr>
          <p:cNvPr id="21" name="TextBox 20"/>
          <p:cNvSpPr txBox="1"/>
          <p:nvPr/>
        </p:nvSpPr>
        <p:spPr>
          <a:xfrm>
            <a:off x="9354312" y="4453127"/>
            <a:ext cx="274320" cy="274320"/>
          </a:xfrm>
          <a:prstGeom prst="rect">
            <a:avLst/>
          </a:prstGeom>
          <a:noFill/>
        </p:spPr>
        <p:txBody>
          <a:bodyPr wrap="square" anchor="t" lIns="0" rIns="0" tIns="0" bIns="0">
            <a:spAutoFit/>
          </a:bodyPr>
          <a:lstStyle/>
          <a:p>
            <a:pPr algn="l">
              <a:lnSpc>
                <a:spcPct val="125000"/>
              </a:lnSpc>
              <a:spcAft>
                <a:spcPts val="600"/>
              </a:spcAft>
            </a:pPr>
            <a:r>
              <a:rPr sz="1200" b="1" i="0">
                <a:solidFill>
                  <a:srgbClr val="B45309"/>
                </a:solidFill>
                <a:latin typeface="Helvetica Neue"/>
              </a:rPr>
              <a:t>◆</a:t>
            </a:r>
          </a:p>
        </p:txBody>
      </p:sp>
      <p:sp>
        <p:nvSpPr>
          <p:cNvPr id="22" name="Rounded Rectangle 21"/>
          <p:cNvSpPr/>
          <p:nvPr/>
        </p:nvSpPr>
        <p:spPr>
          <a:xfrm>
            <a:off x="658368" y="4910327"/>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9536" y="4978907"/>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Ledger core</a:t>
            </a:r>
          </a:p>
        </p:txBody>
      </p:sp>
      <p:sp>
        <p:nvSpPr>
          <p:cNvPr id="24" name="TextBox 23"/>
          <p:cNvSpPr txBox="1"/>
          <p:nvPr/>
        </p:nvSpPr>
        <p:spPr>
          <a:xfrm>
            <a:off x="3675887" y="4997195"/>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append-only · bitemporal · double-entry · full provenance</a:t>
            </a:r>
          </a:p>
        </p:txBody>
      </p:sp>
      <p:sp>
        <p:nvSpPr>
          <p:cNvPr id="25" name="TextBox 24"/>
          <p:cNvSpPr txBox="1"/>
          <p:nvPr/>
        </p:nvSpPr>
        <p:spPr>
          <a:xfrm>
            <a:off x="9354312" y="4992623"/>
            <a:ext cx="274320" cy="274320"/>
          </a:xfrm>
          <a:prstGeom prst="rect">
            <a:avLst/>
          </a:prstGeom>
          <a:noFill/>
        </p:spPr>
        <p:txBody>
          <a:bodyPr wrap="square" anchor="t" lIns="0" rIns="0" tIns="0" bIns="0">
            <a:spAutoFit/>
          </a:bodyPr>
          <a:lstStyle/>
          <a:p>
            <a:pPr algn="l">
              <a:lnSpc>
                <a:spcPct val="125000"/>
              </a:lnSpc>
              <a:spcAft>
                <a:spcPts val="600"/>
              </a:spcAft>
            </a:pPr>
            <a:r>
              <a:rPr sz="1200" b="1" i="0">
                <a:solidFill>
                  <a:srgbClr val="B45309"/>
                </a:solidFill>
                <a:latin typeface="Helvetica Neue"/>
              </a:rPr>
              <a:t>◆</a:t>
            </a:r>
          </a:p>
        </p:txBody>
      </p:sp>
      <p:sp>
        <p:nvSpPr>
          <p:cNvPr id="26" name="Rounded Rectangle 25"/>
          <p:cNvSpPr/>
          <p:nvPr/>
        </p:nvSpPr>
        <p:spPr>
          <a:xfrm>
            <a:off x="658368" y="5449823"/>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59536" y="5518403"/>
            <a:ext cx="2743200" cy="329184"/>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Ingestion</a:t>
            </a:r>
          </a:p>
        </p:txBody>
      </p:sp>
      <p:sp>
        <p:nvSpPr>
          <p:cNvPr id="28" name="TextBox 27"/>
          <p:cNvSpPr txBox="1"/>
          <p:nvPr/>
        </p:nvSpPr>
        <p:spPr>
          <a:xfrm>
            <a:off x="3675887" y="5536691"/>
            <a:ext cx="5760720" cy="329184"/>
          </a:xfrm>
          <a:prstGeom prst="rect">
            <a:avLst/>
          </a:prstGeom>
          <a:noFill/>
        </p:spPr>
        <p:txBody>
          <a:bodyPr wrap="square" anchor="t" lIns="0" rIns="0" tIns="0" bIns="0">
            <a:spAutoFit/>
          </a:bodyPr>
          <a:lstStyle/>
          <a:p>
            <a:pPr algn="l">
              <a:lnSpc>
                <a:spcPct val="125000"/>
              </a:lnSpc>
              <a:spcAft>
                <a:spcPts val="600"/>
              </a:spcAft>
            </a:pPr>
            <a:r>
              <a:rPr sz="1150" b="0" i="0">
                <a:solidFill>
                  <a:srgbClr val="333E4F"/>
                </a:solidFill>
                <a:latin typeface="Helvetica Neue"/>
              </a:rPr>
              <a:t>banks · cards · payroll · POS · AP inbox · documents · prior-year books</a:t>
            </a:r>
          </a:p>
        </p:txBody>
      </p:sp>
      <p:sp>
        <p:nvSpPr>
          <p:cNvPr id="29" name="Rounded Rectangle 28"/>
          <p:cNvSpPr/>
          <p:nvPr/>
        </p:nvSpPr>
        <p:spPr>
          <a:xfrm>
            <a:off x="9848088" y="2212848"/>
            <a:ext cx="1673352" cy="3707891"/>
          </a:xfrm>
          <a:prstGeom prst="roundRect">
            <a:avLst>
              <a:gd name="adj" fmla="val 4000"/>
            </a:avLst>
          </a:prstGeom>
          <a:solidFill>
            <a:srgbClr val="E8EEF2"/>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994392" y="2340864"/>
            <a:ext cx="1380744" cy="274320"/>
          </a:xfrm>
          <a:prstGeom prst="rect">
            <a:avLst/>
          </a:prstGeom>
          <a:noFill/>
        </p:spPr>
        <p:txBody>
          <a:bodyPr wrap="square" anchor="t" lIns="0" rIns="0" tIns="0" bIns="0">
            <a:spAutoFit/>
          </a:bodyPr>
          <a:lstStyle/>
          <a:p>
            <a:pPr algn="l">
              <a:lnSpc>
                <a:spcPct val="125000"/>
              </a:lnSpc>
              <a:spcAft>
                <a:spcPts val="600"/>
              </a:spcAft>
            </a:pPr>
            <a:r>
              <a:rPr sz="1000" b="1" i="0">
                <a:solidFill>
                  <a:srgbClr val="6B7688"/>
                </a:solidFill>
                <a:latin typeface="Helvetica Neue"/>
              </a:rPr>
              <a:t>CROSS-CUTTING</a:t>
            </a:r>
          </a:p>
        </p:txBody>
      </p:sp>
      <p:sp>
        <p:nvSpPr>
          <p:cNvPr id="31" name="TextBox 30"/>
          <p:cNvSpPr txBox="1"/>
          <p:nvPr/>
        </p:nvSpPr>
        <p:spPr>
          <a:xfrm>
            <a:off x="9994392" y="2761488"/>
            <a:ext cx="1380744" cy="548640"/>
          </a:xfrm>
          <a:prstGeom prst="rect">
            <a:avLst/>
          </a:prstGeom>
          <a:noFill/>
        </p:spPr>
        <p:txBody>
          <a:bodyPr wrap="square" anchor="t" lIns="0" rIns="0" tIns="0" bIns="0">
            <a:spAutoFit/>
          </a:bodyPr>
          <a:lstStyle/>
          <a:p>
            <a:pPr algn="l">
              <a:lnSpc>
                <a:spcPct val="125000"/>
              </a:lnSpc>
              <a:spcAft>
                <a:spcPts val="600"/>
              </a:spcAft>
            </a:pPr>
            <a:r>
              <a:rPr sz="1100" b="0" i="0">
                <a:solidFill>
                  <a:srgbClr val="333E4F"/>
                </a:solidFill>
                <a:latin typeface="Helvetica Neue"/>
              </a:rPr>
              <a:t>Audit trail
&amp; lineage</a:t>
            </a:r>
          </a:p>
        </p:txBody>
      </p:sp>
      <p:sp>
        <p:nvSpPr>
          <p:cNvPr id="32" name="TextBox 31"/>
          <p:cNvSpPr txBox="1"/>
          <p:nvPr/>
        </p:nvSpPr>
        <p:spPr>
          <a:xfrm>
            <a:off x="9994392" y="3401568"/>
            <a:ext cx="1380744" cy="548640"/>
          </a:xfrm>
          <a:prstGeom prst="rect">
            <a:avLst/>
          </a:prstGeom>
          <a:noFill/>
        </p:spPr>
        <p:txBody>
          <a:bodyPr wrap="square" anchor="t" lIns="0" rIns="0" tIns="0" bIns="0">
            <a:spAutoFit/>
          </a:bodyPr>
          <a:lstStyle/>
          <a:p>
            <a:pPr algn="l">
              <a:lnSpc>
                <a:spcPct val="125000"/>
              </a:lnSpc>
              <a:spcAft>
                <a:spcPts val="600"/>
              </a:spcAft>
            </a:pPr>
            <a:r>
              <a:rPr sz="1100" b="0" i="0">
                <a:solidFill>
                  <a:srgbClr val="333E4F"/>
                </a:solidFill>
                <a:latin typeface="Helvetica Neue"/>
              </a:rPr>
              <a:t>Evals &amp;
replay harness</a:t>
            </a:r>
          </a:p>
        </p:txBody>
      </p:sp>
      <p:sp>
        <p:nvSpPr>
          <p:cNvPr id="33" name="TextBox 32"/>
          <p:cNvSpPr txBox="1"/>
          <p:nvPr/>
        </p:nvSpPr>
        <p:spPr>
          <a:xfrm>
            <a:off x="9994392" y="4041648"/>
            <a:ext cx="1380744" cy="548640"/>
          </a:xfrm>
          <a:prstGeom prst="rect">
            <a:avLst/>
          </a:prstGeom>
          <a:noFill/>
        </p:spPr>
        <p:txBody>
          <a:bodyPr wrap="square" anchor="t" lIns="0" rIns="0" tIns="0" bIns="0">
            <a:spAutoFit/>
          </a:bodyPr>
          <a:lstStyle/>
          <a:p>
            <a:pPr algn="l">
              <a:lnSpc>
                <a:spcPct val="125000"/>
              </a:lnSpc>
              <a:spcAft>
                <a:spcPts val="600"/>
              </a:spcAft>
            </a:pPr>
            <a:r>
              <a:rPr sz="1100" b="0" i="0">
                <a:solidFill>
                  <a:srgbClr val="333E4F"/>
                </a:solidFill>
                <a:latin typeface="Helvetica Neue"/>
              </a:rPr>
              <a:t>Cost &amp; token
telemetry</a:t>
            </a:r>
          </a:p>
        </p:txBody>
      </p:sp>
      <p:sp>
        <p:nvSpPr>
          <p:cNvPr id="34" name="TextBox 33"/>
          <p:cNvSpPr txBox="1"/>
          <p:nvPr/>
        </p:nvSpPr>
        <p:spPr>
          <a:xfrm>
            <a:off x="9994392" y="4681728"/>
            <a:ext cx="1380744" cy="548640"/>
          </a:xfrm>
          <a:prstGeom prst="rect">
            <a:avLst/>
          </a:prstGeom>
          <a:noFill/>
        </p:spPr>
        <p:txBody>
          <a:bodyPr wrap="square" anchor="t" lIns="0" rIns="0" tIns="0" bIns="0">
            <a:spAutoFit/>
          </a:bodyPr>
          <a:lstStyle/>
          <a:p>
            <a:pPr algn="l">
              <a:lnSpc>
                <a:spcPct val="125000"/>
              </a:lnSpc>
              <a:spcAft>
                <a:spcPts val="600"/>
              </a:spcAft>
            </a:pPr>
            <a:r>
              <a:rPr sz="1100" b="0" i="0">
                <a:solidFill>
                  <a:srgbClr val="333E4F"/>
                </a:solidFill>
                <a:latin typeface="Helvetica Neue"/>
              </a:rPr>
              <a:t>Agent identity,
least privilege</a:t>
            </a:r>
          </a:p>
        </p:txBody>
      </p:sp>
      <p:sp>
        <p:nvSpPr>
          <p:cNvPr id="35" name="TextBox 34"/>
          <p:cNvSpPr txBox="1"/>
          <p:nvPr/>
        </p:nvSpPr>
        <p:spPr>
          <a:xfrm>
            <a:off x="658368" y="6080759"/>
            <a:ext cx="10874959" cy="365760"/>
          </a:xfrm>
          <a:prstGeom prst="rect">
            <a:avLst/>
          </a:prstGeom>
          <a:noFill/>
        </p:spPr>
        <p:txBody>
          <a:bodyPr wrap="square" anchor="t" lIns="0" rIns="0" tIns="0" bIns="0">
            <a:spAutoFit/>
          </a:bodyPr>
          <a:lstStyle/>
          <a:p>
            <a:pPr algn="l">
              <a:lnSpc>
                <a:spcPct val="125000"/>
              </a:lnSpc>
              <a:spcAft>
                <a:spcPts val="600"/>
              </a:spcAft>
            </a:pPr>
            <a:r>
              <a:rPr sz="1250" b="1" i="0">
                <a:solidFill>
                  <a:srgbClr val="B45309"/>
                </a:solidFill>
                <a:latin typeface="Helvetica Neue"/>
              </a:rPr>
              <a:t>◆  Proprietary and defensible. The agent layer is the part we will rewrite most often and depend on least.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8</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KEY COMPONENT · 1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Ledger substrate: append-only, bitemporal, fully attributed</a:t>
            </a:r>
          </a:p>
        </p:txBody>
      </p:sp>
      <p:sp>
        <p:nvSpPr>
          <p:cNvPr id="5" name="TextBox 4"/>
          <p:cNvSpPr txBox="1"/>
          <p:nvPr/>
        </p:nvSpPr>
        <p:spPr>
          <a:xfrm>
            <a:off x="658368" y="1737360"/>
            <a:ext cx="10332720" cy="640080"/>
          </a:xfrm>
          <a:prstGeom prst="rect">
            <a:avLst/>
          </a:prstGeom>
          <a:noFill/>
        </p:spPr>
        <p:txBody>
          <a:bodyPr wrap="square" anchor="t" lIns="0" rIns="0" tIns="0" bIns="0">
            <a:spAutoFit/>
          </a:bodyPr>
          <a:lstStyle/>
          <a:p>
            <a:pPr algn="l">
              <a:lnSpc>
                <a:spcPct val="135000"/>
              </a:lnSpc>
              <a:spcAft>
                <a:spcPts val="600"/>
              </a:spcAft>
            </a:pPr>
            <a:r>
              <a:rPr sz="1450" b="0" i="0">
                <a:solidFill>
                  <a:srgbClr val="333E4F"/>
                </a:solidFill>
                <a:latin typeface="Helvetica Neue"/>
              </a:rPr>
              <a:t>Ordinary software updates a row and moves on. Three requirements that no accounting package we use has make that impossible for us — and all three are schema decisions, so all three must be made on day one. They cannot be retrofitted.</a:t>
            </a:r>
          </a:p>
        </p:txBody>
      </p:sp>
      <p:sp>
        <p:nvSpPr>
          <p:cNvPr id="6" name="TextBox 5"/>
          <p:cNvSpPr txBox="1"/>
          <p:nvPr/>
        </p:nvSpPr>
        <p:spPr>
          <a:xfrm>
            <a:off x="658368" y="2542032"/>
            <a:ext cx="6766560" cy="3566160"/>
          </a:xfrm>
          <a:prstGeom prst="rect">
            <a:avLst/>
          </a:prstGeom>
          <a:noFill/>
        </p:spPr>
        <p:txBody>
          <a:bodyPr wrap="square" lIns="0" rIns="0" tIns="0" bIns="0">
            <a:spAutoFit/>
          </a:bodyPr>
          <a:lstStyle/>
          <a:p>
            <a:pPr>
              <a:lnSpc>
                <a:spcPct val="128000"/>
              </a:lnSpc>
              <a:spcBef>
                <a:spcPts val="1400"/>
              </a:spcBef>
              <a:spcAft>
                <a:spcPts val="200"/>
              </a:spcAft>
            </a:pPr>
            <a:r>
              <a:rPr sz="1350" b="1">
                <a:solidFill>
                  <a:srgbClr val="111A27"/>
                </a:solidFill>
                <a:latin typeface="Helvetica Neue"/>
              </a:rPr>
              <a:t>Bitemporality — booking date versus effective date</a:t>
            </a:r>
          </a:p>
          <a:p>
            <a:pPr>
              <a:lnSpc>
                <a:spcPct val="128000"/>
              </a:lnSpc>
              <a:spcAft>
                <a:spcPts val="900"/>
              </a:spcAft>
            </a:pPr>
            <a:r>
              <a:rPr sz="1350">
                <a:solidFill>
                  <a:srgbClr val="333E4F"/>
                </a:solidFill>
                <a:latin typeface="Helvetica Neue"/>
              </a:rPr>
              <a:t>— We must be able to answer "what did the books say as of 31 March?" for review and for audit. Critically, it is also what lets us replay an agent against a historical period and score it. Our entire eval capability depends on this one schema choice.</a:t>
            </a:r>
          </a:p>
          <a:p>
            <a:pPr>
              <a:lnSpc>
                <a:spcPct val="128000"/>
              </a:lnSpc>
              <a:spcBef>
                <a:spcPts val="1400"/>
              </a:spcBef>
              <a:spcAft>
                <a:spcPts val="200"/>
              </a:spcAft>
            </a:pPr>
            <a:r>
              <a:rPr sz="1350" b="1">
                <a:solidFill>
                  <a:srgbClr val="111A27"/>
                </a:solidFill>
                <a:latin typeface="Helvetica Neue"/>
              </a:rPr>
              <a:t>Immutability — corrections are reversing entries, never updates</a:t>
            </a:r>
          </a:p>
          <a:p>
            <a:pPr>
              <a:lnSpc>
                <a:spcPct val="128000"/>
              </a:lnSpc>
              <a:spcAft>
                <a:spcPts val="900"/>
              </a:spcAft>
            </a:pPr>
            <a:r>
              <a:rPr sz="1350">
                <a:solidFill>
                  <a:srgbClr val="333E4F"/>
                </a:solidFill>
                <a:latin typeface="Helvetica Neue"/>
              </a:rPr>
              <a:t>— A mutable ledger cannot be explained after the fact, and an agent that can silently overwrite is not defensible at any price.</a:t>
            </a:r>
          </a:p>
          <a:p>
            <a:pPr>
              <a:lnSpc>
                <a:spcPct val="128000"/>
              </a:lnSpc>
              <a:spcBef>
                <a:spcPts val="1400"/>
              </a:spcBef>
              <a:spcAft>
                <a:spcPts val="200"/>
              </a:spcAft>
            </a:pPr>
            <a:r>
              <a:rPr sz="1350" b="1">
                <a:solidFill>
                  <a:srgbClr val="111A27"/>
                </a:solidFill>
                <a:latin typeface="Helvetica Neue"/>
              </a:rPr>
              <a:t>Provenance as a first-class, queryable chain</a:t>
            </a:r>
          </a:p>
          <a:p>
            <a:pPr>
              <a:lnSpc>
                <a:spcPct val="128000"/>
              </a:lnSpc>
              <a:spcAft>
                <a:spcPts val="900"/>
              </a:spcAft>
            </a:pPr>
            <a:r>
              <a:rPr sz="1350">
                <a:solidFill>
                  <a:srgbClr val="333E4F"/>
                </a:solidFill>
                <a:latin typeface="Helvetica Neue"/>
              </a:rPr>
              <a:t>— source document → extraction → reasoning trace → tool call → policy applied → approver → posting. In our current stack an audit log is a compliance artefact bolted on the side. Here it is load-bearing: it is how the work product gets defended.</a:t>
            </a:r>
          </a:p>
          <a:p>
            <a:pPr>
              <a:lnSpc>
                <a:spcPct val="128000"/>
              </a:lnSpc>
              <a:spcBef>
                <a:spcPts val="900"/>
              </a:spcBef>
              <a:spcAft>
                <a:spcPts val="200"/>
              </a:spcAft>
            </a:pPr>
            <a:r>
              <a:rPr sz="1150" i="1">
                <a:solidFill>
                  <a:srgbClr val="B45309"/>
                </a:solidFill>
                <a:latin typeface="Helvetica Neue"/>
              </a:rPr>
              <a:t>Every actor is typed — human, agent or system — with the agent's identity, model version and prompt revision recorded on the entry itself.</a:t>
            </a:r>
          </a:p>
        </p:txBody>
      </p:sp>
      <p:sp>
        <p:nvSpPr>
          <p:cNvPr id="7" name="Rounded Rectangle 6"/>
          <p:cNvSpPr/>
          <p:nvPr/>
        </p:nvSpPr>
        <p:spPr>
          <a:xfrm>
            <a:off x="7836408" y="2542032"/>
            <a:ext cx="3675887" cy="320040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92440" y="2743200"/>
            <a:ext cx="3154680" cy="274320"/>
          </a:xfrm>
          <a:prstGeom prst="rect">
            <a:avLst/>
          </a:prstGeom>
          <a:noFill/>
        </p:spPr>
        <p:txBody>
          <a:bodyPr wrap="square" anchor="t" lIns="0" rIns="0" tIns="0" bIns="0">
            <a:spAutoFit/>
          </a:bodyPr>
          <a:lstStyle/>
          <a:p>
            <a:pPr algn="l">
              <a:lnSpc>
                <a:spcPct val="125000"/>
              </a:lnSpc>
              <a:spcAft>
                <a:spcPts val="600"/>
              </a:spcAft>
            </a:pPr>
            <a:r>
              <a:rPr sz="1100" b="1" i="0">
                <a:solidFill>
                  <a:srgbClr val="6B7688"/>
                </a:solidFill>
                <a:latin typeface="Helvetica Neue"/>
              </a:rPr>
              <a:t>WHY THIS IS THE SLIDE THAT MATTERS</a:t>
            </a:r>
          </a:p>
        </p:txBody>
      </p:sp>
      <p:sp>
        <p:nvSpPr>
          <p:cNvPr id="9" name="TextBox 8"/>
          <p:cNvSpPr txBox="1"/>
          <p:nvPr/>
        </p:nvSpPr>
        <p:spPr>
          <a:xfrm>
            <a:off x="8092440" y="3090672"/>
            <a:ext cx="3154680" cy="246888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This is the layer a competitor cannot copy by copying our prompts.
It is also what decides whether we can defend this work to a peer reviewer, an auditor or a regulator. Engagements die on "show me how this entry was produced", and that is answerable only if it was designed for at the schema level.
Roughly [15–20]% of engineering effort, and almost none of the demo.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9</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KEY COMPONENT · 2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Tool layer: an interface for an unknown reasoner</a:t>
            </a:r>
          </a:p>
        </p:txBody>
      </p:sp>
      <p:sp>
        <p:nvSpPr>
          <p:cNvPr id="5" name="TextBox 4"/>
          <p:cNvSpPr txBox="1"/>
          <p:nvPr/>
        </p:nvSpPr>
        <p:spPr>
          <a:xfrm>
            <a:off x="658368" y="1737360"/>
            <a:ext cx="10332720" cy="594360"/>
          </a:xfrm>
          <a:prstGeom prst="rect">
            <a:avLst/>
          </a:prstGeom>
          <a:noFill/>
        </p:spPr>
        <p:txBody>
          <a:bodyPr wrap="square" anchor="t" lIns="0" rIns="0" tIns="0" bIns="0">
            <a:spAutoFit/>
          </a:bodyPr>
          <a:lstStyle/>
          <a:p>
            <a:pPr algn="l">
              <a:lnSpc>
                <a:spcPct val="135000"/>
              </a:lnSpc>
              <a:spcAft>
                <a:spcPts val="600"/>
              </a:spcAft>
            </a:pPr>
            <a:r>
              <a:rPr sz="1450" b="0" i="0">
                <a:solidFill>
                  <a:srgbClr val="333E4F"/>
                </a:solidFill>
                <a:latin typeface="Helvetica Neue"/>
              </a:rPr>
              <a:t>This is not a REST API with a different name. A REST API assumes a client that already knows what it wants. A tool interface assumes a capable, confident, occasionally wrong caller. Five things differ:</a:t>
            </a:r>
          </a:p>
        </p:txBody>
      </p:sp>
      <p:sp>
        <p:nvSpPr>
          <p:cNvPr id="6" name="TextBox 5"/>
          <p:cNvSpPr txBox="1"/>
          <p:nvPr/>
        </p:nvSpPr>
        <p:spPr>
          <a:xfrm>
            <a:off x="658368" y="2487168"/>
            <a:ext cx="6766560" cy="3657600"/>
          </a:xfrm>
          <a:prstGeom prst="rect">
            <a:avLst/>
          </a:prstGeom>
          <a:noFill/>
        </p:spPr>
        <p:txBody>
          <a:bodyPr wrap="square" lIns="0" rIns="0" tIns="0" bIns="0">
            <a:spAutoFit/>
          </a:bodyPr>
          <a:lstStyle/>
          <a:p>
            <a:pPr>
              <a:lnSpc>
                <a:spcPct val="128000"/>
              </a:lnSpc>
              <a:spcBef>
                <a:spcPts val="1200"/>
              </a:spcBef>
              <a:spcAft>
                <a:spcPts val="200"/>
              </a:spcAft>
            </a:pPr>
            <a:r>
              <a:rPr sz="1350" b="1">
                <a:solidFill>
                  <a:srgbClr val="111A27"/>
                </a:solidFill>
                <a:latin typeface="Helvetica Neue"/>
              </a:rPr>
              <a:t>Errors must be instructive, because the agent reads them and retries.</a:t>
            </a:r>
          </a:p>
          <a:p>
            <a:pPr>
              <a:lnSpc>
                <a:spcPct val="128000"/>
              </a:lnSpc>
              <a:spcAft>
                <a:spcPts val="700"/>
              </a:spcAft>
            </a:pPr>
            <a:r>
              <a:rPr sz="1350">
                <a:solidFill>
                  <a:srgbClr val="333E4F"/>
                </a:solidFill>
                <a:latin typeface="Helvetica Neue"/>
              </a:rPr>
              <a:t>— "400 invalid" is worthless. "Entry unbalanced: debits 1,200.00, credits 1,150.00, difference 50.00" produces a retry that succeeds. Error-message quality is a functional requirement here, not a nicety.</a:t>
            </a:r>
          </a:p>
          <a:p>
            <a:pPr>
              <a:lnSpc>
                <a:spcPct val="128000"/>
              </a:lnSpc>
              <a:spcBef>
                <a:spcPts val="1200"/>
              </a:spcBef>
              <a:spcAft>
                <a:spcPts val="200"/>
              </a:spcAft>
            </a:pPr>
            <a:r>
              <a:rPr sz="1350" b="1">
                <a:solidFill>
                  <a:srgbClr val="111A27"/>
                </a:solidFill>
                <a:latin typeface="Helvetica Neue"/>
              </a:rPr>
              <a:t>The tool owns the invariant — not the caller.</a:t>
            </a:r>
          </a:p>
          <a:p>
            <a:pPr>
              <a:lnSpc>
                <a:spcPct val="128000"/>
              </a:lnSpc>
              <a:spcAft>
                <a:spcPts val="700"/>
              </a:spcAft>
            </a:pPr>
            <a:r>
              <a:rPr sz="1350">
                <a:solidFill>
                  <a:srgbClr val="333E4F"/>
                </a:solidFill>
                <a:latin typeface="Helvetica Neue"/>
              </a:rPr>
              <a:t>— Normally you trust your own frontend to send sane data. We invert that: every tool assumes a wrong caller and enforces balance, period locks and permissions itself.</a:t>
            </a:r>
          </a:p>
          <a:p>
            <a:pPr>
              <a:lnSpc>
                <a:spcPct val="128000"/>
              </a:lnSpc>
              <a:spcBef>
                <a:spcPts val="1200"/>
              </a:spcBef>
              <a:spcAft>
                <a:spcPts val="200"/>
              </a:spcAft>
            </a:pPr>
            <a:r>
              <a:rPr sz="1350" b="1">
                <a:solidFill>
                  <a:srgbClr val="111A27"/>
                </a:solidFill>
                <a:latin typeface="Helvetica Neue"/>
              </a:rPr>
              <a:t>Idempotency is mandatory, because agents retry.</a:t>
            </a:r>
          </a:p>
          <a:p>
            <a:pPr>
              <a:lnSpc>
                <a:spcPct val="128000"/>
              </a:lnSpc>
              <a:spcBef>
                <a:spcPts val="1200"/>
              </a:spcBef>
              <a:spcAft>
                <a:spcPts val="200"/>
              </a:spcAft>
            </a:pPr>
            <a:r>
              <a:rPr sz="1350" b="1">
                <a:solidFill>
                  <a:srgbClr val="111A27"/>
                </a:solidFill>
                <a:latin typeface="Helvetica Neue"/>
              </a:rPr>
              <a:t>Granularity is a genuine tradeoff.</a:t>
            </a:r>
          </a:p>
          <a:p>
            <a:pPr>
              <a:lnSpc>
                <a:spcPct val="128000"/>
              </a:lnSpc>
              <a:spcAft>
                <a:spcPts val="700"/>
              </a:spcAft>
            </a:pPr>
            <a:r>
              <a:rPr sz="1350">
                <a:solidFill>
                  <a:srgbClr val="333E4F"/>
                </a:solidFill>
                <a:latin typeface="Helvetica Neue"/>
              </a:rPr>
              <a:t>— Too fine and the agent burns forty calls and loses the thread; too coarse and it cannot express intent. Expect to iterate — we have.</a:t>
            </a:r>
          </a:p>
          <a:p>
            <a:pPr>
              <a:lnSpc>
                <a:spcPct val="128000"/>
              </a:lnSpc>
              <a:spcBef>
                <a:spcPts val="1200"/>
              </a:spcBef>
              <a:spcAft>
                <a:spcPts val="200"/>
              </a:spcAft>
            </a:pPr>
            <a:r>
              <a:rPr sz="1350" b="1">
                <a:solidFill>
                  <a:srgbClr val="111A27"/>
                </a:solidFill>
                <a:latin typeface="Helvetica Neue"/>
              </a:rPr>
              <a:t>The surface must stay small and discoverable. Context is a scarce resource; you cannot expose four hundred endpoints to a reasoner.</a:t>
            </a:r>
          </a:p>
        </p:txBody>
      </p:sp>
      <p:sp>
        <p:nvSpPr>
          <p:cNvPr id="7" name="Rounded Rectangle 6"/>
          <p:cNvSpPr/>
          <p:nvPr/>
        </p:nvSpPr>
        <p:spPr>
          <a:xfrm>
            <a:off x="7836408" y="2487168"/>
            <a:ext cx="3675887" cy="2103120"/>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92440" y="2688336"/>
            <a:ext cx="3154680" cy="274320"/>
          </a:xfrm>
          <a:prstGeom prst="rect">
            <a:avLst/>
          </a:prstGeom>
          <a:noFill/>
        </p:spPr>
        <p:txBody>
          <a:bodyPr wrap="square" anchor="t" lIns="0" rIns="0" tIns="0" bIns="0">
            <a:spAutoFit/>
          </a:bodyPr>
          <a:lstStyle/>
          <a:p>
            <a:pPr algn="l">
              <a:lnSpc>
                <a:spcPct val="125000"/>
              </a:lnSpc>
              <a:spcAft>
                <a:spcPts val="600"/>
              </a:spcAft>
            </a:pPr>
            <a:r>
              <a:rPr sz="1100" b="1" i="0">
                <a:solidFill>
                  <a:srgbClr val="0A5366"/>
                </a:solidFill>
                <a:latin typeface="Helvetica Neue"/>
              </a:rPr>
              <a:t>THE RULE</a:t>
            </a:r>
          </a:p>
        </p:txBody>
      </p:sp>
      <p:sp>
        <p:nvSpPr>
          <p:cNvPr id="9" name="TextBox 8"/>
          <p:cNvSpPr txBox="1"/>
          <p:nvPr/>
        </p:nvSpPr>
        <p:spPr>
          <a:xfrm>
            <a:off x="8092440" y="3017520"/>
            <a:ext cx="3154680" cy="146304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The model never does arithmetic or applies a rule in its head.
Every state change is a typed tool call that validates itself and rejects bad input. The agent's job is choosing which tool with which arguments. The tool's job is being correct.</a:t>
            </a:r>
          </a:p>
        </p:txBody>
      </p:sp>
      <p:sp>
        <p:nvSpPr>
          <p:cNvPr id="10" name="Rounded Rectangle 9"/>
          <p:cNvSpPr/>
          <p:nvPr/>
        </p:nvSpPr>
        <p:spPr>
          <a:xfrm>
            <a:off x="7836408" y="4718304"/>
            <a:ext cx="3675887" cy="100584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92440" y="4956048"/>
            <a:ext cx="3154680" cy="640080"/>
          </a:xfrm>
          <a:prstGeom prst="rect">
            <a:avLst/>
          </a:prstGeom>
          <a:noFill/>
        </p:spPr>
        <p:txBody>
          <a:bodyPr wrap="square" anchor="t" lIns="0" rIns="0" tIns="0" bIns="0">
            <a:spAutoFit/>
          </a:bodyPr>
          <a:lstStyle/>
          <a:p>
            <a:pPr algn="l">
              <a:lnSpc>
                <a:spcPct val="130000"/>
              </a:lnSpc>
              <a:spcAft>
                <a:spcPts val="600"/>
              </a:spcAft>
            </a:pPr>
            <a:r>
              <a:rPr sz="1300" b="1" i="0">
                <a:solidFill>
                  <a:srgbClr val="111A27"/>
                </a:solidFill>
                <a:latin typeface="Helvetica Neue"/>
              </a:rPr>
              <a:t>The single highest-leverage design decision in the system.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10</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KEY COMPONENT · 3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Verification and confidence routing</a:t>
            </a:r>
          </a:p>
        </p:txBody>
      </p:sp>
      <p:sp>
        <p:nvSpPr>
          <p:cNvPr id="5" name="TextBox 4"/>
          <p:cNvSpPr txBox="1"/>
          <p:nvPr/>
        </p:nvSpPr>
        <p:spPr>
          <a:xfrm>
            <a:off x="658368" y="1719072"/>
            <a:ext cx="10424160" cy="457200"/>
          </a:xfrm>
          <a:prstGeom prst="rect">
            <a:avLst/>
          </a:prstGeom>
          <a:noFill/>
        </p:spPr>
        <p:txBody>
          <a:bodyPr wrap="square" anchor="t" lIns="0" rIns="0" tIns="0" bIns="0">
            <a:spAutoFit/>
          </a:bodyPr>
          <a:lstStyle/>
          <a:p>
            <a:pPr algn="l">
              <a:lnSpc>
                <a:spcPct val="135000"/>
              </a:lnSpc>
              <a:spcAft>
                <a:spcPts val="600"/>
              </a:spcAft>
            </a:pPr>
            <a:r>
              <a:rPr sz="1450" b="0" i="0">
                <a:solidFill>
                  <a:srgbClr val="333E4F"/>
                </a:solidFill>
                <a:latin typeface="Helvetica Neue"/>
              </a:rPr>
              <a:t>The biggest change from the software we use today: from syntactic validation — is this well-formed? — to semantic verification — is this well-formed answer correct?</a:t>
            </a:r>
          </a:p>
        </p:txBody>
      </p:sp>
      <p:sp>
        <p:nvSpPr>
          <p:cNvPr id="6" name="Rounded Rectangle 5"/>
          <p:cNvSpPr/>
          <p:nvPr/>
        </p:nvSpPr>
        <p:spPr>
          <a:xfrm>
            <a:off x="658368" y="2286000"/>
            <a:ext cx="3465576" cy="246888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6112" y="2496312"/>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Tier 1 · Hard invariants</a:t>
            </a:r>
          </a:p>
        </p:txBody>
      </p:sp>
      <p:sp>
        <p:nvSpPr>
          <p:cNvPr id="8" name="TextBox 7"/>
          <p:cNvSpPr txBox="1"/>
          <p:nvPr/>
        </p:nvSpPr>
        <p:spPr>
          <a:xfrm>
            <a:off x="896112" y="2880360"/>
            <a:ext cx="3008376" cy="178308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Deterministic, non-negotiable, run before anything commits. Balance, trial-balance ties, subledger-to-control ties, reconciliation delta, duplicate detection, period locks. A failure here is a hard block, never a warning.</a:t>
            </a:r>
          </a:p>
        </p:txBody>
      </p:sp>
      <p:sp>
        <p:nvSpPr>
          <p:cNvPr id="9" name="Rounded Rectangle 8"/>
          <p:cNvSpPr/>
          <p:nvPr/>
        </p:nvSpPr>
        <p:spPr>
          <a:xfrm>
            <a:off x="4379976" y="2286000"/>
            <a:ext cx="3465576" cy="246888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7720" y="2496312"/>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Tier 2 · Statistical checks</a:t>
            </a:r>
          </a:p>
        </p:txBody>
      </p:sp>
      <p:sp>
        <p:nvSpPr>
          <p:cNvPr id="11" name="TextBox 10"/>
          <p:cNvSpPr txBox="1"/>
          <p:nvPr/>
        </p:nvSpPr>
        <p:spPr>
          <a:xfrm>
            <a:off x="4617720" y="2880360"/>
            <a:ext cx="3008376" cy="178308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Variance against prior period, unusual vendor and account pairings, distributional anomalies. Catches the well-formed-but-wrong class that invariants pass. Produces a score, not a verdict.</a:t>
            </a:r>
          </a:p>
        </p:txBody>
      </p:sp>
      <p:sp>
        <p:nvSpPr>
          <p:cNvPr id="12" name="Rounded Rectangle 11"/>
          <p:cNvSpPr/>
          <p:nvPr/>
        </p:nvSpPr>
        <p:spPr>
          <a:xfrm>
            <a:off x="8101583" y="2286000"/>
            <a:ext cx="3465576" cy="246888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39327" y="2496312"/>
            <a:ext cx="3008376" cy="292608"/>
          </a:xfrm>
          <a:prstGeom prst="rect">
            <a:avLst/>
          </a:prstGeom>
          <a:noFill/>
        </p:spPr>
        <p:txBody>
          <a:bodyPr wrap="square" anchor="t" lIns="0" rIns="0" tIns="0" bIns="0">
            <a:spAutoFit/>
          </a:bodyPr>
          <a:lstStyle/>
          <a:p>
            <a:pPr algn="l">
              <a:lnSpc>
                <a:spcPct val="125000"/>
              </a:lnSpc>
              <a:spcAft>
                <a:spcPts val="600"/>
              </a:spcAft>
            </a:pPr>
            <a:r>
              <a:rPr sz="1350" b="1" i="0">
                <a:solidFill>
                  <a:srgbClr val="111A27"/>
                </a:solidFill>
                <a:latin typeface="Helvetica Neue"/>
              </a:rPr>
              <a:t>Tier 3 · Routing</a:t>
            </a:r>
          </a:p>
        </p:txBody>
      </p:sp>
      <p:sp>
        <p:nvSpPr>
          <p:cNvPr id="14" name="TextBox 13"/>
          <p:cNvSpPr txBox="1"/>
          <p:nvPr/>
        </p:nvSpPr>
        <p:spPr>
          <a:xfrm>
            <a:off x="8339327" y="2880360"/>
            <a:ext cx="3008376" cy="1783080"/>
          </a:xfrm>
          <a:prstGeom prst="rect">
            <a:avLst/>
          </a:prstGeom>
          <a:noFill/>
        </p:spPr>
        <p:txBody>
          <a:bodyPr wrap="square" anchor="t" lIns="0" rIns="0" tIns="0" bIns="0">
            <a:spAutoFit/>
          </a:bodyPr>
          <a:lstStyle/>
          <a:p>
            <a:pPr algn="l">
              <a:lnSpc>
                <a:spcPct val="140000"/>
              </a:lnSpc>
              <a:spcAft>
                <a:spcPts val="600"/>
              </a:spcAft>
            </a:pPr>
            <a:r>
              <a:rPr sz="1250" b="0" i="0">
                <a:solidFill>
                  <a:srgbClr val="333E4F"/>
                </a:solidFill>
                <a:latin typeface="Helvetica Neue"/>
              </a:rPr>
              <a:t>Above threshold: auto-post. Below: into the review queue with full context. Confidence is derived from verification signals and agreement between independent passes — never from asking the model how sure it is.</a:t>
            </a:r>
          </a:p>
        </p:txBody>
      </p:sp>
      <p:sp>
        <p:nvSpPr>
          <p:cNvPr id="15" name="Rounded Rectangle 14"/>
          <p:cNvSpPr/>
          <p:nvPr/>
        </p:nvSpPr>
        <p:spPr>
          <a:xfrm>
            <a:off x="658368" y="4956048"/>
            <a:ext cx="6035040" cy="1325880"/>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5138928"/>
            <a:ext cx="5486400" cy="548640"/>
          </a:xfrm>
          <a:prstGeom prst="rect">
            <a:avLst/>
          </a:prstGeom>
          <a:noFill/>
        </p:spPr>
        <p:txBody>
          <a:bodyPr wrap="square" anchor="t" lIns="0" rIns="0" tIns="0" bIns="0">
            <a:spAutoFit/>
          </a:bodyPr>
          <a:lstStyle/>
          <a:p>
            <a:pPr algn="l">
              <a:lnSpc>
                <a:spcPct val="130000"/>
              </a:lnSpc>
              <a:spcAft>
                <a:spcPts val="600"/>
              </a:spcAft>
            </a:pPr>
            <a:r>
              <a:rPr sz="1350" b="1" i="0">
                <a:solidFill>
                  <a:srgbClr val="111A27"/>
                </a:solidFill>
                <a:latin typeface="Helvetica Neue"/>
              </a:rPr>
              <a:t>Models are badly calibrated and reliably overconfident. Asking one for a confidence score is not a control.</a:t>
            </a:r>
          </a:p>
        </p:txBody>
      </p:sp>
      <p:sp>
        <p:nvSpPr>
          <p:cNvPr id="17" name="TextBox 16"/>
          <p:cNvSpPr txBox="1"/>
          <p:nvPr/>
        </p:nvSpPr>
        <p:spPr>
          <a:xfrm>
            <a:off x="932688" y="5705856"/>
            <a:ext cx="5486400" cy="457200"/>
          </a:xfrm>
          <a:prstGeom prst="rect">
            <a:avLst/>
          </a:prstGeom>
          <a:noFill/>
        </p:spPr>
        <p:txBody>
          <a:bodyPr wrap="square" anchor="t" lIns="0" rIns="0" tIns="0" bIns="0">
            <a:spAutoFit/>
          </a:bodyPr>
          <a:lstStyle/>
          <a:p>
            <a:pPr algn="l">
              <a:lnSpc>
                <a:spcPct val="135000"/>
              </a:lnSpc>
              <a:spcAft>
                <a:spcPts val="600"/>
              </a:spcAft>
            </a:pPr>
            <a:r>
              <a:rPr sz="1200" b="0" i="0">
                <a:solidFill>
                  <a:srgbClr val="333E4F"/>
                </a:solidFill>
                <a:latin typeface="Helvetica Neue"/>
              </a:rPr>
              <a:t>We derive confidence from tier-1 and tier-2 signals and from agreement between independent passes, then calibrate against known outcomes.</a:t>
            </a:r>
          </a:p>
        </p:txBody>
      </p:sp>
      <p:sp>
        <p:nvSpPr>
          <p:cNvPr id="18" name="Rounded Rectangle 17"/>
          <p:cNvSpPr/>
          <p:nvPr/>
        </p:nvSpPr>
        <p:spPr>
          <a:xfrm>
            <a:off x="6967728" y="4956048"/>
            <a:ext cx="4572000" cy="1325880"/>
          </a:xfrm>
          <a:prstGeom prst="roundRect">
            <a:avLst>
              <a:gd name="adj" fmla="val 4000"/>
            </a:avLst>
          </a:prstGeom>
          <a:solidFill>
            <a:srgbClr val="FA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23759" y="5120640"/>
            <a:ext cx="4069080" cy="256032"/>
          </a:xfrm>
          <a:prstGeom prst="rect">
            <a:avLst/>
          </a:prstGeom>
          <a:noFill/>
        </p:spPr>
        <p:txBody>
          <a:bodyPr wrap="square" anchor="t" lIns="0" rIns="0" tIns="0" bIns="0">
            <a:spAutoFit/>
          </a:bodyPr>
          <a:lstStyle/>
          <a:p>
            <a:pPr algn="l">
              <a:lnSpc>
                <a:spcPct val="125000"/>
              </a:lnSpc>
              <a:spcAft>
                <a:spcPts val="600"/>
              </a:spcAft>
            </a:pPr>
            <a:r>
              <a:rPr sz="1100" b="1" i="0">
                <a:solidFill>
                  <a:srgbClr val="B45309"/>
                </a:solidFill>
                <a:latin typeface="Helvetica Neue"/>
              </a:rPr>
              <a:t>THE THRESHOLD IS THE BUSINESS CASE</a:t>
            </a:r>
          </a:p>
        </p:txBody>
      </p:sp>
      <p:sp>
        <p:nvSpPr>
          <p:cNvPr id="20" name="TextBox 19"/>
          <p:cNvSpPr txBox="1"/>
          <p:nvPr/>
        </p:nvSpPr>
        <p:spPr>
          <a:xfrm>
            <a:off x="7223759" y="5413248"/>
            <a:ext cx="4069080" cy="777240"/>
          </a:xfrm>
          <a:prstGeom prst="rect">
            <a:avLst/>
          </a:prstGeom>
          <a:noFill/>
        </p:spPr>
        <p:txBody>
          <a:bodyPr wrap="square" anchor="t" lIns="0" rIns="0" tIns="0" bIns="0">
            <a:spAutoFit/>
          </a:bodyPr>
          <a:lstStyle/>
          <a:p>
            <a:pPr algn="l">
              <a:lnSpc>
                <a:spcPct val="138000"/>
              </a:lnSpc>
              <a:spcAft>
                <a:spcPts val="600"/>
              </a:spcAft>
            </a:pPr>
            <a:r>
              <a:rPr sz="1200" b="0" i="0">
                <a:solidFill>
                  <a:srgbClr val="7A3B08"/>
                </a:solidFill>
                <a:latin typeface="Helvetica Neue"/>
              </a:rPr>
              <a:t>Move it up and hours fall but error risk rises; move it down and we have automated nothing. The entire engineering programme is raising it safely, per category, with the movement measured.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11</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KEY COMPONENT · 4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Evals and replay: turning our archive into a measurement system</a:t>
            </a:r>
          </a:p>
        </p:txBody>
      </p:sp>
      <p:sp>
        <p:nvSpPr>
          <p:cNvPr id="5" name="TextBox 4"/>
          <p:cNvSpPr txBox="1"/>
          <p:nvPr/>
        </p:nvSpPr>
        <p:spPr>
          <a:xfrm>
            <a:off x="658368" y="1737360"/>
            <a:ext cx="10332720" cy="640080"/>
          </a:xfrm>
          <a:prstGeom prst="rect">
            <a:avLst/>
          </a:prstGeom>
          <a:noFill/>
        </p:spPr>
        <p:txBody>
          <a:bodyPr wrap="square" anchor="t" lIns="0" rIns="0" tIns="0" bIns="0">
            <a:spAutoFit/>
          </a:bodyPr>
          <a:lstStyle/>
          <a:p>
            <a:pPr algn="l">
              <a:lnSpc>
                <a:spcPct val="135000"/>
              </a:lnSpc>
              <a:spcAft>
                <a:spcPts val="600"/>
              </a:spcAft>
            </a:pPr>
            <a:r>
              <a:rPr sz="1450" b="0" i="0">
                <a:solidFill>
                  <a:srgbClr val="333E4F"/>
                </a:solidFill>
                <a:latin typeface="Helvetica Neue"/>
              </a:rPr>
              <a:t>A normal software feature is correct or it is a bug. An agent capability has a distribution. You stop asking "does it work" and start asking "at what rate, on what input distribution, with what failure modes." That changes engineering practice more than anything else here.</a:t>
            </a:r>
          </a:p>
        </p:txBody>
      </p:sp>
      <p:sp>
        <p:nvSpPr>
          <p:cNvPr id="6" name="TextBox 5"/>
          <p:cNvSpPr txBox="1"/>
          <p:nvPr/>
        </p:nvSpPr>
        <p:spPr>
          <a:xfrm>
            <a:off x="658368" y="2542032"/>
            <a:ext cx="6766560" cy="3566160"/>
          </a:xfrm>
          <a:prstGeom prst="rect">
            <a:avLst/>
          </a:prstGeom>
          <a:noFill/>
        </p:spPr>
        <p:txBody>
          <a:bodyPr wrap="square" lIns="0" rIns="0" tIns="0" bIns="0">
            <a:spAutoFit/>
          </a:bodyPr>
          <a:lstStyle/>
          <a:p>
            <a:pPr>
              <a:lnSpc>
                <a:spcPct val="128000"/>
              </a:lnSpc>
              <a:spcBef>
                <a:spcPts val="1200"/>
              </a:spcBef>
              <a:spcAft>
                <a:spcPts val="200"/>
              </a:spcAft>
            </a:pPr>
            <a:r>
              <a:rPr sz="1350" b="1">
                <a:solidFill>
                  <a:srgbClr val="111A27"/>
                </a:solidFill>
                <a:latin typeface="Helvetica Neue"/>
              </a:rPr>
              <a:t>Ground truth comes from our own closed books.</a:t>
            </a:r>
          </a:p>
          <a:p>
            <a:pPr>
              <a:lnSpc>
                <a:spcPct val="128000"/>
              </a:lnSpc>
              <a:spcAft>
                <a:spcPts val="700"/>
              </a:spcAft>
            </a:pPr>
            <a:r>
              <a:rPr sz="1350">
                <a:solidFill>
                  <a:srgbClr val="333E4F"/>
                </a:solidFill>
                <a:latin typeface="Helvetica Neue"/>
              </a:rPr>
              <a:t>— We replay agents against historical periods and score against what our accountant actually did, then against what review corrected. No other party can assemble this corpus for our client mix.</a:t>
            </a:r>
          </a:p>
          <a:p>
            <a:pPr>
              <a:lnSpc>
                <a:spcPct val="128000"/>
              </a:lnSpc>
              <a:spcBef>
                <a:spcPts val="1200"/>
              </a:spcBef>
              <a:spcAft>
                <a:spcPts val="200"/>
              </a:spcAft>
            </a:pPr>
            <a:r>
              <a:rPr sz="1350" b="1">
                <a:solidFill>
                  <a:srgbClr val="111A27"/>
                </a:solidFill>
                <a:latin typeface="Helvetica Neue"/>
              </a:rPr>
              <a:t>CI contains statistical tests.</a:t>
            </a:r>
          </a:p>
          <a:p>
            <a:pPr>
              <a:lnSpc>
                <a:spcPct val="128000"/>
              </a:lnSpc>
              <a:spcAft>
                <a:spcPts val="700"/>
              </a:spcAft>
            </a:pPr>
            <a:r>
              <a:rPr sz="1350">
                <a:solidFill>
                  <a:srgbClr val="333E4F"/>
                </a:solidFill>
                <a:latin typeface="Helvetica Neue"/>
              </a:rPr>
              <a:t>— A two-point regression may be noise or a catastrophe, and only eval volume tells you which.</a:t>
            </a:r>
          </a:p>
          <a:p>
            <a:pPr>
              <a:lnSpc>
                <a:spcPct val="128000"/>
              </a:lnSpc>
              <a:spcBef>
                <a:spcPts val="1200"/>
              </a:spcBef>
              <a:spcAft>
                <a:spcPts val="200"/>
              </a:spcAft>
            </a:pPr>
            <a:r>
              <a:rPr sz="1350" b="1">
                <a:solidFill>
                  <a:srgbClr val="111A27"/>
                </a:solidFill>
                <a:latin typeface="Helvetica Neue"/>
              </a:rPr>
              <a:t>Bug reports are not reproducible.</a:t>
            </a:r>
          </a:p>
          <a:p>
            <a:pPr>
              <a:lnSpc>
                <a:spcPct val="128000"/>
              </a:lnSpc>
              <a:spcAft>
                <a:spcPts val="700"/>
              </a:spcAft>
            </a:pPr>
            <a:r>
              <a:rPr sz="1350">
                <a:solidFill>
                  <a:srgbClr val="333E4F"/>
                </a:solidFill>
                <a:latin typeface="Helvetica Neue"/>
              </a:rPr>
              <a:t>— Full trace capture on every run — prompt, context, tool calls, model version — or we are blind in production.</a:t>
            </a:r>
          </a:p>
          <a:p>
            <a:pPr>
              <a:lnSpc>
                <a:spcPct val="128000"/>
              </a:lnSpc>
              <a:spcBef>
                <a:spcPts val="1200"/>
              </a:spcBef>
              <a:spcAft>
                <a:spcPts val="200"/>
              </a:spcAft>
            </a:pPr>
            <a:r>
              <a:rPr sz="1350" b="1">
                <a:solidFill>
                  <a:srgbClr val="111A27"/>
                </a:solidFill>
                <a:latin typeface="Helvetica Neue"/>
              </a:rPr>
              <a:t>Model upgrades are breaking changes to behaviour we never specified.</a:t>
            </a:r>
          </a:p>
          <a:p>
            <a:pPr>
              <a:lnSpc>
                <a:spcPct val="128000"/>
              </a:lnSpc>
              <a:spcAft>
                <a:spcPts val="700"/>
              </a:spcAft>
            </a:pPr>
            <a:r>
              <a:rPr sz="1350">
                <a:solidFill>
                  <a:srgbClr val="333E4F"/>
                </a:solidFill>
                <a:latin typeface="Helvetica Neue"/>
              </a:rPr>
              <a:t>— Version-pin, shadow-eval every candidate model against the corpus before any swap, keep a fallback. A standing pipeline, not a project.</a:t>
            </a:r>
          </a:p>
        </p:txBody>
      </p:sp>
      <p:sp>
        <p:nvSpPr>
          <p:cNvPr id="7" name="Rounded Rectangle 6"/>
          <p:cNvSpPr/>
          <p:nvPr/>
        </p:nvSpPr>
        <p:spPr>
          <a:xfrm>
            <a:off x="7836408" y="2542032"/>
            <a:ext cx="3675887" cy="315468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92440" y="2743200"/>
            <a:ext cx="3154680" cy="274320"/>
          </a:xfrm>
          <a:prstGeom prst="rect">
            <a:avLst/>
          </a:prstGeom>
          <a:noFill/>
        </p:spPr>
        <p:txBody>
          <a:bodyPr wrap="square" anchor="t" lIns="0" rIns="0" tIns="0" bIns="0">
            <a:spAutoFit/>
          </a:bodyPr>
          <a:lstStyle/>
          <a:p>
            <a:pPr algn="l">
              <a:lnSpc>
                <a:spcPct val="125000"/>
              </a:lnSpc>
              <a:spcAft>
                <a:spcPts val="600"/>
              </a:spcAft>
            </a:pPr>
            <a:r>
              <a:rPr sz="1100" b="1" i="0">
                <a:solidFill>
                  <a:srgbClr val="B45309"/>
                </a:solidFill>
                <a:latin typeface="Helvetica Neue"/>
              </a:rPr>
              <a:t>THE REPORTING UNIT CHANGES</a:t>
            </a:r>
          </a:p>
        </p:txBody>
      </p:sp>
      <p:sp>
        <p:nvSpPr>
          <p:cNvPr id="9" name="TextBox 8"/>
          <p:cNvSpPr txBox="1"/>
          <p:nvPr/>
        </p:nvSpPr>
        <p:spPr>
          <a:xfrm>
            <a:off x="8092440" y="3090672"/>
            <a:ext cx="3154680" cy="2423160"/>
          </a:xfrm>
          <a:prstGeom prst="rect">
            <a:avLst/>
          </a:prstGeom>
          <a:noFill/>
        </p:spPr>
        <p:txBody>
          <a:bodyPr wrap="square" anchor="t" lIns="0" rIns="0" tIns="0" bIns="0">
            <a:spAutoFit/>
          </a:bodyPr>
          <a:lstStyle/>
          <a:p>
            <a:pPr algn="l">
              <a:lnSpc>
                <a:spcPct val="142000"/>
              </a:lnSpc>
              <a:spcAft>
                <a:spcPts val="600"/>
              </a:spcAft>
            </a:pPr>
            <a:r>
              <a:rPr sz="1250" b="0" i="0">
                <a:solidFill>
                  <a:srgbClr val="333E4F"/>
                </a:solidFill>
                <a:latin typeface="Helvetica Neue"/>
              </a:rPr>
              <a:t>Software roadmaps list features.
Ours lists accuracy on a category:
"raise auto-post rate on the ambiguous-vendor bucket from 71% to 88%."
Different planning, different staffing, and a roadmap whose progress is measured rather than asserted — which is also how we intend to report to a board.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12</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TECHNICAL RISK</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The two hard problems, stated plainly</a:t>
            </a:r>
          </a:p>
        </p:txBody>
      </p:sp>
      <p:sp>
        <p:nvSpPr>
          <p:cNvPr id="5" name="Rounded Rectangle 4"/>
          <p:cNvSpPr/>
          <p:nvPr/>
        </p:nvSpPr>
        <p:spPr>
          <a:xfrm>
            <a:off x="658368" y="1828800"/>
            <a:ext cx="5294376" cy="393192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048256"/>
            <a:ext cx="4754880" cy="320040"/>
          </a:xfrm>
          <a:prstGeom prst="rect">
            <a:avLst/>
          </a:prstGeom>
          <a:noFill/>
        </p:spPr>
        <p:txBody>
          <a:bodyPr wrap="square" anchor="t" lIns="0" rIns="0" tIns="0" bIns="0">
            <a:spAutoFit/>
          </a:bodyPr>
          <a:lstStyle/>
          <a:p>
            <a:pPr algn="l">
              <a:lnSpc>
                <a:spcPct val="125000"/>
              </a:lnSpc>
              <a:spcAft>
                <a:spcPts val="600"/>
              </a:spcAft>
            </a:pPr>
            <a:r>
              <a:rPr sz="1700" b="1" i="0">
                <a:solidFill>
                  <a:srgbClr val="111A27"/>
                </a:solidFill>
                <a:latin typeface="Helvetica Neue"/>
              </a:rPr>
              <a:t>1 · Reliability compounds badly</a:t>
            </a:r>
          </a:p>
        </p:txBody>
      </p:sp>
      <p:sp>
        <p:nvSpPr>
          <p:cNvPr id="7" name="TextBox 6"/>
          <p:cNvSpPr txBox="1"/>
          <p:nvPr/>
        </p:nvSpPr>
        <p:spPr>
          <a:xfrm>
            <a:off x="932688" y="2450592"/>
            <a:ext cx="4754880" cy="502920"/>
          </a:xfrm>
          <a:prstGeom prst="rect">
            <a:avLst/>
          </a:prstGeom>
          <a:noFill/>
        </p:spPr>
        <p:txBody>
          <a:bodyPr wrap="square" anchor="t" lIns="0" rIns="0" tIns="0" bIns="0">
            <a:spAutoFit/>
          </a:bodyPr>
          <a:lstStyle/>
          <a:p>
            <a:pPr algn="l">
              <a:lnSpc>
                <a:spcPct val="125000"/>
              </a:lnSpc>
              <a:spcAft>
                <a:spcPts val="600"/>
              </a:spcAft>
            </a:pPr>
            <a:r>
              <a:rPr sz="1500" b="1" i="0">
                <a:solidFill>
                  <a:srgbClr val="B45309"/>
                </a:solidFill>
                <a:latin typeface="Helvetica Neue"/>
              </a:rPr>
              <a:t>95% per step across 20 steps is 36% end-to-end.</a:t>
            </a:r>
          </a:p>
        </p:txBody>
      </p:sp>
      <p:sp>
        <p:nvSpPr>
          <p:cNvPr id="8" name="TextBox 7"/>
          <p:cNvSpPr txBox="1"/>
          <p:nvPr/>
        </p:nvSpPr>
        <p:spPr>
          <a:xfrm>
            <a:off x="932688" y="2980944"/>
            <a:ext cx="4754880" cy="548640"/>
          </a:xfrm>
          <a:prstGeom prst="rect">
            <a:avLst/>
          </a:prstGeom>
          <a:noFill/>
        </p:spPr>
        <p:txBody>
          <a:bodyPr wrap="square" anchor="t" lIns="0" rIns="0" tIns="0" bIns="0">
            <a:spAutoFit/>
          </a:bodyPr>
          <a:lstStyle/>
          <a:p>
            <a:pPr algn="l">
              <a:lnSpc>
                <a:spcPct val="135000"/>
              </a:lnSpc>
              <a:spcAft>
                <a:spcPts val="600"/>
              </a:spcAft>
            </a:pPr>
            <a:r>
              <a:rPr sz="1300" b="0" i="0">
                <a:solidFill>
                  <a:srgbClr val="333E4F"/>
                </a:solidFill>
                <a:latin typeface="Helvetica Neue"/>
              </a:rPr>
              <a:t>The central engineering problem of the category, and no prompt fixes it. The only real answer is architectural:</a:t>
            </a:r>
          </a:p>
        </p:txBody>
      </p:sp>
      <p:sp>
        <p:nvSpPr>
          <p:cNvPr id="9" name="TextBox 8"/>
          <p:cNvSpPr txBox="1"/>
          <p:nvPr/>
        </p:nvSpPr>
        <p:spPr>
          <a:xfrm>
            <a:off x="932688" y="3639312"/>
            <a:ext cx="4754880" cy="1645920"/>
          </a:xfrm>
          <a:prstGeom prst="rect">
            <a:avLst/>
          </a:prstGeom>
          <a:noFill/>
        </p:spPr>
        <p:txBody>
          <a:bodyPr wrap="square" lIns="0" rIns="0" tIns="0" bIns="0">
            <a:spAutoFit/>
          </a:bodyPr>
          <a:lstStyle/>
          <a:p>
            <a:pPr>
              <a:lnSpc>
                <a:spcPct val="128000"/>
              </a:lnSpc>
              <a:spcAft>
                <a:spcPts val="600"/>
              </a:spcAft>
            </a:pPr>
            <a:r>
              <a:rPr sz="1250">
                <a:solidFill>
                  <a:srgbClr val="333E4F"/>
                </a:solidFill>
                <a:latin typeface="Helvetica Neue"/>
              </a:rPr>
              <a:t>— Shorten agentic spans; keep deterministic orchestration between them</a:t>
            </a:r>
          </a:p>
          <a:p>
            <a:pPr>
              <a:lnSpc>
                <a:spcPct val="128000"/>
              </a:lnSpc>
              <a:spcAft>
                <a:spcPts val="600"/>
              </a:spcAft>
            </a:pPr>
            <a:r>
              <a:rPr sz="1250">
                <a:solidFill>
                  <a:srgbClr val="333E4F"/>
                </a:solidFill>
                <a:latin typeface="Helvetica Neue"/>
              </a:rPr>
              <a:t>— Make every step independently verifiable</a:t>
            </a:r>
          </a:p>
          <a:p>
            <a:pPr>
              <a:lnSpc>
                <a:spcPct val="128000"/>
              </a:lnSpc>
              <a:spcAft>
                <a:spcPts val="600"/>
              </a:spcAft>
            </a:pPr>
            <a:r>
              <a:rPr sz="1250">
                <a:solidFill>
                  <a:srgbClr val="333E4F"/>
                </a:solidFill>
                <a:latin typeface="Helvetica Neue"/>
              </a:rPr>
              <a:t>— Gate before commit, always</a:t>
            </a:r>
          </a:p>
          <a:p>
            <a:pPr>
              <a:lnSpc>
                <a:spcPct val="128000"/>
              </a:lnSpc>
              <a:spcAft>
                <a:spcPts val="600"/>
              </a:spcAft>
            </a:pPr>
            <a:r>
              <a:rPr sz="1250">
                <a:solidFill>
                  <a:srgbClr val="333E4F"/>
                </a:solidFill>
                <a:latin typeface="Helvetica Neue"/>
              </a:rPr>
              <a:t>— Prefer many short verified hops to one long autonomous chain</a:t>
            </a:r>
          </a:p>
        </p:txBody>
      </p:sp>
      <p:sp>
        <p:nvSpPr>
          <p:cNvPr id="10" name="TextBox 9"/>
          <p:cNvSpPr txBox="1"/>
          <p:nvPr/>
        </p:nvSpPr>
        <p:spPr>
          <a:xfrm>
            <a:off x="932688" y="5120640"/>
            <a:ext cx="4754880" cy="548640"/>
          </a:xfrm>
          <a:prstGeom prst="rect">
            <a:avLst/>
          </a:prstGeom>
          <a:noFill/>
        </p:spPr>
        <p:txBody>
          <a:bodyPr wrap="square" anchor="t" lIns="0" rIns="0" tIns="0" bIns="0">
            <a:spAutoFit/>
          </a:bodyPr>
          <a:lstStyle/>
          <a:p>
            <a:pPr algn="l">
              <a:lnSpc>
                <a:spcPct val="135000"/>
              </a:lnSpc>
              <a:spcAft>
                <a:spcPts val="600"/>
              </a:spcAft>
            </a:pPr>
            <a:r>
              <a:rPr sz="1200" b="1" i="0">
                <a:solidFill>
                  <a:srgbClr val="B45309"/>
                </a:solidFill>
                <a:latin typeface="Helvetica Neue"/>
              </a:rPr>
              <a:t>Any plan assuming long autonomous chains without this will fail in production. Use it as a filter on anyone else you look at.</a:t>
            </a:r>
          </a:p>
        </p:txBody>
      </p:sp>
      <p:sp>
        <p:nvSpPr>
          <p:cNvPr id="11" name="Rounded Rectangle 10"/>
          <p:cNvSpPr/>
          <p:nvPr/>
        </p:nvSpPr>
        <p:spPr>
          <a:xfrm>
            <a:off x="6245352" y="1828800"/>
            <a:ext cx="5294376" cy="393192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19672" y="2048256"/>
            <a:ext cx="4754880" cy="320040"/>
          </a:xfrm>
          <a:prstGeom prst="rect">
            <a:avLst/>
          </a:prstGeom>
          <a:noFill/>
        </p:spPr>
        <p:txBody>
          <a:bodyPr wrap="square" anchor="t" lIns="0" rIns="0" tIns="0" bIns="0">
            <a:spAutoFit/>
          </a:bodyPr>
          <a:lstStyle/>
          <a:p>
            <a:pPr algn="l">
              <a:lnSpc>
                <a:spcPct val="125000"/>
              </a:lnSpc>
              <a:spcAft>
                <a:spcPts val="600"/>
              </a:spcAft>
            </a:pPr>
            <a:r>
              <a:rPr sz="1700" b="1" i="0">
                <a:solidFill>
                  <a:srgbClr val="111A27"/>
                </a:solidFill>
                <a:latin typeface="Helvetica Neue"/>
              </a:rPr>
              <a:t>2 · The security model inverts</a:t>
            </a:r>
          </a:p>
        </p:txBody>
      </p:sp>
      <p:sp>
        <p:nvSpPr>
          <p:cNvPr id="13" name="TextBox 12"/>
          <p:cNvSpPr txBox="1"/>
          <p:nvPr/>
        </p:nvSpPr>
        <p:spPr>
          <a:xfrm>
            <a:off x="6519672" y="2450592"/>
            <a:ext cx="4754880" cy="502920"/>
          </a:xfrm>
          <a:prstGeom prst="rect">
            <a:avLst/>
          </a:prstGeom>
          <a:noFill/>
        </p:spPr>
        <p:txBody>
          <a:bodyPr wrap="square" anchor="t" lIns="0" rIns="0" tIns="0" bIns="0">
            <a:spAutoFit/>
          </a:bodyPr>
          <a:lstStyle/>
          <a:p>
            <a:pPr algn="l">
              <a:lnSpc>
                <a:spcPct val="125000"/>
              </a:lnSpc>
              <a:spcAft>
                <a:spcPts val="600"/>
              </a:spcAft>
            </a:pPr>
            <a:r>
              <a:rPr sz="1500" b="1" i="0">
                <a:solidFill>
                  <a:srgbClr val="B45309"/>
                </a:solidFill>
                <a:latin typeface="Helvetica Neue"/>
              </a:rPr>
              <a:t>An actor with authority, taking instructions from untrusted content.</a:t>
            </a:r>
          </a:p>
        </p:txBody>
      </p:sp>
      <p:sp>
        <p:nvSpPr>
          <p:cNvPr id="14" name="TextBox 13"/>
          <p:cNvSpPr txBox="1"/>
          <p:nvPr/>
        </p:nvSpPr>
        <p:spPr>
          <a:xfrm>
            <a:off x="6519672" y="2980944"/>
            <a:ext cx="4754880" cy="822960"/>
          </a:xfrm>
          <a:prstGeom prst="rect">
            <a:avLst/>
          </a:prstGeom>
          <a:noFill/>
        </p:spPr>
        <p:txBody>
          <a:bodyPr wrap="square" anchor="t" lIns="0" rIns="0" tIns="0" bIns="0">
            <a:spAutoFit/>
          </a:bodyPr>
          <a:lstStyle/>
          <a:p>
            <a:pPr algn="l">
              <a:lnSpc>
                <a:spcPct val="135000"/>
              </a:lnSpc>
              <a:spcAft>
                <a:spcPts val="600"/>
              </a:spcAft>
            </a:pPr>
            <a:r>
              <a:rPr sz="1300" b="0" i="0">
                <a:solidFill>
                  <a:srgbClr val="333E4F"/>
                </a:solidFill>
                <a:latin typeface="Helvetica Neue"/>
              </a:rPr>
              <a:t>Normally code is trusted and users are untrusted. Our agent is neither — it acts with write authority while reading a vendor's PDF or an inbound email. A genuinely new vulnerability class, and our licence is what is exposed.</a:t>
            </a:r>
          </a:p>
        </p:txBody>
      </p:sp>
      <p:sp>
        <p:nvSpPr>
          <p:cNvPr id="15" name="TextBox 14"/>
          <p:cNvSpPr txBox="1"/>
          <p:nvPr/>
        </p:nvSpPr>
        <p:spPr>
          <a:xfrm>
            <a:off x="6519672" y="3913632"/>
            <a:ext cx="4754880" cy="1645920"/>
          </a:xfrm>
          <a:prstGeom prst="rect">
            <a:avLst/>
          </a:prstGeom>
          <a:noFill/>
        </p:spPr>
        <p:txBody>
          <a:bodyPr wrap="square" lIns="0" rIns="0" tIns="0" bIns="0">
            <a:spAutoFit/>
          </a:bodyPr>
          <a:lstStyle/>
          <a:p>
            <a:pPr>
              <a:lnSpc>
                <a:spcPct val="128000"/>
              </a:lnSpc>
              <a:spcAft>
                <a:spcPts val="600"/>
              </a:spcAft>
            </a:pPr>
            <a:r>
              <a:rPr sz="1250">
                <a:solidFill>
                  <a:srgbClr val="333E4F"/>
                </a:solidFill>
                <a:latin typeface="Helvetica Neue"/>
              </a:rPr>
              <a:t>— Scoped, least-privilege credentials per task</a:t>
            </a:r>
          </a:p>
          <a:p>
            <a:pPr>
              <a:lnSpc>
                <a:spcPct val="128000"/>
              </a:lnSpc>
              <a:spcAft>
                <a:spcPts val="600"/>
              </a:spcAft>
            </a:pPr>
            <a:r>
              <a:rPr sz="1250">
                <a:solidFill>
                  <a:srgbClr val="333E4F"/>
                </a:solidFill>
                <a:latin typeface="Helvetica Neue"/>
              </a:rPr>
              <a:t>— No single tool both reads untrusted content and takes irreversible action</a:t>
            </a:r>
          </a:p>
          <a:p>
            <a:pPr>
              <a:lnSpc>
                <a:spcPct val="128000"/>
              </a:lnSpc>
              <a:spcAft>
                <a:spcPts val="600"/>
              </a:spcAft>
            </a:pPr>
            <a:r>
              <a:rPr sz="1250">
                <a:solidFill>
                  <a:srgbClr val="333E4F"/>
                </a:solidFill>
                <a:latin typeface="Helvetica Neue"/>
              </a:rPr>
              <a:t>— Separation of duties in code: an agent cannot approve its own entry</a:t>
            </a:r>
          </a:p>
          <a:p>
            <a:pPr>
              <a:lnSpc>
                <a:spcPct val="128000"/>
              </a:lnSpc>
              <a:spcAft>
                <a:spcPts val="600"/>
              </a:spcAft>
            </a:pPr>
            <a:r>
              <a:rPr sz="1250">
                <a:solidFill>
                  <a:srgbClr val="333E4F"/>
                </a:solidFill>
                <a:latin typeface="Helvetica Neue"/>
              </a:rPr>
              <a:t>— Hard period locks; document-derived text treated as tainted</a:t>
            </a:r>
          </a:p>
        </p:txBody>
      </p:sp>
      <p:sp>
        <p:nvSpPr>
          <p:cNvPr id="16" name="TextBox 15"/>
          <p:cNvSpPr txBox="1"/>
          <p:nvPr/>
        </p:nvSpPr>
        <p:spPr>
          <a:xfrm>
            <a:off x="658368" y="5925312"/>
            <a:ext cx="10874959" cy="548640"/>
          </a:xfrm>
          <a:prstGeom prst="rect">
            <a:avLst/>
          </a:prstGeom>
          <a:noFill/>
        </p:spPr>
        <p:txBody>
          <a:bodyPr wrap="square" anchor="t" lIns="0" rIns="0" tIns="0" bIns="0">
            <a:spAutoFit/>
          </a:bodyPr>
          <a:lstStyle/>
          <a:p>
            <a:pPr algn="l">
              <a:lnSpc>
                <a:spcPct val="132000"/>
              </a:lnSpc>
              <a:spcAft>
                <a:spcPts val="600"/>
              </a:spcAft>
            </a:pPr>
            <a:r>
              <a:rPr sz="1200" b="0" i="0">
                <a:solidFill>
                  <a:srgbClr val="333E4F"/>
                </a:solidFill>
                <a:latin typeface="Helvetica Neue"/>
              </a:rPr>
              <a:t>Two more we track and do not minimise. The 60/40 trap: the easy majority of transactions automates fast and creates false confidence while the residual holds most of the hours — so we instrument activity time, not transaction counts. And migration onto the new substrate: large, correctness-critical, and the first thing every engagement needs.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13</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ENGINEERING SHAPE</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Building this is a different engineering shape</a:t>
            </a:r>
          </a:p>
        </p:txBody>
      </p:sp>
      <p:sp>
        <p:nvSpPr>
          <p:cNvPr id="5" name="TextBox 4"/>
          <p:cNvSpPr txBox="1"/>
          <p:nvPr/>
        </p:nvSpPr>
        <p:spPr>
          <a:xfrm>
            <a:off x="658368" y="1719072"/>
            <a:ext cx="10424160" cy="713232"/>
          </a:xfrm>
          <a:prstGeom prst="rect">
            <a:avLst/>
          </a:prstGeom>
          <a:noFill/>
        </p:spPr>
        <p:txBody>
          <a:bodyPr wrap="square" anchor="t" lIns="0" rIns="0" tIns="0" bIns="0">
            <a:spAutoFit/>
          </a:bodyPr>
          <a:lstStyle/>
          <a:p>
            <a:pPr algn="l">
              <a:lnSpc>
                <a:spcPct val="135000"/>
              </a:lnSpc>
              <a:spcAft>
                <a:spcPts val="600"/>
              </a:spcAft>
            </a:pPr>
            <a:r>
              <a:rPr sz="1400" b="0" i="0">
                <a:solidFill>
                  <a:srgbClr val="333E4F"/>
                </a:solidFill>
                <a:latin typeface="Helvetica Neue"/>
              </a:rPr>
              <a:t>In conventional accounting software the system of record is the smallest, most stable, most valuable part of the codebase and the interface is the largest and most churn-prone. The ledger under a major package is a few thousand lines that barely changed in a decade; the UI around it is hundreds of thousands that changed every sprint.</a:t>
            </a:r>
          </a:p>
        </p:txBody>
      </p:sp>
      <p:graphicFrame>
        <p:nvGraphicFramePr>
          <p:cNvPr id="6" name="Table 5"/>
          <p:cNvGraphicFramePr>
            <a:graphicFrameLocks noGrp="1"/>
          </p:cNvGraphicFramePr>
          <p:nvPr/>
        </p:nvGraphicFramePr>
        <p:xfrm>
          <a:off x="658368" y="2505456"/>
          <a:ext cx="10872216" cy="3264408"/>
        </p:xfrm>
        <a:graphic>
          <a:graphicData uri="http://schemas.openxmlformats.org/drawingml/2006/table">
            <a:tbl>
              <a:tblPr>
                <a:tableStyleId>{5C22544A-7EE6-4342-B048-85BDC9FD1C3A}</a:tableStyleId>
              </a:tblPr>
              <a:tblGrid>
                <a:gridCol w="3017520"/>
                <a:gridCol w="1554480"/>
                <a:gridCol w="1508760"/>
                <a:gridCol w="4791456"/>
              </a:tblGrid>
              <a:tr h="384048">
                <a:tc>
                  <a:txBody>
                    <a:bodyPr wrap="square"/>
                    <a:lstStyle/>
                    <a:p>
                      <a:r>
                        <a:rPr sz="1150" b="1">
                          <a:solidFill>
                            <a:srgbClr val="FFFFFF"/>
                          </a:solidFill>
                          <a:latin typeface="Helvetica Neue"/>
                        </a:rPr>
                        <a:t>Layer</a:t>
                      </a:r>
                    </a:p>
                  </a:txBody>
                  <a:tcPr marL="91440" marR="73152" marT="36576" marB="36576" anchor="ctr">
                    <a:solidFill>
                      <a:srgbClr val="111A27"/>
                    </a:solidFill>
                  </a:tcPr>
                </a:tc>
                <a:tc>
                  <a:txBody>
                    <a:bodyPr wrap="square"/>
                    <a:lstStyle/>
                    <a:p>
                      <a:r>
                        <a:rPr sz="1150" b="1">
                          <a:solidFill>
                            <a:srgbClr val="FFFFFF"/>
                          </a:solidFill>
                          <a:latin typeface="Helvetica Neue"/>
                        </a:rPr>
                        <a:t>Conventional</a:t>
                      </a:r>
                    </a:p>
                  </a:txBody>
                  <a:tcPr marL="91440" marR="73152" marT="36576" marB="36576" anchor="ctr">
                    <a:solidFill>
                      <a:srgbClr val="111A27"/>
                    </a:solidFill>
                  </a:tcPr>
                </a:tc>
                <a:tc>
                  <a:txBody>
                    <a:bodyPr wrap="square"/>
                    <a:lstStyle/>
                    <a:p>
                      <a:r>
                        <a:rPr sz="1150" b="1">
                          <a:solidFill>
                            <a:srgbClr val="FFFFFF"/>
                          </a:solidFill>
                          <a:latin typeface="Helvetica Neue"/>
                        </a:rPr>
                        <a:t>Ours</a:t>
                      </a:r>
                    </a:p>
                  </a:txBody>
                  <a:tcPr marL="91440" marR="73152" marT="36576" marB="36576" anchor="ctr">
                    <a:solidFill>
                      <a:srgbClr val="111A27"/>
                    </a:solidFill>
                  </a:tcPr>
                </a:tc>
                <a:tc>
                  <a:txBody>
                    <a:bodyPr wrap="square"/>
                    <a:lstStyle/>
                    <a:p>
                      <a:r>
                        <a:rPr sz="1150" b="1">
                          <a:solidFill>
                            <a:srgbClr val="FFFFFF"/>
                          </a:solidFill>
                          <a:latin typeface="Helvetica Neue"/>
                        </a:rPr>
                        <a:t>Nature of the change</a:t>
                      </a:r>
                    </a:p>
                  </a:txBody>
                  <a:tcPr marL="91440" marR="73152" marT="36576" marB="36576" anchor="ctr">
                    <a:solidFill>
                      <a:srgbClr val="111A27"/>
                    </a:solidFill>
                  </a:tcPr>
                </a:tc>
              </a:tr>
              <a:tr h="320040">
                <a:tc>
                  <a:txBody>
                    <a:bodyPr wrap="square"/>
                    <a:lstStyle/>
                    <a:p>
                      <a:r>
                        <a:rPr sz="1150" b="1">
                          <a:solidFill>
                            <a:srgbClr val="111A27"/>
                          </a:solidFill>
                          <a:latin typeface="Helvetica Neue"/>
                        </a:rPr>
                        <a:t>System of record</a:t>
                      </a:r>
                    </a:p>
                  </a:txBody>
                  <a:tcPr marL="91440" marR="73152" marT="36576" marB="36576" anchor="ctr">
                    <a:solidFill>
                      <a:srgbClr val="FFFFFF"/>
                    </a:solidFill>
                  </a:tcPr>
                </a:tc>
                <a:tc>
                  <a:txBody>
                    <a:bodyPr wrap="square"/>
                    <a:lstStyle/>
                    <a:p>
                      <a:r>
                        <a:rPr sz="1150">
                          <a:solidFill>
                            <a:srgbClr val="333E4F"/>
                          </a:solidFill>
                          <a:latin typeface="Helvetica Neue"/>
                        </a:rPr>
                        <a:t>10–15%</a:t>
                      </a:r>
                    </a:p>
                  </a:txBody>
                  <a:tcPr marL="91440" marR="73152" marT="36576" marB="36576" anchor="ctr">
                    <a:solidFill>
                      <a:srgbClr val="FFFFFF"/>
                    </a:solidFill>
                  </a:tcPr>
                </a:tc>
                <a:tc>
                  <a:txBody>
                    <a:bodyPr wrap="square"/>
                    <a:lstStyle/>
                    <a:p>
                      <a:r>
                        <a:rPr sz="1150">
                          <a:solidFill>
                            <a:srgbClr val="7A3B08"/>
                          </a:solidFill>
                          <a:latin typeface="Helvetica Neue"/>
                        </a:rPr>
                        <a:t>15–20%</a:t>
                      </a:r>
                    </a:p>
                  </a:txBody>
                  <a:tcPr marL="91440" marR="73152" marT="36576" marB="36576" anchor="ctr">
                    <a:solidFill>
                      <a:srgbClr val="FAEEE3"/>
                    </a:solidFill>
                  </a:tcPr>
                </a:tc>
                <a:tc>
                  <a:txBody>
                    <a:bodyPr wrap="square"/>
                    <a:lstStyle/>
                    <a:p>
                      <a:r>
                        <a:rPr sz="1150">
                          <a:solidFill>
                            <a:srgbClr val="333E4F"/>
                          </a:solidFill>
                          <a:latin typeface="Helvetica Neue"/>
                        </a:rPr>
                        <a:t>Same concept, far harder requirements</a:t>
                      </a:r>
                    </a:p>
                  </a:txBody>
                  <a:tcPr marL="91440" marR="73152" marT="36576" marB="36576" anchor="ctr">
                    <a:solidFill>
                      <a:srgbClr val="FFFFFF"/>
                    </a:solidFill>
                  </a:tcPr>
                </a:tc>
              </a:tr>
              <a:tr h="320040">
                <a:tc>
                  <a:txBody>
                    <a:bodyPr wrap="square"/>
                    <a:lstStyle/>
                    <a:p>
                      <a:r>
                        <a:rPr sz="1150" b="1">
                          <a:solidFill>
                            <a:srgbClr val="111A27"/>
                          </a:solidFill>
                          <a:latin typeface="Helvetica Neue"/>
                        </a:rPr>
                        <a:t>Tool layer (typed actions)</a:t>
                      </a:r>
                    </a:p>
                  </a:txBody>
                  <a:tcPr marL="91440" marR="73152" marT="36576" marB="36576" anchor="ctr">
                    <a:solidFill>
                      <a:srgbClr val="F3F6F8"/>
                    </a:solidFill>
                  </a:tcPr>
                </a:tc>
                <a:tc>
                  <a:txBody>
                    <a:bodyPr wrap="square"/>
                    <a:lstStyle/>
                    <a:p>
                      <a:r>
                        <a:rPr sz="1150">
                          <a:solidFill>
                            <a:srgbClr val="333E4F"/>
                          </a:solidFill>
                          <a:latin typeface="Helvetica Neue"/>
                        </a:rPr>
                        <a:t>—</a:t>
                      </a:r>
                    </a:p>
                  </a:txBody>
                  <a:tcPr marL="91440" marR="73152" marT="36576" marB="36576" anchor="ctr">
                    <a:solidFill>
                      <a:srgbClr val="F3F6F8"/>
                    </a:solidFill>
                  </a:tcPr>
                </a:tc>
                <a:tc>
                  <a:txBody>
                    <a:bodyPr wrap="square"/>
                    <a:lstStyle/>
                    <a:p>
                      <a:r>
                        <a:rPr sz="1150">
                          <a:solidFill>
                            <a:srgbClr val="7A3B08"/>
                          </a:solidFill>
                          <a:latin typeface="Helvetica Neue"/>
                        </a:rPr>
                        <a:t>15–20%</a:t>
                      </a:r>
                    </a:p>
                  </a:txBody>
                  <a:tcPr marL="91440" marR="73152" marT="36576" marB="36576" anchor="ctr">
                    <a:solidFill>
                      <a:srgbClr val="FAEEE3"/>
                    </a:solidFill>
                  </a:tcPr>
                </a:tc>
                <a:tc>
                  <a:txBody>
                    <a:bodyPr wrap="square"/>
                    <a:lstStyle/>
                    <a:p>
                      <a:r>
                        <a:rPr sz="1150">
                          <a:solidFill>
                            <a:srgbClr val="333E4F"/>
                          </a:solidFill>
                          <a:latin typeface="Helvetica Neue"/>
                        </a:rPr>
                        <a:t>New — and not the same as a REST API</a:t>
                      </a:r>
                    </a:p>
                  </a:txBody>
                  <a:tcPr marL="91440" marR="73152" marT="36576" marB="36576" anchor="ctr">
                    <a:solidFill>
                      <a:srgbClr val="F3F6F8"/>
                    </a:solidFill>
                  </a:tcPr>
                </a:tc>
              </a:tr>
              <a:tr h="320040">
                <a:tc>
                  <a:txBody>
                    <a:bodyPr wrap="square"/>
                    <a:lstStyle/>
                    <a:p>
                      <a:r>
                        <a:rPr sz="1150" b="1">
                          <a:solidFill>
                            <a:srgbClr val="111A27"/>
                          </a:solidFill>
                          <a:latin typeface="Helvetica Neue"/>
                        </a:rPr>
                        <a:t>Verification &amp; guardrails</a:t>
                      </a:r>
                    </a:p>
                  </a:txBody>
                  <a:tcPr marL="91440" marR="73152" marT="36576" marB="36576" anchor="ctr">
                    <a:solidFill>
                      <a:srgbClr val="FFFFFF"/>
                    </a:solidFill>
                  </a:tcPr>
                </a:tc>
                <a:tc>
                  <a:txBody>
                    <a:bodyPr wrap="square"/>
                    <a:lstStyle/>
                    <a:p>
                      <a:r>
                        <a:rPr sz="1150">
                          <a:solidFill>
                            <a:srgbClr val="333E4F"/>
                          </a:solidFill>
                          <a:latin typeface="Helvetica Neue"/>
                        </a:rPr>
                        <a:t>—</a:t>
                      </a:r>
                    </a:p>
                  </a:txBody>
                  <a:tcPr marL="91440" marR="73152" marT="36576" marB="36576" anchor="ctr">
                    <a:solidFill>
                      <a:srgbClr val="FFFFFF"/>
                    </a:solidFill>
                  </a:tcPr>
                </a:tc>
                <a:tc>
                  <a:txBody>
                    <a:bodyPr wrap="square"/>
                    <a:lstStyle/>
                    <a:p>
                      <a:r>
                        <a:rPr sz="1150">
                          <a:solidFill>
                            <a:srgbClr val="7A3B08"/>
                          </a:solidFill>
                          <a:latin typeface="Helvetica Neue"/>
                        </a:rPr>
                        <a:t>~15%</a:t>
                      </a:r>
                    </a:p>
                  </a:txBody>
                  <a:tcPr marL="91440" marR="73152" marT="36576" marB="36576" anchor="ctr">
                    <a:solidFill>
                      <a:srgbClr val="FAEEE3"/>
                    </a:solidFill>
                  </a:tcPr>
                </a:tc>
                <a:tc>
                  <a:txBody>
                    <a:bodyPr wrap="square"/>
                    <a:lstStyle/>
                    <a:p>
                      <a:r>
                        <a:rPr sz="1150">
                          <a:solidFill>
                            <a:srgbClr val="333E4F"/>
                          </a:solidFill>
                          <a:latin typeface="Helvetica Neue"/>
                        </a:rPr>
                        <a:t>New — no analogue in the software we use</a:t>
                      </a:r>
                    </a:p>
                  </a:txBody>
                  <a:tcPr marL="91440" marR="73152" marT="36576" marB="36576" anchor="ctr">
                    <a:solidFill>
                      <a:srgbClr val="FFFFFF"/>
                    </a:solidFill>
                  </a:tcPr>
                </a:tc>
              </a:tr>
              <a:tr h="320040">
                <a:tc>
                  <a:txBody>
                    <a:bodyPr wrap="square"/>
                    <a:lstStyle/>
                    <a:p>
                      <a:r>
                        <a:rPr sz="1150" b="1">
                          <a:solidFill>
                            <a:srgbClr val="111A27"/>
                          </a:solidFill>
                          <a:latin typeface="Helvetica Neue"/>
                        </a:rPr>
                        <a:t>Evals &amp; ground-truth corpus</a:t>
                      </a:r>
                    </a:p>
                  </a:txBody>
                  <a:tcPr marL="91440" marR="73152" marT="36576" marB="36576" anchor="ctr">
                    <a:solidFill>
                      <a:srgbClr val="F3F6F8"/>
                    </a:solidFill>
                  </a:tcPr>
                </a:tc>
                <a:tc>
                  <a:txBody>
                    <a:bodyPr wrap="square"/>
                    <a:lstStyle/>
                    <a:p>
                      <a:r>
                        <a:rPr sz="1150">
                          <a:solidFill>
                            <a:srgbClr val="333E4F"/>
                          </a:solidFill>
                          <a:latin typeface="Helvetica Neue"/>
                        </a:rPr>
                        <a:t>—</a:t>
                      </a:r>
                    </a:p>
                  </a:txBody>
                  <a:tcPr marL="91440" marR="73152" marT="36576" marB="36576" anchor="ctr">
                    <a:solidFill>
                      <a:srgbClr val="F3F6F8"/>
                    </a:solidFill>
                  </a:tcPr>
                </a:tc>
                <a:tc>
                  <a:txBody>
                    <a:bodyPr wrap="square"/>
                    <a:lstStyle/>
                    <a:p>
                      <a:r>
                        <a:rPr sz="1150">
                          <a:solidFill>
                            <a:srgbClr val="7A3B08"/>
                          </a:solidFill>
                          <a:latin typeface="Helvetica Neue"/>
                        </a:rPr>
                        <a:t>10–15%</a:t>
                      </a:r>
                    </a:p>
                  </a:txBody>
                  <a:tcPr marL="91440" marR="73152" marT="36576" marB="36576" anchor="ctr">
                    <a:solidFill>
                      <a:srgbClr val="FAEEE3"/>
                    </a:solidFill>
                  </a:tcPr>
                </a:tc>
                <a:tc>
                  <a:txBody>
                    <a:bodyPr wrap="square"/>
                    <a:lstStyle/>
                    <a:p>
                      <a:r>
                        <a:rPr sz="1150">
                          <a:solidFill>
                            <a:srgbClr val="333E4F"/>
                          </a:solidFill>
                          <a:latin typeface="Helvetica Neue"/>
                        </a:rPr>
                        <a:t>New — is our test suite and our spec</a:t>
                      </a:r>
                    </a:p>
                  </a:txBody>
                  <a:tcPr marL="91440" marR="73152" marT="36576" marB="36576" anchor="ctr">
                    <a:solidFill>
                      <a:srgbClr val="F3F6F8"/>
                    </a:solidFill>
                  </a:tcPr>
                </a:tc>
              </a:tr>
              <a:tr h="320040">
                <a:tc>
                  <a:txBody>
                    <a:bodyPr wrap="square"/>
                    <a:lstStyle/>
                    <a:p>
                      <a:r>
                        <a:rPr sz="1150" b="1">
                          <a:solidFill>
                            <a:srgbClr val="111A27"/>
                          </a:solidFill>
                          <a:latin typeface="Helvetica Neue"/>
                        </a:rPr>
                        <a:t>Durable orchestration</a:t>
                      </a:r>
                    </a:p>
                  </a:txBody>
                  <a:tcPr marL="91440" marR="73152" marT="36576" marB="36576" anchor="ctr">
                    <a:solidFill>
                      <a:srgbClr val="FFFFFF"/>
                    </a:solidFill>
                  </a:tcPr>
                </a:tc>
                <a:tc>
                  <a:txBody>
                    <a:bodyPr wrap="square"/>
                    <a:lstStyle/>
                    <a:p>
                      <a:r>
                        <a:rPr sz="1150">
                          <a:solidFill>
                            <a:srgbClr val="333E4F"/>
                          </a:solidFill>
                          <a:latin typeface="Helvetica Neue"/>
                        </a:rPr>
                        <a:t>~2%</a:t>
                      </a:r>
                    </a:p>
                  </a:txBody>
                  <a:tcPr marL="91440" marR="73152" marT="36576" marB="36576" anchor="ctr">
                    <a:solidFill>
                      <a:srgbClr val="FFFFFF"/>
                    </a:solidFill>
                  </a:tcPr>
                </a:tc>
                <a:tc>
                  <a:txBody>
                    <a:bodyPr wrap="square"/>
                    <a:lstStyle/>
                    <a:p>
                      <a:r>
                        <a:rPr sz="1150">
                          <a:solidFill>
                            <a:srgbClr val="7A3B08"/>
                          </a:solidFill>
                          <a:latin typeface="Helvetica Neue"/>
                        </a:rPr>
                        <a:t>~10%</a:t>
                      </a:r>
                    </a:p>
                  </a:txBody>
                  <a:tcPr marL="91440" marR="73152" marT="36576" marB="36576" anchor="ctr">
                    <a:solidFill>
                      <a:srgbClr val="FAEEE3"/>
                    </a:solidFill>
                  </a:tcPr>
                </a:tc>
                <a:tc>
                  <a:txBody>
                    <a:bodyPr wrap="square"/>
                    <a:lstStyle/>
                    <a:p>
                      <a:r>
                        <a:rPr sz="1150">
                          <a:solidFill>
                            <a:srgbClr val="333E4F"/>
                          </a:solidFill>
                          <a:latin typeface="Helvetica Neue"/>
                        </a:rPr>
                        <a:t>Qualitatively different from cron and queues</a:t>
                      </a:r>
                    </a:p>
                  </a:txBody>
                  <a:tcPr marL="91440" marR="73152" marT="36576" marB="36576" anchor="ctr">
                    <a:solidFill>
                      <a:srgbClr val="FFFFFF"/>
                    </a:solidFill>
                  </a:tcPr>
                </a:tc>
              </a:tr>
              <a:tr h="320040">
                <a:tc>
                  <a:txBody>
                    <a:bodyPr wrap="square"/>
                    <a:lstStyle/>
                    <a:p>
                      <a:r>
                        <a:rPr sz="1150" b="1">
                          <a:solidFill>
                            <a:srgbClr val="111A27"/>
                          </a:solidFill>
                          <a:latin typeface="Helvetica Neue"/>
                        </a:rPr>
                        <a:t>Agent layer (prompts, memory)</a:t>
                      </a:r>
                    </a:p>
                  </a:txBody>
                  <a:tcPr marL="91440" marR="73152" marT="36576" marB="36576" anchor="ctr">
                    <a:solidFill>
                      <a:srgbClr val="F3F6F8"/>
                    </a:solidFill>
                  </a:tcPr>
                </a:tc>
                <a:tc>
                  <a:txBody>
                    <a:bodyPr wrap="square"/>
                    <a:lstStyle/>
                    <a:p>
                      <a:r>
                        <a:rPr sz="1150">
                          <a:solidFill>
                            <a:srgbClr val="333E4F"/>
                          </a:solidFill>
                          <a:latin typeface="Helvetica Neue"/>
                        </a:rPr>
                        <a:t>—</a:t>
                      </a:r>
                    </a:p>
                  </a:txBody>
                  <a:tcPr marL="91440" marR="73152" marT="36576" marB="36576" anchor="ctr">
                    <a:solidFill>
                      <a:srgbClr val="F3F6F8"/>
                    </a:solidFill>
                  </a:tcPr>
                </a:tc>
                <a:tc>
                  <a:txBody>
                    <a:bodyPr wrap="square"/>
                    <a:lstStyle/>
                    <a:p>
                      <a:r>
                        <a:rPr sz="1150">
                          <a:solidFill>
                            <a:srgbClr val="7A3B08"/>
                          </a:solidFill>
                          <a:latin typeface="Helvetica Neue"/>
                        </a:rPr>
                        <a:t>~10%</a:t>
                      </a:r>
                    </a:p>
                  </a:txBody>
                  <a:tcPr marL="91440" marR="73152" marT="36576" marB="36576" anchor="ctr">
                    <a:solidFill>
                      <a:srgbClr val="FAEEE3"/>
                    </a:solidFill>
                  </a:tcPr>
                </a:tc>
                <a:tc>
                  <a:txBody>
                    <a:bodyPr wrap="square"/>
                    <a:lstStyle/>
                    <a:p>
                      <a:r>
                        <a:rPr sz="1150">
                          <a:solidFill>
                            <a:srgbClr val="333E4F"/>
                          </a:solidFill>
                          <a:latin typeface="Helvetica Neue"/>
                        </a:rPr>
                        <a:t>New, and smaller than people expect</a:t>
                      </a:r>
                    </a:p>
                  </a:txBody>
                  <a:tcPr marL="91440" marR="73152" marT="36576" marB="36576" anchor="ctr">
                    <a:solidFill>
                      <a:srgbClr val="F3F6F8"/>
                    </a:solidFill>
                  </a:tcPr>
                </a:tc>
              </a:tr>
              <a:tr h="320040">
                <a:tc>
                  <a:txBody>
                    <a:bodyPr wrap="square"/>
                    <a:lstStyle/>
                    <a:p>
                      <a:r>
                        <a:rPr sz="1150" b="1">
                          <a:solidFill>
                            <a:srgbClr val="111A27"/>
                          </a:solidFill>
                          <a:latin typeface="Helvetica Neue"/>
                        </a:rPr>
                        <a:t>UI</a:t>
                      </a:r>
                    </a:p>
                  </a:txBody>
                  <a:tcPr marL="91440" marR="73152" marT="36576" marB="36576" anchor="ctr">
                    <a:solidFill>
                      <a:srgbClr val="FFFFFF"/>
                    </a:solidFill>
                  </a:tcPr>
                </a:tc>
                <a:tc>
                  <a:txBody>
                    <a:bodyPr wrap="square"/>
                    <a:lstStyle/>
                    <a:p>
                      <a:r>
                        <a:rPr sz="1150">
                          <a:solidFill>
                            <a:srgbClr val="333E4F"/>
                          </a:solidFill>
                          <a:latin typeface="Helvetica Neue"/>
                        </a:rPr>
                        <a:t>30–40%</a:t>
                      </a:r>
                    </a:p>
                  </a:txBody>
                  <a:tcPr marL="91440" marR="73152" marT="36576" marB="36576" anchor="ctr">
                    <a:solidFill>
                      <a:srgbClr val="FFFFFF"/>
                    </a:solidFill>
                  </a:tcPr>
                </a:tc>
                <a:tc>
                  <a:txBody>
                    <a:bodyPr wrap="square"/>
                    <a:lstStyle/>
                    <a:p>
                      <a:r>
                        <a:rPr sz="1150">
                          <a:solidFill>
                            <a:srgbClr val="7A3B08"/>
                          </a:solidFill>
                          <a:latin typeface="Helvetica Neue"/>
                        </a:rPr>
                        <a:t>15–20%</a:t>
                      </a:r>
                    </a:p>
                  </a:txBody>
                  <a:tcPr marL="91440" marR="73152" marT="36576" marB="36576" anchor="ctr">
                    <a:solidFill>
                      <a:srgbClr val="FAEEE3"/>
                    </a:solidFill>
                  </a:tcPr>
                </a:tc>
                <a:tc>
                  <a:txBody>
                    <a:bodyPr wrap="square"/>
                    <a:lstStyle/>
                    <a:p>
                      <a:r>
                        <a:rPr sz="1150">
                          <a:solidFill>
                            <a:srgbClr val="333E4F"/>
                          </a:solidFill>
                          <a:latin typeface="Helvetica Neue"/>
                        </a:rPr>
                        <a:t>Shrinks, and changes character entirely</a:t>
                      </a:r>
                    </a:p>
                  </a:txBody>
                  <a:tcPr marL="91440" marR="73152" marT="36576" marB="36576" anchor="ctr">
                    <a:solidFill>
                      <a:srgbClr val="FFFFFF"/>
                    </a:solidFill>
                  </a:tcPr>
                </a:tc>
              </a:tr>
              <a:tr h="320040">
                <a:tc>
                  <a:txBody>
                    <a:bodyPr wrap="square"/>
                    <a:lstStyle/>
                    <a:p>
                      <a:r>
                        <a:rPr sz="1150" b="1">
                          <a:solidFill>
                            <a:srgbClr val="111A27"/>
                          </a:solidFill>
                          <a:latin typeface="Helvetica Neue"/>
                        </a:rPr>
                        <a:t>Integrations</a:t>
                      </a:r>
                    </a:p>
                  </a:txBody>
                  <a:tcPr marL="91440" marR="73152" marT="36576" marB="36576" anchor="ctr">
                    <a:solidFill>
                      <a:srgbClr val="F3F6F8"/>
                    </a:solidFill>
                  </a:tcPr>
                </a:tc>
                <a:tc>
                  <a:txBody>
                    <a:bodyPr wrap="square"/>
                    <a:lstStyle/>
                    <a:p>
                      <a:r>
                        <a:rPr sz="1150">
                          <a:solidFill>
                            <a:srgbClr val="333E4F"/>
                          </a:solidFill>
                          <a:latin typeface="Helvetica Neue"/>
                        </a:rPr>
                        <a:t>10–15%</a:t>
                      </a:r>
                    </a:p>
                  </a:txBody>
                  <a:tcPr marL="91440" marR="73152" marT="36576" marB="36576" anchor="ctr">
                    <a:solidFill>
                      <a:srgbClr val="F3F6F8"/>
                    </a:solidFill>
                  </a:tcPr>
                </a:tc>
                <a:tc>
                  <a:txBody>
                    <a:bodyPr wrap="square"/>
                    <a:lstStyle/>
                    <a:p>
                      <a:r>
                        <a:rPr sz="1150">
                          <a:solidFill>
                            <a:srgbClr val="7A3B08"/>
                          </a:solidFill>
                          <a:latin typeface="Helvetica Neue"/>
                        </a:rPr>
                        <a:t>~10%</a:t>
                      </a:r>
                    </a:p>
                  </a:txBody>
                  <a:tcPr marL="91440" marR="73152" marT="36576" marB="36576" anchor="ctr">
                    <a:solidFill>
                      <a:srgbClr val="FAEEE3"/>
                    </a:solidFill>
                  </a:tcPr>
                </a:tc>
                <a:tc>
                  <a:txBody>
                    <a:bodyPr wrap="square"/>
                    <a:lstStyle/>
                    <a:p>
                      <a:r>
                        <a:rPr sz="1150">
                          <a:solidFill>
                            <a:srgbClr val="333E4F"/>
                          </a:solidFill>
                          <a:latin typeface="Helvetica Neue"/>
                        </a:rPr>
                        <a:t>Similar, plus agent-driven fallback</a:t>
                      </a:r>
                    </a:p>
                  </a:txBody>
                  <a:tcPr marL="91440" marR="73152" marT="36576" marB="36576" anchor="ctr">
                    <a:solidFill>
                      <a:srgbClr val="F3F6F8"/>
                    </a:solidFill>
                  </a:tcPr>
                </a:tc>
              </a:tr>
              <a:tr h="320040">
                <a:tc>
                  <a:txBody>
                    <a:bodyPr wrap="square"/>
                    <a:lstStyle/>
                    <a:p>
                      <a:r>
                        <a:rPr sz="1150" b="1">
                          <a:solidFill>
                            <a:srgbClr val="111A27"/>
                          </a:solidFill>
                          <a:latin typeface="Helvetica Neue"/>
                        </a:rPr>
                        <a:t>Platform</a:t>
                      </a:r>
                    </a:p>
                  </a:txBody>
                  <a:tcPr marL="91440" marR="73152" marT="36576" marB="36576" anchor="ctr">
                    <a:solidFill>
                      <a:srgbClr val="FFFFFF"/>
                    </a:solidFill>
                  </a:tcPr>
                </a:tc>
                <a:tc>
                  <a:txBody>
                    <a:bodyPr wrap="square"/>
                    <a:lstStyle/>
                    <a:p>
                      <a:r>
                        <a:rPr sz="1150">
                          <a:solidFill>
                            <a:srgbClr val="333E4F"/>
                          </a:solidFill>
                          <a:latin typeface="Helvetica Neue"/>
                        </a:rPr>
                        <a:t>~15%</a:t>
                      </a:r>
                    </a:p>
                  </a:txBody>
                  <a:tcPr marL="91440" marR="73152" marT="36576" marB="36576" anchor="ctr">
                    <a:solidFill>
                      <a:srgbClr val="FFFFFF"/>
                    </a:solidFill>
                  </a:tcPr>
                </a:tc>
                <a:tc>
                  <a:txBody>
                    <a:bodyPr wrap="square"/>
                    <a:lstStyle/>
                    <a:p>
                      <a:r>
                        <a:rPr sz="1150">
                          <a:solidFill>
                            <a:srgbClr val="7A3B08"/>
                          </a:solidFill>
                          <a:latin typeface="Helvetica Neue"/>
                        </a:rPr>
                        <a:t>~15%</a:t>
                      </a:r>
                    </a:p>
                  </a:txBody>
                  <a:tcPr marL="91440" marR="73152" marT="36576" marB="36576" anchor="ctr">
                    <a:solidFill>
                      <a:srgbClr val="FAEEE3"/>
                    </a:solidFill>
                  </a:tcPr>
                </a:tc>
                <a:tc>
                  <a:txBody>
                    <a:bodyPr wrap="square"/>
                    <a:lstStyle/>
                    <a:p>
                      <a:r>
                        <a:rPr sz="1150">
                          <a:solidFill>
                            <a:srgbClr val="333E4F"/>
                          </a:solidFill>
                          <a:latin typeface="Helvetica Neue"/>
                        </a:rPr>
                        <a:t>Plus agent identity and cost telemetry</a:t>
                      </a:r>
                    </a:p>
                  </a:txBody>
                  <a:tcPr marL="91440" marR="73152" marT="36576" marB="36576" anchor="ctr">
                    <a:solidFill>
                      <a:srgbClr val="FFFFFF"/>
                    </a:solidFill>
                  </a:tcPr>
                </a:tc>
              </a:tr>
            </a:tbl>
          </a:graphicData>
        </a:graphic>
      </p:graphicFrame>
      <p:sp>
        <p:nvSpPr>
          <p:cNvPr id="7" name="Rounded Rectangle 6"/>
          <p:cNvSpPr/>
          <p:nvPr/>
        </p:nvSpPr>
        <p:spPr>
          <a:xfrm>
            <a:off x="658368" y="5815584"/>
            <a:ext cx="10874959" cy="658368"/>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0976" y="5961888"/>
            <a:ext cx="10289743" cy="402336"/>
          </a:xfrm>
          <a:prstGeom prst="rect">
            <a:avLst/>
          </a:prstGeom>
          <a:noFill/>
        </p:spPr>
        <p:txBody>
          <a:bodyPr wrap="square" anchor="t" lIns="0" rIns="0" tIns="0" bIns="0">
            <a:spAutoFit/>
          </a:bodyPr>
          <a:lstStyle/>
          <a:p>
            <a:pPr algn="l">
              <a:lnSpc>
                <a:spcPct val="130000"/>
              </a:lnSpc>
              <a:spcAft>
                <a:spcPts val="600"/>
              </a:spcAft>
            </a:pPr>
            <a:r>
              <a:rPr sz="1350" b="1" i="0">
                <a:solidFill>
                  <a:srgbClr val="FFFFFF"/>
                </a:solidFill>
                <a:latin typeface="Helvetica Neue"/>
              </a:rPr>
              <a:t>Conventional software spent its engineering budget making a human effective at the interface. We spend ours making a machine's output provable at the substrate.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14</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PHASE 2 · TECHNICAL PLAN</a:t>
            </a:r>
          </a:p>
        </p:txBody>
      </p:sp>
      <p:sp>
        <p:nvSpPr>
          <p:cNvPr id="4" name="TextBox 3"/>
          <p:cNvSpPr txBox="1"/>
          <p:nvPr/>
        </p:nvSpPr>
        <p:spPr>
          <a:xfrm>
            <a:off x="658368" y="713232"/>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Owning the system of record: the eight workstreams</a:t>
            </a:r>
          </a:p>
        </p:txBody>
      </p:sp>
      <p:sp>
        <p:nvSpPr>
          <p:cNvPr id="5" name="Rounded Rectangle 4"/>
          <p:cNvSpPr/>
          <p:nvPr/>
        </p:nvSpPr>
        <p:spPr>
          <a:xfrm>
            <a:off x="658368" y="1353312"/>
            <a:ext cx="3465576" cy="40233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1247" y="1426464"/>
            <a:ext cx="2148840" cy="256032"/>
          </a:xfrm>
          <a:prstGeom prst="rect">
            <a:avLst/>
          </a:prstGeom>
          <a:noFill/>
        </p:spPr>
        <p:txBody>
          <a:bodyPr wrap="square" anchor="t" lIns="0" rIns="0" tIns="0" bIns="0">
            <a:spAutoFit/>
          </a:bodyPr>
          <a:lstStyle/>
          <a:p>
            <a:pPr algn="l">
              <a:lnSpc>
                <a:spcPct val="125000"/>
              </a:lnSpc>
              <a:spcAft>
                <a:spcPts val="600"/>
              </a:spcAft>
            </a:pPr>
            <a:r>
              <a:rPr sz="1100" b="1" i="0">
                <a:solidFill>
                  <a:srgbClr val="6B7688"/>
                </a:solidFill>
                <a:latin typeface="Helvetica Neue"/>
              </a:rPr>
              <a:t>Phase 1 — wrap the incumbent</a:t>
            </a:r>
          </a:p>
        </p:txBody>
      </p:sp>
      <p:sp>
        <p:nvSpPr>
          <p:cNvPr id="7" name="TextBox 6"/>
          <p:cNvSpPr txBox="1"/>
          <p:nvPr/>
        </p:nvSpPr>
        <p:spPr>
          <a:xfrm>
            <a:off x="3035808" y="1444752"/>
            <a:ext cx="914400" cy="219456"/>
          </a:xfrm>
          <a:prstGeom prst="rect">
            <a:avLst/>
          </a:prstGeom>
          <a:noFill/>
        </p:spPr>
        <p:txBody>
          <a:bodyPr wrap="square" anchor="t" lIns="0" rIns="0" tIns="0" bIns="0">
            <a:spAutoFit/>
          </a:bodyPr>
          <a:lstStyle/>
          <a:p>
            <a:pPr algn="r">
              <a:lnSpc>
                <a:spcPct val="125000"/>
              </a:lnSpc>
              <a:spcAft>
                <a:spcPts val="600"/>
              </a:spcAft>
            </a:pPr>
            <a:r>
              <a:rPr sz="950" b="0" i="0">
                <a:solidFill>
                  <a:srgbClr val="6B7688"/>
                </a:solidFill>
                <a:latin typeface="Helvetica Neue"/>
              </a:rPr>
              <a:t>underway</a:t>
            </a:r>
          </a:p>
        </p:txBody>
      </p:sp>
      <p:sp>
        <p:nvSpPr>
          <p:cNvPr id="8" name="Rounded Rectangle 7"/>
          <p:cNvSpPr/>
          <p:nvPr/>
        </p:nvSpPr>
        <p:spPr>
          <a:xfrm>
            <a:off x="4379976" y="1353312"/>
            <a:ext cx="3465576" cy="40233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562856" y="1426464"/>
            <a:ext cx="2148840" cy="256032"/>
          </a:xfrm>
          <a:prstGeom prst="rect">
            <a:avLst/>
          </a:prstGeom>
          <a:noFill/>
        </p:spPr>
        <p:txBody>
          <a:bodyPr wrap="square" anchor="t" lIns="0" rIns="0" tIns="0" bIns="0">
            <a:spAutoFit/>
          </a:bodyPr>
          <a:lstStyle/>
          <a:p>
            <a:pPr algn="l">
              <a:lnSpc>
                <a:spcPct val="125000"/>
              </a:lnSpc>
              <a:spcAft>
                <a:spcPts val="600"/>
              </a:spcAft>
            </a:pPr>
            <a:r>
              <a:rPr sz="1100" b="1" i="0">
                <a:solidFill>
                  <a:srgbClr val="7A3B08"/>
                </a:solidFill>
                <a:latin typeface="Helvetica Neue"/>
              </a:rPr>
              <a:t>Phase 2 — own the record</a:t>
            </a:r>
          </a:p>
        </p:txBody>
      </p:sp>
      <p:sp>
        <p:nvSpPr>
          <p:cNvPr id="10" name="TextBox 9"/>
          <p:cNvSpPr txBox="1"/>
          <p:nvPr/>
        </p:nvSpPr>
        <p:spPr>
          <a:xfrm>
            <a:off x="6757416" y="1444752"/>
            <a:ext cx="914400" cy="219456"/>
          </a:xfrm>
          <a:prstGeom prst="rect">
            <a:avLst/>
          </a:prstGeom>
          <a:noFill/>
        </p:spPr>
        <p:txBody>
          <a:bodyPr wrap="square" anchor="t" lIns="0" rIns="0" tIns="0" bIns="0">
            <a:spAutoFit/>
          </a:bodyPr>
          <a:lstStyle/>
          <a:p>
            <a:pPr algn="r">
              <a:lnSpc>
                <a:spcPct val="125000"/>
              </a:lnSpc>
              <a:spcAft>
                <a:spcPts val="600"/>
              </a:spcAft>
            </a:pPr>
            <a:r>
              <a:rPr sz="950" b="0" i="0">
                <a:solidFill>
                  <a:srgbClr val="7A3B08"/>
                </a:solidFill>
                <a:latin typeface="Helvetica Neue"/>
              </a:rPr>
              <a:t>we are here</a:t>
            </a:r>
          </a:p>
        </p:txBody>
      </p:sp>
      <p:sp>
        <p:nvSpPr>
          <p:cNvPr id="11" name="Rounded Rectangle 10"/>
          <p:cNvSpPr/>
          <p:nvPr/>
        </p:nvSpPr>
        <p:spPr>
          <a:xfrm>
            <a:off x="8101583" y="1353312"/>
            <a:ext cx="3465576" cy="40233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84463" y="1426464"/>
            <a:ext cx="2148840" cy="256032"/>
          </a:xfrm>
          <a:prstGeom prst="rect">
            <a:avLst/>
          </a:prstGeom>
          <a:noFill/>
        </p:spPr>
        <p:txBody>
          <a:bodyPr wrap="square" anchor="t" lIns="0" rIns="0" tIns="0" bIns="0">
            <a:spAutoFit/>
          </a:bodyPr>
          <a:lstStyle/>
          <a:p>
            <a:pPr algn="l">
              <a:lnSpc>
                <a:spcPct val="125000"/>
              </a:lnSpc>
              <a:spcAft>
                <a:spcPts val="600"/>
              </a:spcAft>
            </a:pPr>
            <a:r>
              <a:rPr sz="1100" b="1" i="0">
                <a:solidFill>
                  <a:srgbClr val="6B7688"/>
                </a:solidFill>
                <a:latin typeface="Helvetica Neue"/>
              </a:rPr>
              <a:t>Phase 3 — own the output</a:t>
            </a:r>
          </a:p>
        </p:txBody>
      </p:sp>
      <p:sp>
        <p:nvSpPr>
          <p:cNvPr id="13" name="TextBox 12"/>
          <p:cNvSpPr txBox="1"/>
          <p:nvPr/>
        </p:nvSpPr>
        <p:spPr>
          <a:xfrm>
            <a:off x="10479024" y="1444752"/>
            <a:ext cx="914400" cy="219456"/>
          </a:xfrm>
          <a:prstGeom prst="rect">
            <a:avLst/>
          </a:prstGeom>
          <a:noFill/>
        </p:spPr>
        <p:txBody>
          <a:bodyPr wrap="square" anchor="t" lIns="0" rIns="0" tIns="0" bIns="0">
            <a:spAutoFit/>
          </a:bodyPr>
          <a:lstStyle/>
          <a:p>
            <a:pPr algn="r">
              <a:lnSpc>
                <a:spcPct val="125000"/>
              </a:lnSpc>
              <a:spcAft>
                <a:spcPts val="600"/>
              </a:spcAft>
            </a:pPr>
            <a:r>
              <a:rPr sz="950" b="0" i="0">
                <a:solidFill>
                  <a:srgbClr val="6B7688"/>
                </a:solidFill>
                <a:latin typeface="Helvetica Neue"/>
              </a:rPr>
              <a:t>not yet scoped</a:t>
            </a:r>
          </a:p>
        </p:txBody>
      </p:sp>
      <p:sp>
        <p:nvSpPr>
          <p:cNvPr id="14" name="Rounded Rectangle 13"/>
          <p:cNvSpPr/>
          <p:nvPr/>
        </p:nvSpPr>
        <p:spPr>
          <a:xfrm>
            <a:off x="658368" y="1938528"/>
            <a:ext cx="5309006" cy="1060704"/>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77824" y="2066544"/>
            <a:ext cx="4888382" cy="256032"/>
          </a:xfrm>
          <a:prstGeom prst="rect">
            <a:avLst/>
          </a:prstGeom>
          <a:noFill/>
        </p:spPr>
        <p:txBody>
          <a:bodyPr wrap="square" anchor="t" lIns="0" rIns="0" tIns="0" bIns="0">
            <a:spAutoFit/>
          </a:bodyPr>
          <a:lstStyle/>
          <a:p>
            <a:pPr algn="l">
              <a:lnSpc>
                <a:spcPct val="125000"/>
              </a:lnSpc>
              <a:spcAft>
                <a:spcPts val="600"/>
              </a:spcAft>
            </a:pPr>
            <a:r>
              <a:rPr sz="1250" b="1" i="0">
                <a:solidFill>
                  <a:srgbClr val="7A3B08"/>
                </a:solidFill>
                <a:latin typeface="Helvetica Neue"/>
              </a:rPr>
              <a:t>1 · Ledger cutover and dual-write</a:t>
            </a:r>
          </a:p>
        </p:txBody>
      </p:sp>
      <p:sp>
        <p:nvSpPr>
          <p:cNvPr id="16" name="TextBox 15"/>
          <p:cNvSpPr txBox="1"/>
          <p:nvPr/>
        </p:nvSpPr>
        <p:spPr>
          <a:xfrm>
            <a:off x="877824" y="2350008"/>
            <a:ext cx="4888382" cy="530352"/>
          </a:xfrm>
          <a:prstGeom prst="rect">
            <a:avLst/>
          </a:prstGeom>
          <a:noFill/>
        </p:spPr>
        <p:txBody>
          <a:bodyPr wrap="square" anchor="t" lIns="0" rIns="0" tIns="0" bIns="0">
            <a:spAutoFit/>
          </a:bodyPr>
          <a:lstStyle/>
          <a:p>
            <a:pPr algn="l">
              <a:lnSpc>
                <a:spcPct val="132000"/>
              </a:lnSpc>
              <a:spcAft>
                <a:spcPts val="600"/>
              </a:spcAft>
            </a:pPr>
            <a:r>
              <a:rPr sz="1050" b="0" i="0">
                <a:solidFill>
                  <a:srgbClr val="333E4F"/>
                </a:solidFill>
                <a:latin typeface="Helvetica Neue"/>
              </a:rPr>
              <a:t>Our bitemporal ledger becomes primary; the incumbent becomes a downstream mirror via a write-through adapter. Dual-write with an automated diff harness on every entry — zero diff across three consecutive closes before we flip primary.</a:t>
            </a:r>
          </a:p>
        </p:txBody>
      </p:sp>
      <p:sp>
        <p:nvSpPr>
          <p:cNvPr id="17" name="Rounded Rectangle 16"/>
          <p:cNvSpPr/>
          <p:nvPr/>
        </p:nvSpPr>
        <p:spPr>
          <a:xfrm>
            <a:off x="6223406" y="1938528"/>
            <a:ext cx="5309006" cy="1060704"/>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2862" y="2066544"/>
            <a:ext cx="4888382" cy="256032"/>
          </a:xfrm>
          <a:prstGeom prst="rect">
            <a:avLst/>
          </a:prstGeom>
          <a:noFill/>
        </p:spPr>
        <p:txBody>
          <a:bodyPr wrap="square" anchor="t" lIns="0" rIns="0" tIns="0" bIns="0">
            <a:spAutoFit/>
          </a:bodyPr>
          <a:lstStyle/>
          <a:p>
            <a:pPr algn="l">
              <a:lnSpc>
                <a:spcPct val="125000"/>
              </a:lnSpc>
              <a:spcAft>
                <a:spcPts val="600"/>
              </a:spcAft>
            </a:pPr>
            <a:r>
              <a:rPr sz="1250" b="1" i="0">
                <a:solidFill>
                  <a:srgbClr val="7A3B08"/>
                </a:solidFill>
                <a:latin typeface="Helvetica Neue"/>
              </a:rPr>
              <a:t>2 · Migration and opening balances</a:t>
            </a:r>
          </a:p>
        </p:txBody>
      </p:sp>
      <p:sp>
        <p:nvSpPr>
          <p:cNvPr id="19" name="TextBox 18"/>
          <p:cNvSpPr txBox="1"/>
          <p:nvPr/>
        </p:nvSpPr>
        <p:spPr>
          <a:xfrm>
            <a:off x="6442862" y="2350008"/>
            <a:ext cx="4888382" cy="530352"/>
          </a:xfrm>
          <a:prstGeom prst="rect">
            <a:avLst/>
          </a:prstGeom>
          <a:noFill/>
        </p:spPr>
        <p:txBody>
          <a:bodyPr wrap="square" anchor="t" lIns="0" rIns="0" tIns="0" bIns="0">
            <a:spAutoFit/>
          </a:bodyPr>
          <a:lstStyle/>
          <a:p>
            <a:pPr algn="l">
              <a:lnSpc>
                <a:spcPct val="132000"/>
              </a:lnSpc>
              <a:spcAft>
                <a:spcPts val="600"/>
              </a:spcAft>
            </a:pPr>
            <a:r>
              <a:rPr sz="1050" b="0" i="0">
                <a:solidFill>
                  <a:srgbClr val="333E4F"/>
                </a:solidFill>
                <a:latin typeface="Helvetica Neue"/>
              </a:rPr>
              <a:t>Import prior-year trial balances, open AR/AP, bank history, fixed-asset registers and depreciation schedules. Reconstruct the trial balance and tie it to the prior closing TB per entity — a hard gate. Imported records carry a distinct provenance class.</a:t>
            </a:r>
          </a:p>
        </p:txBody>
      </p:sp>
      <p:sp>
        <p:nvSpPr>
          <p:cNvPr id="20" name="Rounded Rectangle 19"/>
          <p:cNvSpPr/>
          <p:nvPr/>
        </p:nvSpPr>
        <p:spPr>
          <a:xfrm>
            <a:off x="658368" y="3072384"/>
            <a:ext cx="5309006" cy="106070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7824" y="3200400"/>
            <a:ext cx="4888382" cy="256032"/>
          </a:xfrm>
          <a:prstGeom prst="rect">
            <a:avLst/>
          </a:prstGeom>
          <a:noFill/>
        </p:spPr>
        <p:txBody>
          <a:bodyPr wrap="square" anchor="t" lIns="0" rIns="0" tIns="0" bIns="0">
            <a:spAutoFit/>
          </a:bodyPr>
          <a:lstStyle/>
          <a:p>
            <a:pPr algn="l">
              <a:lnSpc>
                <a:spcPct val="125000"/>
              </a:lnSpc>
              <a:spcAft>
                <a:spcPts val="600"/>
              </a:spcAft>
            </a:pPr>
            <a:r>
              <a:rPr sz="1250" b="1" i="0">
                <a:solidFill>
                  <a:srgbClr val="111A27"/>
                </a:solidFill>
                <a:latin typeface="Helvetica Neue"/>
              </a:rPr>
              <a:t>3 · Verification tier 2 and calibration</a:t>
            </a:r>
          </a:p>
        </p:txBody>
      </p:sp>
      <p:sp>
        <p:nvSpPr>
          <p:cNvPr id="22" name="TextBox 21"/>
          <p:cNvSpPr txBox="1"/>
          <p:nvPr/>
        </p:nvSpPr>
        <p:spPr>
          <a:xfrm>
            <a:off x="877824" y="3483864"/>
            <a:ext cx="4888382" cy="530352"/>
          </a:xfrm>
          <a:prstGeom prst="rect">
            <a:avLst/>
          </a:prstGeom>
          <a:noFill/>
        </p:spPr>
        <p:txBody>
          <a:bodyPr wrap="square" anchor="t" lIns="0" rIns="0" tIns="0" bIns="0">
            <a:spAutoFit/>
          </a:bodyPr>
          <a:lstStyle/>
          <a:p>
            <a:pPr algn="l">
              <a:lnSpc>
                <a:spcPct val="132000"/>
              </a:lnSpc>
              <a:spcAft>
                <a:spcPts val="600"/>
              </a:spcAft>
            </a:pPr>
            <a:r>
              <a:rPr sz="1050" b="0" i="0">
                <a:solidFill>
                  <a:srgbClr val="333E4F"/>
                </a:solidFill>
                <a:latin typeface="Helvetica Neue"/>
              </a:rPr>
              <a:t>Variance and pairing checks, distributional anomaly detection, and a calibration harness producing reliability curves per transaction category. Thresholds move only on measured calibration, never on impression.</a:t>
            </a:r>
          </a:p>
        </p:txBody>
      </p:sp>
      <p:sp>
        <p:nvSpPr>
          <p:cNvPr id="23" name="Rounded Rectangle 22"/>
          <p:cNvSpPr/>
          <p:nvPr/>
        </p:nvSpPr>
        <p:spPr>
          <a:xfrm>
            <a:off x="6223406" y="3072384"/>
            <a:ext cx="5309006" cy="106070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42862" y="3200400"/>
            <a:ext cx="4888382" cy="256032"/>
          </a:xfrm>
          <a:prstGeom prst="rect">
            <a:avLst/>
          </a:prstGeom>
          <a:noFill/>
        </p:spPr>
        <p:txBody>
          <a:bodyPr wrap="square" anchor="t" lIns="0" rIns="0" tIns="0" bIns="0">
            <a:spAutoFit/>
          </a:bodyPr>
          <a:lstStyle/>
          <a:p>
            <a:pPr algn="l">
              <a:lnSpc>
                <a:spcPct val="125000"/>
              </a:lnSpc>
              <a:spcAft>
                <a:spcPts val="600"/>
              </a:spcAft>
            </a:pPr>
            <a:r>
              <a:rPr sz="1250" b="1" i="0">
                <a:solidFill>
                  <a:srgbClr val="111A27"/>
                </a:solidFill>
                <a:latin typeface="Helvetica Neue"/>
              </a:rPr>
              <a:t>4 · Durable orchestration of the full close</a:t>
            </a:r>
          </a:p>
        </p:txBody>
      </p:sp>
      <p:sp>
        <p:nvSpPr>
          <p:cNvPr id="25" name="TextBox 24"/>
          <p:cNvSpPr txBox="1"/>
          <p:nvPr/>
        </p:nvSpPr>
        <p:spPr>
          <a:xfrm>
            <a:off x="6442862" y="3483864"/>
            <a:ext cx="4888382" cy="530352"/>
          </a:xfrm>
          <a:prstGeom prst="rect">
            <a:avLst/>
          </a:prstGeom>
          <a:noFill/>
        </p:spPr>
        <p:txBody>
          <a:bodyPr wrap="square" anchor="t" lIns="0" rIns="0" tIns="0" bIns="0">
            <a:spAutoFit/>
          </a:bodyPr>
          <a:lstStyle/>
          <a:p>
            <a:pPr algn="l">
              <a:lnSpc>
                <a:spcPct val="132000"/>
              </a:lnSpc>
              <a:spcAft>
                <a:spcPts val="600"/>
              </a:spcAft>
            </a:pPr>
            <a:r>
              <a:rPr sz="1050" b="0" i="0">
                <a:solidFill>
                  <a:srgbClr val="333E4F"/>
                </a:solidFill>
                <a:latin typeface="Helvetica Neue"/>
              </a:rPr>
              <a:t>The close checklist as a resumable state machine, one instance per entity per period. Human-wait steps with SLA timers and escalation, compensation logic on failure, and checkpointed model decisions so a resume never silently re-decides.</a:t>
            </a:r>
          </a:p>
        </p:txBody>
      </p:sp>
      <p:sp>
        <p:nvSpPr>
          <p:cNvPr id="26" name="Rounded Rectangle 25"/>
          <p:cNvSpPr/>
          <p:nvPr/>
        </p:nvSpPr>
        <p:spPr>
          <a:xfrm>
            <a:off x="658368" y="4206240"/>
            <a:ext cx="5309006" cy="106070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77824" y="4334255"/>
            <a:ext cx="4888382" cy="256032"/>
          </a:xfrm>
          <a:prstGeom prst="rect">
            <a:avLst/>
          </a:prstGeom>
          <a:noFill/>
        </p:spPr>
        <p:txBody>
          <a:bodyPr wrap="square" anchor="t" lIns="0" rIns="0" tIns="0" bIns="0">
            <a:spAutoFit/>
          </a:bodyPr>
          <a:lstStyle/>
          <a:p>
            <a:pPr algn="l">
              <a:lnSpc>
                <a:spcPct val="125000"/>
              </a:lnSpc>
              <a:spcAft>
                <a:spcPts val="600"/>
              </a:spcAft>
            </a:pPr>
            <a:r>
              <a:rPr sz="1250" b="1" i="0">
                <a:solidFill>
                  <a:srgbClr val="111A27"/>
                </a:solidFill>
                <a:latin typeface="Helvetica Neue"/>
              </a:rPr>
              <a:t>5 · Evals at scale</a:t>
            </a:r>
          </a:p>
        </p:txBody>
      </p:sp>
      <p:sp>
        <p:nvSpPr>
          <p:cNvPr id="28" name="TextBox 27"/>
          <p:cNvSpPr txBox="1"/>
          <p:nvPr/>
        </p:nvSpPr>
        <p:spPr>
          <a:xfrm>
            <a:off x="877824" y="4617720"/>
            <a:ext cx="4888382" cy="530352"/>
          </a:xfrm>
          <a:prstGeom prst="rect">
            <a:avLst/>
          </a:prstGeom>
          <a:noFill/>
        </p:spPr>
        <p:txBody>
          <a:bodyPr wrap="square" anchor="t" lIns="0" rIns="0" tIns="0" bIns="0">
            <a:spAutoFit/>
          </a:bodyPr>
          <a:lstStyle/>
          <a:p>
            <a:pPr algn="l">
              <a:lnSpc>
                <a:spcPct val="132000"/>
              </a:lnSpc>
              <a:spcAft>
                <a:spcPts val="600"/>
              </a:spcAft>
            </a:pPr>
            <a:r>
              <a:rPr sz="1050" b="0" i="0">
                <a:solidFill>
                  <a:srgbClr val="333E4F"/>
                </a:solidFill>
                <a:latin typeface="Helvetica Neue"/>
              </a:rPr>
              <a:t>Corpus expansion across entities and periods with per-category labels; replay harness against historical closes; shadow-eval gating on every model change; regression suite in CI with confidence intervals rather than pass/fail.</a:t>
            </a:r>
          </a:p>
        </p:txBody>
      </p:sp>
      <p:sp>
        <p:nvSpPr>
          <p:cNvPr id="29" name="Rounded Rectangle 28"/>
          <p:cNvSpPr/>
          <p:nvPr/>
        </p:nvSpPr>
        <p:spPr>
          <a:xfrm>
            <a:off x="6223406" y="4206240"/>
            <a:ext cx="5309006" cy="106070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42862" y="4334255"/>
            <a:ext cx="4888382" cy="256032"/>
          </a:xfrm>
          <a:prstGeom prst="rect">
            <a:avLst/>
          </a:prstGeom>
          <a:noFill/>
        </p:spPr>
        <p:txBody>
          <a:bodyPr wrap="square" anchor="t" lIns="0" rIns="0" tIns="0" bIns="0">
            <a:spAutoFit/>
          </a:bodyPr>
          <a:lstStyle/>
          <a:p>
            <a:pPr algn="l">
              <a:lnSpc>
                <a:spcPct val="125000"/>
              </a:lnSpc>
              <a:spcAft>
                <a:spcPts val="600"/>
              </a:spcAft>
            </a:pPr>
            <a:r>
              <a:rPr sz="1250" b="1" i="0">
                <a:solidFill>
                  <a:srgbClr val="111A27"/>
                </a:solidFill>
                <a:latin typeface="Helvetica Neue"/>
              </a:rPr>
              <a:t>6 · Exception console throughput</a:t>
            </a:r>
          </a:p>
        </p:txBody>
      </p:sp>
      <p:sp>
        <p:nvSpPr>
          <p:cNvPr id="31" name="TextBox 30"/>
          <p:cNvSpPr txBox="1"/>
          <p:nvPr/>
        </p:nvSpPr>
        <p:spPr>
          <a:xfrm>
            <a:off x="6442862" y="4617720"/>
            <a:ext cx="4888382" cy="530352"/>
          </a:xfrm>
          <a:prstGeom prst="rect">
            <a:avLst/>
          </a:prstGeom>
          <a:noFill/>
        </p:spPr>
        <p:txBody>
          <a:bodyPr wrap="square" anchor="t" lIns="0" rIns="0" tIns="0" bIns="0">
            <a:spAutoFit/>
          </a:bodyPr>
          <a:lstStyle/>
          <a:p>
            <a:pPr algn="l">
              <a:lnSpc>
                <a:spcPct val="132000"/>
              </a:lnSpc>
              <a:spcAft>
                <a:spcPts val="600"/>
              </a:spcAft>
            </a:pPr>
            <a:r>
              <a:rPr sz="1050" b="0" i="0">
                <a:solidFill>
                  <a:srgbClr val="333E4F"/>
                </a:solidFill>
                <a:latin typeface="Helvetica Neue"/>
              </a:rPr>
              <a:t>One surface, built for a reviewer clearing a large queue quickly: keyboard-first, full context inline, no navigation. Every correction becomes a proposed policy rule, reviewed and versioned — not a silent embedding.</a:t>
            </a:r>
          </a:p>
        </p:txBody>
      </p:sp>
      <p:sp>
        <p:nvSpPr>
          <p:cNvPr id="32" name="Rounded Rectangle 31"/>
          <p:cNvSpPr/>
          <p:nvPr/>
        </p:nvSpPr>
        <p:spPr>
          <a:xfrm>
            <a:off x="658368" y="5340096"/>
            <a:ext cx="5309006" cy="106070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77824" y="5468112"/>
            <a:ext cx="4888382" cy="256032"/>
          </a:xfrm>
          <a:prstGeom prst="rect">
            <a:avLst/>
          </a:prstGeom>
          <a:noFill/>
        </p:spPr>
        <p:txBody>
          <a:bodyPr wrap="square" anchor="t" lIns="0" rIns="0" tIns="0" bIns="0">
            <a:spAutoFit/>
          </a:bodyPr>
          <a:lstStyle/>
          <a:p>
            <a:pPr algn="l">
              <a:lnSpc>
                <a:spcPct val="125000"/>
              </a:lnSpc>
              <a:spcAft>
                <a:spcPts val="600"/>
              </a:spcAft>
            </a:pPr>
            <a:r>
              <a:rPr sz="1250" b="1" i="0">
                <a:solidFill>
                  <a:srgbClr val="111A27"/>
                </a:solidFill>
                <a:latin typeface="Helvetica Neue"/>
              </a:rPr>
              <a:t>7 · Controls, audit package and SOC 2</a:t>
            </a:r>
          </a:p>
        </p:txBody>
      </p:sp>
      <p:sp>
        <p:nvSpPr>
          <p:cNvPr id="34" name="TextBox 33"/>
          <p:cNvSpPr txBox="1"/>
          <p:nvPr/>
        </p:nvSpPr>
        <p:spPr>
          <a:xfrm>
            <a:off x="877824" y="5751576"/>
            <a:ext cx="4888382" cy="530352"/>
          </a:xfrm>
          <a:prstGeom prst="rect">
            <a:avLst/>
          </a:prstGeom>
          <a:noFill/>
        </p:spPr>
        <p:txBody>
          <a:bodyPr wrap="square" anchor="t" lIns="0" rIns="0" tIns="0" bIns="0">
            <a:spAutoFit/>
          </a:bodyPr>
          <a:lstStyle/>
          <a:p>
            <a:pPr algn="l">
              <a:lnSpc>
                <a:spcPct val="132000"/>
              </a:lnSpc>
              <a:spcAft>
                <a:spcPts val="600"/>
              </a:spcAft>
            </a:pPr>
            <a:r>
              <a:rPr sz="1050" b="0" i="0">
                <a:solidFill>
                  <a:srgbClr val="333E4F"/>
                </a:solidFill>
                <a:latin typeface="Helvetica Neue"/>
              </a:rPr>
              <a:t>Agent identity and least privilege per task, separation of duties enforced in code, taint tracking on document-derived text, and a one-click audit package (entry to full lineage) built to survive external review. SOC 2 Type II readiness.</a:t>
            </a:r>
          </a:p>
        </p:txBody>
      </p:sp>
      <p:sp>
        <p:nvSpPr>
          <p:cNvPr id="35" name="Rounded Rectangle 34"/>
          <p:cNvSpPr/>
          <p:nvPr/>
        </p:nvSpPr>
        <p:spPr>
          <a:xfrm>
            <a:off x="6223406" y="5340096"/>
            <a:ext cx="5309006" cy="106070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442862" y="5468112"/>
            <a:ext cx="4888382" cy="256032"/>
          </a:xfrm>
          <a:prstGeom prst="rect">
            <a:avLst/>
          </a:prstGeom>
          <a:noFill/>
        </p:spPr>
        <p:txBody>
          <a:bodyPr wrap="square" anchor="t" lIns="0" rIns="0" tIns="0" bIns="0">
            <a:spAutoFit/>
          </a:bodyPr>
          <a:lstStyle/>
          <a:p>
            <a:pPr algn="l">
              <a:lnSpc>
                <a:spcPct val="125000"/>
              </a:lnSpc>
              <a:spcAft>
                <a:spcPts val="600"/>
              </a:spcAft>
            </a:pPr>
            <a:r>
              <a:rPr sz="1250" b="1" i="0">
                <a:solidFill>
                  <a:srgbClr val="111A27"/>
                </a:solidFill>
                <a:latin typeface="Helvetica Neue"/>
              </a:rPr>
              <a:t>8 · Cost telemetry and model routing</a:t>
            </a:r>
          </a:p>
        </p:txBody>
      </p:sp>
      <p:sp>
        <p:nvSpPr>
          <p:cNvPr id="37" name="TextBox 36"/>
          <p:cNvSpPr txBox="1"/>
          <p:nvPr/>
        </p:nvSpPr>
        <p:spPr>
          <a:xfrm>
            <a:off x="6442862" y="5751576"/>
            <a:ext cx="4888382" cy="530352"/>
          </a:xfrm>
          <a:prstGeom prst="rect">
            <a:avLst/>
          </a:prstGeom>
          <a:noFill/>
        </p:spPr>
        <p:txBody>
          <a:bodyPr wrap="square" anchor="t" lIns="0" rIns="0" tIns="0" bIns="0">
            <a:spAutoFit/>
          </a:bodyPr>
          <a:lstStyle/>
          <a:p>
            <a:pPr algn="l">
              <a:lnSpc>
                <a:spcPct val="132000"/>
              </a:lnSpc>
              <a:spcAft>
                <a:spcPts val="600"/>
              </a:spcAft>
            </a:pPr>
            <a:r>
              <a:rPr sz="1050" b="0" i="0">
                <a:solidFill>
                  <a:srgbClr val="333E4F"/>
                </a:solidFill>
                <a:latin typeface="Helvetica Neue"/>
              </a:rPr>
              <a:t>Per-entity, per-close token accounting; cheap models for extraction and classification, expensive ones for judgment; aggressive caching. Cost per close visible per entity and per category, tracked against loaded labour cost.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15</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PHASE 2 · INVESTMENT</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What phase 2 requires, and what gates each workstream</a:t>
            </a:r>
          </a:p>
        </p:txBody>
      </p:sp>
      <p:graphicFrame>
        <p:nvGraphicFramePr>
          <p:cNvPr id="5" name="Table 4"/>
          <p:cNvGraphicFramePr>
            <a:graphicFrameLocks noGrp="1"/>
          </p:cNvGraphicFramePr>
          <p:nvPr/>
        </p:nvGraphicFramePr>
        <p:xfrm>
          <a:off x="658368" y="1783080"/>
          <a:ext cx="10872216" cy="3127248"/>
        </p:xfrm>
        <a:graphic>
          <a:graphicData uri="http://schemas.openxmlformats.org/drawingml/2006/table">
            <a:tbl>
              <a:tblPr>
                <a:tableStyleId>{5C22544A-7EE6-4342-B048-85BDC9FD1C3A}</a:tableStyleId>
              </a:tblPr>
              <a:tblGrid>
                <a:gridCol w="2926080"/>
                <a:gridCol w="566928"/>
                <a:gridCol w="777240"/>
                <a:gridCol w="6601968"/>
              </a:tblGrid>
              <a:tr h="384048">
                <a:tc>
                  <a:txBody>
                    <a:bodyPr wrap="square"/>
                    <a:lstStyle/>
                    <a:p>
                      <a:r>
                        <a:rPr sz="1100" b="1">
                          <a:solidFill>
                            <a:srgbClr val="FFFFFF"/>
                          </a:solidFill>
                          <a:latin typeface="Helvetica Neue"/>
                        </a:rPr>
                        <a:t>Workstream</a:t>
                      </a:r>
                    </a:p>
                  </a:txBody>
                  <a:tcPr marL="91440" marR="73152" marT="36576" marB="36576" anchor="ctr">
                    <a:solidFill>
                      <a:srgbClr val="111A27"/>
                    </a:solidFill>
                  </a:tcPr>
                </a:tc>
                <a:tc>
                  <a:txBody>
                    <a:bodyPr wrap="square"/>
                    <a:lstStyle/>
                    <a:p>
                      <a:r>
                        <a:rPr sz="1100" b="1">
                          <a:solidFill>
                            <a:srgbClr val="FFFFFF"/>
                          </a:solidFill>
                          <a:latin typeface="Helvetica Neue"/>
                        </a:rPr>
                        <a:t>FTE</a:t>
                      </a:r>
                    </a:p>
                  </a:txBody>
                  <a:tcPr marL="91440" marR="73152" marT="36576" marB="36576" anchor="ctr">
                    <a:solidFill>
                      <a:srgbClr val="111A27"/>
                    </a:solidFill>
                  </a:tcPr>
                </a:tc>
                <a:tc>
                  <a:txBody>
                    <a:bodyPr wrap="square"/>
                    <a:lstStyle/>
                    <a:p>
                      <a:r>
                        <a:rPr sz="1100" b="1">
                          <a:solidFill>
                            <a:srgbClr val="FFFFFF"/>
                          </a:solidFill>
                          <a:latin typeface="Helvetica Neue"/>
                        </a:rPr>
                        <a:t>Window</a:t>
                      </a:r>
                    </a:p>
                  </a:txBody>
                  <a:tcPr marL="91440" marR="73152" marT="36576" marB="36576" anchor="ctr">
                    <a:solidFill>
                      <a:srgbClr val="111A27"/>
                    </a:solidFill>
                  </a:tcPr>
                </a:tc>
                <a:tc>
                  <a:txBody>
                    <a:bodyPr wrap="square"/>
                    <a:lstStyle/>
                    <a:p>
                      <a:r>
                        <a:rPr sz="1100" b="1">
                          <a:solidFill>
                            <a:srgbClr val="FFFFFF"/>
                          </a:solidFill>
                          <a:latin typeface="Helvetica Neue"/>
                        </a:rPr>
                        <a:t>The gate it must pass</a:t>
                      </a:r>
                    </a:p>
                  </a:txBody>
                  <a:tcPr marL="91440" marR="73152" marT="36576" marB="36576" anchor="ctr">
                    <a:solidFill>
                      <a:srgbClr val="111A27"/>
                    </a:solidFill>
                  </a:tcPr>
                </a:tc>
              </a:tr>
              <a:tr h="342900">
                <a:tc>
                  <a:txBody>
                    <a:bodyPr wrap="square"/>
                    <a:lstStyle/>
                    <a:p>
                      <a:r>
                        <a:rPr sz="1100" b="1">
                          <a:solidFill>
                            <a:srgbClr val="111A27"/>
                          </a:solidFill>
                          <a:latin typeface="Helvetica Neue"/>
                        </a:rPr>
                        <a:t>1 · Ledger cutover, dual-write</a:t>
                      </a:r>
                    </a:p>
                  </a:txBody>
                  <a:tcPr marL="91440" marR="73152" marT="36576" marB="36576" anchor="ctr">
                    <a:solidFill>
                      <a:srgbClr val="FFFFFF"/>
                    </a:solidFill>
                  </a:tcPr>
                </a:tc>
                <a:tc>
                  <a:txBody>
                    <a:bodyPr wrap="square"/>
                    <a:lstStyle/>
                    <a:p>
                      <a:r>
                        <a:rPr sz="1100">
                          <a:solidFill>
                            <a:srgbClr val="333E4F"/>
                          </a:solidFill>
                          <a:latin typeface="Helvetica Neue"/>
                        </a:rPr>
                        <a:t>3</a:t>
                      </a:r>
                    </a:p>
                  </a:txBody>
                  <a:tcPr marL="91440" marR="73152" marT="36576" marB="36576" anchor="ctr">
                    <a:solidFill>
                      <a:srgbClr val="FFFFFF"/>
                    </a:solidFill>
                  </a:tcPr>
                </a:tc>
                <a:tc>
                  <a:txBody>
                    <a:bodyPr wrap="square"/>
                    <a:lstStyle/>
                    <a:p>
                      <a:r>
                        <a:rPr sz="1100">
                          <a:solidFill>
                            <a:srgbClr val="333E4F"/>
                          </a:solidFill>
                          <a:latin typeface="Helvetica Neue"/>
                        </a:rPr>
                        <a:t>m0–m6</a:t>
                      </a:r>
                    </a:p>
                  </a:txBody>
                  <a:tcPr marL="91440" marR="73152" marT="36576" marB="36576" anchor="ctr">
                    <a:solidFill>
                      <a:srgbClr val="FFFFFF"/>
                    </a:solidFill>
                  </a:tcPr>
                </a:tc>
                <a:tc>
                  <a:txBody>
                    <a:bodyPr wrap="square"/>
                    <a:lstStyle/>
                    <a:p>
                      <a:r>
                        <a:rPr sz="1100">
                          <a:solidFill>
                            <a:srgbClr val="333E4F"/>
                          </a:solidFill>
                          <a:latin typeface="Helvetica Neue"/>
                        </a:rPr>
                        <a:t>Zero automated diff across three consecutive closes before primary flips</a:t>
                      </a:r>
                    </a:p>
                  </a:txBody>
                  <a:tcPr marL="91440" marR="73152" marT="36576" marB="36576" anchor="ctr">
                    <a:solidFill>
                      <a:srgbClr val="FFFFFF"/>
                    </a:solidFill>
                  </a:tcPr>
                </a:tc>
              </a:tr>
              <a:tr h="342900">
                <a:tc>
                  <a:txBody>
                    <a:bodyPr wrap="square"/>
                    <a:lstStyle/>
                    <a:p>
                      <a:r>
                        <a:rPr sz="1100" b="1">
                          <a:solidFill>
                            <a:srgbClr val="111A27"/>
                          </a:solidFill>
                          <a:latin typeface="Helvetica Neue"/>
                        </a:rPr>
                        <a:t>2 · Migration, opening balances</a:t>
                      </a:r>
                    </a:p>
                  </a:txBody>
                  <a:tcPr marL="91440" marR="73152" marT="36576" marB="36576" anchor="ctr">
                    <a:solidFill>
                      <a:srgbClr val="F3F6F8"/>
                    </a:solidFill>
                  </a:tcPr>
                </a:tc>
                <a:tc>
                  <a:txBody>
                    <a:bodyPr wrap="square"/>
                    <a:lstStyle/>
                    <a:p>
                      <a:r>
                        <a:rPr sz="1100">
                          <a:solidFill>
                            <a:srgbClr val="333E4F"/>
                          </a:solidFill>
                          <a:latin typeface="Helvetica Neue"/>
                        </a:rPr>
                        <a:t>2</a:t>
                      </a:r>
                    </a:p>
                  </a:txBody>
                  <a:tcPr marL="91440" marR="73152" marT="36576" marB="36576" anchor="ctr">
                    <a:solidFill>
                      <a:srgbClr val="F3F6F8"/>
                    </a:solidFill>
                  </a:tcPr>
                </a:tc>
                <a:tc>
                  <a:txBody>
                    <a:bodyPr wrap="square"/>
                    <a:lstStyle/>
                    <a:p>
                      <a:r>
                        <a:rPr sz="1100">
                          <a:solidFill>
                            <a:srgbClr val="333E4F"/>
                          </a:solidFill>
                          <a:latin typeface="Helvetica Neue"/>
                        </a:rPr>
                        <a:t>m0–m9</a:t>
                      </a:r>
                    </a:p>
                  </a:txBody>
                  <a:tcPr marL="91440" marR="73152" marT="36576" marB="36576" anchor="ctr">
                    <a:solidFill>
                      <a:srgbClr val="F3F6F8"/>
                    </a:solidFill>
                  </a:tcPr>
                </a:tc>
                <a:tc>
                  <a:txBody>
                    <a:bodyPr wrap="square"/>
                    <a:lstStyle/>
                    <a:p>
                      <a:r>
                        <a:rPr sz="1100">
                          <a:solidFill>
                            <a:srgbClr val="333E4F"/>
                          </a:solidFill>
                          <a:latin typeface="Helvetica Neue"/>
                        </a:rPr>
                        <a:t>Reconstructed TB ties to prior closing TB, per entity, no manual plug</a:t>
                      </a:r>
                    </a:p>
                  </a:txBody>
                  <a:tcPr marL="91440" marR="73152" marT="36576" marB="36576" anchor="ctr">
                    <a:solidFill>
                      <a:srgbClr val="F3F6F8"/>
                    </a:solidFill>
                  </a:tcPr>
                </a:tc>
              </a:tr>
              <a:tr h="342900">
                <a:tc>
                  <a:txBody>
                    <a:bodyPr wrap="square"/>
                    <a:lstStyle/>
                    <a:p>
                      <a:r>
                        <a:rPr sz="1100" b="1">
                          <a:solidFill>
                            <a:srgbClr val="111A27"/>
                          </a:solidFill>
                          <a:latin typeface="Helvetica Neue"/>
                        </a:rPr>
                        <a:t>3 · Verification tier 2, calibration</a:t>
                      </a:r>
                    </a:p>
                  </a:txBody>
                  <a:tcPr marL="91440" marR="73152" marT="36576" marB="36576" anchor="ctr">
                    <a:solidFill>
                      <a:srgbClr val="FFFFFF"/>
                    </a:solidFill>
                  </a:tcPr>
                </a:tc>
                <a:tc>
                  <a:txBody>
                    <a:bodyPr wrap="square"/>
                    <a:lstStyle/>
                    <a:p>
                      <a:r>
                        <a:rPr sz="1100">
                          <a:solidFill>
                            <a:srgbClr val="333E4F"/>
                          </a:solidFill>
                          <a:latin typeface="Helvetica Neue"/>
                        </a:rPr>
                        <a:t>2</a:t>
                      </a:r>
                    </a:p>
                  </a:txBody>
                  <a:tcPr marL="91440" marR="73152" marT="36576" marB="36576" anchor="ctr">
                    <a:solidFill>
                      <a:srgbClr val="FFFFFF"/>
                    </a:solidFill>
                  </a:tcPr>
                </a:tc>
                <a:tc>
                  <a:txBody>
                    <a:bodyPr wrap="square"/>
                    <a:lstStyle/>
                    <a:p>
                      <a:r>
                        <a:rPr sz="1100">
                          <a:solidFill>
                            <a:srgbClr val="333E4F"/>
                          </a:solidFill>
                          <a:latin typeface="Helvetica Neue"/>
                        </a:rPr>
                        <a:t>m2–m8</a:t>
                      </a:r>
                    </a:p>
                  </a:txBody>
                  <a:tcPr marL="91440" marR="73152" marT="36576" marB="36576" anchor="ctr">
                    <a:solidFill>
                      <a:srgbClr val="FFFFFF"/>
                    </a:solidFill>
                  </a:tcPr>
                </a:tc>
                <a:tc>
                  <a:txBody>
                    <a:bodyPr wrap="square"/>
                    <a:lstStyle/>
                    <a:p>
                      <a:r>
                        <a:rPr sz="1100">
                          <a:solidFill>
                            <a:srgbClr val="333E4F"/>
                          </a:solidFill>
                          <a:latin typeface="Helvetica Neue"/>
                        </a:rPr>
                        <a:t>Calibration error under [Y] on the top five transaction categories</a:t>
                      </a:r>
                    </a:p>
                  </a:txBody>
                  <a:tcPr marL="91440" marR="73152" marT="36576" marB="36576" anchor="ctr">
                    <a:solidFill>
                      <a:srgbClr val="FFFFFF"/>
                    </a:solidFill>
                  </a:tcPr>
                </a:tc>
              </a:tr>
              <a:tr h="342900">
                <a:tc>
                  <a:txBody>
                    <a:bodyPr wrap="square"/>
                    <a:lstStyle/>
                    <a:p>
                      <a:r>
                        <a:rPr sz="1100" b="1">
                          <a:solidFill>
                            <a:srgbClr val="111A27"/>
                          </a:solidFill>
                          <a:latin typeface="Helvetica Neue"/>
                        </a:rPr>
                        <a:t>4 · Durable close orchestration</a:t>
                      </a:r>
                    </a:p>
                  </a:txBody>
                  <a:tcPr marL="91440" marR="73152" marT="36576" marB="36576" anchor="ctr">
                    <a:solidFill>
                      <a:srgbClr val="F3F6F8"/>
                    </a:solidFill>
                  </a:tcPr>
                </a:tc>
                <a:tc>
                  <a:txBody>
                    <a:bodyPr wrap="square"/>
                    <a:lstStyle/>
                    <a:p>
                      <a:r>
                        <a:rPr sz="1100">
                          <a:solidFill>
                            <a:srgbClr val="333E4F"/>
                          </a:solidFill>
                          <a:latin typeface="Helvetica Neue"/>
                        </a:rPr>
                        <a:t>2</a:t>
                      </a:r>
                    </a:p>
                  </a:txBody>
                  <a:tcPr marL="91440" marR="73152" marT="36576" marB="36576" anchor="ctr">
                    <a:solidFill>
                      <a:srgbClr val="F3F6F8"/>
                    </a:solidFill>
                  </a:tcPr>
                </a:tc>
                <a:tc>
                  <a:txBody>
                    <a:bodyPr wrap="square"/>
                    <a:lstStyle/>
                    <a:p>
                      <a:r>
                        <a:rPr sz="1100">
                          <a:solidFill>
                            <a:srgbClr val="333E4F"/>
                          </a:solidFill>
                          <a:latin typeface="Helvetica Neue"/>
                        </a:rPr>
                        <a:t>m3–m10</a:t>
                      </a:r>
                    </a:p>
                  </a:txBody>
                  <a:tcPr marL="91440" marR="73152" marT="36576" marB="36576" anchor="ctr">
                    <a:solidFill>
                      <a:srgbClr val="F3F6F8"/>
                    </a:solidFill>
                  </a:tcPr>
                </a:tc>
                <a:tc>
                  <a:txBody>
                    <a:bodyPr wrap="square"/>
                    <a:lstStyle/>
                    <a:p>
                      <a:r>
                        <a:rPr sz="1100">
                          <a:solidFill>
                            <a:srgbClr val="333E4F"/>
                          </a:solidFill>
                          <a:latin typeface="Helvetica Neue"/>
                        </a:rPr>
                        <a:t>Full checklist resumable; no re-decision on resume, proven by replay</a:t>
                      </a:r>
                    </a:p>
                  </a:txBody>
                  <a:tcPr marL="91440" marR="73152" marT="36576" marB="36576" anchor="ctr">
                    <a:solidFill>
                      <a:srgbClr val="F3F6F8"/>
                    </a:solidFill>
                  </a:tcPr>
                </a:tc>
              </a:tr>
              <a:tr h="342900">
                <a:tc>
                  <a:txBody>
                    <a:bodyPr wrap="square"/>
                    <a:lstStyle/>
                    <a:p>
                      <a:r>
                        <a:rPr sz="1100" b="1">
                          <a:solidFill>
                            <a:srgbClr val="111A27"/>
                          </a:solidFill>
                          <a:latin typeface="Helvetica Neue"/>
                        </a:rPr>
                        <a:t>5 · Evals at scale</a:t>
                      </a:r>
                    </a:p>
                  </a:txBody>
                  <a:tcPr marL="91440" marR="73152" marT="36576" marB="36576" anchor="ctr">
                    <a:solidFill>
                      <a:srgbClr val="FFFFFF"/>
                    </a:solidFill>
                  </a:tcPr>
                </a:tc>
                <a:tc>
                  <a:txBody>
                    <a:bodyPr wrap="square"/>
                    <a:lstStyle/>
                    <a:p>
                      <a:r>
                        <a:rPr sz="1100">
                          <a:solidFill>
                            <a:srgbClr val="333E4F"/>
                          </a:solidFill>
                          <a:latin typeface="Helvetica Neue"/>
                        </a:rPr>
                        <a:t>3</a:t>
                      </a:r>
                    </a:p>
                  </a:txBody>
                  <a:tcPr marL="91440" marR="73152" marT="36576" marB="36576" anchor="ctr">
                    <a:solidFill>
                      <a:srgbClr val="FFFFFF"/>
                    </a:solidFill>
                  </a:tcPr>
                </a:tc>
                <a:tc>
                  <a:txBody>
                    <a:bodyPr wrap="square"/>
                    <a:lstStyle/>
                    <a:p>
                      <a:r>
                        <a:rPr sz="1100">
                          <a:solidFill>
                            <a:srgbClr val="333E4F"/>
                          </a:solidFill>
                          <a:latin typeface="Helvetica Neue"/>
                        </a:rPr>
                        <a:t>m0–m12</a:t>
                      </a:r>
                    </a:p>
                  </a:txBody>
                  <a:tcPr marL="91440" marR="73152" marT="36576" marB="36576" anchor="ctr">
                    <a:solidFill>
                      <a:srgbClr val="FFFFFF"/>
                    </a:solidFill>
                  </a:tcPr>
                </a:tc>
                <a:tc>
                  <a:txBody>
                    <a:bodyPr wrap="square"/>
                    <a:lstStyle/>
                    <a:p>
                      <a:r>
                        <a:rPr sz="1100">
                          <a:solidFill>
                            <a:srgbClr val="333E4F"/>
                          </a:solidFill>
                          <a:latin typeface="Helvetica Neue"/>
                        </a:rPr>
                        <a:t>Every model change gated by corpus regression before it reaches an engagement</a:t>
                      </a:r>
                    </a:p>
                  </a:txBody>
                  <a:tcPr marL="91440" marR="73152" marT="36576" marB="36576" anchor="ctr">
                    <a:solidFill>
                      <a:srgbClr val="FFFFFF"/>
                    </a:solidFill>
                  </a:tcPr>
                </a:tc>
              </a:tr>
              <a:tr h="342900">
                <a:tc>
                  <a:txBody>
                    <a:bodyPr wrap="square"/>
                    <a:lstStyle/>
                    <a:p>
                      <a:r>
                        <a:rPr sz="1100" b="1">
                          <a:solidFill>
                            <a:srgbClr val="111A27"/>
                          </a:solidFill>
                          <a:latin typeface="Helvetica Neue"/>
                        </a:rPr>
                        <a:t>6 · Exception console</a:t>
                      </a:r>
                    </a:p>
                  </a:txBody>
                  <a:tcPr marL="91440" marR="73152" marT="36576" marB="36576" anchor="ctr">
                    <a:solidFill>
                      <a:srgbClr val="F3F6F8"/>
                    </a:solidFill>
                  </a:tcPr>
                </a:tc>
                <a:tc>
                  <a:txBody>
                    <a:bodyPr wrap="square"/>
                    <a:lstStyle/>
                    <a:p>
                      <a:r>
                        <a:rPr sz="1100">
                          <a:solidFill>
                            <a:srgbClr val="333E4F"/>
                          </a:solidFill>
                          <a:latin typeface="Helvetica Neue"/>
                        </a:rPr>
                        <a:t>2</a:t>
                      </a:r>
                    </a:p>
                  </a:txBody>
                  <a:tcPr marL="91440" marR="73152" marT="36576" marB="36576" anchor="ctr">
                    <a:solidFill>
                      <a:srgbClr val="F3F6F8"/>
                    </a:solidFill>
                  </a:tcPr>
                </a:tc>
                <a:tc>
                  <a:txBody>
                    <a:bodyPr wrap="square"/>
                    <a:lstStyle/>
                    <a:p>
                      <a:r>
                        <a:rPr sz="1100">
                          <a:solidFill>
                            <a:srgbClr val="333E4F"/>
                          </a:solidFill>
                          <a:latin typeface="Helvetica Neue"/>
                        </a:rPr>
                        <a:t>m4–m10</a:t>
                      </a:r>
                    </a:p>
                  </a:txBody>
                  <a:tcPr marL="91440" marR="73152" marT="36576" marB="36576" anchor="ctr">
                    <a:solidFill>
                      <a:srgbClr val="F3F6F8"/>
                    </a:solidFill>
                  </a:tcPr>
                </a:tc>
                <a:tc>
                  <a:txBody>
                    <a:bodyPr wrap="square"/>
                    <a:lstStyle/>
                    <a:p>
                      <a:r>
                        <a:rPr sz="1100">
                          <a:solidFill>
                            <a:srgbClr val="333E4F"/>
                          </a:solidFill>
                          <a:latin typeface="Helvetica Neue"/>
                        </a:rPr>
                        <a:t>Reviewer clears [N] items/hour at no measured loss of accuracy</a:t>
                      </a:r>
                    </a:p>
                  </a:txBody>
                  <a:tcPr marL="91440" marR="73152" marT="36576" marB="36576" anchor="ctr">
                    <a:solidFill>
                      <a:srgbClr val="F3F6F8"/>
                    </a:solidFill>
                  </a:tcPr>
                </a:tc>
              </a:tr>
              <a:tr h="342900">
                <a:tc>
                  <a:txBody>
                    <a:bodyPr wrap="square"/>
                    <a:lstStyle/>
                    <a:p>
                      <a:r>
                        <a:rPr sz="1100" b="1">
                          <a:solidFill>
                            <a:srgbClr val="111A27"/>
                          </a:solidFill>
                          <a:latin typeface="Helvetica Neue"/>
                        </a:rPr>
                        <a:t>7 · Controls, audit package, SOC 2</a:t>
                      </a:r>
                    </a:p>
                  </a:txBody>
                  <a:tcPr marL="91440" marR="73152" marT="36576" marB="36576" anchor="ctr">
                    <a:solidFill>
                      <a:srgbClr val="FFFFFF"/>
                    </a:solidFill>
                  </a:tcPr>
                </a:tc>
                <a:tc>
                  <a:txBody>
                    <a:bodyPr wrap="square"/>
                    <a:lstStyle/>
                    <a:p>
                      <a:r>
                        <a:rPr sz="1100">
                          <a:solidFill>
                            <a:srgbClr val="333E4F"/>
                          </a:solidFill>
                          <a:latin typeface="Helvetica Neue"/>
                        </a:rPr>
                        <a:t>1.5</a:t>
                      </a:r>
                    </a:p>
                  </a:txBody>
                  <a:tcPr marL="91440" marR="73152" marT="36576" marB="36576" anchor="ctr">
                    <a:solidFill>
                      <a:srgbClr val="FFFFFF"/>
                    </a:solidFill>
                  </a:tcPr>
                </a:tc>
                <a:tc>
                  <a:txBody>
                    <a:bodyPr wrap="square"/>
                    <a:lstStyle/>
                    <a:p>
                      <a:r>
                        <a:rPr sz="1100">
                          <a:solidFill>
                            <a:srgbClr val="333E4F"/>
                          </a:solidFill>
                          <a:latin typeface="Helvetica Neue"/>
                        </a:rPr>
                        <a:t>m3–m12</a:t>
                      </a:r>
                    </a:p>
                  </a:txBody>
                  <a:tcPr marL="91440" marR="73152" marT="36576" marB="36576" anchor="ctr">
                    <a:solidFill>
                      <a:srgbClr val="FFFFFF"/>
                    </a:solidFill>
                  </a:tcPr>
                </a:tc>
                <a:tc>
                  <a:txBody>
                    <a:bodyPr wrap="square"/>
                    <a:lstStyle/>
                    <a:p>
                      <a:r>
                        <a:rPr sz="1100">
                          <a:solidFill>
                            <a:srgbClr val="333E4F"/>
                          </a:solidFill>
                          <a:latin typeface="Helvetica Neue"/>
                        </a:rPr>
                        <a:t>One external review accepts the audit package unmodified</a:t>
                      </a:r>
                    </a:p>
                  </a:txBody>
                  <a:tcPr marL="91440" marR="73152" marT="36576" marB="36576" anchor="ctr">
                    <a:solidFill>
                      <a:srgbClr val="FFFFFF"/>
                    </a:solidFill>
                  </a:tcPr>
                </a:tc>
              </a:tr>
              <a:tr h="342900">
                <a:tc>
                  <a:txBody>
                    <a:bodyPr wrap="square"/>
                    <a:lstStyle/>
                    <a:p>
                      <a:r>
                        <a:rPr sz="1100" b="1">
                          <a:solidFill>
                            <a:srgbClr val="111A27"/>
                          </a:solidFill>
                          <a:latin typeface="Helvetica Neue"/>
                        </a:rPr>
                        <a:t>8 · Cost telemetry, model routing</a:t>
                      </a:r>
                    </a:p>
                  </a:txBody>
                  <a:tcPr marL="91440" marR="73152" marT="36576" marB="36576" anchor="ctr">
                    <a:solidFill>
                      <a:srgbClr val="F3F6F8"/>
                    </a:solidFill>
                  </a:tcPr>
                </a:tc>
                <a:tc>
                  <a:txBody>
                    <a:bodyPr wrap="square"/>
                    <a:lstStyle/>
                    <a:p>
                      <a:r>
                        <a:rPr sz="1100">
                          <a:solidFill>
                            <a:srgbClr val="333E4F"/>
                          </a:solidFill>
                          <a:latin typeface="Helvetica Neue"/>
                        </a:rPr>
                        <a:t>1</a:t>
                      </a:r>
                    </a:p>
                  </a:txBody>
                  <a:tcPr marL="91440" marR="73152" marT="36576" marB="36576" anchor="ctr">
                    <a:solidFill>
                      <a:srgbClr val="F3F6F8"/>
                    </a:solidFill>
                  </a:tcPr>
                </a:tc>
                <a:tc>
                  <a:txBody>
                    <a:bodyPr wrap="square"/>
                    <a:lstStyle/>
                    <a:p>
                      <a:r>
                        <a:rPr sz="1100">
                          <a:solidFill>
                            <a:srgbClr val="333E4F"/>
                          </a:solidFill>
                          <a:latin typeface="Helvetica Neue"/>
                        </a:rPr>
                        <a:t>m2–m6</a:t>
                      </a:r>
                    </a:p>
                  </a:txBody>
                  <a:tcPr marL="91440" marR="73152" marT="36576" marB="36576" anchor="ctr">
                    <a:solidFill>
                      <a:srgbClr val="F3F6F8"/>
                    </a:solidFill>
                  </a:tcPr>
                </a:tc>
                <a:tc>
                  <a:txBody>
                    <a:bodyPr wrap="square"/>
                    <a:lstStyle/>
                    <a:p>
                      <a:r>
                        <a:rPr sz="1100">
                          <a:solidFill>
                            <a:srgbClr val="333E4F"/>
                          </a:solidFill>
                          <a:latin typeface="Helvetica Neue"/>
                        </a:rPr>
                        <a:t>Cost per close visible per entity and per category, live</a:t>
                      </a:r>
                    </a:p>
                  </a:txBody>
                  <a:tcPr marL="91440" marR="73152" marT="36576" marB="36576" anchor="ctr">
                    <a:solidFill>
                      <a:srgbClr val="F3F6F8"/>
                    </a:solidFill>
                  </a:tcPr>
                </a:tc>
              </a:tr>
            </a:tbl>
          </a:graphicData>
        </a:graphic>
      </p:graphicFrame>
      <p:sp>
        <p:nvSpPr>
          <p:cNvPr id="6" name="Rounded Rectangle 5"/>
          <p:cNvSpPr/>
          <p:nvPr/>
        </p:nvSpPr>
        <p:spPr>
          <a:xfrm>
            <a:off x="658368" y="4956048"/>
            <a:ext cx="3465576" cy="146304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6112" y="5120640"/>
            <a:ext cx="301752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6B7688"/>
                </a:solidFill>
                <a:latin typeface="Helvetica Neue"/>
              </a:rPr>
              <a:t>ENGINEERING</a:t>
            </a:r>
          </a:p>
        </p:txBody>
      </p:sp>
      <p:sp>
        <p:nvSpPr>
          <p:cNvPr id="8" name="TextBox 7"/>
          <p:cNvSpPr txBox="1"/>
          <p:nvPr/>
        </p:nvSpPr>
        <p:spPr>
          <a:xfrm>
            <a:off x="896112" y="5413248"/>
            <a:ext cx="3017520" cy="868680"/>
          </a:xfrm>
          <a:prstGeom prst="rect">
            <a:avLst/>
          </a:prstGeom>
          <a:noFill/>
        </p:spPr>
        <p:txBody>
          <a:bodyPr wrap="square" anchor="t" lIns="0" rIns="0" tIns="0" bIns="0">
            <a:spAutoFit/>
          </a:bodyPr>
          <a:lstStyle/>
          <a:p>
            <a:pPr algn="l">
              <a:lnSpc>
                <a:spcPct val="135000"/>
              </a:lnSpc>
              <a:spcAft>
                <a:spcPts val="600"/>
              </a:spcAft>
            </a:pPr>
            <a:r>
              <a:rPr sz="1150" b="0" i="0">
                <a:solidFill>
                  <a:srgbClr val="333E4F"/>
                </a:solidFill>
                <a:latin typeface="Helvetica Neue"/>
              </a:rPr>
              <a:t>~16.5 FTE across 12 months. Weighted to substrate, evals and controls — not to the agent layer, which is [1.5] of that total.</a:t>
            </a:r>
          </a:p>
        </p:txBody>
      </p:sp>
      <p:sp>
        <p:nvSpPr>
          <p:cNvPr id="9" name="Rounded Rectangle 8"/>
          <p:cNvSpPr/>
          <p:nvPr/>
        </p:nvSpPr>
        <p:spPr>
          <a:xfrm>
            <a:off x="4379976" y="4956048"/>
            <a:ext cx="3465576" cy="146304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7720" y="5120640"/>
            <a:ext cx="301752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6B7688"/>
                </a:solidFill>
                <a:latin typeface="Helvetica Neue"/>
              </a:rPr>
              <a:t>FIRM-SIDE, NON-ENGINEERING</a:t>
            </a:r>
          </a:p>
        </p:txBody>
      </p:sp>
      <p:sp>
        <p:nvSpPr>
          <p:cNvPr id="11" name="TextBox 10"/>
          <p:cNvSpPr txBox="1"/>
          <p:nvPr/>
        </p:nvSpPr>
        <p:spPr>
          <a:xfrm>
            <a:off x="4617720" y="5413248"/>
            <a:ext cx="3017520" cy="868680"/>
          </a:xfrm>
          <a:prstGeom prst="rect">
            <a:avLst/>
          </a:prstGeom>
          <a:noFill/>
        </p:spPr>
        <p:txBody>
          <a:bodyPr wrap="square" anchor="t" lIns="0" rIns="0" tIns="0" bIns="0">
            <a:spAutoFit/>
          </a:bodyPr>
          <a:lstStyle/>
          <a:p>
            <a:pPr algn="l">
              <a:lnSpc>
                <a:spcPct val="135000"/>
              </a:lnSpc>
              <a:spcAft>
                <a:spcPts val="600"/>
              </a:spcAft>
            </a:pPr>
            <a:r>
              <a:rPr sz="1150" b="0" i="0">
                <a:solidFill>
                  <a:srgbClr val="333E4F"/>
                </a:solidFill>
                <a:latin typeface="Helvetica Neue"/>
              </a:rPr>
              <a:t>[6–10] accountants in the loop: delivery, labelling and spec authorship at once. Senior review time to label the corpus is a real cost — budget it explicitly.</a:t>
            </a:r>
          </a:p>
        </p:txBody>
      </p:sp>
      <p:sp>
        <p:nvSpPr>
          <p:cNvPr id="12" name="Rounded Rectangle 11"/>
          <p:cNvSpPr/>
          <p:nvPr/>
        </p:nvSpPr>
        <p:spPr>
          <a:xfrm>
            <a:off x="8101584" y="4956048"/>
            <a:ext cx="3429000" cy="146304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39328" y="5120640"/>
            <a:ext cx="297180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B45309"/>
                </a:solidFill>
                <a:latin typeface="Helvetica Neue"/>
              </a:rPr>
              <a:t>NON-HEADCOUNT</a:t>
            </a:r>
          </a:p>
        </p:txBody>
      </p:sp>
      <p:sp>
        <p:nvSpPr>
          <p:cNvPr id="14" name="TextBox 13"/>
          <p:cNvSpPr txBox="1"/>
          <p:nvPr/>
        </p:nvSpPr>
        <p:spPr>
          <a:xfrm>
            <a:off x="8339328" y="5413248"/>
            <a:ext cx="2971800" cy="868680"/>
          </a:xfrm>
          <a:prstGeom prst="rect">
            <a:avLst/>
          </a:prstGeom>
          <a:noFill/>
        </p:spPr>
        <p:txBody>
          <a:bodyPr wrap="square" anchor="t" lIns="0" rIns="0" tIns="0" bIns="0">
            <a:spAutoFit/>
          </a:bodyPr>
          <a:lstStyle/>
          <a:p>
            <a:pPr algn="l">
              <a:lnSpc>
                <a:spcPct val="135000"/>
              </a:lnSpc>
              <a:spcAft>
                <a:spcPts val="600"/>
              </a:spcAft>
            </a:pPr>
            <a:r>
              <a:rPr sz="1150" b="0" i="0">
                <a:solidFill>
                  <a:srgbClr val="7A3B08"/>
                </a:solidFill>
                <a:latin typeface="Helvetica Neue"/>
              </a:rPr>
              <a:t>Inference is COGS, not R&amp;D · SOC 2 Type II audit · E&amp;O and liability review · data infrastructure · engagement-letter and consent work</a:t>
            </a:r>
          </a:p>
        </p:txBody>
      </p:sp>
      <p:sp>
        <p:nvSpPr>
          <p:cNvPr id="15" name="TextBox 14"/>
          <p:cNvSpPr txBox="1"/>
          <p:nvPr/>
        </p:nvSpPr>
        <p:spPr>
          <a:xfrm>
            <a:off x="658368" y="6492240"/>
            <a:ext cx="9784080" cy="274320"/>
          </a:xfrm>
          <a:prstGeom prst="rect">
            <a:avLst/>
          </a:prstGeom>
          <a:noFill/>
        </p:spPr>
        <p:txBody>
          <a:bodyPr wrap="square" anchor="t" lIns="0" rIns="0" tIns="0" bIns="0">
            <a:spAutoFit/>
          </a:bodyPr>
          <a:lstStyle/>
          <a:p>
            <a:pPr algn="l">
              <a:lnSpc>
                <a:spcPct val="125000"/>
              </a:lnSpc>
              <a:spcAft>
                <a:spcPts val="600"/>
              </a:spcAft>
            </a:pPr>
            <a:r>
              <a:rPr sz="1050" b="1" i="0">
                <a:solidFill>
                  <a:srgbClr val="B45309"/>
                </a:solidFill>
                <a:latin typeface="Helvetica Neue"/>
              </a:rPr>
              <a:t>[FILL: total phase 2 investment, and the loaded-cost comparison against the hours it removes. Headcount above is illustrative shape — do not present it as a hiring plan.]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16</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0E7490"/>
                </a:solidFill>
                <a:latin typeface="Helvetica Neue"/>
              </a:rPr>
              <a:t>HOW WE KNOW IT WORKED</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i="0">
                <a:solidFill>
                  <a:srgbClr val="111A27"/>
                </a:solidFill>
                <a:latin typeface="Helvetica Neue"/>
              </a:rPr>
              <a:t>The metrics, and the gate to leave phase 2</a:t>
            </a:r>
          </a:p>
        </p:txBody>
      </p:sp>
      <p:sp>
        <p:nvSpPr>
          <p:cNvPr id="5" name="Rounded Rectangle 4"/>
          <p:cNvSpPr/>
          <p:nvPr/>
        </p:nvSpPr>
        <p:spPr>
          <a:xfrm>
            <a:off x="658368" y="1737360"/>
            <a:ext cx="2551176" cy="2103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77824" y="1929384"/>
            <a:ext cx="2139696" cy="640080"/>
          </a:xfrm>
          <a:prstGeom prst="rect">
            <a:avLst/>
          </a:prstGeom>
          <a:noFill/>
        </p:spPr>
        <p:txBody>
          <a:bodyPr wrap="square" anchor="t" lIns="0" rIns="0" tIns="0" bIns="0">
            <a:spAutoFit/>
          </a:bodyPr>
          <a:lstStyle/>
          <a:p>
            <a:pPr algn="l">
              <a:lnSpc>
                <a:spcPct val="115000"/>
              </a:lnSpc>
              <a:spcAft>
                <a:spcPts val="600"/>
              </a:spcAft>
            </a:pPr>
            <a:r>
              <a:rPr sz="1550" b="1" i="0">
                <a:solidFill>
                  <a:srgbClr val="0E7490"/>
                </a:solidFill>
                <a:latin typeface="Helvetica Neue"/>
              </a:rPr>
              <a:t>Auto-post rate</a:t>
            </a:r>
          </a:p>
        </p:txBody>
      </p:sp>
      <p:sp>
        <p:nvSpPr>
          <p:cNvPr id="7" name="TextBox 6"/>
          <p:cNvSpPr txBox="1"/>
          <p:nvPr/>
        </p:nvSpPr>
        <p:spPr>
          <a:xfrm>
            <a:off x="877824" y="2670048"/>
            <a:ext cx="2139696" cy="109728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Share of transactions posted with zero human touch, reported by category with the denominator stated. Product quality and hours saved in one number.</a:t>
            </a:r>
          </a:p>
        </p:txBody>
      </p:sp>
      <p:sp>
        <p:nvSpPr>
          <p:cNvPr id="8" name="Rounded Rectangle 7"/>
          <p:cNvSpPr/>
          <p:nvPr/>
        </p:nvSpPr>
        <p:spPr>
          <a:xfrm>
            <a:off x="3438144" y="1737360"/>
            <a:ext cx="2551176" cy="2103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57600" y="1929384"/>
            <a:ext cx="2139696" cy="640080"/>
          </a:xfrm>
          <a:prstGeom prst="rect">
            <a:avLst/>
          </a:prstGeom>
          <a:noFill/>
        </p:spPr>
        <p:txBody>
          <a:bodyPr wrap="square" anchor="t" lIns="0" rIns="0" tIns="0" bIns="0">
            <a:spAutoFit/>
          </a:bodyPr>
          <a:lstStyle/>
          <a:p>
            <a:pPr algn="l">
              <a:lnSpc>
                <a:spcPct val="115000"/>
              </a:lnSpc>
              <a:spcAft>
                <a:spcPts val="600"/>
              </a:spcAft>
            </a:pPr>
            <a:r>
              <a:rPr sz="1550" b="1" i="0">
                <a:solidFill>
                  <a:srgbClr val="0E7490"/>
                </a:solidFill>
                <a:latin typeface="Helvetica Neue"/>
              </a:rPr>
              <a:t>Hours per close,
per entity</a:t>
            </a:r>
          </a:p>
        </p:txBody>
      </p:sp>
      <p:sp>
        <p:nvSpPr>
          <p:cNvPr id="10" name="TextBox 9"/>
          <p:cNvSpPr txBox="1"/>
          <p:nvPr/>
        </p:nvSpPr>
        <p:spPr>
          <a:xfrm>
            <a:off x="3657600" y="2670048"/>
            <a:ext cx="2139696" cy="109728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The honest automation measure. Transaction counts flatter us; hours do not, because the residual tail holds most of the cost.</a:t>
            </a:r>
          </a:p>
        </p:txBody>
      </p:sp>
      <p:sp>
        <p:nvSpPr>
          <p:cNvPr id="11" name="Rounded Rectangle 10"/>
          <p:cNvSpPr/>
          <p:nvPr/>
        </p:nvSpPr>
        <p:spPr>
          <a:xfrm>
            <a:off x="6217920" y="1737360"/>
            <a:ext cx="2551176" cy="2103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37376" y="1929384"/>
            <a:ext cx="2139696" cy="640080"/>
          </a:xfrm>
          <a:prstGeom prst="rect">
            <a:avLst/>
          </a:prstGeom>
          <a:noFill/>
        </p:spPr>
        <p:txBody>
          <a:bodyPr wrap="square" anchor="t" lIns="0" rIns="0" tIns="0" bIns="0">
            <a:spAutoFit/>
          </a:bodyPr>
          <a:lstStyle/>
          <a:p>
            <a:pPr algn="l">
              <a:lnSpc>
                <a:spcPct val="115000"/>
              </a:lnSpc>
              <a:spcAft>
                <a:spcPts val="600"/>
              </a:spcAft>
            </a:pPr>
            <a:r>
              <a:rPr sz="1550" b="1" i="0">
                <a:solidFill>
                  <a:srgbClr val="0E7490"/>
                </a:solidFill>
                <a:latin typeface="Helvetica Neue"/>
              </a:rPr>
              <a:t>Cost per close vs.
loaded labour</a:t>
            </a:r>
          </a:p>
        </p:txBody>
      </p:sp>
      <p:sp>
        <p:nvSpPr>
          <p:cNvPr id="13" name="TextBox 12"/>
          <p:cNvSpPr txBox="1"/>
          <p:nvPr/>
        </p:nvSpPr>
        <p:spPr>
          <a:xfrm>
            <a:off x="6437376" y="2670048"/>
            <a:ext cx="2139696" cy="109728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Inference plus review, against the fully-loaded cost of the staff time it replaces. If this does not fall, nothing else matters.</a:t>
            </a:r>
          </a:p>
        </p:txBody>
      </p:sp>
      <p:sp>
        <p:nvSpPr>
          <p:cNvPr id="14" name="Rounded Rectangle 13"/>
          <p:cNvSpPr/>
          <p:nvPr/>
        </p:nvSpPr>
        <p:spPr>
          <a:xfrm>
            <a:off x="8997696" y="1737360"/>
            <a:ext cx="2551176" cy="2103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217152" y="1929384"/>
            <a:ext cx="2139696" cy="640080"/>
          </a:xfrm>
          <a:prstGeom prst="rect">
            <a:avLst/>
          </a:prstGeom>
          <a:noFill/>
        </p:spPr>
        <p:txBody>
          <a:bodyPr wrap="square" anchor="t" lIns="0" rIns="0" tIns="0" bIns="0">
            <a:spAutoFit/>
          </a:bodyPr>
          <a:lstStyle/>
          <a:p>
            <a:pPr algn="l">
              <a:lnSpc>
                <a:spcPct val="115000"/>
              </a:lnSpc>
              <a:spcAft>
                <a:spcPts val="600"/>
              </a:spcAft>
            </a:pPr>
            <a:r>
              <a:rPr sz="1550" b="1" i="0">
                <a:solidFill>
                  <a:srgbClr val="0E7490"/>
                </a:solidFill>
                <a:latin typeface="Helvetica Neue"/>
              </a:rPr>
              <a:t>Restatement /
error rate</a:t>
            </a:r>
          </a:p>
        </p:txBody>
      </p:sp>
      <p:sp>
        <p:nvSpPr>
          <p:cNvPr id="16" name="TextBox 15"/>
          <p:cNvSpPr txBox="1"/>
          <p:nvPr/>
        </p:nvSpPr>
        <p:spPr>
          <a:xfrm>
            <a:off x="9217152" y="2670048"/>
            <a:ext cx="2139696" cy="1097280"/>
          </a:xfrm>
          <a:prstGeom prst="rect">
            <a:avLst/>
          </a:prstGeom>
          <a:noFill/>
        </p:spPr>
        <p:txBody>
          <a:bodyPr wrap="square" anchor="t" lIns="0" rIns="0" tIns="0" bIns="0">
            <a:spAutoFit/>
          </a:bodyPr>
          <a:lstStyle/>
          <a:p>
            <a:pPr algn="l">
              <a:lnSpc>
                <a:spcPct val="140000"/>
              </a:lnSpc>
              <a:spcAft>
                <a:spcPts val="600"/>
              </a:spcAft>
            </a:pPr>
            <a:r>
              <a:rPr sz="1200" b="0" i="0">
                <a:solidFill>
                  <a:srgbClr val="333E4F"/>
                </a:solidFill>
                <a:latin typeface="Helvetica Neue"/>
              </a:rPr>
              <a:t>The metric that can end this. Governed against an absolute ceiling, not a trend — and measured against our own current baseline.</a:t>
            </a:r>
          </a:p>
        </p:txBody>
      </p:sp>
      <p:sp>
        <p:nvSpPr>
          <p:cNvPr id="17" name="TextBox 16"/>
          <p:cNvSpPr txBox="1"/>
          <p:nvPr/>
        </p:nvSpPr>
        <p:spPr>
          <a:xfrm>
            <a:off x="658368" y="3968496"/>
            <a:ext cx="10874959" cy="365760"/>
          </a:xfrm>
          <a:prstGeom prst="rect">
            <a:avLst/>
          </a:prstGeom>
          <a:noFill/>
        </p:spPr>
        <p:txBody>
          <a:bodyPr wrap="square" anchor="t" lIns="0" rIns="0" tIns="0" bIns="0">
            <a:spAutoFit/>
          </a:bodyPr>
          <a:lstStyle/>
          <a:p>
            <a:pPr algn="l">
              <a:lnSpc>
                <a:spcPct val="130000"/>
              </a:lnSpc>
              <a:spcAft>
                <a:spcPts val="600"/>
              </a:spcAft>
            </a:pPr>
            <a:r>
              <a:rPr sz="1350" b="1" i="0">
                <a:solidFill>
                  <a:srgbClr val="B45309"/>
                </a:solidFill>
                <a:latin typeface="Helvetica Neue"/>
              </a:rPr>
              <a:t>Our current error rate is not zero. The bar for an agent posting to a client's ledger is our own measured baseline, not perfection — and we should publish both.</a:t>
            </a:r>
          </a:p>
        </p:txBody>
      </p:sp>
      <p:sp>
        <p:nvSpPr>
          <p:cNvPr id="18" name="Rounded Rectangle 17"/>
          <p:cNvSpPr/>
          <p:nvPr/>
        </p:nvSpPr>
        <p:spPr>
          <a:xfrm>
            <a:off x="658368" y="4389120"/>
            <a:ext cx="10874959" cy="1444752"/>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50976" y="4553712"/>
            <a:ext cx="4572000" cy="256032"/>
          </a:xfrm>
          <a:prstGeom prst="rect">
            <a:avLst/>
          </a:prstGeom>
          <a:noFill/>
        </p:spPr>
        <p:txBody>
          <a:bodyPr wrap="square" anchor="t" lIns="0" rIns="0" tIns="0" bIns="0">
            <a:spAutoFit/>
          </a:bodyPr>
          <a:lstStyle/>
          <a:p>
            <a:pPr algn="l">
              <a:lnSpc>
                <a:spcPct val="125000"/>
              </a:lnSpc>
              <a:spcAft>
                <a:spcPts val="600"/>
              </a:spcAft>
            </a:pPr>
            <a:r>
              <a:rPr sz="1050" b="1" i="0">
                <a:solidFill>
                  <a:srgbClr val="6B7688"/>
                </a:solidFill>
                <a:latin typeface="Helvetica Neue"/>
              </a:rPr>
              <a:t>GATE TO EXIT PHASE 2</a:t>
            </a:r>
          </a:p>
        </p:txBody>
      </p:sp>
      <p:sp>
        <p:nvSpPr>
          <p:cNvPr id="20" name="TextBox 19"/>
          <p:cNvSpPr txBox="1"/>
          <p:nvPr/>
        </p:nvSpPr>
        <p:spPr>
          <a:xfrm>
            <a:off x="950976" y="4864608"/>
            <a:ext cx="5120640" cy="914400"/>
          </a:xfrm>
          <a:prstGeom prst="rect">
            <a:avLst/>
          </a:prstGeom>
          <a:noFill/>
        </p:spPr>
        <p:txBody>
          <a:bodyPr wrap="square" lIns="0" rIns="0" tIns="0" bIns="0">
            <a:spAutoFit/>
          </a:bodyPr>
          <a:lstStyle/>
          <a:p>
            <a:pPr>
              <a:lnSpc>
                <a:spcPct val="128000"/>
              </a:lnSpc>
              <a:spcAft>
                <a:spcPts val="500"/>
              </a:spcAft>
            </a:pPr>
            <a:r>
              <a:rPr sz="1200">
                <a:solidFill>
                  <a:srgbClr val="333E4F"/>
                </a:solidFill>
                <a:latin typeface="Helvetica Neue"/>
              </a:rPr>
              <a:t>— Our ledger primary for [X]% of entities, zero dual-write diff for three closes</a:t>
            </a:r>
          </a:p>
          <a:p>
            <a:pPr>
              <a:lnSpc>
                <a:spcPct val="128000"/>
              </a:lnSpc>
              <a:spcAft>
                <a:spcPts val="500"/>
              </a:spcAft>
            </a:pPr>
            <a:r>
              <a:rPr sz="1200">
                <a:solidFill>
                  <a:srgbClr val="333E4F"/>
                </a:solidFill>
                <a:latin typeface="Helvetica Neue"/>
              </a:rPr>
              <a:t>— Auto-post rate at or above [X]% on the top five categories, denominators stated</a:t>
            </a:r>
          </a:p>
          <a:p>
            <a:pPr>
              <a:lnSpc>
                <a:spcPct val="128000"/>
              </a:lnSpc>
              <a:spcAft>
                <a:spcPts val="500"/>
              </a:spcAft>
            </a:pPr>
            <a:r>
              <a:rPr sz="1200">
                <a:solidFill>
                  <a:srgbClr val="333E4F"/>
                </a:solidFill>
                <a:latin typeface="Helvetica Neue"/>
              </a:rPr>
              <a:t>— Hours per close per entity down [Z]% against the phase 1 baseline</a:t>
            </a:r>
          </a:p>
        </p:txBody>
      </p:sp>
      <p:sp>
        <p:nvSpPr>
          <p:cNvPr id="21" name="TextBox 20"/>
          <p:cNvSpPr txBox="1"/>
          <p:nvPr/>
        </p:nvSpPr>
        <p:spPr>
          <a:xfrm>
            <a:off x="6327648" y="4864608"/>
            <a:ext cx="4937760" cy="914400"/>
          </a:xfrm>
          <a:prstGeom prst="rect">
            <a:avLst/>
          </a:prstGeom>
          <a:noFill/>
        </p:spPr>
        <p:txBody>
          <a:bodyPr wrap="square" lIns="0" rIns="0" tIns="0" bIns="0">
            <a:spAutoFit/>
          </a:bodyPr>
          <a:lstStyle/>
          <a:p>
            <a:pPr>
              <a:lnSpc>
                <a:spcPct val="128000"/>
              </a:lnSpc>
              <a:spcAft>
                <a:spcPts val="500"/>
              </a:spcAft>
            </a:pPr>
            <a:r>
              <a:rPr sz="1200">
                <a:solidFill>
                  <a:srgbClr val="333E4F"/>
                </a:solidFill>
                <a:latin typeface="Helvetica Neue"/>
              </a:rPr>
              <a:t>— Restatement rate at or below our own pre-agent baseline</a:t>
            </a:r>
          </a:p>
          <a:p>
            <a:pPr>
              <a:lnSpc>
                <a:spcPct val="128000"/>
              </a:lnSpc>
              <a:spcAft>
                <a:spcPts val="500"/>
              </a:spcAft>
            </a:pPr>
            <a:r>
              <a:rPr sz="1200">
                <a:solidFill>
                  <a:srgbClr val="333E4F"/>
                </a:solidFill>
                <a:latin typeface="Helvetica Neue"/>
              </a:rPr>
              <a:t>— Cost per close below [W]% of loaded labour cost for that engagement</a:t>
            </a:r>
          </a:p>
          <a:p>
            <a:pPr>
              <a:lnSpc>
                <a:spcPct val="128000"/>
              </a:lnSpc>
              <a:spcAft>
                <a:spcPts val="500"/>
              </a:spcAft>
            </a:pPr>
            <a:r>
              <a:rPr sz="1200">
                <a:solidFill>
                  <a:srgbClr val="333E4F"/>
                </a:solidFill>
                <a:latin typeface="Helvetica Neue"/>
              </a:rPr>
              <a:t>— SOC 2 Type II achieved; audit package accepted in one external review</a:t>
            </a:r>
          </a:p>
        </p:txBody>
      </p:sp>
      <p:sp>
        <p:nvSpPr>
          <p:cNvPr id="22" name="Rounded Rectangle 21"/>
          <p:cNvSpPr/>
          <p:nvPr/>
        </p:nvSpPr>
        <p:spPr>
          <a:xfrm>
            <a:off x="658368" y="5925312"/>
            <a:ext cx="10874959" cy="54864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50976" y="6035040"/>
            <a:ext cx="10289743" cy="384048"/>
          </a:xfrm>
          <a:prstGeom prst="rect">
            <a:avLst/>
          </a:prstGeom>
          <a:noFill/>
        </p:spPr>
        <p:txBody>
          <a:bodyPr wrap="square" anchor="t" lIns="0" rIns="0" tIns="0" bIns="0">
            <a:spAutoFit/>
          </a:bodyPr>
          <a:lstStyle/>
          <a:p>
            <a:pPr algn="l">
              <a:lnSpc>
                <a:spcPct val="130000"/>
              </a:lnSpc>
              <a:spcAft>
                <a:spcPts val="600"/>
              </a:spcAft>
            </a:pPr>
            <a:r>
              <a:rPr sz="1250" b="1" i="0">
                <a:solidFill>
                  <a:srgbClr val="FFFFFF"/>
                </a:solidFill>
                <a:latin typeface="Helvetica Neue"/>
              </a:rPr>
              <a:t>Not AI features on top of accounting software. An accounting department with software as its body — on a substrate where every number can be proven and defended.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