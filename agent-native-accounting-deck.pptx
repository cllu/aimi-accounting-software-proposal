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"There are two ways to do AI in accounting. One is to bolt a copilot onto the</a:t>
            </a:r>
          </a:p>
          <a:p>
            <a:r>
              <a:t>software that already exists. The other is to rebuild the software so it produces the work</a:t>
            </a:r>
          </a:p>
          <a:p>
            <a:r>
              <a:t>product instead of recording it. Only the second one changes anything, and it needs a</a:t>
            </a:r>
          </a:p>
          <a:p>
            <a:r>
              <a:t>different technical foundation — which is what this deck is about."</a:t>
            </a:r>
          </a:p>
          <a:p/>
          <a:p>
            <a:r>
              <a:t>Say where we come from early, because it is the credibility. We already automate this</a:t>
            </a:r>
          </a:p>
          <a:p>
            <a:r>
              <a:t>software for a living. Our RPA bots drive the packages our customers use, which means we</a:t>
            </a:r>
          </a:p>
          <a:p>
            <a:r>
              <a:t>have seen exactly which steps are mechanical, exactly where a human has to intervene, and</a:t>
            </a:r>
          </a:p>
          <a:p>
            <a:r>
              <a:t>exactly how brittle the seams are. Nobody had to tell us where the work is.</a:t>
            </a:r>
          </a:p>
          <a:p/>
          <a:p>
            <a:r>
              <a:t>Structure: technical background (2 slides), why this domain is uniquely suited (1), the</a:t>
            </a:r>
          </a:p>
          <a:p>
            <a:r>
              <a:t>architecture and its four load-bearing components (6), the two hard problems (1), then how</a:t>
            </a:r>
          </a:p>
          <a:p>
            <a:r>
              <a:t>we build and the implementation plan. Tell them the architecture section is the real content</a:t>
            </a:r>
          </a:p>
          <a:p>
            <a:r>
              <a:t>and to interrupt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argument in one slide. Deliver it, pause, then say the rest of the deck</a:t>
            </a:r>
          </a:p>
          <a:p>
            <a:r>
              <a:t>defends the third box and the dark bar.</a:t>
            </a:r>
          </a:p>
          <a:p/>
          <a:p>
            <a:r>
              <a:t>The first box is the point most people miss: the reason accounting software makes you fill in</a:t>
            </a:r>
          </a:p>
          <a:p>
            <a:r>
              <a:t>forms is not laziness or bad design. Deterministic code physically cannot handle "it</a:t>
            </a:r>
          </a:p>
          <a:p>
            <a:r>
              <a:t>depends", so the ambiguity had to go somewhere, and it went to the user. Every hour of</a:t>
            </a:r>
          </a:p>
          <a:p>
            <a:r>
              <a:t>bookkeeper time is the cost of that architectural constraint.</a:t>
            </a:r>
          </a:p>
          <a:p/>
          <a:p>
            <a:r>
              <a:t>The third box is our origin story and it is the best "why us" we have. We have spent years</a:t>
            </a:r>
          </a:p>
          <a:p>
            <a:r>
              <a:t>driving these packages with RPA, which taught us two things nobody else knows as precisely.</a:t>
            </a:r>
          </a:p>
          <a:p>
            <a:r>
              <a:t>First, exactly where the mechanical work stops and judgment starts — our bots hit that wall</a:t>
            </a:r>
          </a:p>
          <a:p>
            <a:r>
              <a:t>thousands of times a day. Second, that customers are completely indifferent to the software</a:t>
            </a:r>
          </a:p>
          <a:p>
            <a:r>
              <a:t>underneath; they asked us for an outcome and treated the package as plumbing. That second</a:t>
            </a:r>
          </a:p>
          <a:p>
            <a:r>
              <a:t>point is the permission to replace it. If customers were attached to the software, this</a:t>
            </a:r>
          </a:p>
          <a:p>
            <a:r>
              <a:t>would be a much harder pitch.</a:t>
            </a:r>
          </a:p>
          <a:p/>
          <a:p>
            <a:r>
              <a:t>Be honest about RPA's ceiling if asked: it automates the keystrokes around a fixed UI, it</a:t>
            </a:r>
          </a:p>
          <a:p>
            <a:r>
              <a:t>breaks when the UI changes, and it cannot make a judgment call. It was the best available</a:t>
            </a:r>
          </a:p>
          <a:p>
            <a:r>
              <a:t>answer under the old constraint. We are not abandoning it out of fashion — the constraint</a:t>
            </a:r>
          </a:p>
          <a:p>
            <a:r>
              <a:t>lifted.</a:t>
            </a:r>
          </a:p>
          <a:p/>
          <a:p>
            <a:r>
              <a:t>The dark bar is the sentence to repeat if you get only one. Almost every agent pitch in the</a:t>
            </a:r>
          </a:p>
          <a:p>
            <a:r>
              <a:t>market cannot say it, because almost no domain lets you check the answer mechanically. Ours</a:t>
            </a:r>
          </a:p>
          <a:p>
            <a:r>
              <a:t>does.</a:t>
            </a:r>
          </a:p>
          <a:p/>
          <a:p>
            <a:r>
              <a:t>If someone jumps ahead to "why won't the incumbents just ship this" — park it, you answer it</a:t>
            </a:r>
          </a:p>
          <a:p>
            <a:r>
              <a:t>structurally on the architecture slides. The short version: the substrate they would need is</a:t>
            </a:r>
          </a:p>
          <a:p>
            <a:r>
              <a:t>a schema decision they cannot retrofit, and their revenue depends on the seats this removes.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replaces the business-model background from the earlier draft. It does the same</a:t>
            </a:r>
          </a:p>
          <a:p>
            <a:r>
              <a:t>setup job but in technical terms, which suits both the audience and the fact that we are</a:t>
            </a:r>
          </a:p>
          <a:p>
            <a:r>
              <a:t>insiders describing tools we use daily.</a:t>
            </a:r>
          </a:p>
          <a:p/>
          <a:p>
            <a:r>
              <a:t>The third column is the one to slow down on, because it is the pivot for the entire</a:t>
            </a:r>
          </a:p>
          <a:p>
            <a:r>
              <a:t>architecture section. Say it plainly: "Every accounting system we have ever used validates</a:t>
            </a:r>
          </a:p>
          <a:p>
            <a:r>
              <a:t>syntax, not semantics. It will happily let us post a perfectly balanced entry to completely</a:t>
            </a:r>
          </a:p>
          <a:p>
            <a:r>
              <a:t>the wrong account. Well-formed and correct are different questions, and no software we own</a:t>
            </a:r>
          </a:p>
          <a:p>
            <a:r>
              <a:t>asks the second one." Then: the whole point of what we are building is a system that asks</a:t>
            </a:r>
          </a:p>
          <a:p>
            <a:r>
              <a:t>the second question, and can answer it.</a:t>
            </a:r>
          </a:p>
          <a:p/>
          <a:p>
            <a:r>
              <a:t>The fourth column is where the audience feels it. Everyone in the room who has staffed a</a:t>
            </a:r>
          </a:p>
          <a:p>
            <a:r>
              <a:t>close knows that the software's job ends exactly where the expensive part begins.</a:t>
            </a:r>
          </a:p>
          <a:p/>
          <a:p>
            <a:r>
              <a:t>Watch the tone — do not bash Xero or QBO. Their design was correct for the constraint they</a:t>
            </a:r>
          </a:p>
          <a:p>
            <a:r>
              <a:t>faced. Being fair about that makes the claim that the constraint has lifted more credible,</a:t>
            </a:r>
          </a:p>
          <a:p>
            <a:r>
              <a:t>not less.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earns credibility precisely by refusing the hype framing. Any investor who has</a:t>
            </a:r>
          </a:p>
          <a:p>
            <a:r>
              <a:t>sat through forty AI pitches has heard "AI changes everything"; very few have heard a</a:t>
            </a:r>
          </a:p>
          <a:p>
            <a:r>
              <a:t>precise statement of which constraints lifted and which did not.</a:t>
            </a:r>
          </a:p>
          <a:p/>
          <a:p>
            <a:r>
              <a:t>Walk the rows left to right, one sentence each. Then deliver the bottom box close to</a:t>
            </a:r>
          </a:p>
          <a:p>
            <a:r>
              <a:t>verbatim — it is the most quotable line in the deck.</a:t>
            </a:r>
          </a:p>
          <a:p/>
          <a:p>
            <a:r>
              <a:t>Expected pushback: "the long-tail claim is doing a lot of work." Concede it partially and</a:t>
            </a:r>
          </a:p>
          <a:p>
            <a:r>
              <a:t>immediately — marginal cost on the tail falls a great deal but not to zero, and reliability</a:t>
            </a:r>
          </a:p>
          <a:p>
            <a:r>
              <a:t>on tail cases is measurably worse than on the common case. That is exactly why the</a:t>
            </a:r>
          </a:p>
          <a:p>
            <a:r>
              <a:t>architecture has a verification layer and a human review queue rather than assumed</a:t>
            </a:r>
          </a:p>
          <a:p>
            <a:r>
              <a:t>autonomy. Point forward to the verification slide; do not defend more than the evidence</a:t>
            </a:r>
          </a:p>
          <a:p>
            <a:r>
              <a:t>supports.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audience should leave remembering, and it answers two questions at</a:t>
            </a:r>
          </a:p>
          <a:p>
            <a:r>
              <a:t>once: why this vertical, and why us rather than a well-funded generalist.</a:t>
            </a:r>
          </a:p>
          <a:p/>
          <a:p>
            <a:r>
              <a:t>Make the general point first. In most knowledge work you cannot check the answer</a:t>
            </a:r>
          </a:p>
          <a:p>
            <a:r>
              <a:t>mechanically, so a human never leaves the loop and the product ceiling is assistive. We did</a:t>
            </a:r>
          </a:p>
          <a:p>
            <a:r>
              <a:t>not pick accounting because it is exciting. We picked it because it is verifiable.</a:t>
            </a:r>
          </a:p>
          <a:p/>
          <a:p>
            <a:r>
              <a:t>Then panel 3, which is our unfair advantage. Spell out the RPA angle: for years our bots</a:t>
            </a:r>
          </a:p>
          <a:p>
            <a:r>
              <a:t>have executed the mechanical steps and stopped dead at the judgment ones. Every one of those</a:t>
            </a:r>
          </a:p>
          <a:p>
            <a:r>
              <a:t>stops is a logged, timestamped record of exactly where deterministic automation runs out.</a:t>
            </a:r>
          </a:p>
          <a:p>
            <a:r>
              <a:t>A team starting cold spends a year discovering that map; we have been maintaining it as a</a:t>
            </a:r>
          </a:p>
          <a:p>
            <a:r>
              <a:t>production system. It also tells us which categories to attack first, in what order, by</a:t>
            </a:r>
          </a:p>
          <a:p>
            <a:r>
              <a:t>volume and by breakage rate.</a:t>
            </a:r>
          </a:p>
          <a:p/>
          <a:p>
            <a:r>
              <a:t>Be precise about what we do and do not have. We have process telemetry and exception logs.</a:t>
            </a:r>
          </a:p>
          <a:p>
            <a:r>
              <a:t>We do not own our customers' books — access for training and evaluation comes through</a:t>
            </a:r>
          </a:p>
          <a:p>
            <a:r>
              <a:t>existing engagements, with consent, and some agreements will need updating. Volunteer that</a:t>
            </a:r>
          </a:p>
          <a:p>
            <a:r>
              <a:t>before it is asked; it is a process question, not a blocker, and pretending otherwise is</a:t>
            </a:r>
          </a:p>
          <a:p>
            <a:r>
              <a:t>worse than the caveat.</a:t>
            </a:r>
          </a:p>
          <a:p/>
          <a:p>
            <a:r>
              <a:t>If asked to quantify: have real numbers ready — customers, bots in production, transactions</a:t>
            </a:r>
          </a:p>
          <a:p>
            <a:r>
              <a:t>touched per month, intervention rate. That is the most concrete asset claim we can make.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into the architecture. It tells the audience what to look for in the next</a:t>
            </a:r>
          </a:p>
          <a:p>
            <a:r>
              <a:t>six slides.</a:t>
            </a:r>
          </a:p>
          <a:p/>
          <a:p>
            <a:r>
              <a:t>Draw out permission specifically, because it is the one an investor will underrate. UI habit</a:t>
            </a:r>
          </a:p>
          <a:p>
            <a:r>
              <a:t>is a preference and preferences get overridden in a procurement cycle. Write access to a</a:t>
            </a:r>
          </a:p>
          <a:p>
            <a:r>
              <a:t>client's ledger and bank, with our professional liability attached, is a governance decision</a:t>
            </a:r>
          </a:p>
          <a:p>
            <a:r>
              <a:t>with a documented approval trail. Reversing it requires a partner-level conversation, not a</a:t>
            </a:r>
          </a:p>
          <a:p>
            <a:r>
              <a:t>preference change.</a:t>
            </a:r>
          </a:p>
          <a:p/>
          <a:p>
            <a:r>
              <a:t>The "what does not change" panel is deliberate and it buys more credibility than anything</a:t>
            </a:r>
          </a:p>
          <a:p>
            <a:r>
              <a:t>else on the slide. Everyone in this category has heard someone claim agents make databases</a:t>
            </a:r>
          </a:p>
          <a:p>
            <a:r>
              <a:t>or systems of record obsolete. Saying plainly that the ledger becomes MORE important signals</a:t>
            </a:r>
          </a:p>
          <a:p>
            <a:r>
              <a:t>we have actually built something.</a:t>
            </a:r>
          </a:p>
          <a:p/>
          <a:p>
            <a:r>
              <a:t>The bottom bar sets up the biggest surprise in the architecture section — that the agent</a:t>
            </a:r>
          </a:p>
          <a:p>
            <a:r>
              <a:t>layer is one of the smallest line items. Plant it here so it lands twice.</a:t>
            </a:r>
          </a:p>
          <a:p/>
          <a:p>
            <a:r>
              <a:t>If asked which of the four we have today: be honest. Verification is built, evals are in</a:t>
            </a:r>
          </a:p>
          <a:p>
            <a:r>
              <a:t>progress, context accrues per client per month, permission comes with each engagement. Do</a:t>
            </a:r>
          </a:p>
          <a:p>
            <a:r>
              <a:t>not claim all four are mature.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the most time here. Read the title as a sentence — it is the design philosophy in nine</a:t>
            </a:r>
          </a:p>
          <a:p>
            <a:r>
              <a:t>words, and it is what makes the output defensible to a customer's auditor.</a:t>
            </a:r>
          </a:p>
          <a:p/>
          <a:p>
            <a:r>
              <a:t>Walk it bottom-up, not top-down: ingestion, ledger, tools, orchestration, agents,</a:t>
            </a:r>
          </a:p>
          <a:p>
            <a:r>
              <a:t>verification, surfaces. Bottom-up is the build order and it makes the dependency structure</a:t>
            </a:r>
          </a:p>
          <a:p>
            <a:r>
              <a:t>obvious.</a:t>
            </a:r>
          </a:p>
          <a:p/>
          <a:p>
            <a:r>
              <a:t>The point to hammer: the three diamonds are where the value is, and the agent layer is not</a:t>
            </a:r>
          </a:p>
          <a:p>
            <a:r>
              <a:t>one of them. Teams in this category over-invest in the agent layer because it is the</a:t>
            </a:r>
          </a:p>
          <a:p>
            <a:r>
              <a:t>visible, demo-able part, then find they have no verification and no evals and cannot tell</a:t>
            </a:r>
          </a:p>
          <a:p>
            <a:r>
              <a:t>whether they are improving. We inverted that deliberately.</a:t>
            </a:r>
          </a:p>
          <a:p/>
          <a:p>
            <a:r>
              <a:t>Second point, and it is the one a technical investor will test: verification sits ABOVE the</a:t>
            </a:r>
          </a:p>
          <a:p>
            <a:r>
              <a:t>agent and BELOW the client. Nothing the agent produces reaches a client's books without</a:t>
            </a:r>
          </a:p>
          <a:p>
            <a:r>
              <a:t>passing deterministic checks first. That is an architectural guarantee, not a policy or a</a:t>
            </a:r>
          </a:p>
          <a:p>
            <a:r>
              <a:t>promise about model behaviour.</a:t>
            </a:r>
          </a:p>
          <a:p/>
          <a:p>
            <a:r>
              <a:t>Expect: "why durable orchestration rather than letting the agent plan the close?" Answer: a</a:t>
            </a:r>
          </a:p>
          <a:p>
            <a:r>
              <a:t>close is a known checklist that spans days, waits on client email, and needs compensation</a:t>
            </a:r>
          </a:p>
          <a:p>
            <a:r>
              <a:t>logic when a step fails. We model the known process deterministically and use agents only</a:t>
            </a:r>
          </a:p>
          <a:p>
            <a:r>
              <a:t>inside the judgment-bearing steps. Free-roaming agency over a general ledger is how you get</a:t>
            </a:r>
          </a:p>
          <a:p>
            <a:r>
              <a:t>a restatement you cannot explain.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land: "this is the layer a competitor cannot copy by copying our prompts."</a:t>
            </a:r>
          </a:p>
          <a:p/>
          <a:p>
            <a:r>
              <a:t>Bitemporality needs a concrete example. Use this one: a client's March books were closed in</a:t>
            </a:r>
          </a:p>
          <a:p>
            <a:r>
              <a:t>April. In June a reviewer asks what we believed on 31 March and why. A normal database</a:t>
            </a:r>
          </a:p>
          <a:p>
            <a:r>
              <a:t>cannot answer that — it holds current state only. We can, because we store both when a fact</a:t>
            </a:r>
          </a:p>
          <a:p>
            <a:r>
              <a:t>became true and when we learned it. The same mechanism is what lets us take last year's real</a:t>
            </a:r>
          </a:p>
          <a:p>
            <a:r>
              <a:t>closed books and replay our agents against them to measure accuracy, which is our entire</a:t>
            </a:r>
          </a:p>
          <a:p>
            <a:r>
              <a:t>evaluation strategy.</a:t>
            </a:r>
          </a:p>
          <a:p/>
          <a:p>
            <a:r>
              <a:t>If a technical investor pushes on cost: yes, append-only bitemporal ledgers are more</a:t>
            </a:r>
          </a:p>
          <a:p>
            <a:r>
              <a:t>expensive to build and query than mutable tables. We accepted that in month one precisely</a:t>
            </a:r>
          </a:p>
          <a:p>
            <a:r>
              <a:t>because it is unrecoverable later.</a:t>
            </a:r>
          </a:p>
          <a:p/>
          <a:p>
            <a:r>
              <a:t>The last line of the panel is worth saying out loud — 15 to 20% of effort and almost none of</a:t>
            </a:r>
          </a:p>
          <a:p>
            <a:r>
              <a:t>the demo. That asymmetry tells them where our engineering judgment sits.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error-message point is what convinces engineers we have actually shipped this. Nobody</a:t>
            </a:r>
          </a:p>
          <a:p>
            <a:r>
              <a:t>who has not built an agent system thinks of error strings as a functional requirement. Give</a:t>
            </a:r>
          </a:p>
          <a:p>
            <a:r>
              <a:t>the unbalanced-entry example verbatim.</a:t>
            </a:r>
          </a:p>
          <a:p/>
          <a:p>
            <a:r>
              <a:t>The inverted trust relationship is the second thing to emphasise, and it resonates with</a:t>
            </a:r>
          </a:p>
          <a:p>
            <a:r>
              <a:t>anyone who understands financial controls. Every engineer has written validation in the</a:t>
            </a:r>
          </a:p>
          <a:p>
            <a:r>
              <a:t>frontend and trusted it. You cannot do that when the caller is a model, so the invariant has</a:t>
            </a:r>
          </a:p>
          <a:p>
            <a:r>
              <a:t>to live in the tool. Small idea, large consequences for how the codebase is organised.</a:t>
            </a:r>
          </a:p>
          <a:p/>
          <a:p>
            <a:r>
              <a:t>The rule box is the one to repeat if you get a single point across: the model never does</a:t>
            </a:r>
          </a:p>
          <a:p>
            <a:r>
              <a:t>arithmetic. Every wrong number in a competitor's demo comes from letting the model compute</a:t>
            </a:r>
          </a:p>
          <a:p>
            <a:r>
              <a:t>instead of calling something that computes.</a:t>
            </a:r>
          </a:p>
          <a:p/>
          <a:p>
            <a:r>
              <a:t>If asked about MCP or tool-protocol standardisation: we are compatible, but it is an</a:t>
            </a:r>
          </a:p>
          <a:p>
            <a:r>
              <a:t>integration detail, not the hard part. The hard part is designing the right thirty or so</a:t>
            </a:r>
          </a:p>
          <a:p>
            <a:r>
              <a:t>tools at the right granularity with the right invariants, and that took accounting domain</a:t>
            </a:r>
          </a:p>
          <a:p>
            <a:r>
              <a:t>expertise, not protocol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heart of the deck. If they remember one architecture slide, it should</a:t>
            </a:r>
          </a:p>
          <a:p>
            <a:r>
              <a:t>be this one.</a:t>
            </a:r>
          </a:p>
          <a:p/>
          <a:p>
            <a:r>
              <a:t>Open with the syntactic-to-semantic line, then the three tiers briefly. Spend your remaining</a:t>
            </a:r>
          </a:p>
          <a:p>
            <a:r>
              <a:t>time on the bottom-left box, because it is the most common failure in the category and</a:t>
            </a:r>
          </a:p>
          <a:p>
            <a:r>
              <a:t>stating it clearly is a strong credibility signal: models are overconfident, so</a:t>
            </a:r>
          </a:p>
          <a:p>
            <a:r>
              <a:t>self-reported confidence is not a control. We derive confidence from verification signals</a:t>
            </a:r>
          </a:p>
          <a:p>
            <a:r>
              <a:t>and from agreement between independent passes, and we calibrate it against known outcomes.</a:t>
            </a:r>
          </a:p>
          <a:p/>
          <a:p>
            <a:r>
              <a:t>Then the bottom-right box, which is the commercial translation. The routing threshold IS the</a:t>
            </a:r>
          </a:p>
          <a:p>
            <a:r>
              <a:t>business case. Every point of auto-post rate is a measurable number of hours. That is why</a:t>
            </a:r>
          </a:p>
          <a:p>
            <a:r>
              <a:t>this is a forecast rather than a hope: we can see the rate per transaction category and we</a:t>
            </a:r>
          </a:p>
          <a:p>
            <a:r>
              <a:t>know what each point is worth in staff time.</a:t>
            </a:r>
          </a:p>
          <a:p/>
          <a:p>
            <a:r>
              <a:t>Likely question: "what is your current auto-post rate?" Have the real number per category</a:t>
            </a:r>
          </a:p>
          <a:p>
            <a:r>
              <a:t>with the denominator defined. If it is early, give the number and the trend. Never give a</a:t>
            </a:r>
          </a:p>
          <a:p>
            <a:r>
              <a:t>blended number without the denominator — a technical investor will assume you are hiding</a:t>
            </a:r>
          </a:p>
          <a:p>
            <a:r>
              <a:t>the mix, and they will be right to.</a:t>
            </a:r>
          </a:p>
          <a:p/>
          <a:p>
            <a:r>
              <a:t>Also worth volunteering: every reviewer correction becomes an explicit, versioned rule</a:t>
            </a:r>
          </a:p>
          <a:p>
            <a:r>
              <a:t>first and a retrieval example second, because a rule can be shown to a reviewer and an</a:t>
            </a:r>
          </a:p>
          <a:p>
            <a:r>
              <a:t>embedding cannot.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first bullet, not the theory. The eval corpus is not a nice dataset to have;</a:t>
            </a:r>
          </a:p>
          <a:p>
            <a:r>
              <a:t>it is the measurement instrument that makes every other claim in this deck checkable, and</a:t>
            </a:r>
          </a:p>
          <a:p>
            <a:r>
              <a:t>it is the thing a competitor cannot clone from our marketing.</a:t>
            </a:r>
          </a:p>
          <a:p/>
          <a:p>
            <a:r>
              <a:t>Second, be honest that evals are harder than the product. Teams underinvest here, lose the</a:t>
            </a:r>
          </a:p>
          <a:p>
            <a:r>
              <a:t>ability to tell whether they are improving, and end up optimising on impressions. The corpus</a:t>
            </a:r>
          </a:p>
          <a:p>
            <a:r>
              <a:t>needs a data pipeline plus senior accountant time to label — that senior time is a real cost</a:t>
            </a:r>
          </a:p>
          <a:p>
            <a:r>
              <a:t>and it appears explicitly in the investment slide.</a:t>
            </a:r>
          </a:p>
          <a:p/>
          <a:p>
            <a:r>
              <a:t>Our RPA history matters here too: the exception logs tell us which transaction categories</a:t>
            </a:r>
          </a:p>
          <a:p>
            <a:r>
              <a:t>break most often and at what volume, so we weight the corpus by where the hours actually</a:t>
            </a:r>
          </a:p>
          <a:p>
            <a:r>
              <a:t>are rather than sampling uniformly.</a:t>
            </a:r>
          </a:p>
          <a:p/>
          <a:p>
            <a:r>
              <a:t>The panel on the right is genuinely useful to an investor because it tells them what board</a:t>
            </a:r>
          </a:p>
          <a:p>
            <a:r>
              <a:t>reporting will look like. We will not come with "we shipped a feature." We will come with</a:t>
            </a:r>
          </a:p>
          <a:p>
            <a:r>
              <a:t>"auto-post rate on this category moved from 71 to 88, here is what that is worth in hours."</a:t>
            </a:r>
          </a:p>
          <a:p>
            <a:r>
              <a:t>Say that explicitly — it is a better governance relationship and it signals we know what to</a:t>
            </a:r>
          </a:p>
          <a:p>
            <a:r>
              <a:t>measure.</a:t>
            </a:r>
          </a:p>
          <a:p/>
          <a:p>
            <a:r>
              <a:t>The competitive point, if pressed on what stops a well-funded entrant: prompts copy in an</a:t>
            </a:r>
          </a:p>
          <a:p>
            <a:r>
              <a:t>afternoon. A corpus of thousands of reviewed closes with the corrections attached is years</a:t>
            </a:r>
          </a:p>
          <a:p>
            <a:r>
              <a:t>of accumulated professional work tied to client relationships. That and write permission are</a:t>
            </a:r>
          </a:p>
          <a:p>
            <a:r>
              <a:t>the honest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slide and do not soften it. Volunteering the hard problems with mitigations</a:t>
            </a:r>
          </a:p>
          <a:p>
            <a:r>
              <a:t>already built is the strongest credibility move available, because every sophisticated</a:t>
            </a:r>
          </a:p>
          <a:p>
            <a:r>
              <a:t>investor already knows about compounding error rates and is waiting to see whether we do.</a:t>
            </a:r>
          </a:p>
          <a:p/>
          <a:p>
            <a:r>
              <a:t>On reliability: the arithmetic is the argument. 0.95^20 = 0.36. Say the number out loud.</a:t>
            </a:r>
          </a:p>
          <a:p>
            <a:r>
              <a:t>Then make clear the fix is architectural rather than a better prompt, and that the</a:t>
            </a:r>
          </a:p>
          <a:p>
            <a:r>
              <a:t>architecture two slides back was designed around exactly this — short spans, verification</a:t>
            </a:r>
          </a:p>
          <a:p>
            <a:r>
              <a:t>between them, deterministic orchestration.</a:t>
            </a:r>
          </a:p>
          <a:p/>
          <a:p>
            <a:r>
              <a:t>Offer the filter explicitly: "when you look at others in this space, ask how long their</a:t>
            </a:r>
          </a:p>
          <a:p>
            <a:r>
              <a:t>autonomous chains run and what verifies each step. It is a fast way to tell who has shipped</a:t>
            </a:r>
          </a:p>
          <a:p>
            <a:r>
              <a:t>something."</a:t>
            </a:r>
          </a:p>
          <a:p/>
          <a:p>
            <a:r>
              <a:t>On security: prompt injection into an agent with ledger and bank write access is the</a:t>
            </a:r>
          </a:p>
          <a:p>
            <a:r>
              <a:t>scenario that should worry a partner, and we should be the ones to raise it. Walk the four</a:t>
            </a:r>
          </a:p>
          <a:p>
            <a:r>
              <a:t>mitigations. Separation of duties in code lands especially well with this audience — we took</a:t>
            </a:r>
          </a:p>
          <a:p>
            <a:r>
              <a:t>a human control framework and applied it to a software actor.</a:t>
            </a:r>
          </a:p>
          <a:p/>
          <a:p>
            <a:r>
              <a:t>Our own liability is the honest framing of the stakes here. It is not an abstract product</a:t>
            </a:r>
          </a:p>
          <a:p>
            <a:r>
              <a:t>risk; it is a customer's books and our reputation. Saying so is why the controls line in the</a:t>
            </a:r>
          </a:p>
          <a:p>
            <a:r>
              <a:t>controls budget is not negotiable.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Percentages are directional — the shape of such codebases rather than measured data. Say so;</a:t>
            </a:r>
          </a:p>
          <a:p>
            <a:r>
              <a:t>a technical investor will respect the caveat and stop probing the digits.</a:t>
            </a:r>
          </a:p>
          <a:p/>
          <a:p>
            <a:r>
              <a:t>Two observations to draw out.</a:t>
            </a:r>
          </a:p>
          <a:p/>
          <a:p>
            <a:r>
              <a:t>The interface absorbed all the heterogeneity in conventional software. Every new client</a:t>
            </a:r>
          </a:p>
          <a:p>
            <a:r>
              <a:t>segment, edge case and regulatory variation arrived as a new screen, field or report, while</a:t>
            </a:r>
          </a:p>
          <a:p>
            <a:r>
              <a:t>the domain model absorbed almost none of it. Interface complexity is client diversity</a:t>
            </a:r>
          </a:p>
          <a:p>
            <a:r>
              <a:t>projected onto deterministic code. Agents absorb that diversity in the model instead, which</a:t>
            </a:r>
          </a:p>
          <a:p>
            <a:r>
              <a:t>is why the UI share roughly halves and why we need one excellent surface rather than forty</a:t>
            </a:r>
          </a:p>
          <a:p>
            <a:r>
              <a:t>screens.</a:t>
            </a:r>
          </a:p>
          <a:p/>
          <a:p>
            <a:r>
              <a:t>The agent layer is one of the smallest lines. This is the third time they will hear it and</a:t>
            </a:r>
          </a:p>
          <a:p>
            <a:r>
              <a:t>it is still the most counterintuitive thing in the deck.</a:t>
            </a:r>
          </a:p>
          <a:p/>
          <a:p>
            <a:r>
              <a:t>The closing bar is the one-sentence summary of the technical section. Deliver it and stop —</a:t>
            </a:r>
          </a:p>
          <a:p>
            <a:r>
              <a:t>this is the right place to take questions before the implementation plan.</a:t>
            </a:r>
          </a:p>
          <a:p/>
          <a:p>
            <a:r>
              <a:t>If asked "is your headcount lower than a software company's?" — no, differently shaped:</a:t>
            </a:r>
          </a:p>
          <a:p>
            <a:r>
              <a:t>fewer frontend engineers, more data and infrastructure engineering, plus our own accountants</a:t>
            </a:r>
          </a:p>
          <a:p>
            <a:r>
              <a:t>inside the loop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why the timeline on the next one is credible rather than optimistic, so do not</a:t>
            </a:r>
          </a:p>
          <a:p>
            <a:r>
              <a:t>rush it.</a:t>
            </a:r>
          </a:p>
          <a:p/>
          <a:p>
            <a:r>
              <a:t>The argument in one line: coding agents moved the bottleneck from writing code to defining</a:t>
            </a:r>
          </a:p>
          <a:p>
            <a:r>
              <a:t>what correct means. Anyone can now generate an implementation quickly. What they cannot do</a:t>
            </a:r>
          </a:p>
          <a:p>
            <a:r>
              <a:t>quickly is decide what the implementation must satisfy, and prove it does. In most domains</a:t>
            </a:r>
          </a:p>
          <a:p>
            <a:r>
              <a:t>that is the hard part and it stays hard. In ours, the domain supplies the specification —</a:t>
            </a:r>
          </a:p>
          <a:p>
            <a:r>
              <a:t>double-entry invariants, ties, reconciliation — so we are unusually well placed to exploit</a:t>
            </a:r>
          </a:p>
          <a:p>
            <a:r>
              <a:t>agentic coding.</a:t>
            </a:r>
          </a:p>
          <a:p/>
          <a:p>
            <a:r>
              <a:t>Notice the recursion, and say it out loud because it is the elegant part: the harness we</a:t>
            </a:r>
          </a:p>
          <a:p>
            <a:r>
              <a:t>build to let coding agents work IS the verification layer the product needs at runtime. The</a:t>
            </a:r>
          </a:p>
          <a:p>
            <a:r>
              <a:t>eval corpus, the replay runner, the invariant checks — we are not building test scaffolding</a:t>
            </a:r>
          </a:p>
          <a:p>
            <a:r>
              <a:t>and then a product. We are building the product's verification layer first and getting fast</a:t>
            </a:r>
          </a:p>
          <a:p>
            <a:r>
              <a:t>development as a side effect.</a:t>
            </a:r>
          </a:p>
          <a:p/>
          <a:p>
            <a:r>
              <a:t>Step 2 ordering matters: the harness comes before the implementation it will judge. If you</a:t>
            </a:r>
          </a:p>
          <a:p>
            <a:r>
              <a:t>write the code first, you will write tests that agree with the code rather than tests that</a:t>
            </a:r>
          </a:p>
          <a:p>
            <a:r>
              <a:t>encode what the accounting requires.</a:t>
            </a:r>
          </a:p>
          <a:p/>
          <a:p>
            <a:r>
              <a:t>The right-hand box is the honest limit and you should volunteer it. Throwing engineers at</a:t>
            </a:r>
          </a:p>
          <a:p>
            <a:r>
              <a:t>this does not compress the schedule, because the rate limit is specification and that is</a:t>
            </a:r>
          </a:p>
          <a:p>
            <a:r>
              <a:t>domain work. It is also the answer to "why is your team so small" — the small team is a</a:t>
            </a:r>
          </a:p>
          <a:p>
            <a:r>
              <a:t>consequence of the method, not a constraint we are apologising for.</a:t>
            </a:r>
          </a:p>
          <a:p/>
          <a:p>
            <a:r>
              <a:t>If asked what could go wrong with this approach: agent-written code passing a weak test is</a:t>
            </a:r>
          </a:p>
          <a:p>
            <a:r>
              <a:t>the failure mode. The mitigation is that our gates are accounting invariants and replay</a:t>
            </a:r>
          </a:p>
          <a:p>
            <a:r>
              <a:t>against real closes, which are extremely hard to satisfy accidentally.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column is the point of this slide. Every workstream has a testable exit condition</a:t>
            </a:r>
          </a:p>
          <a:p>
            <a:r>
              <a:t>rather than a delivery date, which is how you should ask us to govern it. Read two or three</a:t>
            </a:r>
          </a:p>
          <a:p>
            <a:r>
              <a:t>gates out loud — they are unusually concrete for a technology plan and that is the impression</a:t>
            </a:r>
          </a:p>
          <a:p>
            <a:r>
              <a:t>to leave.</a:t>
            </a:r>
          </a:p>
          <a:p/>
          <a:p>
            <a:r>
              <a:t>On workstream 1, the detail that matters is the dual-write diff harness. We do not flip the</a:t>
            </a:r>
          </a:p>
          <a:p>
            <a:r>
              <a:t>primary ledger on a judgment call. We run both systems in parallel, diff every entry</a:t>
            </a:r>
          </a:p>
          <a:p>
            <a:r>
              <a:t>automatically, and require zero diff across three consecutive closes before switching. A</a:t>
            </a:r>
          </a:p>
          <a:p>
            <a:r>
              <a:t>testable gate, not a decision.</a:t>
            </a:r>
          </a:p>
          <a:p/>
          <a:p>
            <a:r>
              <a:t>On workstream 2, say plainly that migration is the most underestimated item in this kind of</a:t>
            </a:r>
          </a:p>
          <a:p>
            <a:r>
              <a:t>programme. Reconstructing an opening trial balance that ties to the prior closing balance,</a:t>
            </a:r>
          </a:p>
          <a:p>
            <a:r>
              <a:t>per entity, is unglamorous and correctness-critical, and every customer needs it before</a:t>
            </a:r>
          </a:p>
          <a:p>
            <a:r>
              <a:t>anything else works. Imported records carry a distinct provenance class so we never claim</a:t>
            </a:r>
          </a:p>
          <a:p>
            <a:r>
              <a:t>verified lineage we do not have.</a:t>
            </a:r>
          </a:p>
          <a:p/>
          <a:p>
            <a:r>
              <a:t>Workstream 6's checkpointing detail is worth ten seconds with a technical audience: on</a:t>
            </a:r>
          </a:p>
          <a:p>
            <a:r>
              <a:t>resume, a durable workflow must not silently re-run a model call and get a different answer.</a:t>
            </a:r>
          </a:p>
          <a:p>
            <a:r>
              <a:t>We checkpoint the decision, not just the step. Very few teams get this right.</a:t>
            </a:r>
          </a:p>
          <a:p/>
          <a:p>
            <a:r>
              <a:t>On the 20 weeks: expect scepticism and welcome it. The answer is not "we work hard." It is</a:t>
            </a:r>
          </a:p>
          <a:p>
            <a:r>
              <a:t>that our gates are executable, so implementation iterates against a machine rather than</a:t>
            </a:r>
          </a:p>
          <a:p>
            <a:r>
              <a:t>against review cycles. Then add the honest part — the weeks that can slip are 2 and 8,</a:t>
            </a:r>
          </a:p>
          <a:p>
            <a:r>
              <a:t>because migration depends on the state of customer data we do not control, and SOC 2 depends</a:t>
            </a:r>
          </a:p>
          <a:p>
            <a:r>
              <a:t>on an external auditor's calendar.</a:t>
            </a:r>
          </a:p>
          <a:p/>
          <a:p>
            <a:r>
              <a:t>Workstream 8 exists because customer trust is the asset at risk. Do not let it be read as</a:t>
            </a:r>
          </a:p>
          <a:p>
            <a:r>
              <a:t>overhead.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to draw out.</a:t>
            </a:r>
          </a:p>
          <a:p/>
          <a:p>
            <a:r>
              <a:t>The agent layer is 1 of ~11 FTE. Point at it. It is the fourth time in the deck that the</a:t>
            </a:r>
          </a:p>
          <a:p>
            <a:r>
              <a:t>demo-able part turns out to be the small part, and by now it should read as discipline rather</a:t>
            </a:r>
          </a:p>
          <a:p>
            <a:r>
              <a:t>than as an oversight. Evals and harness is twice the size of the agent layer, and that ratio</a:t>
            </a:r>
          </a:p>
          <a:p>
            <a:r>
              <a:t>is the single best summary of how we think.</a:t>
            </a:r>
          </a:p>
          <a:p/>
          <a:p>
            <a:r>
              <a:t>Accounting domain expertise is the rate limit, not engineering capacity. Say it directly:</a:t>
            </a:r>
          </a:p>
          <a:p>
            <a:r>
              <a:t>if you gave us double the engineers tomorrow, the plan would not finish meaningfully sooner,</a:t>
            </a:r>
          </a:p>
          <a:p>
            <a:r>
              <a:t>because the constraint is how fast we can specify what correct means and label the corpus.</a:t>
            </a:r>
          </a:p>
          <a:p>
            <a:r>
              <a:t>That is also why we are not asking for a large team.</a:t>
            </a:r>
          </a:p>
          <a:p/>
          <a:p>
            <a:r>
              <a:t>Senior accountant time for labelling is a real, easily-forgotten cost. Budget it explicitly</a:t>
            </a:r>
          </a:p>
          <a:p>
            <a:r>
              <a:t>rather than pretending it is free, because if you do not, the corpus quietly does not get</a:t>
            </a:r>
          </a:p>
          <a:p>
            <a:r>
              <a:t>built and every metric in this deck becomes unverifiable.</a:t>
            </a:r>
          </a:p>
          <a:p/>
          <a:p>
            <a:r>
              <a:t>Inference sits in COGS, not R&amp;D. Most plans in this category get this wrong, and getting it</a:t>
            </a:r>
          </a:p>
          <a:p>
            <a:r>
              <a:t>right is what makes the cost-per-close comparison honest.</a:t>
            </a:r>
          </a:p>
          <a:p/>
          <a:p>
            <a:r>
              <a:t>Expected question: "is eleven people really enough for a ledger, an agent system and SOC 2 in</a:t>
            </a:r>
          </a:p>
          <a:p>
            <a:r>
              <a:t>twenty weeks?" The honest answer has two halves. Yes for implementation volume, because</a:t>
            </a:r>
          </a:p>
          <a:p>
            <a:r>
              <a:t>coding agents cover that against executable gates. And the thing that would break first is</a:t>
            </a:r>
          </a:p>
          <a:p>
            <a:r>
              <a:t>not code — it is specification throughput, which is why domain expertise is the line we would</a:t>
            </a:r>
          </a:p>
          <a:p>
            <a:r>
              <a:t>grow first if we are behind.</a:t>
            </a:r>
          </a:p>
          <a:p/>
          <a:p>
            <a:r>
              <a:t>[FILL BEFORE USE] total investment and the loaded-cost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handing them the scorecard. Offering the metrics you can be judged on — including</a:t>
            </a:r>
          </a:p>
          <a:p>
            <a:r>
              <a:t>the one that can end the programme — is a stronger close than a projection, and it sets up</a:t>
            </a:r>
          </a:p>
          <a:p>
            <a:r>
              <a:t>the governance relationship we actually want.</a:t>
            </a:r>
          </a:p>
          <a:p/>
          <a:p>
            <a:r>
              <a:t>On auto-post rate: always with the denominator and the category mix. A blended number with no</a:t>
            </a:r>
          </a:p>
          <a:p>
            <a:r>
              <a:t>denominator is the standard way companies in this category flatter themselves, and a</a:t>
            </a:r>
          </a:p>
          <a:p>
            <a:r>
              <a:t>technical investor will assume that is what is happening unless you pre-empt it.</a:t>
            </a:r>
          </a:p>
          <a:p/>
          <a:p>
            <a:r>
              <a:t>The line above the definition-of-done box is the one to say slowly, and our RPA history is</a:t>
            </a:r>
          </a:p>
          <a:p>
            <a:r>
              <a:t>what lets us say it credibly. The incumbent process is not error-free. Bots misfire, humans</a:t>
            </a:r>
          </a:p>
          <a:p>
            <a:r>
              <a:t>miscode, and closes get corrected. We have the logs. So the honest bar for an agent is the</a:t>
            </a:r>
          </a:p>
          <a:p>
            <a:r>
              <a:t>measured error rate of what customers do today, and we intend to publish both numbers. That</a:t>
            </a:r>
          </a:p>
          <a:p>
            <a:r>
              <a:t>converts an unbounded fear into a comparison — and very few teams can produce the baseline.</a:t>
            </a:r>
          </a:p>
          <a:p/>
          <a:p>
            <a:r>
              <a:t>On restatement rate: note deliberately that this one is governed against an absolute ceiling,</a:t>
            </a:r>
          </a:p>
          <a:p>
            <a:r>
              <a:t>not a trend. Everything else we optimise; this one we bound. That distinction is what a</a:t>
            </a:r>
          </a:p>
          <a:p>
            <a:r>
              <a:t>finance leader needs to hear before granting write access to a ledger.</a:t>
            </a:r>
          </a:p>
          <a:p/>
          <a:p>
            <a:r>
              <a:t>Final line is the positioning statement. Say it, stop, take questions.</a:t>
            </a:r>
          </a:p>
          <a:p/>
          <a:p>
            <a:r>
              <a:t>Backup slides worth having ready: cost-per-close model at current token prices, gross-margin</a:t>
            </a:r>
          </a:p>
          <a:p>
            <a:r>
              <a:t>slope as automation rate rises, the RPA telemetry on intervention rates by category,</a:t>
            </a:r>
          </a:p>
          <a:p>
            <a:r>
              <a:t>competitive landscape, and the liability and consent structure.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695" cy="76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417320"/>
            <a:ext cx="10874959" cy="274320"/>
          </a:xfrm>
          <a:prstGeom prst="rect">
            <a:avLst/>
          </a:prstGeom>
          <a:noFill/>
        </p:spPr>
        <p:txBody>
          <a:bodyPr wrap="square" anchor="t" lIns="0" rIns="0" tIns="0" bIns="0">
            <a:spAutoFit/>
          </a:bodyPr>
          <a:lstStyle/>
          <a:p>
            <a:pPr algn="l">
              <a:lnSpc>
                <a:spcPct val="125000"/>
              </a:lnSpc>
              <a:spcAft>
                <a:spcPts val="600"/>
              </a:spcAft>
            </a:pPr>
            <a:r>
              <a:rPr sz="1150" b="1" i="0">
                <a:solidFill>
                  <a:srgbClr val="7AB8C8"/>
                </a:solidFill>
                <a:latin typeface="Helvetica Neue"/>
              </a:rPr>
              <a:t>AUG 2026</a:t>
            </a:r>
          </a:p>
        </p:txBody>
      </p:sp>
      <p:sp>
        <p:nvSpPr>
          <p:cNvPr id="5" name="TextBox 4"/>
          <p:cNvSpPr txBox="1"/>
          <p:nvPr/>
        </p:nvSpPr>
        <p:spPr>
          <a:xfrm>
            <a:off x="658368" y="1965960"/>
            <a:ext cx="10424160" cy="2194560"/>
          </a:xfrm>
          <a:prstGeom prst="rect">
            <a:avLst/>
          </a:prstGeom>
          <a:noFill/>
        </p:spPr>
        <p:txBody>
          <a:bodyPr wrap="square" anchor="t" lIns="0" rIns="0" tIns="0" bIns="0">
            <a:spAutoFit/>
          </a:bodyPr>
          <a:lstStyle/>
          <a:p>
            <a:pPr algn="l">
              <a:lnSpc>
                <a:spcPct val="108000"/>
              </a:lnSpc>
              <a:spcAft>
                <a:spcPts val="600"/>
              </a:spcAft>
            </a:pPr>
            <a:r>
              <a:rPr sz="4600" b="1" i="0">
                <a:solidFill>
                  <a:srgbClr val="FFFFFF"/>
                </a:solidFill>
                <a:latin typeface="Helvetica Neue"/>
              </a:rPr>
              <a:t>Agent-Native
Accounting Software</a:t>
            </a:r>
          </a:p>
        </p:txBody>
      </p:sp>
      <p:sp>
        <p:nvSpPr>
          <p:cNvPr id="6" name="Rectangle 5"/>
          <p:cNvSpPr/>
          <p:nvPr/>
        </p:nvSpPr>
        <p:spPr>
          <a:xfrm>
            <a:off x="658368" y="4754880"/>
            <a:ext cx="2011680" cy="3175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029200"/>
            <a:ext cx="10874959" cy="365760"/>
          </a:xfrm>
          <a:prstGeom prst="rect">
            <a:avLst/>
          </a:prstGeom>
          <a:noFill/>
        </p:spPr>
        <p:txBody>
          <a:bodyPr wrap="square" anchor="t" lIns="0" rIns="0" tIns="0" bIns="0">
            <a:spAutoFit/>
          </a:bodyPr>
          <a:lstStyle/>
          <a:p>
            <a:pPr algn="l">
              <a:lnSpc>
                <a:spcPct val="125000"/>
              </a:lnSpc>
              <a:spcAft>
                <a:spcPts val="600"/>
              </a:spcAft>
            </a:pPr>
            <a:r>
              <a:rPr sz="1400" b="0" i="0">
                <a:solidFill>
                  <a:srgbClr val="8E9CAE"/>
                </a:solidFill>
                <a:latin typeface="Helvetica Neue"/>
              </a:rPr>
              <a:t>Chunliang Lyu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THE THESIS</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500" b="1" i="0">
                <a:solidFill>
                  <a:srgbClr val="111A27"/>
                </a:solidFill>
                <a:latin typeface="Helvetica Neue"/>
              </a:rPr>
              <a:t>Software stopped at the edge of the work.
That edge was a technical limit, and it moved.</a:t>
            </a:r>
          </a:p>
        </p:txBody>
      </p:sp>
      <p:sp>
        <p:nvSpPr>
          <p:cNvPr id="5" name="Rounded Rectangle 4"/>
          <p:cNvSpPr/>
          <p:nvPr/>
        </p:nvSpPr>
        <p:spPr>
          <a:xfrm>
            <a:off x="658368" y="2148840"/>
            <a:ext cx="3465576" cy="288036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377440"/>
            <a:ext cx="2962656" cy="365760"/>
          </a:xfrm>
          <a:prstGeom prst="rect">
            <a:avLst/>
          </a:prstGeom>
          <a:noFill/>
        </p:spPr>
        <p:txBody>
          <a:bodyPr wrap="square" anchor="t" lIns="0" rIns="0" tIns="0" bIns="0">
            <a:spAutoFit/>
          </a:bodyPr>
          <a:lstStyle/>
          <a:p>
            <a:pPr algn="l">
              <a:lnSpc>
                <a:spcPct val="125000"/>
              </a:lnSpc>
              <a:spcAft>
                <a:spcPts val="600"/>
              </a:spcAft>
            </a:pPr>
            <a:r>
              <a:rPr sz="1750" b="1" i="0">
                <a:solidFill>
                  <a:srgbClr val="111A27"/>
                </a:solidFill>
                <a:latin typeface="Helvetica Neue"/>
              </a:rPr>
              <a:t>The constraint</a:t>
            </a:r>
          </a:p>
        </p:txBody>
      </p:sp>
      <p:sp>
        <p:nvSpPr>
          <p:cNvPr id="7" name="TextBox 6"/>
          <p:cNvSpPr txBox="1"/>
          <p:nvPr/>
        </p:nvSpPr>
        <p:spPr>
          <a:xfrm>
            <a:off x="914400" y="2880360"/>
            <a:ext cx="2962656" cy="1920240"/>
          </a:xfrm>
          <a:prstGeom prst="rect">
            <a:avLst/>
          </a:prstGeom>
          <a:noFill/>
        </p:spPr>
        <p:txBody>
          <a:bodyPr wrap="square" anchor="t" lIns="0" rIns="0" tIns="0" bIns="0">
            <a:spAutoFit/>
          </a:bodyPr>
          <a:lstStyle/>
          <a:p>
            <a:pPr algn="l">
              <a:lnSpc>
                <a:spcPct val="142000"/>
              </a:lnSpc>
              <a:spcAft>
                <a:spcPts val="600"/>
              </a:spcAft>
            </a:pPr>
            <a:r>
              <a:rPr sz="1300" b="0" i="0">
                <a:solidFill>
                  <a:srgbClr val="333E4F"/>
                </a:solidFill>
                <a:latin typeface="Helvetica Neue"/>
              </a:rPr>
              <a:t>Deterministic code cannot act under ambiguity. Every path has to be enumerated in advance, and there is no path for "it depends". So every judgment was routed out of the software and into a person.</a:t>
            </a:r>
          </a:p>
        </p:txBody>
      </p:sp>
      <p:sp>
        <p:nvSpPr>
          <p:cNvPr id="8" name="Rounded Rectangle 7"/>
          <p:cNvSpPr/>
          <p:nvPr/>
        </p:nvSpPr>
        <p:spPr>
          <a:xfrm>
            <a:off x="4379976" y="2148840"/>
            <a:ext cx="3465576" cy="288036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36008" y="2377440"/>
            <a:ext cx="2962656" cy="365760"/>
          </a:xfrm>
          <a:prstGeom prst="rect">
            <a:avLst/>
          </a:prstGeom>
          <a:noFill/>
        </p:spPr>
        <p:txBody>
          <a:bodyPr wrap="square" anchor="t" lIns="0" rIns="0" tIns="0" bIns="0">
            <a:spAutoFit/>
          </a:bodyPr>
          <a:lstStyle/>
          <a:p>
            <a:pPr algn="l">
              <a:lnSpc>
                <a:spcPct val="125000"/>
              </a:lnSpc>
              <a:spcAft>
                <a:spcPts val="600"/>
              </a:spcAft>
            </a:pPr>
            <a:r>
              <a:rPr sz="1750" b="1" i="0">
                <a:solidFill>
                  <a:srgbClr val="111A27"/>
                </a:solidFill>
                <a:latin typeface="Helvetica Neue"/>
              </a:rPr>
              <a:t>What lifted</a:t>
            </a:r>
          </a:p>
        </p:txBody>
      </p:sp>
      <p:sp>
        <p:nvSpPr>
          <p:cNvPr id="10" name="TextBox 9"/>
          <p:cNvSpPr txBox="1"/>
          <p:nvPr/>
        </p:nvSpPr>
        <p:spPr>
          <a:xfrm>
            <a:off x="4636008" y="2880360"/>
            <a:ext cx="2962656" cy="1920240"/>
          </a:xfrm>
          <a:prstGeom prst="rect">
            <a:avLst/>
          </a:prstGeom>
          <a:noFill/>
        </p:spPr>
        <p:txBody>
          <a:bodyPr wrap="square" anchor="t" lIns="0" rIns="0" tIns="0" bIns="0">
            <a:spAutoFit/>
          </a:bodyPr>
          <a:lstStyle/>
          <a:p>
            <a:pPr algn="l">
              <a:lnSpc>
                <a:spcPct val="142000"/>
              </a:lnSpc>
              <a:spcAft>
                <a:spcPts val="600"/>
              </a:spcAft>
            </a:pPr>
            <a:r>
              <a:rPr sz="1300" b="0" i="0">
                <a:solidFill>
                  <a:srgbClr val="333E4F"/>
                </a:solidFill>
                <a:latin typeface="Helvetica Neue"/>
              </a:rPr>
              <a:t>Models tolerate ambiguity, cover the long tail at near-zero marginal cost, and need no interface built in advance. Three specific engineering properties — not a claim that models are clever.</a:t>
            </a:r>
          </a:p>
        </p:txBody>
      </p:sp>
      <p:sp>
        <p:nvSpPr>
          <p:cNvPr id="11" name="Rounded Rectangle 10"/>
          <p:cNvSpPr/>
          <p:nvPr/>
        </p:nvSpPr>
        <p:spPr>
          <a:xfrm>
            <a:off x="8101583" y="2148840"/>
            <a:ext cx="3465576" cy="288036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57615" y="2377440"/>
            <a:ext cx="2962656" cy="365760"/>
          </a:xfrm>
          <a:prstGeom prst="rect">
            <a:avLst/>
          </a:prstGeom>
          <a:noFill/>
        </p:spPr>
        <p:txBody>
          <a:bodyPr wrap="square" anchor="t" lIns="0" rIns="0" tIns="0" bIns="0">
            <a:spAutoFit/>
          </a:bodyPr>
          <a:lstStyle/>
          <a:p>
            <a:pPr algn="l">
              <a:lnSpc>
                <a:spcPct val="125000"/>
              </a:lnSpc>
              <a:spcAft>
                <a:spcPts val="600"/>
              </a:spcAft>
            </a:pPr>
            <a:r>
              <a:rPr sz="1750" b="1" i="0">
                <a:solidFill>
                  <a:srgbClr val="7A3B08"/>
                </a:solidFill>
                <a:latin typeface="Helvetica Neue"/>
              </a:rPr>
              <a:t>Why us</a:t>
            </a:r>
          </a:p>
        </p:txBody>
      </p:sp>
      <p:sp>
        <p:nvSpPr>
          <p:cNvPr id="13" name="TextBox 12"/>
          <p:cNvSpPr txBox="1"/>
          <p:nvPr/>
        </p:nvSpPr>
        <p:spPr>
          <a:xfrm>
            <a:off x="8357615" y="2880360"/>
            <a:ext cx="2962656" cy="1920240"/>
          </a:xfrm>
          <a:prstGeom prst="rect">
            <a:avLst/>
          </a:prstGeom>
          <a:noFill/>
        </p:spPr>
        <p:txBody>
          <a:bodyPr wrap="square" anchor="t" lIns="0" rIns="0" tIns="0" bIns="0">
            <a:spAutoFit/>
          </a:bodyPr>
          <a:lstStyle/>
          <a:p>
            <a:pPr algn="l">
              <a:lnSpc>
                <a:spcPct val="142000"/>
              </a:lnSpc>
              <a:spcAft>
                <a:spcPts val="600"/>
              </a:spcAft>
            </a:pPr>
            <a:r>
              <a:rPr sz="1300" b="0" i="0">
                <a:solidFill>
                  <a:srgbClr val="333E4F"/>
                </a:solidFill>
                <a:latin typeface="Helvetica Neue"/>
              </a:rPr>
              <a:t>We already automate this software with RPA. Our customers never cared which package sat underneath — they wanted the result. RPA automated the clicking; it never automated the deciding. We know exactly where that line falls.</a:t>
            </a:r>
          </a:p>
        </p:txBody>
      </p:sp>
      <p:sp>
        <p:nvSpPr>
          <p:cNvPr id="14" name="Rounded Rectangle 13"/>
          <p:cNvSpPr/>
          <p:nvPr/>
        </p:nvSpPr>
        <p:spPr>
          <a:xfrm>
            <a:off x="658368" y="5257800"/>
            <a:ext cx="10874959" cy="10058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9264" y="5532120"/>
            <a:ext cx="10253167" cy="548640"/>
          </a:xfrm>
          <a:prstGeom prst="rect">
            <a:avLst/>
          </a:prstGeom>
          <a:noFill/>
        </p:spPr>
        <p:txBody>
          <a:bodyPr wrap="square" anchor="t" lIns="0" rIns="0" tIns="0" bIns="0">
            <a:spAutoFit/>
          </a:bodyPr>
          <a:lstStyle/>
          <a:p>
            <a:pPr algn="l">
              <a:lnSpc>
                <a:spcPct val="130000"/>
              </a:lnSpc>
              <a:spcAft>
                <a:spcPts val="600"/>
              </a:spcAft>
            </a:pPr>
            <a:r>
              <a:rPr sz="1600" b="1" i="0">
                <a:solidFill>
                  <a:srgbClr val="FFFFFF"/>
                </a:solidFill>
                <a:latin typeface="Helvetica Neue"/>
              </a:rPr>
              <a:t>The bet is not that models are smart. It is that accounting is verifiable — so we can prove our output is correct before it ever touches a client's 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2</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TECHNICAL BACKGROUND · 1 OF 2</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Why our accounting software is shaped the way it is</a:t>
            </a:r>
          </a:p>
        </p:txBody>
      </p:sp>
      <p:sp>
        <p:nvSpPr>
          <p:cNvPr id="5" name="TextBox 4"/>
          <p:cNvSpPr txBox="1"/>
          <p:nvPr/>
        </p:nvSpPr>
        <p:spPr>
          <a:xfrm>
            <a:off x="658368" y="1737360"/>
            <a:ext cx="10241280" cy="548640"/>
          </a:xfrm>
          <a:prstGeom prst="rect">
            <a:avLst/>
          </a:prstGeom>
          <a:noFill/>
        </p:spPr>
        <p:txBody>
          <a:bodyPr wrap="square" anchor="t" lIns="0" rIns="0" tIns="0" bIns="0">
            <a:spAutoFit/>
          </a:bodyPr>
          <a:lstStyle/>
          <a:p>
            <a:pPr algn="l">
              <a:lnSpc>
                <a:spcPct val="135000"/>
              </a:lnSpc>
              <a:spcAft>
                <a:spcPts val="600"/>
              </a:spcAft>
            </a:pPr>
            <a:r>
              <a:rPr sz="1500" b="0" i="0">
                <a:solidFill>
                  <a:srgbClr val="333E4F"/>
                </a:solidFill>
                <a:latin typeface="Helvetica Neue"/>
              </a:rPr>
              <a:t>Not a criticism of the vendors — a consequence of what deterministic software can and cannot do. Four design choices follow from one limit, and all four put the work on us.</a:t>
            </a:r>
          </a:p>
        </p:txBody>
      </p:sp>
      <p:sp>
        <p:nvSpPr>
          <p:cNvPr id="6" name="TextBox 5"/>
          <p:cNvSpPr txBox="1"/>
          <p:nvPr/>
        </p:nvSpPr>
        <p:spPr>
          <a:xfrm>
            <a:off x="658368" y="2487168"/>
            <a:ext cx="2551176" cy="566928"/>
          </a:xfrm>
          <a:prstGeom prst="rect">
            <a:avLst/>
          </a:prstGeom>
          <a:noFill/>
        </p:spPr>
        <p:txBody>
          <a:bodyPr wrap="square" anchor="t" lIns="0" rIns="0" tIns="0" bIns="0">
            <a:spAutoFit/>
          </a:bodyPr>
          <a:lstStyle/>
          <a:p>
            <a:pPr algn="l">
              <a:lnSpc>
                <a:spcPct val="115000"/>
              </a:lnSpc>
              <a:spcAft>
                <a:spcPts val="600"/>
              </a:spcAft>
            </a:pPr>
            <a:r>
              <a:rPr sz="1600" b="1" i="0">
                <a:solidFill>
                  <a:srgbClr val="0E7490"/>
                </a:solidFill>
                <a:latin typeface="Helvetica Neue"/>
              </a:rPr>
              <a:t>Pre-specified paths</a:t>
            </a:r>
          </a:p>
        </p:txBody>
      </p:sp>
      <p:sp>
        <p:nvSpPr>
          <p:cNvPr id="7" name="TextBox 6"/>
          <p:cNvSpPr txBox="1"/>
          <p:nvPr/>
        </p:nvSpPr>
        <p:spPr>
          <a:xfrm>
            <a:off x="658368" y="3182112"/>
            <a:ext cx="25511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Every branch must be enumerated by a developer before it runs. There is no code path for "this invoice is ambiguous". Anything requiring interpretation has to leave the program.</a:t>
            </a:r>
          </a:p>
        </p:txBody>
      </p:sp>
      <p:sp>
        <p:nvSpPr>
          <p:cNvPr id="8" name="TextBox 7"/>
          <p:cNvSpPr txBox="1"/>
          <p:nvPr/>
        </p:nvSpPr>
        <p:spPr>
          <a:xfrm>
            <a:off x="3438144" y="2487168"/>
            <a:ext cx="2551176" cy="566928"/>
          </a:xfrm>
          <a:prstGeom prst="rect">
            <a:avLst/>
          </a:prstGeom>
          <a:noFill/>
        </p:spPr>
        <p:txBody>
          <a:bodyPr wrap="square" anchor="t" lIns="0" rIns="0" tIns="0" bIns="0">
            <a:spAutoFit/>
          </a:bodyPr>
          <a:lstStyle/>
          <a:p>
            <a:pPr algn="l">
              <a:lnSpc>
                <a:spcPct val="115000"/>
              </a:lnSpc>
              <a:spcAft>
                <a:spcPts val="600"/>
              </a:spcAft>
            </a:pPr>
            <a:r>
              <a:rPr sz="1600" b="1" i="0">
                <a:solidFill>
                  <a:srgbClr val="0E7490"/>
                </a:solidFill>
                <a:latin typeface="Helvetica Neue"/>
              </a:rPr>
              <a:t>The form as adapter</a:t>
            </a:r>
          </a:p>
        </p:txBody>
      </p:sp>
      <p:sp>
        <p:nvSpPr>
          <p:cNvPr id="9" name="TextBox 8"/>
          <p:cNvSpPr txBox="1"/>
          <p:nvPr/>
        </p:nvSpPr>
        <p:spPr>
          <a:xfrm>
            <a:off x="3438144" y="3182112"/>
            <a:ext cx="25511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A form converts fuzzy human intent into a structure the program can execute. That is its actual function. Forms are the scar tissue of the constraint above — which is why there are so many of them.</a:t>
            </a:r>
          </a:p>
        </p:txBody>
      </p:sp>
      <p:sp>
        <p:nvSpPr>
          <p:cNvPr id="10" name="TextBox 9"/>
          <p:cNvSpPr txBox="1"/>
          <p:nvPr/>
        </p:nvSpPr>
        <p:spPr>
          <a:xfrm>
            <a:off x="6217920" y="2487168"/>
            <a:ext cx="2551176" cy="566928"/>
          </a:xfrm>
          <a:prstGeom prst="rect">
            <a:avLst/>
          </a:prstGeom>
          <a:noFill/>
        </p:spPr>
        <p:txBody>
          <a:bodyPr wrap="square" anchor="t" lIns="0" rIns="0" tIns="0" bIns="0">
            <a:spAutoFit/>
          </a:bodyPr>
          <a:lstStyle/>
          <a:p>
            <a:pPr algn="l">
              <a:lnSpc>
                <a:spcPct val="115000"/>
              </a:lnSpc>
              <a:spcAft>
                <a:spcPts val="600"/>
              </a:spcAft>
            </a:pPr>
            <a:r>
              <a:rPr sz="1600" b="1" i="0">
                <a:solidFill>
                  <a:srgbClr val="0E7490"/>
                </a:solidFill>
                <a:latin typeface="Helvetica Neue"/>
              </a:rPr>
              <a:t>Validation is syntactic</a:t>
            </a:r>
          </a:p>
        </p:txBody>
      </p:sp>
      <p:sp>
        <p:nvSpPr>
          <p:cNvPr id="11" name="TextBox 10"/>
          <p:cNvSpPr txBox="1"/>
          <p:nvPr/>
        </p:nvSpPr>
        <p:spPr>
          <a:xfrm>
            <a:off x="6217920" y="3182112"/>
            <a:ext cx="25511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The software checks that the date is a date and the entry balances. It does not check whether the expense belongs in that account. Well-formed and correct are different questions, and it only asks the first.</a:t>
            </a:r>
          </a:p>
        </p:txBody>
      </p:sp>
      <p:sp>
        <p:nvSpPr>
          <p:cNvPr id="12" name="TextBox 11"/>
          <p:cNvSpPr txBox="1"/>
          <p:nvPr/>
        </p:nvSpPr>
        <p:spPr>
          <a:xfrm>
            <a:off x="8997696" y="2487168"/>
            <a:ext cx="2551176" cy="566928"/>
          </a:xfrm>
          <a:prstGeom prst="rect">
            <a:avLst/>
          </a:prstGeom>
          <a:noFill/>
        </p:spPr>
        <p:txBody>
          <a:bodyPr wrap="square" anchor="t" lIns="0" rIns="0" tIns="0" bIns="0">
            <a:spAutoFit/>
          </a:bodyPr>
          <a:lstStyle/>
          <a:p>
            <a:pPr algn="l">
              <a:lnSpc>
                <a:spcPct val="115000"/>
              </a:lnSpc>
              <a:spcAft>
                <a:spcPts val="600"/>
              </a:spcAft>
            </a:pPr>
            <a:r>
              <a:rPr sz="1600" b="1" i="0">
                <a:solidFill>
                  <a:srgbClr val="0E7490"/>
                </a:solidFill>
                <a:latin typeface="Helvetica Neue"/>
              </a:rPr>
              <a:t>The human is the error handler</a:t>
            </a:r>
          </a:p>
        </p:txBody>
      </p:sp>
      <p:sp>
        <p:nvSpPr>
          <p:cNvPr id="13" name="TextBox 12"/>
          <p:cNvSpPr txBox="1"/>
          <p:nvPr/>
        </p:nvSpPr>
        <p:spPr>
          <a:xfrm>
            <a:off x="8997696" y="3182112"/>
            <a:ext cx="25511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Semantic correctness was outsourced to us. The vendor's contract is: prevent invalid states, show a clear error. A far cheaper contract than being right — and the reason our cost structure is people.</a:t>
            </a:r>
          </a:p>
        </p:txBody>
      </p:sp>
      <p:sp>
        <p:nvSpPr>
          <p:cNvPr id="14" name="Rounded Rectangle 13"/>
          <p:cNvSpPr/>
          <p:nvPr/>
        </p:nvSpPr>
        <p:spPr>
          <a:xfrm>
            <a:off x="658368" y="5440680"/>
            <a:ext cx="10874959" cy="914400"/>
          </a:xfrm>
          <a:prstGeom prst="roundRect">
            <a:avLst>
              <a:gd name="adj" fmla="val 4000"/>
            </a:avLst>
          </a:prstGeom>
          <a:solidFill>
            <a:srgbClr val="FA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5669280"/>
            <a:ext cx="10289743" cy="548640"/>
          </a:xfrm>
          <a:prstGeom prst="rect">
            <a:avLst/>
          </a:prstGeom>
          <a:noFill/>
        </p:spPr>
        <p:txBody>
          <a:bodyPr wrap="square" anchor="t" lIns="0" rIns="0" tIns="0" bIns="0">
            <a:spAutoFit/>
          </a:bodyPr>
          <a:lstStyle/>
          <a:p>
            <a:pPr algn="l">
              <a:lnSpc>
                <a:spcPct val="130000"/>
              </a:lnSpc>
              <a:spcAft>
                <a:spcPts val="600"/>
              </a:spcAft>
            </a:pPr>
            <a:r>
              <a:rPr sz="1450" b="1" i="0">
                <a:solidFill>
                  <a:srgbClr val="7A3B08"/>
                </a:solidFill>
                <a:latin typeface="Helvetica Neue"/>
              </a:rPr>
              <a:t>Our software was never trying to do the accounting. It was trying to stop us from entering something impossible. Everything in this deck follows from taking on the harder contract: being right, and proving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3</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TECHNICAL BACKGROUND · 2 OF 2</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Three constraints forced that design. All three just lifted.</a:t>
            </a:r>
          </a:p>
        </p:txBody>
      </p:sp>
      <p:graphicFrame>
        <p:nvGraphicFramePr>
          <p:cNvPr id="5" name="Table 4"/>
          <p:cNvGraphicFramePr>
            <a:graphicFrameLocks noGrp="1"/>
          </p:cNvGraphicFramePr>
          <p:nvPr/>
        </p:nvGraphicFramePr>
        <p:xfrm>
          <a:off x="658368" y="1874519"/>
          <a:ext cx="10872216" cy="3712464"/>
        </p:xfrm>
        <a:graphic>
          <a:graphicData uri="http://schemas.openxmlformats.org/drawingml/2006/table">
            <a:tbl>
              <a:tblPr>
                <a:tableStyleId>{5C22544A-7EE6-4342-B048-85BDC9FD1C3A}</a:tableStyleId>
              </a:tblPr>
              <a:tblGrid>
                <a:gridCol w="3017520"/>
                <a:gridCol w="3922776"/>
                <a:gridCol w="3931920"/>
              </a:tblGrid>
              <a:tr h="420624">
                <a:tc>
                  <a:txBody>
                    <a:bodyPr wrap="square"/>
                    <a:lstStyle/>
                    <a:p>
                      <a:r>
                        <a:rPr sz="1250" b="1">
                          <a:solidFill>
                            <a:srgbClr val="FFFFFF"/>
                          </a:solidFill>
                          <a:latin typeface="Helvetica Neue"/>
                        </a:rPr>
                        <a:t>The constraint</a:t>
                      </a:r>
                    </a:p>
                  </a:txBody>
                  <a:tcPr marL="91440" marR="73152" marT="36576" marB="36576" anchor="ctr">
                    <a:solidFill>
                      <a:srgbClr val="111A27"/>
                    </a:solidFill>
                  </a:tcPr>
                </a:tc>
                <a:tc>
                  <a:txBody>
                    <a:bodyPr wrap="square"/>
                    <a:lstStyle/>
                    <a:p>
                      <a:r>
                        <a:rPr sz="1250" b="1">
                          <a:solidFill>
                            <a:srgbClr val="FFFFFF"/>
                          </a:solidFill>
                          <a:latin typeface="Helvetica Neue"/>
                        </a:rPr>
                        <a:t>What it forced</a:t>
                      </a:r>
                    </a:p>
                  </a:txBody>
                  <a:tcPr marL="91440" marR="73152" marT="36576" marB="36576" anchor="ctr">
                    <a:solidFill>
                      <a:srgbClr val="111A27"/>
                    </a:solidFill>
                  </a:tcPr>
                </a:tc>
                <a:tc>
                  <a:txBody>
                    <a:bodyPr wrap="square"/>
                    <a:lstStyle/>
                    <a:p>
                      <a:r>
                        <a:rPr sz="1250" b="1">
                          <a:solidFill>
                            <a:srgbClr val="FFFFFF"/>
                          </a:solidFill>
                          <a:latin typeface="Helvetica Neue"/>
                        </a:rPr>
                        <a:t>What changes now</a:t>
                      </a:r>
                    </a:p>
                  </a:txBody>
                  <a:tcPr marL="91440" marR="73152" marT="36576" marB="36576" anchor="ctr">
                    <a:solidFill>
                      <a:srgbClr val="111A27"/>
                    </a:solidFill>
                  </a:tcPr>
                </a:tc>
              </a:tr>
              <a:tr h="1097280">
                <a:tc>
                  <a:txBody>
                    <a:bodyPr wrap="square"/>
                    <a:lstStyle/>
                    <a:p>
                      <a:r>
                        <a:rPr sz="1250" b="1">
                          <a:solidFill>
                            <a:srgbClr val="111A27"/>
                          </a:solidFill>
                          <a:latin typeface="Helvetica Neue"/>
                        </a:rPr>
                        <a:t>No tolerance for ambiguity</a:t>
                      </a:r>
                    </a:p>
                  </a:txBody>
                  <a:tcPr marL="91440" marR="73152" marT="36576" marB="36576" anchor="ctr">
                    <a:solidFill>
                      <a:srgbClr val="FFFFFF"/>
                    </a:solidFill>
                  </a:tcPr>
                </a:tc>
                <a:tc>
                  <a:txBody>
                    <a:bodyPr wrap="square"/>
                    <a:lstStyle/>
                    <a:p>
                      <a:r>
                        <a:rPr sz="1250">
                          <a:solidFill>
                            <a:srgbClr val="333E4F"/>
                          </a:solidFill>
                          <a:latin typeface="Helvetica Neue"/>
                        </a:rPr>
                        <a:t>Every path pre-specified. Anything needing interpretation of unstructured input was handed to a person behind a form.</a:t>
                      </a:r>
                    </a:p>
                  </a:txBody>
                  <a:tcPr marL="91440" marR="73152" marT="36576" marB="36576" anchor="ctr">
                    <a:solidFill>
                      <a:srgbClr val="FFFFFF"/>
                    </a:solidFill>
                  </a:tcPr>
                </a:tc>
                <a:tc>
                  <a:txBody>
                    <a:bodyPr wrap="square"/>
                    <a:lstStyle/>
                    <a:p>
                      <a:r>
                        <a:rPr sz="1250">
                          <a:solidFill>
                            <a:srgbClr val="7A3B08"/>
                          </a:solidFill>
                          <a:latin typeface="Helvetica Neue"/>
                        </a:rPr>
                        <a:t>Models absorb messy documents, bank memos, contracts and email threads — the exact inputs the software pushed onto a human operator.</a:t>
                      </a:r>
                    </a:p>
                  </a:txBody>
                  <a:tcPr marL="91440" marR="73152" marT="36576" marB="36576" anchor="ctr">
                    <a:solidFill>
                      <a:srgbClr val="FAEEE3"/>
                    </a:solidFill>
                  </a:tcPr>
                </a:tc>
              </a:tr>
              <a:tr h="1097280">
                <a:tc>
                  <a:txBody>
                    <a:bodyPr wrap="square"/>
                    <a:lstStyle/>
                    <a:p>
                      <a:r>
                        <a:rPr sz="1250" b="1">
                          <a:solidFill>
                            <a:srgbClr val="111A27"/>
                          </a:solidFill>
                          <a:latin typeface="Helvetica Neue"/>
                        </a:rPr>
                        <a:t>No economics for the long tail</a:t>
                      </a:r>
                    </a:p>
                  </a:txBody>
                  <a:tcPr marL="91440" marR="73152" marT="36576" marB="36576" anchor="ctr">
                    <a:solidFill>
                      <a:srgbClr val="F3F6F8"/>
                    </a:solidFill>
                  </a:tcPr>
                </a:tc>
                <a:tc>
                  <a:txBody>
                    <a:bodyPr wrap="square"/>
                    <a:lstStyle/>
                    <a:p>
                      <a:r>
                        <a:rPr sz="1250">
                          <a:solidFill>
                            <a:srgbClr val="333E4F"/>
                          </a:solidFill>
                          <a:latin typeface="Helvetica Neue"/>
                        </a:rPr>
                        <a:t>The 1,000th edge case costs as much to build as the first. Vendors served the common case and left the tail to us and to spreadsheets.</a:t>
                      </a:r>
                    </a:p>
                  </a:txBody>
                  <a:tcPr marL="91440" marR="73152" marT="36576" marB="36576" anchor="ctr">
                    <a:solidFill>
                      <a:srgbClr val="F3F6F8"/>
                    </a:solidFill>
                  </a:tcPr>
                </a:tc>
                <a:tc>
                  <a:txBody>
                    <a:bodyPr wrap="square"/>
                    <a:lstStyle/>
                    <a:p>
                      <a:r>
                        <a:rPr sz="1250">
                          <a:solidFill>
                            <a:srgbClr val="7A3B08"/>
                          </a:solidFill>
                          <a:latin typeface="Helvetica Neue"/>
                        </a:rPr>
                        <a:t>Marginal cost of covering an edge case approaches the cost of describing it. The tail becomes addressable for the first time.</a:t>
                      </a:r>
                    </a:p>
                  </a:txBody>
                  <a:tcPr marL="91440" marR="73152" marT="36576" marB="36576" anchor="ctr">
                    <a:solidFill>
                      <a:srgbClr val="FAEEE3"/>
                    </a:solidFill>
                  </a:tcPr>
                </a:tc>
              </a:tr>
              <a:tr h="1097280">
                <a:tc>
                  <a:txBody>
                    <a:bodyPr wrap="square"/>
                    <a:lstStyle/>
                    <a:p>
                      <a:r>
                        <a:rPr sz="1250" b="1">
                          <a:solidFill>
                            <a:srgbClr val="111A27"/>
                          </a:solidFill>
                          <a:latin typeface="Helvetica Neue"/>
                        </a:rPr>
                        <a:t>Every capability needed a pre-built interface</a:t>
                      </a:r>
                    </a:p>
                  </a:txBody>
                  <a:tcPr marL="91440" marR="73152" marT="36576" marB="36576" anchor="ctr">
                    <a:solidFill>
                      <a:srgbClr val="FFFFFF"/>
                    </a:solidFill>
                  </a:tcPr>
                </a:tc>
                <a:tc>
                  <a:txBody>
                    <a:bodyPr wrap="square"/>
                    <a:lstStyle/>
                    <a:p>
                      <a:r>
                        <a:rPr sz="1250">
                          <a:solidFill>
                            <a:srgbClr val="333E4F"/>
                          </a:solidFill>
                          <a:latin typeface="Helvetica Neue"/>
                        </a:rPr>
                        <a:t>We could only direct the software through affordances a product manager imagined and a roadmap funded.</a:t>
                      </a:r>
                    </a:p>
                  </a:txBody>
                  <a:tcPr marL="91440" marR="73152" marT="36576" marB="36576" anchor="ctr">
                    <a:solidFill>
                      <a:srgbClr val="FFFFFF"/>
                    </a:solidFill>
                  </a:tcPr>
                </a:tc>
                <a:tc>
                  <a:txBody>
                    <a:bodyPr wrap="square"/>
                    <a:lstStyle/>
                    <a:p>
                      <a:r>
                        <a:rPr sz="1250">
                          <a:solidFill>
                            <a:srgbClr val="7A3B08"/>
                          </a:solidFill>
                          <a:latin typeface="Helvetica Neue"/>
                        </a:rPr>
                        <a:t>Natural language is a universal interface. Nobody has to anticipate the request in advance for it to be answerable.</a:t>
                      </a:r>
                    </a:p>
                  </a:txBody>
                  <a:tcPr marL="91440" marR="73152" marT="36576" marB="36576" anchor="ctr">
                    <a:solidFill>
                      <a:srgbClr val="FAEEE3"/>
                    </a:solidFill>
                  </a:tcPr>
                </a:tc>
              </a:tr>
            </a:tbl>
          </a:graphicData>
        </a:graphic>
      </p:graphicFrame>
      <p:sp>
        <p:nvSpPr>
          <p:cNvPr id="6" name="Rounded Rectangle 5"/>
          <p:cNvSpPr/>
          <p:nvPr/>
        </p:nvSpPr>
        <p:spPr>
          <a:xfrm>
            <a:off x="658368" y="5650992"/>
            <a:ext cx="10874959" cy="777240"/>
          </a:xfrm>
          <a:prstGeom prst="roundRect">
            <a:avLst>
              <a:gd name="adj" fmla="val 4000"/>
            </a:avLst>
          </a:prstGeom>
          <a:solidFill>
            <a:srgbClr val="E4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50976" y="5833872"/>
            <a:ext cx="10289743" cy="457200"/>
          </a:xfrm>
          <a:prstGeom prst="rect">
            <a:avLst/>
          </a:prstGeom>
          <a:noFill/>
        </p:spPr>
        <p:txBody>
          <a:bodyPr wrap="square" anchor="t" lIns="0" rIns="0" tIns="0" bIns="0">
            <a:spAutoFit/>
          </a:bodyPr>
          <a:lstStyle/>
          <a:p>
            <a:pPr algn="l">
              <a:lnSpc>
                <a:spcPct val="130000"/>
              </a:lnSpc>
              <a:spcAft>
                <a:spcPts val="600"/>
              </a:spcAft>
            </a:pPr>
            <a:r>
              <a:rPr sz="1400" b="1" i="0">
                <a:solidFill>
                  <a:srgbClr val="0A5366"/>
                </a:solidFill>
                <a:latin typeface="Helvetica Neue"/>
              </a:rPr>
              <a:t>This is the technical claim under the whole strategy — three specific properties, not a general belief about AI: ambiguity tolerance, near-zero marginal cost on the long tail, and an interface nobody has to build in advance.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4</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DOMAIN FIT</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Accounting is the best domain for this, and the reason is verification</a:t>
            </a:r>
          </a:p>
        </p:txBody>
      </p:sp>
      <p:sp>
        <p:nvSpPr>
          <p:cNvPr id="5" name="TextBox 4"/>
          <p:cNvSpPr txBox="1"/>
          <p:nvPr/>
        </p:nvSpPr>
        <p:spPr>
          <a:xfrm>
            <a:off x="658368" y="1719072"/>
            <a:ext cx="10424160" cy="548640"/>
          </a:xfrm>
          <a:prstGeom prst="rect">
            <a:avLst/>
          </a:prstGeom>
          <a:noFill/>
        </p:spPr>
        <p:txBody>
          <a:bodyPr wrap="square" anchor="t" lIns="0" rIns="0" tIns="0" bIns="0">
            <a:spAutoFit/>
          </a:bodyPr>
          <a:lstStyle/>
          <a:p>
            <a:pPr algn="l">
              <a:lnSpc>
                <a:spcPct val="135000"/>
              </a:lnSpc>
              <a:spcAft>
                <a:spcPts val="600"/>
              </a:spcAft>
            </a:pPr>
            <a:r>
              <a:rPr sz="1500" b="0" i="0">
                <a:solidFill>
                  <a:srgbClr val="333E4F"/>
                </a:solidFill>
                <a:latin typeface="Helvetica Neue"/>
              </a:rPr>
              <a:t>Most agent products cap out at "assistive" because nobody can mechanically tell whether the output is right. In law, in consulting, in most knowledge work there is no oracle. Accounting hands us one.</a:t>
            </a:r>
          </a:p>
        </p:txBody>
      </p:sp>
      <p:sp>
        <p:nvSpPr>
          <p:cNvPr id="6" name="Rounded Rectangle 5"/>
          <p:cNvSpPr/>
          <p:nvPr/>
        </p:nvSpPr>
        <p:spPr>
          <a:xfrm>
            <a:off x="658368" y="2395728"/>
            <a:ext cx="3465576" cy="2852928"/>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6112" y="2606040"/>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0A5366"/>
                </a:solidFill>
                <a:latin typeface="Helvetica Neue"/>
              </a:rPr>
              <a:t>1 · The domain gives us a verifier</a:t>
            </a:r>
          </a:p>
        </p:txBody>
      </p:sp>
      <p:sp>
        <p:nvSpPr>
          <p:cNvPr id="8" name="TextBox 7"/>
          <p:cNvSpPr txBox="1"/>
          <p:nvPr/>
        </p:nvSpPr>
        <p:spPr>
          <a:xfrm>
            <a:off x="896112" y="2999232"/>
            <a:ext cx="3008376" cy="2011680"/>
          </a:xfrm>
          <a:prstGeom prst="rect">
            <a:avLst/>
          </a:prstGeom>
          <a:noFill/>
        </p:spPr>
        <p:txBody>
          <a:bodyPr wrap="square" lIns="0" rIns="0" tIns="0" bIns="0">
            <a:spAutoFit/>
          </a:bodyPr>
          <a:lstStyle/>
          <a:p>
            <a:pPr>
              <a:lnSpc>
                <a:spcPct val="128000"/>
              </a:lnSpc>
              <a:spcAft>
                <a:spcPts val="700"/>
              </a:spcAft>
            </a:pPr>
            <a:r>
              <a:rPr sz="1250">
                <a:solidFill>
                  <a:srgbClr val="333E4F"/>
                </a:solidFill>
                <a:latin typeface="Helvetica Neue"/>
              </a:rPr>
              <a:t>— Debits must equal credits on every entry</a:t>
            </a:r>
          </a:p>
          <a:p>
            <a:pPr>
              <a:lnSpc>
                <a:spcPct val="128000"/>
              </a:lnSpc>
              <a:spcAft>
                <a:spcPts val="700"/>
              </a:spcAft>
            </a:pPr>
            <a:r>
              <a:rPr sz="1250">
                <a:solidFill>
                  <a:srgbClr val="333E4F"/>
                </a:solidFill>
                <a:latin typeface="Helvetica Neue"/>
              </a:rPr>
              <a:t>— Trial balance must tie</a:t>
            </a:r>
          </a:p>
          <a:p>
            <a:pPr>
              <a:lnSpc>
                <a:spcPct val="128000"/>
              </a:lnSpc>
              <a:spcAft>
                <a:spcPts val="700"/>
              </a:spcAft>
            </a:pPr>
            <a:r>
              <a:rPr sz="1250">
                <a:solidFill>
                  <a:srgbClr val="333E4F"/>
                </a:solidFill>
                <a:latin typeface="Helvetica Neue"/>
              </a:rPr>
              <a:t>— Subledgers must tie to control accounts</a:t>
            </a:r>
          </a:p>
          <a:p>
            <a:pPr>
              <a:lnSpc>
                <a:spcPct val="128000"/>
              </a:lnSpc>
              <a:spcAft>
                <a:spcPts val="700"/>
              </a:spcAft>
            </a:pPr>
            <a:r>
              <a:rPr sz="1250">
                <a:solidFill>
                  <a:srgbClr val="333E4F"/>
                </a:solidFill>
                <a:latin typeface="Helvetica Neue"/>
              </a:rPr>
              <a:t>— Bank reconciliation must net to zero</a:t>
            </a:r>
          </a:p>
          <a:p>
            <a:pPr>
              <a:lnSpc>
                <a:spcPct val="128000"/>
              </a:lnSpc>
              <a:spcAft>
                <a:spcPts val="700"/>
              </a:spcAft>
            </a:pPr>
            <a:r>
              <a:rPr sz="1250">
                <a:solidFill>
                  <a:srgbClr val="333E4F"/>
                </a:solidFill>
                <a:latin typeface="Helvetica Neue"/>
              </a:rPr>
              <a:t>— Tax and filing rules are codified, not inferred</a:t>
            </a:r>
          </a:p>
        </p:txBody>
      </p:sp>
      <p:sp>
        <p:nvSpPr>
          <p:cNvPr id="9" name="Rounded Rectangle 8"/>
          <p:cNvSpPr/>
          <p:nvPr/>
        </p:nvSpPr>
        <p:spPr>
          <a:xfrm>
            <a:off x="4379976" y="2395728"/>
            <a:ext cx="3465576" cy="2852928"/>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7720" y="2606040"/>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7A3B08"/>
                </a:solidFill>
                <a:latin typeface="Helvetica Neue"/>
              </a:rPr>
              <a:t>2 · So we can verify before we commit</a:t>
            </a:r>
          </a:p>
        </p:txBody>
      </p:sp>
      <p:sp>
        <p:nvSpPr>
          <p:cNvPr id="11" name="TextBox 10"/>
          <p:cNvSpPr txBox="1"/>
          <p:nvPr/>
        </p:nvSpPr>
        <p:spPr>
          <a:xfrm>
            <a:off x="4617720" y="2999232"/>
            <a:ext cx="30083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That single capability is the difference between a demo and a system we would put in front of a client.
It lets us auto-post with a measured error bound, route only genuine ambiguity to a person, and state our own accuracy in terms an external reviewer will accept.</a:t>
            </a:r>
          </a:p>
        </p:txBody>
      </p:sp>
      <p:sp>
        <p:nvSpPr>
          <p:cNvPr id="12" name="Rounded Rectangle 11"/>
          <p:cNvSpPr/>
          <p:nvPr/>
        </p:nvSpPr>
        <p:spPr>
          <a:xfrm>
            <a:off x="8101583" y="2395728"/>
            <a:ext cx="3465576" cy="2852928"/>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39327" y="2606040"/>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7A3B08"/>
                </a:solidFill>
                <a:latin typeface="Helvetica Neue"/>
              </a:rPr>
              <a:t>3 · And we know where the work is</a:t>
            </a:r>
          </a:p>
        </p:txBody>
      </p:sp>
      <p:sp>
        <p:nvSpPr>
          <p:cNvPr id="14" name="TextBox 13"/>
          <p:cNvSpPr txBox="1"/>
          <p:nvPr/>
        </p:nvSpPr>
        <p:spPr>
          <a:xfrm>
            <a:off x="8339327" y="2999232"/>
            <a:ext cx="30083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Years of driving these packages with RPA is a map of exactly which steps are mechanical and where a human has to intervene.
Our bots hit that wall thousands of times a day, and the logs record it. Combined with customer closes we can access through existing engagements, that is a ground-truth corpus with a running start.</a:t>
            </a:r>
          </a:p>
        </p:txBody>
      </p:sp>
      <p:sp>
        <p:nvSpPr>
          <p:cNvPr id="15" name="Rounded Rectangle 14"/>
          <p:cNvSpPr/>
          <p:nvPr/>
        </p:nvSpPr>
        <p:spPr>
          <a:xfrm>
            <a:off x="658368" y="5468112"/>
            <a:ext cx="10874959" cy="86868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69264" y="5669280"/>
            <a:ext cx="10253167" cy="502920"/>
          </a:xfrm>
          <a:prstGeom prst="rect">
            <a:avLst/>
          </a:prstGeom>
          <a:noFill/>
        </p:spPr>
        <p:txBody>
          <a:bodyPr wrap="square" anchor="t" lIns="0" rIns="0" tIns="0" bIns="0">
            <a:spAutoFit/>
          </a:bodyPr>
          <a:lstStyle/>
          <a:p>
            <a:pPr algn="l">
              <a:lnSpc>
                <a:spcPct val="130000"/>
              </a:lnSpc>
              <a:spcAft>
                <a:spcPts val="600"/>
              </a:spcAft>
            </a:pPr>
            <a:r>
              <a:rPr sz="1500" b="1" i="0">
                <a:solidFill>
                  <a:srgbClr val="FFFFFF"/>
                </a:solidFill>
                <a:latin typeface="Helvetica Neue"/>
              </a:rPr>
              <a:t>An oracle plus a map of where the judgment actually sits is not a nice-to-have. It is the reason autonomy is shippable in accounting before almost anywhere else — and the reason it is shippable by us rather than by someone starting cold.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5</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WHAT THIS CHANGES</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Where the defensible engineering sits now</a:t>
            </a:r>
          </a:p>
        </p:txBody>
      </p:sp>
      <p:sp>
        <p:nvSpPr>
          <p:cNvPr id="5" name="TextBox 4"/>
          <p:cNvSpPr txBox="1"/>
          <p:nvPr/>
        </p:nvSpPr>
        <p:spPr>
          <a:xfrm>
            <a:off x="658368" y="1719072"/>
            <a:ext cx="10424160" cy="548640"/>
          </a:xfrm>
          <a:prstGeom prst="rect">
            <a:avLst/>
          </a:prstGeom>
          <a:noFill/>
        </p:spPr>
        <p:txBody>
          <a:bodyPr wrap="square" anchor="t" lIns="0" rIns="0" tIns="0" bIns="0">
            <a:spAutoFit/>
          </a:bodyPr>
          <a:lstStyle/>
          <a:p>
            <a:pPr algn="l">
              <a:lnSpc>
                <a:spcPct val="135000"/>
              </a:lnSpc>
              <a:spcAft>
                <a:spcPts val="600"/>
              </a:spcAft>
            </a:pPr>
            <a:r>
              <a:rPr sz="1500" b="0" i="0">
                <a:solidFill>
                  <a:srgbClr val="333E4F"/>
                </a:solidFill>
                <a:latin typeface="Helvetica Neue"/>
              </a:rPr>
              <a:t>When the vendor's differentiation was the interface, the moat was habit and configuration. When the system does the work, four different things become hard to copy — and none of them is the prompt.</a:t>
            </a:r>
          </a:p>
        </p:txBody>
      </p:sp>
      <p:sp>
        <p:nvSpPr>
          <p:cNvPr id="6" name="TextBox 5"/>
          <p:cNvSpPr txBox="1"/>
          <p:nvPr/>
        </p:nvSpPr>
        <p:spPr>
          <a:xfrm>
            <a:off x="658368" y="2395728"/>
            <a:ext cx="2542032" cy="274320"/>
          </a:xfrm>
          <a:prstGeom prst="rect">
            <a:avLst/>
          </a:prstGeom>
          <a:noFill/>
        </p:spPr>
        <p:txBody>
          <a:bodyPr wrap="square" anchor="t" lIns="0" rIns="0" tIns="0" bIns="0">
            <a:spAutoFit/>
          </a:bodyPr>
          <a:lstStyle/>
          <a:p>
            <a:pPr algn="l">
              <a:lnSpc>
                <a:spcPct val="125000"/>
              </a:lnSpc>
              <a:spcAft>
                <a:spcPts val="600"/>
              </a:spcAft>
            </a:pPr>
            <a:r>
              <a:rPr sz="1600" b="1" i="0">
                <a:solidFill>
                  <a:srgbClr val="0E7490"/>
                </a:solidFill>
                <a:latin typeface="Helvetica Neue"/>
              </a:rPr>
              <a:t>Verification</a:t>
            </a:r>
          </a:p>
        </p:txBody>
      </p:sp>
      <p:sp>
        <p:nvSpPr>
          <p:cNvPr id="7" name="TextBox 6"/>
          <p:cNvSpPr txBox="1"/>
          <p:nvPr/>
        </p:nvSpPr>
        <p:spPr>
          <a:xfrm>
            <a:off x="658368" y="2761488"/>
            <a:ext cx="2542032" cy="100584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Anyone can prompt a model. Almost nobody can prove the output is correct. In a domain with an oracle, the verifier is the product.</a:t>
            </a:r>
          </a:p>
        </p:txBody>
      </p:sp>
      <p:sp>
        <p:nvSpPr>
          <p:cNvPr id="8" name="TextBox 7"/>
          <p:cNvSpPr txBox="1"/>
          <p:nvPr/>
        </p:nvSpPr>
        <p:spPr>
          <a:xfrm>
            <a:off x="3419856" y="2395728"/>
            <a:ext cx="2542032" cy="274320"/>
          </a:xfrm>
          <a:prstGeom prst="rect">
            <a:avLst/>
          </a:prstGeom>
          <a:noFill/>
        </p:spPr>
        <p:txBody>
          <a:bodyPr wrap="square" anchor="t" lIns="0" rIns="0" tIns="0" bIns="0">
            <a:spAutoFit/>
          </a:bodyPr>
          <a:lstStyle/>
          <a:p>
            <a:pPr algn="l">
              <a:lnSpc>
                <a:spcPct val="125000"/>
              </a:lnSpc>
              <a:spcAft>
                <a:spcPts val="600"/>
              </a:spcAft>
            </a:pPr>
            <a:r>
              <a:rPr sz="1600" b="1" i="0">
                <a:solidFill>
                  <a:srgbClr val="0E7490"/>
                </a:solidFill>
                <a:latin typeface="Helvetica Neue"/>
              </a:rPr>
              <a:t>Context</a:t>
            </a:r>
          </a:p>
        </p:txBody>
      </p:sp>
      <p:sp>
        <p:nvSpPr>
          <p:cNvPr id="9" name="TextBox 8"/>
          <p:cNvSpPr txBox="1"/>
          <p:nvPr/>
        </p:nvSpPr>
        <p:spPr>
          <a:xfrm>
            <a:off x="3419856" y="2761488"/>
            <a:ext cx="2542032" cy="100584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Accumulated client-specific policy and history: this vendor is always COGS, this client capitalises above [$2,500]. Proprietary state, not a model.</a:t>
            </a:r>
          </a:p>
        </p:txBody>
      </p:sp>
      <p:sp>
        <p:nvSpPr>
          <p:cNvPr id="10" name="TextBox 9"/>
          <p:cNvSpPr txBox="1"/>
          <p:nvPr/>
        </p:nvSpPr>
        <p:spPr>
          <a:xfrm>
            <a:off x="658368" y="3877056"/>
            <a:ext cx="2542032" cy="274320"/>
          </a:xfrm>
          <a:prstGeom prst="rect">
            <a:avLst/>
          </a:prstGeom>
          <a:noFill/>
        </p:spPr>
        <p:txBody>
          <a:bodyPr wrap="square" anchor="t" lIns="0" rIns="0" tIns="0" bIns="0">
            <a:spAutoFit/>
          </a:bodyPr>
          <a:lstStyle/>
          <a:p>
            <a:pPr algn="l">
              <a:lnSpc>
                <a:spcPct val="125000"/>
              </a:lnSpc>
              <a:spcAft>
                <a:spcPts val="600"/>
              </a:spcAft>
            </a:pPr>
            <a:r>
              <a:rPr sz="1600" b="1" i="0">
                <a:solidFill>
                  <a:srgbClr val="0E7490"/>
                </a:solidFill>
                <a:latin typeface="Helvetica Neue"/>
              </a:rPr>
              <a:t>Permission</a:t>
            </a:r>
          </a:p>
        </p:txBody>
      </p:sp>
      <p:sp>
        <p:nvSpPr>
          <p:cNvPr id="11" name="TextBox 10"/>
          <p:cNvSpPr txBox="1"/>
          <p:nvPr/>
        </p:nvSpPr>
        <p:spPr>
          <a:xfrm>
            <a:off x="658368" y="4242816"/>
            <a:ext cx="2542032" cy="100584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Write access to the ledger, the bank, the filing. Reversing that is a governance decision with a liability trail — a far stronger lock-in than UI habit.</a:t>
            </a:r>
          </a:p>
        </p:txBody>
      </p:sp>
      <p:sp>
        <p:nvSpPr>
          <p:cNvPr id="12" name="TextBox 11"/>
          <p:cNvSpPr txBox="1"/>
          <p:nvPr/>
        </p:nvSpPr>
        <p:spPr>
          <a:xfrm>
            <a:off x="3419856" y="3877056"/>
            <a:ext cx="2542032" cy="274320"/>
          </a:xfrm>
          <a:prstGeom prst="rect">
            <a:avLst/>
          </a:prstGeom>
          <a:noFill/>
        </p:spPr>
        <p:txBody>
          <a:bodyPr wrap="square" anchor="t" lIns="0" rIns="0" tIns="0" bIns="0">
            <a:spAutoFit/>
          </a:bodyPr>
          <a:lstStyle/>
          <a:p>
            <a:pPr algn="l">
              <a:lnSpc>
                <a:spcPct val="125000"/>
              </a:lnSpc>
              <a:spcAft>
                <a:spcPts val="600"/>
              </a:spcAft>
            </a:pPr>
            <a:r>
              <a:rPr sz="1600" b="1" i="0">
                <a:solidFill>
                  <a:srgbClr val="0E7490"/>
                </a:solidFill>
                <a:latin typeface="Helvetica Neue"/>
              </a:rPr>
              <a:t>Evals</a:t>
            </a:r>
          </a:p>
        </p:txBody>
      </p:sp>
      <p:sp>
        <p:nvSpPr>
          <p:cNvPr id="13" name="TextBox 12"/>
          <p:cNvSpPr txBox="1"/>
          <p:nvPr/>
        </p:nvSpPr>
        <p:spPr>
          <a:xfrm>
            <a:off x="3419856" y="4242816"/>
            <a:ext cx="2542032" cy="100584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A corpus of verified outcomes to regression-test against. Prompts copy in an afternoon; a decade of reviewed closes does not.</a:t>
            </a:r>
          </a:p>
        </p:txBody>
      </p:sp>
      <p:sp>
        <p:nvSpPr>
          <p:cNvPr id="14" name="Rounded Rectangle 13"/>
          <p:cNvSpPr/>
          <p:nvPr/>
        </p:nvSpPr>
        <p:spPr>
          <a:xfrm>
            <a:off x="6464807" y="2395728"/>
            <a:ext cx="5074920" cy="2852928"/>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739128" y="2615184"/>
            <a:ext cx="457200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6B7688"/>
                </a:solidFill>
                <a:latin typeface="Helvetica Neue"/>
              </a:rPr>
              <a:t>WHAT DOES NOT CHANGE</a:t>
            </a:r>
          </a:p>
        </p:txBody>
      </p:sp>
      <p:sp>
        <p:nvSpPr>
          <p:cNvPr id="16" name="TextBox 15"/>
          <p:cNvSpPr txBox="1"/>
          <p:nvPr/>
        </p:nvSpPr>
        <p:spPr>
          <a:xfrm>
            <a:off x="6739128" y="2962656"/>
            <a:ext cx="4572000" cy="2194560"/>
          </a:xfrm>
          <a:prstGeom prst="rect">
            <a:avLst/>
          </a:prstGeom>
          <a:noFill/>
        </p:spPr>
        <p:txBody>
          <a:bodyPr wrap="square" anchor="t" lIns="0" rIns="0" tIns="0" bIns="0">
            <a:spAutoFit/>
          </a:bodyPr>
          <a:lstStyle/>
          <a:p>
            <a:pPr algn="l">
              <a:lnSpc>
                <a:spcPct val="144000"/>
              </a:lnSpc>
              <a:spcAft>
                <a:spcPts val="600"/>
              </a:spcAft>
            </a:pPr>
            <a:r>
              <a:rPr sz="1250" b="0" i="0">
                <a:solidFill>
                  <a:srgbClr val="333E4F"/>
                </a:solidFill>
                <a:latin typeface="Helvetica Neue"/>
              </a:rPr>
              <a:t>The system of record matters more, not less. Agents need a substrate with truth, permissions and history — they make interfaces obsolete, not databases. Anyone who tells you the ledger goes away has not built one.
Trust, security, confidentiality and professional standards still gate everything. Our customers' books our reputation are the assets at risk, which is why the controls in this architecture are not optional extras.</a:t>
            </a:r>
          </a:p>
        </p:txBody>
      </p:sp>
      <p:sp>
        <p:nvSpPr>
          <p:cNvPr id="17" name="Rounded Rectangle 16"/>
          <p:cNvSpPr/>
          <p:nvPr/>
        </p:nvSpPr>
        <p:spPr>
          <a:xfrm>
            <a:off x="658368" y="5468112"/>
            <a:ext cx="10874959" cy="822960"/>
          </a:xfrm>
          <a:prstGeom prst="roundRect">
            <a:avLst>
              <a:gd name="adj" fmla="val 4000"/>
            </a:avLst>
          </a:prstGeom>
          <a:solidFill>
            <a:srgbClr val="FA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5669280"/>
            <a:ext cx="10289743" cy="457200"/>
          </a:xfrm>
          <a:prstGeom prst="rect">
            <a:avLst/>
          </a:prstGeom>
          <a:noFill/>
        </p:spPr>
        <p:txBody>
          <a:bodyPr wrap="square" anchor="t" lIns="0" rIns="0" tIns="0" bIns="0">
            <a:spAutoFit/>
          </a:bodyPr>
          <a:lstStyle/>
          <a:p>
            <a:pPr algn="l">
              <a:lnSpc>
                <a:spcPct val="130000"/>
              </a:lnSpc>
              <a:spcAft>
                <a:spcPts val="600"/>
              </a:spcAft>
            </a:pPr>
            <a:r>
              <a:rPr sz="1400" b="1" i="0">
                <a:solidFill>
                  <a:srgbClr val="7A3B08"/>
                </a:solidFill>
                <a:latin typeface="Helvetica Neue"/>
              </a:rPr>
              <a:t>Note what is not on this list: the agent layer. Prompts are the cheapest and most replaceable component in the system, and we have deliberately built the least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6</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ARCHITECTURE</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400" b="1" i="0">
                <a:solidFill>
                  <a:srgbClr val="111A27"/>
                </a:solidFill>
                <a:latin typeface="Helvetica Neue"/>
              </a:rPr>
              <a:t>The agent decides. Deterministic code executes.
Nothing commits unverified.</a:t>
            </a:r>
          </a:p>
        </p:txBody>
      </p:sp>
      <p:sp>
        <p:nvSpPr>
          <p:cNvPr id="5" name="Rounded Rectangle 4"/>
          <p:cNvSpPr/>
          <p:nvPr/>
        </p:nvSpPr>
        <p:spPr>
          <a:xfrm>
            <a:off x="658368" y="2212848"/>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59536" y="2281428"/>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Client surfaces</a:t>
            </a:r>
          </a:p>
        </p:txBody>
      </p:sp>
      <p:sp>
        <p:nvSpPr>
          <p:cNvPr id="7" name="TextBox 6"/>
          <p:cNvSpPr txBox="1"/>
          <p:nvPr/>
        </p:nvSpPr>
        <p:spPr>
          <a:xfrm>
            <a:off x="3675887" y="2299716"/>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exception queue (the real UI) · chat &amp; email · client reporting</a:t>
            </a:r>
          </a:p>
        </p:txBody>
      </p:sp>
      <p:sp>
        <p:nvSpPr>
          <p:cNvPr id="8" name="Rounded Rectangle 7"/>
          <p:cNvSpPr/>
          <p:nvPr/>
        </p:nvSpPr>
        <p:spPr>
          <a:xfrm>
            <a:off x="658368" y="2752344"/>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536" y="2820924"/>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Verification &amp; guardrails</a:t>
            </a:r>
          </a:p>
        </p:txBody>
      </p:sp>
      <p:sp>
        <p:nvSpPr>
          <p:cNvPr id="10" name="TextBox 9"/>
          <p:cNvSpPr txBox="1"/>
          <p:nvPr/>
        </p:nvSpPr>
        <p:spPr>
          <a:xfrm>
            <a:off x="3675887" y="2839212"/>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hard invariants · anomaly and variance · confidence routing</a:t>
            </a:r>
          </a:p>
        </p:txBody>
      </p:sp>
      <p:sp>
        <p:nvSpPr>
          <p:cNvPr id="11" name="TextBox 10"/>
          <p:cNvSpPr txBox="1"/>
          <p:nvPr/>
        </p:nvSpPr>
        <p:spPr>
          <a:xfrm>
            <a:off x="9354312" y="2834639"/>
            <a:ext cx="274320" cy="274320"/>
          </a:xfrm>
          <a:prstGeom prst="rect">
            <a:avLst/>
          </a:prstGeom>
          <a:noFill/>
        </p:spPr>
        <p:txBody>
          <a:bodyPr wrap="square" anchor="t" lIns="0" rIns="0" tIns="0" bIns="0">
            <a:spAutoFit/>
          </a:bodyPr>
          <a:lstStyle/>
          <a:p>
            <a:pPr algn="l">
              <a:lnSpc>
                <a:spcPct val="125000"/>
              </a:lnSpc>
              <a:spcAft>
                <a:spcPts val="600"/>
              </a:spcAft>
            </a:pPr>
            <a:r>
              <a:rPr sz="1200" b="1" i="0">
                <a:solidFill>
                  <a:srgbClr val="B45309"/>
                </a:solidFill>
                <a:latin typeface="Helvetica Neue"/>
              </a:rPr>
              <a:t>◆</a:t>
            </a:r>
          </a:p>
        </p:txBody>
      </p:sp>
      <p:sp>
        <p:nvSpPr>
          <p:cNvPr id="12" name="Rounded Rectangle 11"/>
          <p:cNvSpPr/>
          <p:nvPr/>
        </p:nvSpPr>
        <p:spPr>
          <a:xfrm>
            <a:off x="658368" y="3291839"/>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59536" y="3360420"/>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Agent layer</a:t>
            </a:r>
          </a:p>
        </p:txBody>
      </p:sp>
      <p:sp>
        <p:nvSpPr>
          <p:cNvPr id="14" name="TextBox 13"/>
          <p:cNvSpPr txBox="1"/>
          <p:nvPr/>
        </p:nvSpPr>
        <p:spPr>
          <a:xfrm>
            <a:off x="3675887" y="3378708"/>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workflow supervisors · extract · classify · match · chase · analyse</a:t>
            </a:r>
          </a:p>
        </p:txBody>
      </p:sp>
      <p:sp>
        <p:nvSpPr>
          <p:cNvPr id="15" name="Rounded Rectangle 14"/>
          <p:cNvSpPr/>
          <p:nvPr/>
        </p:nvSpPr>
        <p:spPr>
          <a:xfrm>
            <a:off x="658368" y="3831335"/>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9536" y="3899915"/>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Durable orchestration</a:t>
            </a:r>
          </a:p>
        </p:txBody>
      </p:sp>
      <p:sp>
        <p:nvSpPr>
          <p:cNvPr id="17" name="TextBox 16"/>
          <p:cNvSpPr txBox="1"/>
          <p:nvPr/>
        </p:nvSpPr>
        <p:spPr>
          <a:xfrm>
            <a:off x="3675887" y="3918203"/>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the close checklist as a resumable state machine, not free-form agency</a:t>
            </a:r>
          </a:p>
        </p:txBody>
      </p:sp>
      <p:sp>
        <p:nvSpPr>
          <p:cNvPr id="18" name="Rounded Rectangle 17"/>
          <p:cNvSpPr/>
          <p:nvPr/>
        </p:nvSpPr>
        <p:spPr>
          <a:xfrm>
            <a:off x="658368" y="4370831"/>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59536" y="4439412"/>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Deterministic tool layer</a:t>
            </a:r>
          </a:p>
        </p:txBody>
      </p:sp>
      <p:sp>
        <p:nvSpPr>
          <p:cNvPr id="20" name="TextBox 19"/>
          <p:cNvSpPr txBox="1"/>
          <p:nvPr/>
        </p:nvSpPr>
        <p:spPr>
          <a:xfrm>
            <a:off x="3675887" y="4457699"/>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typed, invariant-enforcing actions: post_entry · reconcile · close_period</a:t>
            </a:r>
          </a:p>
        </p:txBody>
      </p:sp>
      <p:sp>
        <p:nvSpPr>
          <p:cNvPr id="21" name="TextBox 20"/>
          <p:cNvSpPr txBox="1"/>
          <p:nvPr/>
        </p:nvSpPr>
        <p:spPr>
          <a:xfrm>
            <a:off x="9354312" y="4453127"/>
            <a:ext cx="274320" cy="274320"/>
          </a:xfrm>
          <a:prstGeom prst="rect">
            <a:avLst/>
          </a:prstGeom>
          <a:noFill/>
        </p:spPr>
        <p:txBody>
          <a:bodyPr wrap="square" anchor="t" lIns="0" rIns="0" tIns="0" bIns="0">
            <a:spAutoFit/>
          </a:bodyPr>
          <a:lstStyle/>
          <a:p>
            <a:pPr algn="l">
              <a:lnSpc>
                <a:spcPct val="125000"/>
              </a:lnSpc>
              <a:spcAft>
                <a:spcPts val="600"/>
              </a:spcAft>
            </a:pPr>
            <a:r>
              <a:rPr sz="1200" b="1" i="0">
                <a:solidFill>
                  <a:srgbClr val="B45309"/>
                </a:solidFill>
                <a:latin typeface="Helvetica Neue"/>
              </a:rPr>
              <a:t>◆</a:t>
            </a:r>
          </a:p>
        </p:txBody>
      </p:sp>
      <p:sp>
        <p:nvSpPr>
          <p:cNvPr id="22" name="Rounded Rectangle 21"/>
          <p:cNvSpPr/>
          <p:nvPr/>
        </p:nvSpPr>
        <p:spPr>
          <a:xfrm>
            <a:off x="658368" y="4910327"/>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9536" y="4978907"/>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Ledger core</a:t>
            </a:r>
          </a:p>
        </p:txBody>
      </p:sp>
      <p:sp>
        <p:nvSpPr>
          <p:cNvPr id="24" name="TextBox 23"/>
          <p:cNvSpPr txBox="1"/>
          <p:nvPr/>
        </p:nvSpPr>
        <p:spPr>
          <a:xfrm>
            <a:off x="3675887" y="4997195"/>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append-only · bitemporal · double-entry · full provenance</a:t>
            </a:r>
          </a:p>
        </p:txBody>
      </p:sp>
      <p:sp>
        <p:nvSpPr>
          <p:cNvPr id="25" name="TextBox 24"/>
          <p:cNvSpPr txBox="1"/>
          <p:nvPr/>
        </p:nvSpPr>
        <p:spPr>
          <a:xfrm>
            <a:off x="9354312" y="4992623"/>
            <a:ext cx="274320" cy="274320"/>
          </a:xfrm>
          <a:prstGeom prst="rect">
            <a:avLst/>
          </a:prstGeom>
          <a:noFill/>
        </p:spPr>
        <p:txBody>
          <a:bodyPr wrap="square" anchor="t" lIns="0" rIns="0" tIns="0" bIns="0">
            <a:spAutoFit/>
          </a:bodyPr>
          <a:lstStyle/>
          <a:p>
            <a:pPr algn="l">
              <a:lnSpc>
                <a:spcPct val="125000"/>
              </a:lnSpc>
              <a:spcAft>
                <a:spcPts val="600"/>
              </a:spcAft>
            </a:pPr>
            <a:r>
              <a:rPr sz="1200" b="1" i="0">
                <a:solidFill>
                  <a:srgbClr val="B45309"/>
                </a:solidFill>
                <a:latin typeface="Helvetica Neue"/>
              </a:rPr>
              <a:t>◆</a:t>
            </a:r>
          </a:p>
        </p:txBody>
      </p:sp>
      <p:sp>
        <p:nvSpPr>
          <p:cNvPr id="26" name="Rounded Rectangle 25"/>
          <p:cNvSpPr/>
          <p:nvPr/>
        </p:nvSpPr>
        <p:spPr>
          <a:xfrm>
            <a:off x="658368" y="5449823"/>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59536" y="5518403"/>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Ingestion</a:t>
            </a:r>
          </a:p>
        </p:txBody>
      </p:sp>
      <p:sp>
        <p:nvSpPr>
          <p:cNvPr id="28" name="TextBox 27"/>
          <p:cNvSpPr txBox="1"/>
          <p:nvPr/>
        </p:nvSpPr>
        <p:spPr>
          <a:xfrm>
            <a:off x="3675887" y="5536691"/>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banks · cards · payroll · POS · AP inbox · documents · prior-year books</a:t>
            </a:r>
          </a:p>
        </p:txBody>
      </p:sp>
      <p:sp>
        <p:nvSpPr>
          <p:cNvPr id="29" name="Rounded Rectangle 28"/>
          <p:cNvSpPr/>
          <p:nvPr/>
        </p:nvSpPr>
        <p:spPr>
          <a:xfrm>
            <a:off x="9848088" y="2212848"/>
            <a:ext cx="1673352" cy="3707891"/>
          </a:xfrm>
          <a:prstGeom prst="roundRect">
            <a:avLst>
              <a:gd name="adj" fmla="val 4000"/>
            </a:avLst>
          </a:prstGeom>
          <a:solidFill>
            <a:srgbClr val="E8EEF2"/>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994392" y="2340864"/>
            <a:ext cx="1380744" cy="274320"/>
          </a:xfrm>
          <a:prstGeom prst="rect">
            <a:avLst/>
          </a:prstGeom>
          <a:noFill/>
        </p:spPr>
        <p:txBody>
          <a:bodyPr wrap="square" anchor="t" lIns="0" rIns="0" tIns="0" bIns="0">
            <a:spAutoFit/>
          </a:bodyPr>
          <a:lstStyle/>
          <a:p>
            <a:pPr algn="l">
              <a:lnSpc>
                <a:spcPct val="125000"/>
              </a:lnSpc>
              <a:spcAft>
                <a:spcPts val="600"/>
              </a:spcAft>
            </a:pPr>
            <a:r>
              <a:rPr sz="1000" b="1" i="0">
                <a:solidFill>
                  <a:srgbClr val="6B7688"/>
                </a:solidFill>
                <a:latin typeface="Helvetica Neue"/>
              </a:rPr>
              <a:t>CROSS-CUTTING</a:t>
            </a:r>
          </a:p>
        </p:txBody>
      </p:sp>
      <p:sp>
        <p:nvSpPr>
          <p:cNvPr id="31" name="TextBox 30"/>
          <p:cNvSpPr txBox="1"/>
          <p:nvPr/>
        </p:nvSpPr>
        <p:spPr>
          <a:xfrm>
            <a:off x="9994392" y="2761488"/>
            <a:ext cx="1380744" cy="548640"/>
          </a:xfrm>
          <a:prstGeom prst="rect">
            <a:avLst/>
          </a:prstGeom>
          <a:noFill/>
        </p:spPr>
        <p:txBody>
          <a:bodyPr wrap="square" anchor="t" lIns="0" rIns="0" tIns="0" bIns="0">
            <a:spAutoFit/>
          </a:bodyPr>
          <a:lstStyle/>
          <a:p>
            <a:pPr algn="l">
              <a:lnSpc>
                <a:spcPct val="125000"/>
              </a:lnSpc>
              <a:spcAft>
                <a:spcPts val="600"/>
              </a:spcAft>
            </a:pPr>
            <a:r>
              <a:rPr sz="1100" b="0" i="0">
                <a:solidFill>
                  <a:srgbClr val="333E4F"/>
                </a:solidFill>
                <a:latin typeface="Helvetica Neue"/>
              </a:rPr>
              <a:t>Audit trail
&amp; lineage</a:t>
            </a:r>
          </a:p>
        </p:txBody>
      </p:sp>
      <p:sp>
        <p:nvSpPr>
          <p:cNvPr id="32" name="TextBox 31"/>
          <p:cNvSpPr txBox="1"/>
          <p:nvPr/>
        </p:nvSpPr>
        <p:spPr>
          <a:xfrm>
            <a:off x="9994392" y="3401568"/>
            <a:ext cx="1380744" cy="548640"/>
          </a:xfrm>
          <a:prstGeom prst="rect">
            <a:avLst/>
          </a:prstGeom>
          <a:noFill/>
        </p:spPr>
        <p:txBody>
          <a:bodyPr wrap="square" anchor="t" lIns="0" rIns="0" tIns="0" bIns="0">
            <a:spAutoFit/>
          </a:bodyPr>
          <a:lstStyle/>
          <a:p>
            <a:pPr algn="l">
              <a:lnSpc>
                <a:spcPct val="125000"/>
              </a:lnSpc>
              <a:spcAft>
                <a:spcPts val="600"/>
              </a:spcAft>
            </a:pPr>
            <a:r>
              <a:rPr sz="1100" b="0" i="0">
                <a:solidFill>
                  <a:srgbClr val="333E4F"/>
                </a:solidFill>
                <a:latin typeface="Helvetica Neue"/>
              </a:rPr>
              <a:t>Evals &amp;
replay harness</a:t>
            </a:r>
          </a:p>
        </p:txBody>
      </p:sp>
      <p:sp>
        <p:nvSpPr>
          <p:cNvPr id="33" name="TextBox 32"/>
          <p:cNvSpPr txBox="1"/>
          <p:nvPr/>
        </p:nvSpPr>
        <p:spPr>
          <a:xfrm>
            <a:off x="9994392" y="4041648"/>
            <a:ext cx="1380744" cy="548640"/>
          </a:xfrm>
          <a:prstGeom prst="rect">
            <a:avLst/>
          </a:prstGeom>
          <a:noFill/>
        </p:spPr>
        <p:txBody>
          <a:bodyPr wrap="square" anchor="t" lIns="0" rIns="0" tIns="0" bIns="0">
            <a:spAutoFit/>
          </a:bodyPr>
          <a:lstStyle/>
          <a:p>
            <a:pPr algn="l">
              <a:lnSpc>
                <a:spcPct val="125000"/>
              </a:lnSpc>
              <a:spcAft>
                <a:spcPts val="600"/>
              </a:spcAft>
            </a:pPr>
            <a:r>
              <a:rPr sz="1100" b="0" i="0">
                <a:solidFill>
                  <a:srgbClr val="333E4F"/>
                </a:solidFill>
                <a:latin typeface="Helvetica Neue"/>
              </a:rPr>
              <a:t>Cost &amp; token
telemetry</a:t>
            </a:r>
          </a:p>
        </p:txBody>
      </p:sp>
      <p:sp>
        <p:nvSpPr>
          <p:cNvPr id="34" name="TextBox 33"/>
          <p:cNvSpPr txBox="1"/>
          <p:nvPr/>
        </p:nvSpPr>
        <p:spPr>
          <a:xfrm>
            <a:off x="9994392" y="4681728"/>
            <a:ext cx="1380744" cy="548640"/>
          </a:xfrm>
          <a:prstGeom prst="rect">
            <a:avLst/>
          </a:prstGeom>
          <a:noFill/>
        </p:spPr>
        <p:txBody>
          <a:bodyPr wrap="square" anchor="t" lIns="0" rIns="0" tIns="0" bIns="0">
            <a:spAutoFit/>
          </a:bodyPr>
          <a:lstStyle/>
          <a:p>
            <a:pPr algn="l">
              <a:lnSpc>
                <a:spcPct val="125000"/>
              </a:lnSpc>
              <a:spcAft>
                <a:spcPts val="600"/>
              </a:spcAft>
            </a:pPr>
            <a:r>
              <a:rPr sz="1100" b="0" i="0">
                <a:solidFill>
                  <a:srgbClr val="333E4F"/>
                </a:solidFill>
                <a:latin typeface="Helvetica Neue"/>
              </a:rPr>
              <a:t>Agent identity,
least privilege</a:t>
            </a:r>
          </a:p>
        </p:txBody>
      </p:sp>
      <p:sp>
        <p:nvSpPr>
          <p:cNvPr id="35" name="TextBox 34"/>
          <p:cNvSpPr txBox="1"/>
          <p:nvPr/>
        </p:nvSpPr>
        <p:spPr>
          <a:xfrm>
            <a:off x="658368" y="6080759"/>
            <a:ext cx="10874959" cy="365760"/>
          </a:xfrm>
          <a:prstGeom prst="rect">
            <a:avLst/>
          </a:prstGeom>
          <a:noFill/>
        </p:spPr>
        <p:txBody>
          <a:bodyPr wrap="square" anchor="t" lIns="0" rIns="0" tIns="0" bIns="0">
            <a:spAutoFit/>
          </a:bodyPr>
          <a:lstStyle/>
          <a:p>
            <a:pPr algn="l">
              <a:lnSpc>
                <a:spcPct val="125000"/>
              </a:lnSpc>
              <a:spcAft>
                <a:spcPts val="600"/>
              </a:spcAft>
            </a:pPr>
            <a:r>
              <a:rPr sz="1250" b="1" i="0">
                <a:solidFill>
                  <a:srgbClr val="B45309"/>
                </a:solidFill>
                <a:latin typeface="Helvetica Neue"/>
              </a:rPr>
              <a:t>◆  Proprietary and defensible. The agent layer is the part we will rewrite most often and depend on least.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7</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KEY COMPONENT · 1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Ledger substrate: append-only, bitemporal, fully attributed</a:t>
            </a:r>
          </a:p>
        </p:txBody>
      </p:sp>
      <p:sp>
        <p:nvSpPr>
          <p:cNvPr id="5" name="TextBox 4"/>
          <p:cNvSpPr txBox="1"/>
          <p:nvPr/>
        </p:nvSpPr>
        <p:spPr>
          <a:xfrm>
            <a:off x="658368" y="1737360"/>
            <a:ext cx="10332720" cy="640080"/>
          </a:xfrm>
          <a:prstGeom prst="rect">
            <a:avLst/>
          </a:prstGeom>
          <a:noFill/>
        </p:spPr>
        <p:txBody>
          <a:bodyPr wrap="square" anchor="t" lIns="0" rIns="0" tIns="0" bIns="0">
            <a:spAutoFit/>
          </a:bodyPr>
          <a:lstStyle/>
          <a:p>
            <a:pPr algn="l">
              <a:lnSpc>
                <a:spcPct val="135000"/>
              </a:lnSpc>
              <a:spcAft>
                <a:spcPts val="600"/>
              </a:spcAft>
            </a:pPr>
            <a:r>
              <a:rPr sz="1450" b="0" i="0">
                <a:solidFill>
                  <a:srgbClr val="333E4F"/>
                </a:solidFill>
                <a:latin typeface="Helvetica Neue"/>
              </a:rPr>
              <a:t>Ordinary software updates a row and moves on. Three requirements that no accounting package we use has make that impossible for us — and all three are schema decisions, so all three must be made on day one. They cannot be retrofitted.</a:t>
            </a:r>
          </a:p>
        </p:txBody>
      </p:sp>
      <p:sp>
        <p:nvSpPr>
          <p:cNvPr id="6" name="TextBox 5"/>
          <p:cNvSpPr txBox="1"/>
          <p:nvPr/>
        </p:nvSpPr>
        <p:spPr>
          <a:xfrm>
            <a:off x="658368" y="2542032"/>
            <a:ext cx="6766560" cy="3566160"/>
          </a:xfrm>
          <a:prstGeom prst="rect">
            <a:avLst/>
          </a:prstGeom>
          <a:noFill/>
        </p:spPr>
        <p:txBody>
          <a:bodyPr wrap="square" lIns="0" rIns="0" tIns="0" bIns="0">
            <a:spAutoFit/>
          </a:bodyPr>
          <a:lstStyle/>
          <a:p>
            <a:pPr>
              <a:lnSpc>
                <a:spcPct val="128000"/>
              </a:lnSpc>
              <a:spcBef>
                <a:spcPts val="1400"/>
              </a:spcBef>
              <a:spcAft>
                <a:spcPts val="200"/>
              </a:spcAft>
            </a:pPr>
            <a:r>
              <a:rPr sz="1350" b="1">
                <a:solidFill>
                  <a:srgbClr val="111A27"/>
                </a:solidFill>
                <a:latin typeface="Helvetica Neue"/>
              </a:rPr>
              <a:t>Bitemporality — booking date versus effective date</a:t>
            </a:r>
          </a:p>
          <a:p>
            <a:pPr>
              <a:lnSpc>
                <a:spcPct val="128000"/>
              </a:lnSpc>
              <a:spcAft>
                <a:spcPts val="900"/>
              </a:spcAft>
            </a:pPr>
            <a:r>
              <a:rPr sz="1350">
                <a:solidFill>
                  <a:srgbClr val="333E4F"/>
                </a:solidFill>
                <a:latin typeface="Helvetica Neue"/>
              </a:rPr>
              <a:t>— We must be able to answer "what did the books say as of 31 March?" for review and for audit. Critically, it is also what lets us replay an agent against a historical period and score it. Our entire eval capability depends on this one schema choice.</a:t>
            </a:r>
          </a:p>
          <a:p>
            <a:pPr>
              <a:lnSpc>
                <a:spcPct val="128000"/>
              </a:lnSpc>
              <a:spcBef>
                <a:spcPts val="1400"/>
              </a:spcBef>
              <a:spcAft>
                <a:spcPts val="200"/>
              </a:spcAft>
            </a:pPr>
            <a:r>
              <a:rPr sz="1350" b="1">
                <a:solidFill>
                  <a:srgbClr val="111A27"/>
                </a:solidFill>
                <a:latin typeface="Helvetica Neue"/>
              </a:rPr>
              <a:t>Immutability — corrections are reversing entries, never updates</a:t>
            </a:r>
          </a:p>
          <a:p>
            <a:pPr>
              <a:lnSpc>
                <a:spcPct val="128000"/>
              </a:lnSpc>
              <a:spcAft>
                <a:spcPts val="900"/>
              </a:spcAft>
            </a:pPr>
            <a:r>
              <a:rPr sz="1350">
                <a:solidFill>
                  <a:srgbClr val="333E4F"/>
                </a:solidFill>
                <a:latin typeface="Helvetica Neue"/>
              </a:rPr>
              <a:t>— A mutable ledger cannot be explained after the fact, and an agent that can silently overwrite is not defensible at any price.</a:t>
            </a:r>
          </a:p>
          <a:p>
            <a:pPr>
              <a:lnSpc>
                <a:spcPct val="128000"/>
              </a:lnSpc>
              <a:spcBef>
                <a:spcPts val="1400"/>
              </a:spcBef>
              <a:spcAft>
                <a:spcPts val="200"/>
              </a:spcAft>
            </a:pPr>
            <a:r>
              <a:rPr sz="1350" b="1">
                <a:solidFill>
                  <a:srgbClr val="111A27"/>
                </a:solidFill>
                <a:latin typeface="Helvetica Neue"/>
              </a:rPr>
              <a:t>Provenance as a first-class, queryable chain</a:t>
            </a:r>
          </a:p>
          <a:p>
            <a:pPr>
              <a:lnSpc>
                <a:spcPct val="128000"/>
              </a:lnSpc>
              <a:spcAft>
                <a:spcPts val="900"/>
              </a:spcAft>
            </a:pPr>
            <a:r>
              <a:rPr sz="1350">
                <a:solidFill>
                  <a:srgbClr val="333E4F"/>
                </a:solidFill>
                <a:latin typeface="Helvetica Neue"/>
              </a:rPr>
              <a:t>— source document → extraction → reasoning trace → tool call → policy applied → approver → posting. In our current stack an audit log is a compliance artefact bolted on the side. Here it is load-bearing: it is how the work product gets defended.</a:t>
            </a:r>
          </a:p>
          <a:p>
            <a:pPr>
              <a:lnSpc>
                <a:spcPct val="128000"/>
              </a:lnSpc>
              <a:spcBef>
                <a:spcPts val="900"/>
              </a:spcBef>
              <a:spcAft>
                <a:spcPts val="200"/>
              </a:spcAft>
            </a:pPr>
            <a:r>
              <a:rPr sz="1150" i="1">
                <a:solidFill>
                  <a:srgbClr val="B45309"/>
                </a:solidFill>
                <a:latin typeface="Helvetica Neue"/>
              </a:rPr>
              <a:t>Every actor is typed — human, agent or system — with the agent's identity, model version and prompt revision recorded on the entry itself.</a:t>
            </a:r>
          </a:p>
        </p:txBody>
      </p:sp>
      <p:sp>
        <p:nvSpPr>
          <p:cNvPr id="7" name="Rounded Rectangle 6"/>
          <p:cNvSpPr/>
          <p:nvPr/>
        </p:nvSpPr>
        <p:spPr>
          <a:xfrm>
            <a:off x="7836408" y="2542032"/>
            <a:ext cx="3675887" cy="320040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92440" y="2743200"/>
            <a:ext cx="315468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6B7688"/>
                </a:solidFill>
                <a:latin typeface="Helvetica Neue"/>
              </a:rPr>
              <a:t>WHY THIS IS THE SLIDE THAT MATTERS</a:t>
            </a:r>
          </a:p>
        </p:txBody>
      </p:sp>
      <p:sp>
        <p:nvSpPr>
          <p:cNvPr id="9" name="TextBox 8"/>
          <p:cNvSpPr txBox="1"/>
          <p:nvPr/>
        </p:nvSpPr>
        <p:spPr>
          <a:xfrm>
            <a:off x="8092440" y="3090672"/>
            <a:ext cx="3154680" cy="246888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This is the layer a competitor cannot copy by copying our prompts.
It is also what decides whether a customer can defend this work to an auditor or a regulator. Engagements die on "show me how this entry was produced", and that is answerable only if it was designed for at the schema level.
Roughly [15–20]% of engineering effort, and almost none of the demo.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8</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KEY COMPONENT · 2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Tool layer: an interface for an unknown reasoner</a:t>
            </a:r>
          </a:p>
        </p:txBody>
      </p:sp>
      <p:sp>
        <p:nvSpPr>
          <p:cNvPr id="5" name="TextBox 4"/>
          <p:cNvSpPr txBox="1"/>
          <p:nvPr/>
        </p:nvSpPr>
        <p:spPr>
          <a:xfrm>
            <a:off x="658368" y="1737360"/>
            <a:ext cx="10332720" cy="594360"/>
          </a:xfrm>
          <a:prstGeom prst="rect">
            <a:avLst/>
          </a:prstGeom>
          <a:noFill/>
        </p:spPr>
        <p:txBody>
          <a:bodyPr wrap="square" anchor="t" lIns="0" rIns="0" tIns="0" bIns="0">
            <a:spAutoFit/>
          </a:bodyPr>
          <a:lstStyle/>
          <a:p>
            <a:pPr algn="l">
              <a:lnSpc>
                <a:spcPct val="135000"/>
              </a:lnSpc>
              <a:spcAft>
                <a:spcPts val="600"/>
              </a:spcAft>
            </a:pPr>
            <a:r>
              <a:rPr sz="1450" b="0" i="0">
                <a:solidFill>
                  <a:srgbClr val="333E4F"/>
                </a:solidFill>
                <a:latin typeface="Helvetica Neue"/>
              </a:rPr>
              <a:t>This is not a REST API with a different name. A REST API assumes a client that already knows what it wants. A tool interface assumes a capable, confident, occasionally wrong caller. Five things differ:</a:t>
            </a:r>
          </a:p>
        </p:txBody>
      </p:sp>
      <p:sp>
        <p:nvSpPr>
          <p:cNvPr id="6" name="TextBox 5"/>
          <p:cNvSpPr txBox="1"/>
          <p:nvPr/>
        </p:nvSpPr>
        <p:spPr>
          <a:xfrm>
            <a:off x="658368" y="2487168"/>
            <a:ext cx="6766560" cy="3657600"/>
          </a:xfrm>
          <a:prstGeom prst="rect">
            <a:avLst/>
          </a:prstGeom>
          <a:noFill/>
        </p:spPr>
        <p:txBody>
          <a:bodyPr wrap="square" lIns="0" rIns="0" tIns="0" bIns="0">
            <a:spAutoFit/>
          </a:bodyPr>
          <a:lstStyle/>
          <a:p>
            <a:pPr>
              <a:lnSpc>
                <a:spcPct val="128000"/>
              </a:lnSpc>
              <a:spcBef>
                <a:spcPts val="1200"/>
              </a:spcBef>
              <a:spcAft>
                <a:spcPts val="200"/>
              </a:spcAft>
            </a:pPr>
            <a:r>
              <a:rPr sz="1350" b="1">
                <a:solidFill>
                  <a:srgbClr val="111A27"/>
                </a:solidFill>
                <a:latin typeface="Helvetica Neue"/>
              </a:rPr>
              <a:t>Errors must be instructive, because the agent reads them and retries.</a:t>
            </a:r>
          </a:p>
          <a:p>
            <a:pPr>
              <a:lnSpc>
                <a:spcPct val="128000"/>
              </a:lnSpc>
              <a:spcAft>
                <a:spcPts val="700"/>
              </a:spcAft>
            </a:pPr>
            <a:r>
              <a:rPr sz="1350">
                <a:solidFill>
                  <a:srgbClr val="333E4F"/>
                </a:solidFill>
                <a:latin typeface="Helvetica Neue"/>
              </a:rPr>
              <a:t>— "400 invalid" is worthless. "Entry unbalanced: debits 1,200.00, credits 1,150.00, difference 50.00" produces a retry that succeeds. Error-message quality is a functional requirement here, not a nicety.</a:t>
            </a:r>
          </a:p>
          <a:p>
            <a:pPr>
              <a:lnSpc>
                <a:spcPct val="128000"/>
              </a:lnSpc>
              <a:spcBef>
                <a:spcPts val="1200"/>
              </a:spcBef>
              <a:spcAft>
                <a:spcPts val="200"/>
              </a:spcAft>
            </a:pPr>
            <a:r>
              <a:rPr sz="1350" b="1">
                <a:solidFill>
                  <a:srgbClr val="111A27"/>
                </a:solidFill>
                <a:latin typeface="Helvetica Neue"/>
              </a:rPr>
              <a:t>The tool owns the invariant — not the caller.</a:t>
            </a:r>
          </a:p>
          <a:p>
            <a:pPr>
              <a:lnSpc>
                <a:spcPct val="128000"/>
              </a:lnSpc>
              <a:spcAft>
                <a:spcPts val="700"/>
              </a:spcAft>
            </a:pPr>
            <a:r>
              <a:rPr sz="1350">
                <a:solidFill>
                  <a:srgbClr val="333E4F"/>
                </a:solidFill>
                <a:latin typeface="Helvetica Neue"/>
              </a:rPr>
              <a:t>— Normally you trust your own frontend to send sane data. We invert that: every tool assumes a wrong caller and enforces balance, period locks and permissions itself.</a:t>
            </a:r>
          </a:p>
          <a:p>
            <a:pPr>
              <a:lnSpc>
                <a:spcPct val="128000"/>
              </a:lnSpc>
              <a:spcBef>
                <a:spcPts val="1200"/>
              </a:spcBef>
              <a:spcAft>
                <a:spcPts val="200"/>
              </a:spcAft>
            </a:pPr>
            <a:r>
              <a:rPr sz="1350" b="1">
                <a:solidFill>
                  <a:srgbClr val="111A27"/>
                </a:solidFill>
                <a:latin typeface="Helvetica Neue"/>
              </a:rPr>
              <a:t>Idempotency is mandatory, because agents retry.</a:t>
            </a:r>
          </a:p>
          <a:p>
            <a:pPr>
              <a:lnSpc>
                <a:spcPct val="128000"/>
              </a:lnSpc>
              <a:spcBef>
                <a:spcPts val="1200"/>
              </a:spcBef>
              <a:spcAft>
                <a:spcPts val="200"/>
              </a:spcAft>
            </a:pPr>
            <a:r>
              <a:rPr sz="1350" b="1">
                <a:solidFill>
                  <a:srgbClr val="111A27"/>
                </a:solidFill>
                <a:latin typeface="Helvetica Neue"/>
              </a:rPr>
              <a:t>Granularity is a genuine tradeoff.</a:t>
            </a:r>
          </a:p>
          <a:p>
            <a:pPr>
              <a:lnSpc>
                <a:spcPct val="128000"/>
              </a:lnSpc>
              <a:spcAft>
                <a:spcPts val="700"/>
              </a:spcAft>
            </a:pPr>
            <a:r>
              <a:rPr sz="1350">
                <a:solidFill>
                  <a:srgbClr val="333E4F"/>
                </a:solidFill>
                <a:latin typeface="Helvetica Neue"/>
              </a:rPr>
              <a:t>— Too fine and the agent burns forty calls and loses the thread; too coarse and it cannot express intent. Expect to iterate — we have.</a:t>
            </a:r>
          </a:p>
          <a:p>
            <a:pPr>
              <a:lnSpc>
                <a:spcPct val="128000"/>
              </a:lnSpc>
              <a:spcBef>
                <a:spcPts val="1200"/>
              </a:spcBef>
              <a:spcAft>
                <a:spcPts val="200"/>
              </a:spcAft>
            </a:pPr>
            <a:r>
              <a:rPr sz="1350" b="1">
                <a:solidFill>
                  <a:srgbClr val="111A27"/>
                </a:solidFill>
                <a:latin typeface="Helvetica Neue"/>
              </a:rPr>
              <a:t>The surface must stay small and discoverable. Context is a scarce resource; you cannot expose four hundred endpoints to a reasoner.</a:t>
            </a:r>
          </a:p>
        </p:txBody>
      </p:sp>
      <p:sp>
        <p:nvSpPr>
          <p:cNvPr id="7" name="Rounded Rectangle 6"/>
          <p:cNvSpPr/>
          <p:nvPr/>
        </p:nvSpPr>
        <p:spPr>
          <a:xfrm>
            <a:off x="7836408" y="2487168"/>
            <a:ext cx="3675887" cy="2103120"/>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92440" y="2688336"/>
            <a:ext cx="315468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0A5366"/>
                </a:solidFill>
                <a:latin typeface="Helvetica Neue"/>
              </a:rPr>
              <a:t>THE RULE</a:t>
            </a:r>
          </a:p>
        </p:txBody>
      </p:sp>
      <p:sp>
        <p:nvSpPr>
          <p:cNvPr id="9" name="TextBox 8"/>
          <p:cNvSpPr txBox="1"/>
          <p:nvPr/>
        </p:nvSpPr>
        <p:spPr>
          <a:xfrm>
            <a:off x="8092440" y="3017520"/>
            <a:ext cx="3154680" cy="146304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The model never does arithmetic or applies a rule in its head.
Every state change is a typed tool call that validates itself and rejects bad input. The agent's job is choosing which tool with which arguments. The tool's job is being correct.</a:t>
            </a:r>
          </a:p>
        </p:txBody>
      </p:sp>
      <p:sp>
        <p:nvSpPr>
          <p:cNvPr id="10" name="Rounded Rectangle 9"/>
          <p:cNvSpPr/>
          <p:nvPr/>
        </p:nvSpPr>
        <p:spPr>
          <a:xfrm>
            <a:off x="7836408" y="4718304"/>
            <a:ext cx="3675887" cy="100584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92440" y="4956048"/>
            <a:ext cx="3154680" cy="640080"/>
          </a:xfrm>
          <a:prstGeom prst="rect">
            <a:avLst/>
          </a:prstGeom>
          <a:noFill/>
        </p:spPr>
        <p:txBody>
          <a:bodyPr wrap="square" anchor="t" lIns="0" rIns="0" tIns="0" bIns="0">
            <a:spAutoFit/>
          </a:bodyPr>
          <a:lstStyle/>
          <a:p>
            <a:pPr algn="l">
              <a:lnSpc>
                <a:spcPct val="130000"/>
              </a:lnSpc>
              <a:spcAft>
                <a:spcPts val="600"/>
              </a:spcAft>
            </a:pPr>
            <a:r>
              <a:rPr sz="1300" b="1" i="0">
                <a:solidFill>
                  <a:srgbClr val="111A27"/>
                </a:solidFill>
                <a:latin typeface="Helvetica Neue"/>
              </a:rPr>
              <a:t>The single highest-leverage design decision in the system.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9</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KEY COMPONENT · 3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Verification and confidence routing</a:t>
            </a:r>
          </a:p>
        </p:txBody>
      </p:sp>
      <p:sp>
        <p:nvSpPr>
          <p:cNvPr id="5" name="TextBox 4"/>
          <p:cNvSpPr txBox="1"/>
          <p:nvPr/>
        </p:nvSpPr>
        <p:spPr>
          <a:xfrm>
            <a:off x="658368" y="1719072"/>
            <a:ext cx="10424160" cy="457200"/>
          </a:xfrm>
          <a:prstGeom prst="rect">
            <a:avLst/>
          </a:prstGeom>
          <a:noFill/>
        </p:spPr>
        <p:txBody>
          <a:bodyPr wrap="square" anchor="t" lIns="0" rIns="0" tIns="0" bIns="0">
            <a:spAutoFit/>
          </a:bodyPr>
          <a:lstStyle/>
          <a:p>
            <a:pPr algn="l">
              <a:lnSpc>
                <a:spcPct val="135000"/>
              </a:lnSpc>
              <a:spcAft>
                <a:spcPts val="600"/>
              </a:spcAft>
            </a:pPr>
            <a:r>
              <a:rPr sz="1450" b="0" i="0">
                <a:solidFill>
                  <a:srgbClr val="333E4F"/>
                </a:solidFill>
                <a:latin typeface="Helvetica Neue"/>
              </a:rPr>
              <a:t>The biggest change from the software we use today: from syntactic validation — is this well-formed? — to semantic verification — is this well-formed answer correct?</a:t>
            </a:r>
          </a:p>
        </p:txBody>
      </p:sp>
      <p:sp>
        <p:nvSpPr>
          <p:cNvPr id="6" name="Rounded Rectangle 5"/>
          <p:cNvSpPr/>
          <p:nvPr/>
        </p:nvSpPr>
        <p:spPr>
          <a:xfrm>
            <a:off x="658368" y="2286000"/>
            <a:ext cx="3465576" cy="246888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6112" y="2496312"/>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Tier 1 · Hard invariants</a:t>
            </a:r>
          </a:p>
        </p:txBody>
      </p:sp>
      <p:sp>
        <p:nvSpPr>
          <p:cNvPr id="8" name="TextBox 7"/>
          <p:cNvSpPr txBox="1"/>
          <p:nvPr/>
        </p:nvSpPr>
        <p:spPr>
          <a:xfrm>
            <a:off x="896112" y="2880360"/>
            <a:ext cx="3008376" cy="178308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Deterministic, non-negotiable, run before anything commits. Balance, trial-balance ties, subledger-to-control ties, reconciliation delta, duplicate detection, period locks. A failure here is a hard block, never a warning.</a:t>
            </a:r>
          </a:p>
        </p:txBody>
      </p:sp>
      <p:sp>
        <p:nvSpPr>
          <p:cNvPr id="9" name="Rounded Rectangle 8"/>
          <p:cNvSpPr/>
          <p:nvPr/>
        </p:nvSpPr>
        <p:spPr>
          <a:xfrm>
            <a:off x="4379976" y="2286000"/>
            <a:ext cx="3465576" cy="24688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7720" y="2496312"/>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Tier 2 · Statistical checks</a:t>
            </a:r>
          </a:p>
        </p:txBody>
      </p:sp>
      <p:sp>
        <p:nvSpPr>
          <p:cNvPr id="11" name="TextBox 10"/>
          <p:cNvSpPr txBox="1"/>
          <p:nvPr/>
        </p:nvSpPr>
        <p:spPr>
          <a:xfrm>
            <a:off x="4617720" y="2880360"/>
            <a:ext cx="3008376" cy="178308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Variance against prior period, unusual vendor and account pairings, distributional anomalies. Catches the well-formed-but-wrong class that invariants pass. Produces a score, not a verdict.</a:t>
            </a:r>
          </a:p>
        </p:txBody>
      </p:sp>
      <p:sp>
        <p:nvSpPr>
          <p:cNvPr id="12" name="Rounded Rectangle 11"/>
          <p:cNvSpPr/>
          <p:nvPr/>
        </p:nvSpPr>
        <p:spPr>
          <a:xfrm>
            <a:off x="8101583" y="2286000"/>
            <a:ext cx="3465576" cy="24688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39327" y="2496312"/>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Tier 3 · Routing</a:t>
            </a:r>
          </a:p>
        </p:txBody>
      </p:sp>
      <p:sp>
        <p:nvSpPr>
          <p:cNvPr id="14" name="TextBox 13"/>
          <p:cNvSpPr txBox="1"/>
          <p:nvPr/>
        </p:nvSpPr>
        <p:spPr>
          <a:xfrm>
            <a:off x="8339327" y="2880360"/>
            <a:ext cx="3008376" cy="178308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Above threshold: auto-post. Below: into the review queue with full context. Confidence is derived from verification signals and agreement between independent passes — never from asking the model how sure it is.</a:t>
            </a:r>
          </a:p>
        </p:txBody>
      </p:sp>
      <p:sp>
        <p:nvSpPr>
          <p:cNvPr id="15" name="Rounded Rectangle 14"/>
          <p:cNvSpPr/>
          <p:nvPr/>
        </p:nvSpPr>
        <p:spPr>
          <a:xfrm>
            <a:off x="658368" y="4956048"/>
            <a:ext cx="6035040" cy="1325880"/>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5138928"/>
            <a:ext cx="5486400" cy="548640"/>
          </a:xfrm>
          <a:prstGeom prst="rect">
            <a:avLst/>
          </a:prstGeom>
          <a:noFill/>
        </p:spPr>
        <p:txBody>
          <a:bodyPr wrap="square" anchor="t" lIns="0" rIns="0" tIns="0" bIns="0">
            <a:spAutoFit/>
          </a:bodyPr>
          <a:lstStyle/>
          <a:p>
            <a:pPr algn="l">
              <a:lnSpc>
                <a:spcPct val="130000"/>
              </a:lnSpc>
              <a:spcAft>
                <a:spcPts val="600"/>
              </a:spcAft>
            </a:pPr>
            <a:r>
              <a:rPr sz="1350" b="1" i="0">
                <a:solidFill>
                  <a:srgbClr val="111A27"/>
                </a:solidFill>
                <a:latin typeface="Helvetica Neue"/>
              </a:rPr>
              <a:t>Models are badly calibrated and reliably overconfident. Asking one for a confidence score is not a control.</a:t>
            </a:r>
          </a:p>
        </p:txBody>
      </p:sp>
      <p:sp>
        <p:nvSpPr>
          <p:cNvPr id="17" name="TextBox 16"/>
          <p:cNvSpPr txBox="1"/>
          <p:nvPr/>
        </p:nvSpPr>
        <p:spPr>
          <a:xfrm>
            <a:off x="932688" y="5705856"/>
            <a:ext cx="5486400" cy="457200"/>
          </a:xfrm>
          <a:prstGeom prst="rect">
            <a:avLst/>
          </a:prstGeom>
          <a:noFill/>
        </p:spPr>
        <p:txBody>
          <a:bodyPr wrap="square" anchor="t" lIns="0" rIns="0" tIns="0" bIns="0">
            <a:spAutoFit/>
          </a:bodyPr>
          <a:lstStyle/>
          <a:p>
            <a:pPr algn="l">
              <a:lnSpc>
                <a:spcPct val="135000"/>
              </a:lnSpc>
              <a:spcAft>
                <a:spcPts val="600"/>
              </a:spcAft>
            </a:pPr>
            <a:r>
              <a:rPr sz="1200" b="0" i="0">
                <a:solidFill>
                  <a:srgbClr val="333E4F"/>
                </a:solidFill>
                <a:latin typeface="Helvetica Neue"/>
              </a:rPr>
              <a:t>We derive confidence from tier-1 and tier-2 signals and from agreement between independent passes, then calibrate against known outcomes.</a:t>
            </a:r>
          </a:p>
        </p:txBody>
      </p:sp>
      <p:sp>
        <p:nvSpPr>
          <p:cNvPr id="18" name="Rounded Rectangle 17"/>
          <p:cNvSpPr/>
          <p:nvPr/>
        </p:nvSpPr>
        <p:spPr>
          <a:xfrm>
            <a:off x="6967728" y="4956048"/>
            <a:ext cx="4572000" cy="1325880"/>
          </a:xfrm>
          <a:prstGeom prst="roundRect">
            <a:avLst>
              <a:gd name="adj" fmla="val 4000"/>
            </a:avLst>
          </a:prstGeom>
          <a:solidFill>
            <a:srgbClr val="FA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23759" y="5120640"/>
            <a:ext cx="4069080" cy="256032"/>
          </a:xfrm>
          <a:prstGeom prst="rect">
            <a:avLst/>
          </a:prstGeom>
          <a:noFill/>
        </p:spPr>
        <p:txBody>
          <a:bodyPr wrap="square" anchor="t" lIns="0" rIns="0" tIns="0" bIns="0">
            <a:spAutoFit/>
          </a:bodyPr>
          <a:lstStyle/>
          <a:p>
            <a:pPr algn="l">
              <a:lnSpc>
                <a:spcPct val="125000"/>
              </a:lnSpc>
              <a:spcAft>
                <a:spcPts val="600"/>
              </a:spcAft>
            </a:pPr>
            <a:r>
              <a:rPr sz="1100" b="1" i="0">
                <a:solidFill>
                  <a:srgbClr val="B45309"/>
                </a:solidFill>
                <a:latin typeface="Helvetica Neue"/>
              </a:rPr>
              <a:t>THE THRESHOLD IS THE BUSINESS CASE</a:t>
            </a:r>
          </a:p>
        </p:txBody>
      </p:sp>
      <p:sp>
        <p:nvSpPr>
          <p:cNvPr id="20" name="TextBox 19"/>
          <p:cNvSpPr txBox="1"/>
          <p:nvPr/>
        </p:nvSpPr>
        <p:spPr>
          <a:xfrm>
            <a:off x="7223759" y="5413248"/>
            <a:ext cx="4069080" cy="777240"/>
          </a:xfrm>
          <a:prstGeom prst="rect">
            <a:avLst/>
          </a:prstGeom>
          <a:noFill/>
        </p:spPr>
        <p:txBody>
          <a:bodyPr wrap="square" anchor="t" lIns="0" rIns="0" tIns="0" bIns="0">
            <a:spAutoFit/>
          </a:bodyPr>
          <a:lstStyle/>
          <a:p>
            <a:pPr algn="l">
              <a:lnSpc>
                <a:spcPct val="138000"/>
              </a:lnSpc>
              <a:spcAft>
                <a:spcPts val="600"/>
              </a:spcAft>
            </a:pPr>
            <a:r>
              <a:rPr sz="1200" b="0" i="0">
                <a:solidFill>
                  <a:srgbClr val="7A3B08"/>
                </a:solidFill>
                <a:latin typeface="Helvetica Neue"/>
              </a:rPr>
              <a:t>Move it up and hours fall but error risk rises; move it down and we have automated nothing. The entire engineering programme is raising it safely, per category, with the movement measured.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10</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KEY COMPONENT · 4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Evals and replay: the measurement system is the product</a:t>
            </a:r>
          </a:p>
        </p:txBody>
      </p:sp>
      <p:sp>
        <p:nvSpPr>
          <p:cNvPr id="5" name="TextBox 4"/>
          <p:cNvSpPr txBox="1"/>
          <p:nvPr/>
        </p:nvSpPr>
        <p:spPr>
          <a:xfrm>
            <a:off x="658368" y="1737360"/>
            <a:ext cx="10332720" cy="640080"/>
          </a:xfrm>
          <a:prstGeom prst="rect">
            <a:avLst/>
          </a:prstGeom>
          <a:noFill/>
        </p:spPr>
        <p:txBody>
          <a:bodyPr wrap="square" anchor="t" lIns="0" rIns="0" tIns="0" bIns="0">
            <a:spAutoFit/>
          </a:bodyPr>
          <a:lstStyle/>
          <a:p>
            <a:pPr algn="l">
              <a:lnSpc>
                <a:spcPct val="135000"/>
              </a:lnSpc>
              <a:spcAft>
                <a:spcPts val="600"/>
              </a:spcAft>
            </a:pPr>
            <a:r>
              <a:rPr sz="1450" b="0" i="0">
                <a:solidFill>
                  <a:srgbClr val="333E4F"/>
                </a:solidFill>
                <a:latin typeface="Helvetica Neue"/>
              </a:rPr>
              <a:t>A normal software feature is correct or it is a bug. An agent capability has a distribution. You stop asking "does it work" and start asking "at what rate, on what input distribution, with what failure modes." That changes engineering practice more than anything else here.</a:t>
            </a:r>
          </a:p>
        </p:txBody>
      </p:sp>
      <p:sp>
        <p:nvSpPr>
          <p:cNvPr id="6" name="TextBox 5"/>
          <p:cNvSpPr txBox="1"/>
          <p:nvPr/>
        </p:nvSpPr>
        <p:spPr>
          <a:xfrm>
            <a:off x="658368" y="2542032"/>
            <a:ext cx="6766560" cy="3566160"/>
          </a:xfrm>
          <a:prstGeom prst="rect">
            <a:avLst/>
          </a:prstGeom>
          <a:noFill/>
        </p:spPr>
        <p:txBody>
          <a:bodyPr wrap="square" lIns="0" rIns="0" tIns="0" bIns="0">
            <a:spAutoFit/>
          </a:bodyPr>
          <a:lstStyle/>
          <a:p>
            <a:pPr>
              <a:lnSpc>
                <a:spcPct val="128000"/>
              </a:lnSpc>
              <a:spcBef>
                <a:spcPts val="1200"/>
              </a:spcBef>
              <a:spcAft>
                <a:spcPts val="200"/>
              </a:spcAft>
            </a:pPr>
            <a:r>
              <a:rPr sz="1350" b="1">
                <a:solidFill>
                  <a:srgbClr val="111A27"/>
                </a:solidFill>
                <a:latin typeface="Helvetica Neue"/>
              </a:rPr>
              <a:t>Ground truth comes from closes that already happened.</a:t>
            </a:r>
          </a:p>
          <a:p>
            <a:pPr>
              <a:lnSpc>
                <a:spcPct val="128000"/>
              </a:lnSpc>
              <a:spcAft>
                <a:spcPts val="700"/>
              </a:spcAft>
            </a:pPr>
            <a:r>
              <a:rPr sz="1350">
                <a:solidFill>
                  <a:srgbClr val="333E4F"/>
                </a:solidFill>
                <a:latin typeface="Helvetica Neue"/>
              </a:rPr>
              <a:t>— We replay agents against historical periods and score against what the bookkeeper actually did, then against what review corrected. Our RPA exception logs tell us which categories to weight.</a:t>
            </a:r>
          </a:p>
          <a:p>
            <a:pPr>
              <a:lnSpc>
                <a:spcPct val="128000"/>
              </a:lnSpc>
              <a:spcBef>
                <a:spcPts val="1200"/>
              </a:spcBef>
              <a:spcAft>
                <a:spcPts val="200"/>
              </a:spcAft>
            </a:pPr>
            <a:r>
              <a:rPr sz="1350" b="1">
                <a:solidFill>
                  <a:srgbClr val="111A27"/>
                </a:solidFill>
                <a:latin typeface="Helvetica Neue"/>
              </a:rPr>
              <a:t>CI contains statistical tests.</a:t>
            </a:r>
          </a:p>
          <a:p>
            <a:pPr>
              <a:lnSpc>
                <a:spcPct val="128000"/>
              </a:lnSpc>
              <a:spcAft>
                <a:spcPts val="700"/>
              </a:spcAft>
            </a:pPr>
            <a:r>
              <a:rPr sz="1350">
                <a:solidFill>
                  <a:srgbClr val="333E4F"/>
                </a:solidFill>
                <a:latin typeface="Helvetica Neue"/>
              </a:rPr>
              <a:t>— A two-point regression may be noise or a catastrophe, and only eval volume tells you which.</a:t>
            </a:r>
          </a:p>
          <a:p>
            <a:pPr>
              <a:lnSpc>
                <a:spcPct val="128000"/>
              </a:lnSpc>
              <a:spcBef>
                <a:spcPts val="1200"/>
              </a:spcBef>
              <a:spcAft>
                <a:spcPts val="200"/>
              </a:spcAft>
            </a:pPr>
            <a:r>
              <a:rPr sz="1350" b="1">
                <a:solidFill>
                  <a:srgbClr val="111A27"/>
                </a:solidFill>
                <a:latin typeface="Helvetica Neue"/>
              </a:rPr>
              <a:t>Bug reports are not reproducible.</a:t>
            </a:r>
          </a:p>
          <a:p>
            <a:pPr>
              <a:lnSpc>
                <a:spcPct val="128000"/>
              </a:lnSpc>
              <a:spcAft>
                <a:spcPts val="700"/>
              </a:spcAft>
            </a:pPr>
            <a:r>
              <a:rPr sz="1350">
                <a:solidFill>
                  <a:srgbClr val="333E4F"/>
                </a:solidFill>
                <a:latin typeface="Helvetica Neue"/>
              </a:rPr>
              <a:t>— Full trace capture on every run — prompt, context, tool calls, model version — or we are blind in production.</a:t>
            </a:r>
          </a:p>
          <a:p>
            <a:pPr>
              <a:lnSpc>
                <a:spcPct val="128000"/>
              </a:lnSpc>
              <a:spcBef>
                <a:spcPts val="1200"/>
              </a:spcBef>
              <a:spcAft>
                <a:spcPts val="200"/>
              </a:spcAft>
            </a:pPr>
            <a:r>
              <a:rPr sz="1350" b="1">
                <a:solidFill>
                  <a:srgbClr val="111A27"/>
                </a:solidFill>
                <a:latin typeface="Helvetica Neue"/>
              </a:rPr>
              <a:t>Model upgrades are breaking changes to behaviour we never specified.</a:t>
            </a:r>
          </a:p>
          <a:p>
            <a:pPr>
              <a:lnSpc>
                <a:spcPct val="128000"/>
              </a:lnSpc>
              <a:spcAft>
                <a:spcPts val="700"/>
              </a:spcAft>
            </a:pPr>
            <a:r>
              <a:rPr sz="1350">
                <a:solidFill>
                  <a:srgbClr val="333E4F"/>
                </a:solidFill>
                <a:latin typeface="Helvetica Neue"/>
              </a:rPr>
              <a:t>— Version-pin, shadow-eval every candidate model against the corpus before any swap, keep a fallback. A standing pipeline, not a project.</a:t>
            </a:r>
          </a:p>
        </p:txBody>
      </p:sp>
      <p:sp>
        <p:nvSpPr>
          <p:cNvPr id="7" name="Rounded Rectangle 6"/>
          <p:cNvSpPr/>
          <p:nvPr/>
        </p:nvSpPr>
        <p:spPr>
          <a:xfrm>
            <a:off x="7836408" y="2542032"/>
            <a:ext cx="3675887" cy="315468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92440" y="2743200"/>
            <a:ext cx="315468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B45309"/>
                </a:solidFill>
                <a:latin typeface="Helvetica Neue"/>
              </a:rPr>
              <a:t>THE REPORTING UNIT CHANGES</a:t>
            </a:r>
          </a:p>
        </p:txBody>
      </p:sp>
      <p:sp>
        <p:nvSpPr>
          <p:cNvPr id="9" name="TextBox 8"/>
          <p:cNvSpPr txBox="1"/>
          <p:nvPr/>
        </p:nvSpPr>
        <p:spPr>
          <a:xfrm>
            <a:off x="8092440" y="3090672"/>
            <a:ext cx="3154680" cy="242316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Software roadmaps list features.
Ours lists accuracy on a category:
"raise auto-post rate on the ambiguous-vendor bucket from 71% to 88%."
Different planning, different staffing, and a roadmap whose progress is measured rather than asserted — which is also how we intend to report to a board.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11</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TECHNICAL RISK</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The two hard problems, stated plainly</a:t>
            </a:r>
          </a:p>
        </p:txBody>
      </p:sp>
      <p:sp>
        <p:nvSpPr>
          <p:cNvPr id="5" name="Rounded Rectangle 4"/>
          <p:cNvSpPr/>
          <p:nvPr/>
        </p:nvSpPr>
        <p:spPr>
          <a:xfrm>
            <a:off x="658368" y="1828800"/>
            <a:ext cx="5294376" cy="393192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48256"/>
            <a:ext cx="4754880" cy="320040"/>
          </a:xfrm>
          <a:prstGeom prst="rect">
            <a:avLst/>
          </a:prstGeom>
          <a:noFill/>
        </p:spPr>
        <p:txBody>
          <a:bodyPr wrap="square" anchor="t" lIns="0" rIns="0" tIns="0" bIns="0">
            <a:spAutoFit/>
          </a:bodyPr>
          <a:lstStyle/>
          <a:p>
            <a:pPr algn="l">
              <a:lnSpc>
                <a:spcPct val="125000"/>
              </a:lnSpc>
              <a:spcAft>
                <a:spcPts val="600"/>
              </a:spcAft>
            </a:pPr>
            <a:r>
              <a:rPr sz="1700" b="1" i="0">
                <a:solidFill>
                  <a:srgbClr val="111A27"/>
                </a:solidFill>
                <a:latin typeface="Helvetica Neue"/>
              </a:rPr>
              <a:t>1 · Reliability compounds badly</a:t>
            </a:r>
          </a:p>
        </p:txBody>
      </p:sp>
      <p:sp>
        <p:nvSpPr>
          <p:cNvPr id="7" name="TextBox 6"/>
          <p:cNvSpPr txBox="1"/>
          <p:nvPr/>
        </p:nvSpPr>
        <p:spPr>
          <a:xfrm>
            <a:off x="932688" y="2450592"/>
            <a:ext cx="4754880" cy="502920"/>
          </a:xfrm>
          <a:prstGeom prst="rect">
            <a:avLst/>
          </a:prstGeom>
          <a:noFill/>
        </p:spPr>
        <p:txBody>
          <a:bodyPr wrap="square" anchor="t" lIns="0" rIns="0" tIns="0" bIns="0">
            <a:spAutoFit/>
          </a:bodyPr>
          <a:lstStyle/>
          <a:p>
            <a:pPr algn="l">
              <a:lnSpc>
                <a:spcPct val="125000"/>
              </a:lnSpc>
              <a:spcAft>
                <a:spcPts val="600"/>
              </a:spcAft>
            </a:pPr>
            <a:r>
              <a:rPr sz="1500" b="1" i="0">
                <a:solidFill>
                  <a:srgbClr val="B45309"/>
                </a:solidFill>
                <a:latin typeface="Helvetica Neue"/>
              </a:rPr>
              <a:t>95% per step across 20 steps is 36% end-to-end.</a:t>
            </a:r>
          </a:p>
        </p:txBody>
      </p:sp>
      <p:sp>
        <p:nvSpPr>
          <p:cNvPr id="8" name="TextBox 7"/>
          <p:cNvSpPr txBox="1"/>
          <p:nvPr/>
        </p:nvSpPr>
        <p:spPr>
          <a:xfrm>
            <a:off x="932688" y="2980944"/>
            <a:ext cx="4754880" cy="548640"/>
          </a:xfrm>
          <a:prstGeom prst="rect">
            <a:avLst/>
          </a:prstGeom>
          <a:noFill/>
        </p:spPr>
        <p:txBody>
          <a:bodyPr wrap="square" anchor="t" lIns="0" rIns="0" tIns="0" bIns="0">
            <a:spAutoFit/>
          </a:bodyPr>
          <a:lstStyle/>
          <a:p>
            <a:pPr algn="l">
              <a:lnSpc>
                <a:spcPct val="135000"/>
              </a:lnSpc>
              <a:spcAft>
                <a:spcPts val="600"/>
              </a:spcAft>
            </a:pPr>
            <a:r>
              <a:rPr sz="1300" b="0" i="0">
                <a:solidFill>
                  <a:srgbClr val="333E4F"/>
                </a:solidFill>
                <a:latin typeface="Helvetica Neue"/>
              </a:rPr>
              <a:t>The central engineering problem of the category, and no prompt fixes it. The only real answer is architectural:</a:t>
            </a:r>
          </a:p>
        </p:txBody>
      </p:sp>
      <p:sp>
        <p:nvSpPr>
          <p:cNvPr id="9" name="TextBox 8"/>
          <p:cNvSpPr txBox="1"/>
          <p:nvPr/>
        </p:nvSpPr>
        <p:spPr>
          <a:xfrm>
            <a:off x="932688" y="3639312"/>
            <a:ext cx="4754880" cy="1645920"/>
          </a:xfrm>
          <a:prstGeom prst="rect">
            <a:avLst/>
          </a:prstGeom>
          <a:noFill/>
        </p:spPr>
        <p:txBody>
          <a:bodyPr wrap="square" lIns="0" rIns="0" tIns="0" bIns="0">
            <a:spAutoFit/>
          </a:bodyPr>
          <a:lstStyle/>
          <a:p>
            <a:pPr>
              <a:lnSpc>
                <a:spcPct val="128000"/>
              </a:lnSpc>
              <a:spcAft>
                <a:spcPts val="600"/>
              </a:spcAft>
            </a:pPr>
            <a:r>
              <a:rPr sz="1250">
                <a:solidFill>
                  <a:srgbClr val="333E4F"/>
                </a:solidFill>
                <a:latin typeface="Helvetica Neue"/>
              </a:rPr>
              <a:t>— Shorten agentic spans; keep deterministic orchestration between them</a:t>
            </a:r>
          </a:p>
          <a:p>
            <a:pPr>
              <a:lnSpc>
                <a:spcPct val="128000"/>
              </a:lnSpc>
              <a:spcAft>
                <a:spcPts val="600"/>
              </a:spcAft>
            </a:pPr>
            <a:r>
              <a:rPr sz="1250">
                <a:solidFill>
                  <a:srgbClr val="333E4F"/>
                </a:solidFill>
                <a:latin typeface="Helvetica Neue"/>
              </a:rPr>
              <a:t>— Make every step independently verifiable</a:t>
            </a:r>
          </a:p>
          <a:p>
            <a:pPr>
              <a:lnSpc>
                <a:spcPct val="128000"/>
              </a:lnSpc>
              <a:spcAft>
                <a:spcPts val="600"/>
              </a:spcAft>
            </a:pPr>
            <a:r>
              <a:rPr sz="1250">
                <a:solidFill>
                  <a:srgbClr val="333E4F"/>
                </a:solidFill>
                <a:latin typeface="Helvetica Neue"/>
              </a:rPr>
              <a:t>— Gate before commit, always</a:t>
            </a:r>
          </a:p>
          <a:p>
            <a:pPr>
              <a:lnSpc>
                <a:spcPct val="128000"/>
              </a:lnSpc>
              <a:spcAft>
                <a:spcPts val="600"/>
              </a:spcAft>
            </a:pPr>
            <a:r>
              <a:rPr sz="1250">
                <a:solidFill>
                  <a:srgbClr val="333E4F"/>
                </a:solidFill>
                <a:latin typeface="Helvetica Neue"/>
              </a:rPr>
              <a:t>— Prefer many short verified hops to one long autonomous chain</a:t>
            </a:r>
          </a:p>
        </p:txBody>
      </p:sp>
      <p:sp>
        <p:nvSpPr>
          <p:cNvPr id="10" name="TextBox 9"/>
          <p:cNvSpPr txBox="1"/>
          <p:nvPr/>
        </p:nvSpPr>
        <p:spPr>
          <a:xfrm>
            <a:off x="932688" y="5120640"/>
            <a:ext cx="4754880" cy="548640"/>
          </a:xfrm>
          <a:prstGeom prst="rect">
            <a:avLst/>
          </a:prstGeom>
          <a:noFill/>
        </p:spPr>
        <p:txBody>
          <a:bodyPr wrap="square" anchor="t" lIns="0" rIns="0" tIns="0" bIns="0">
            <a:spAutoFit/>
          </a:bodyPr>
          <a:lstStyle/>
          <a:p>
            <a:pPr algn="l">
              <a:lnSpc>
                <a:spcPct val="135000"/>
              </a:lnSpc>
              <a:spcAft>
                <a:spcPts val="600"/>
              </a:spcAft>
            </a:pPr>
            <a:r>
              <a:rPr sz="1200" b="1" i="0">
                <a:solidFill>
                  <a:srgbClr val="B45309"/>
                </a:solidFill>
                <a:latin typeface="Helvetica Neue"/>
              </a:rPr>
              <a:t>Any plan assuming long autonomous chains without this will fail in production. Use it as a filter on anyone else you look at.</a:t>
            </a:r>
          </a:p>
        </p:txBody>
      </p:sp>
      <p:sp>
        <p:nvSpPr>
          <p:cNvPr id="11" name="Rounded Rectangle 10"/>
          <p:cNvSpPr/>
          <p:nvPr/>
        </p:nvSpPr>
        <p:spPr>
          <a:xfrm>
            <a:off x="6245352" y="1828800"/>
            <a:ext cx="5294376" cy="393192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19672" y="2048256"/>
            <a:ext cx="4754880" cy="320040"/>
          </a:xfrm>
          <a:prstGeom prst="rect">
            <a:avLst/>
          </a:prstGeom>
          <a:noFill/>
        </p:spPr>
        <p:txBody>
          <a:bodyPr wrap="square" anchor="t" lIns="0" rIns="0" tIns="0" bIns="0">
            <a:spAutoFit/>
          </a:bodyPr>
          <a:lstStyle/>
          <a:p>
            <a:pPr algn="l">
              <a:lnSpc>
                <a:spcPct val="125000"/>
              </a:lnSpc>
              <a:spcAft>
                <a:spcPts val="600"/>
              </a:spcAft>
            </a:pPr>
            <a:r>
              <a:rPr sz="1700" b="1" i="0">
                <a:solidFill>
                  <a:srgbClr val="111A27"/>
                </a:solidFill>
                <a:latin typeface="Helvetica Neue"/>
              </a:rPr>
              <a:t>2 · The security model inverts</a:t>
            </a:r>
          </a:p>
        </p:txBody>
      </p:sp>
      <p:sp>
        <p:nvSpPr>
          <p:cNvPr id="13" name="TextBox 12"/>
          <p:cNvSpPr txBox="1"/>
          <p:nvPr/>
        </p:nvSpPr>
        <p:spPr>
          <a:xfrm>
            <a:off x="6519672" y="2450592"/>
            <a:ext cx="4754880" cy="502920"/>
          </a:xfrm>
          <a:prstGeom prst="rect">
            <a:avLst/>
          </a:prstGeom>
          <a:noFill/>
        </p:spPr>
        <p:txBody>
          <a:bodyPr wrap="square" anchor="t" lIns="0" rIns="0" tIns="0" bIns="0">
            <a:spAutoFit/>
          </a:bodyPr>
          <a:lstStyle/>
          <a:p>
            <a:pPr algn="l">
              <a:lnSpc>
                <a:spcPct val="125000"/>
              </a:lnSpc>
              <a:spcAft>
                <a:spcPts val="600"/>
              </a:spcAft>
            </a:pPr>
            <a:r>
              <a:rPr sz="1500" b="1" i="0">
                <a:solidFill>
                  <a:srgbClr val="B45309"/>
                </a:solidFill>
                <a:latin typeface="Helvetica Neue"/>
              </a:rPr>
              <a:t>An actor with authority, taking instructions from untrusted content.</a:t>
            </a:r>
          </a:p>
        </p:txBody>
      </p:sp>
      <p:sp>
        <p:nvSpPr>
          <p:cNvPr id="14" name="TextBox 13"/>
          <p:cNvSpPr txBox="1"/>
          <p:nvPr/>
        </p:nvSpPr>
        <p:spPr>
          <a:xfrm>
            <a:off x="6519672" y="2980944"/>
            <a:ext cx="4754880" cy="822960"/>
          </a:xfrm>
          <a:prstGeom prst="rect">
            <a:avLst/>
          </a:prstGeom>
          <a:noFill/>
        </p:spPr>
        <p:txBody>
          <a:bodyPr wrap="square" anchor="t" lIns="0" rIns="0" tIns="0" bIns="0">
            <a:spAutoFit/>
          </a:bodyPr>
          <a:lstStyle/>
          <a:p>
            <a:pPr algn="l">
              <a:lnSpc>
                <a:spcPct val="135000"/>
              </a:lnSpc>
              <a:spcAft>
                <a:spcPts val="600"/>
              </a:spcAft>
            </a:pPr>
            <a:r>
              <a:rPr sz="1300" b="0" i="0">
                <a:solidFill>
                  <a:srgbClr val="333E4F"/>
                </a:solidFill>
                <a:latin typeface="Helvetica Neue"/>
              </a:rPr>
              <a:t>Normally code is trusted and users are untrusted. Our agent is neither — it acts with write authority while reading a vendor's PDF or an inbound email. A genuinely new vulnerability class, and a customer's books are what is exposed.</a:t>
            </a:r>
          </a:p>
        </p:txBody>
      </p:sp>
      <p:sp>
        <p:nvSpPr>
          <p:cNvPr id="15" name="TextBox 14"/>
          <p:cNvSpPr txBox="1"/>
          <p:nvPr/>
        </p:nvSpPr>
        <p:spPr>
          <a:xfrm>
            <a:off x="6519672" y="3913632"/>
            <a:ext cx="4754880" cy="1645920"/>
          </a:xfrm>
          <a:prstGeom prst="rect">
            <a:avLst/>
          </a:prstGeom>
          <a:noFill/>
        </p:spPr>
        <p:txBody>
          <a:bodyPr wrap="square" lIns="0" rIns="0" tIns="0" bIns="0">
            <a:spAutoFit/>
          </a:bodyPr>
          <a:lstStyle/>
          <a:p>
            <a:pPr>
              <a:lnSpc>
                <a:spcPct val="128000"/>
              </a:lnSpc>
              <a:spcAft>
                <a:spcPts val="600"/>
              </a:spcAft>
            </a:pPr>
            <a:r>
              <a:rPr sz="1250">
                <a:solidFill>
                  <a:srgbClr val="333E4F"/>
                </a:solidFill>
                <a:latin typeface="Helvetica Neue"/>
              </a:rPr>
              <a:t>— Scoped, least-privilege credentials per task</a:t>
            </a:r>
          </a:p>
          <a:p>
            <a:pPr>
              <a:lnSpc>
                <a:spcPct val="128000"/>
              </a:lnSpc>
              <a:spcAft>
                <a:spcPts val="600"/>
              </a:spcAft>
            </a:pPr>
            <a:r>
              <a:rPr sz="1250">
                <a:solidFill>
                  <a:srgbClr val="333E4F"/>
                </a:solidFill>
                <a:latin typeface="Helvetica Neue"/>
              </a:rPr>
              <a:t>— No single tool both reads untrusted content and takes irreversible action</a:t>
            </a:r>
          </a:p>
          <a:p>
            <a:pPr>
              <a:lnSpc>
                <a:spcPct val="128000"/>
              </a:lnSpc>
              <a:spcAft>
                <a:spcPts val="600"/>
              </a:spcAft>
            </a:pPr>
            <a:r>
              <a:rPr sz="1250">
                <a:solidFill>
                  <a:srgbClr val="333E4F"/>
                </a:solidFill>
                <a:latin typeface="Helvetica Neue"/>
              </a:rPr>
              <a:t>— Separation of duties in code: an agent cannot approve its own entry</a:t>
            </a:r>
          </a:p>
          <a:p>
            <a:pPr>
              <a:lnSpc>
                <a:spcPct val="128000"/>
              </a:lnSpc>
              <a:spcAft>
                <a:spcPts val="600"/>
              </a:spcAft>
            </a:pPr>
            <a:r>
              <a:rPr sz="1250">
                <a:solidFill>
                  <a:srgbClr val="333E4F"/>
                </a:solidFill>
                <a:latin typeface="Helvetica Neue"/>
              </a:rPr>
              <a:t>— Hard period locks; document-derived text treated as tainted</a:t>
            </a:r>
          </a:p>
        </p:txBody>
      </p:sp>
      <p:sp>
        <p:nvSpPr>
          <p:cNvPr id="16" name="TextBox 15"/>
          <p:cNvSpPr txBox="1"/>
          <p:nvPr/>
        </p:nvSpPr>
        <p:spPr>
          <a:xfrm>
            <a:off x="658368" y="5925312"/>
            <a:ext cx="10874959" cy="548640"/>
          </a:xfrm>
          <a:prstGeom prst="rect">
            <a:avLst/>
          </a:prstGeom>
          <a:noFill/>
        </p:spPr>
        <p:txBody>
          <a:bodyPr wrap="square" anchor="t" lIns="0" rIns="0" tIns="0" bIns="0">
            <a:spAutoFit/>
          </a:bodyPr>
          <a:lstStyle/>
          <a:p>
            <a:pPr algn="l">
              <a:lnSpc>
                <a:spcPct val="132000"/>
              </a:lnSpc>
              <a:spcAft>
                <a:spcPts val="600"/>
              </a:spcAft>
            </a:pPr>
            <a:r>
              <a:rPr sz="1200" b="0" i="0">
                <a:solidFill>
                  <a:srgbClr val="333E4F"/>
                </a:solidFill>
                <a:latin typeface="Helvetica Neue"/>
              </a:rPr>
              <a:t>Two more we track and do not minimise. The 60/40 trap: the easy majority of transactions automates fast and creates false confidence while the residual holds most of the hours — so we instrument activity time, not transaction counts. And migration onto the new substrate: large, correctness-critical, and the first thing every engagement needs.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12</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ENGINEERING SHAPE</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Building this is a different engineering shape</a:t>
            </a:r>
          </a:p>
        </p:txBody>
      </p:sp>
      <p:sp>
        <p:nvSpPr>
          <p:cNvPr id="5" name="TextBox 4"/>
          <p:cNvSpPr txBox="1"/>
          <p:nvPr/>
        </p:nvSpPr>
        <p:spPr>
          <a:xfrm>
            <a:off x="658368" y="1719072"/>
            <a:ext cx="10424160" cy="713232"/>
          </a:xfrm>
          <a:prstGeom prst="rect">
            <a:avLst/>
          </a:prstGeom>
          <a:noFill/>
        </p:spPr>
        <p:txBody>
          <a:bodyPr wrap="square" anchor="t" lIns="0" rIns="0" tIns="0" bIns="0">
            <a:spAutoFit/>
          </a:bodyPr>
          <a:lstStyle/>
          <a:p>
            <a:pPr algn="l">
              <a:lnSpc>
                <a:spcPct val="135000"/>
              </a:lnSpc>
              <a:spcAft>
                <a:spcPts val="600"/>
              </a:spcAft>
            </a:pPr>
            <a:r>
              <a:rPr sz="1400" b="0" i="0">
                <a:solidFill>
                  <a:srgbClr val="333E4F"/>
                </a:solidFill>
                <a:latin typeface="Helvetica Neue"/>
              </a:rPr>
              <a:t>In conventional accounting software the system of record is the smallest, most stable, most valuable part of the codebase and the interface is the largest and most churn-prone. The ledger under a major package is a few thousand lines that barely changed in a decade; the UI around it is hundreds of thousands that changed every sprint.</a:t>
            </a:r>
          </a:p>
        </p:txBody>
      </p:sp>
      <p:graphicFrame>
        <p:nvGraphicFramePr>
          <p:cNvPr id="6" name="Table 5"/>
          <p:cNvGraphicFramePr>
            <a:graphicFrameLocks noGrp="1"/>
          </p:cNvGraphicFramePr>
          <p:nvPr/>
        </p:nvGraphicFramePr>
        <p:xfrm>
          <a:off x="658368" y="2505456"/>
          <a:ext cx="10872216" cy="3264408"/>
        </p:xfrm>
        <a:graphic>
          <a:graphicData uri="http://schemas.openxmlformats.org/drawingml/2006/table">
            <a:tbl>
              <a:tblPr>
                <a:tableStyleId>{5C22544A-7EE6-4342-B048-85BDC9FD1C3A}</a:tableStyleId>
              </a:tblPr>
              <a:tblGrid>
                <a:gridCol w="3017520"/>
                <a:gridCol w="1554480"/>
                <a:gridCol w="1508760"/>
                <a:gridCol w="4791456"/>
              </a:tblGrid>
              <a:tr h="384048">
                <a:tc>
                  <a:txBody>
                    <a:bodyPr wrap="square"/>
                    <a:lstStyle/>
                    <a:p>
                      <a:r>
                        <a:rPr sz="1150" b="1">
                          <a:solidFill>
                            <a:srgbClr val="FFFFFF"/>
                          </a:solidFill>
                          <a:latin typeface="Helvetica Neue"/>
                        </a:rPr>
                        <a:t>Layer</a:t>
                      </a:r>
                    </a:p>
                  </a:txBody>
                  <a:tcPr marL="91440" marR="73152" marT="36576" marB="36576" anchor="ctr">
                    <a:solidFill>
                      <a:srgbClr val="111A27"/>
                    </a:solidFill>
                  </a:tcPr>
                </a:tc>
                <a:tc>
                  <a:txBody>
                    <a:bodyPr wrap="square"/>
                    <a:lstStyle/>
                    <a:p>
                      <a:r>
                        <a:rPr sz="1150" b="1">
                          <a:solidFill>
                            <a:srgbClr val="FFFFFF"/>
                          </a:solidFill>
                          <a:latin typeface="Helvetica Neue"/>
                        </a:rPr>
                        <a:t>Conventional</a:t>
                      </a:r>
                    </a:p>
                  </a:txBody>
                  <a:tcPr marL="91440" marR="73152" marT="36576" marB="36576" anchor="ctr">
                    <a:solidFill>
                      <a:srgbClr val="111A27"/>
                    </a:solidFill>
                  </a:tcPr>
                </a:tc>
                <a:tc>
                  <a:txBody>
                    <a:bodyPr wrap="square"/>
                    <a:lstStyle/>
                    <a:p>
                      <a:r>
                        <a:rPr sz="1150" b="1">
                          <a:solidFill>
                            <a:srgbClr val="FFFFFF"/>
                          </a:solidFill>
                          <a:latin typeface="Helvetica Neue"/>
                        </a:rPr>
                        <a:t>Ours</a:t>
                      </a:r>
                    </a:p>
                  </a:txBody>
                  <a:tcPr marL="91440" marR="73152" marT="36576" marB="36576" anchor="ctr">
                    <a:solidFill>
                      <a:srgbClr val="111A27"/>
                    </a:solidFill>
                  </a:tcPr>
                </a:tc>
                <a:tc>
                  <a:txBody>
                    <a:bodyPr wrap="square"/>
                    <a:lstStyle/>
                    <a:p>
                      <a:r>
                        <a:rPr sz="1150" b="1">
                          <a:solidFill>
                            <a:srgbClr val="FFFFFF"/>
                          </a:solidFill>
                          <a:latin typeface="Helvetica Neue"/>
                        </a:rPr>
                        <a:t>Nature of the change</a:t>
                      </a:r>
                    </a:p>
                  </a:txBody>
                  <a:tcPr marL="91440" marR="73152" marT="36576" marB="36576" anchor="ctr">
                    <a:solidFill>
                      <a:srgbClr val="111A27"/>
                    </a:solidFill>
                  </a:tcPr>
                </a:tc>
              </a:tr>
              <a:tr h="320040">
                <a:tc>
                  <a:txBody>
                    <a:bodyPr wrap="square"/>
                    <a:lstStyle/>
                    <a:p>
                      <a:r>
                        <a:rPr sz="1150" b="1">
                          <a:solidFill>
                            <a:srgbClr val="111A27"/>
                          </a:solidFill>
                          <a:latin typeface="Helvetica Neue"/>
                        </a:rPr>
                        <a:t>System of record</a:t>
                      </a:r>
                    </a:p>
                  </a:txBody>
                  <a:tcPr marL="91440" marR="73152" marT="36576" marB="36576" anchor="ctr">
                    <a:solidFill>
                      <a:srgbClr val="FFFFFF"/>
                    </a:solidFill>
                  </a:tcPr>
                </a:tc>
                <a:tc>
                  <a:txBody>
                    <a:bodyPr wrap="square"/>
                    <a:lstStyle/>
                    <a:p>
                      <a:r>
                        <a:rPr sz="1150">
                          <a:solidFill>
                            <a:srgbClr val="333E4F"/>
                          </a:solidFill>
                          <a:latin typeface="Helvetica Neue"/>
                        </a:rPr>
                        <a:t>10–15%</a:t>
                      </a:r>
                    </a:p>
                  </a:txBody>
                  <a:tcPr marL="91440" marR="73152" marT="36576" marB="36576" anchor="ctr">
                    <a:solidFill>
                      <a:srgbClr val="FFFFFF"/>
                    </a:solidFill>
                  </a:tcPr>
                </a:tc>
                <a:tc>
                  <a:txBody>
                    <a:bodyPr wrap="square"/>
                    <a:lstStyle/>
                    <a:p>
                      <a:r>
                        <a:rPr sz="1150">
                          <a:solidFill>
                            <a:srgbClr val="7A3B08"/>
                          </a:solidFill>
                          <a:latin typeface="Helvetica Neue"/>
                        </a:rPr>
                        <a:t>15–20%</a:t>
                      </a:r>
                    </a:p>
                  </a:txBody>
                  <a:tcPr marL="91440" marR="73152" marT="36576" marB="36576" anchor="ctr">
                    <a:solidFill>
                      <a:srgbClr val="FAEEE3"/>
                    </a:solidFill>
                  </a:tcPr>
                </a:tc>
                <a:tc>
                  <a:txBody>
                    <a:bodyPr wrap="square"/>
                    <a:lstStyle/>
                    <a:p>
                      <a:r>
                        <a:rPr sz="1150">
                          <a:solidFill>
                            <a:srgbClr val="333E4F"/>
                          </a:solidFill>
                          <a:latin typeface="Helvetica Neue"/>
                        </a:rPr>
                        <a:t>Same concept, far harder requirements</a:t>
                      </a:r>
                    </a:p>
                  </a:txBody>
                  <a:tcPr marL="91440" marR="73152" marT="36576" marB="36576" anchor="ctr">
                    <a:solidFill>
                      <a:srgbClr val="FFFFFF"/>
                    </a:solidFill>
                  </a:tcPr>
                </a:tc>
              </a:tr>
              <a:tr h="320040">
                <a:tc>
                  <a:txBody>
                    <a:bodyPr wrap="square"/>
                    <a:lstStyle/>
                    <a:p>
                      <a:r>
                        <a:rPr sz="1150" b="1">
                          <a:solidFill>
                            <a:srgbClr val="111A27"/>
                          </a:solidFill>
                          <a:latin typeface="Helvetica Neue"/>
                        </a:rPr>
                        <a:t>Tool layer (typed actions)</a:t>
                      </a:r>
                    </a:p>
                  </a:txBody>
                  <a:tcPr marL="91440" marR="73152" marT="36576" marB="36576" anchor="ctr">
                    <a:solidFill>
                      <a:srgbClr val="F3F6F8"/>
                    </a:solidFill>
                  </a:tcPr>
                </a:tc>
                <a:tc>
                  <a:txBody>
                    <a:bodyPr wrap="square"/>
                    <a:lstStyle/>
                    <a:p>
                      <a:r>
                        <a:rPr sz="1150">
                          <a:solidFill>
                            <a:srgbClr val="333E4F"/>
                          </a:solidFill>
                          <a:latin typeface="Helvetica Neue"/>
                        </a:rPr>
                        <a:t>—</a:t>
                      </a:r>
                    </a:p>
                  </a:txBody>
                  <a:tcPr marL="91440" marR="73152" marT="36576" marB="36576" anchor="ctr">
                    <a:solidFill>
                      <a:srgbClr val="F3F6F8"/>
                    </a:solidFill>
                  </a:tcPr>
                </a:tc>
                <a:tc>
                  <a:txBody>
                    <a:bodyPr wrap="square"/>
                    <a:lstStyle/>
                    <a:p>
                      <a:r>
                        <a:rPr sz="1150">
                          <a:solidFill>
                            <a:srgbClr val="7A3B08"/>
                          </a:solidFill>
                          <a:latin typeface="Helvetica Neue"/>
                        </a:rPr>
                        <a:t>15–20%</a:t>
                      </a:r>
                    </a:p>
                  </a:txBody>
                  <a:tcPr marL="91440" marR="73152" marT="36576" marB="36576" anchor="ctr">
                    <a:solidFill>
                      <a:srgbClr val="FAEEE3"/>
                    </a:solidFill>
                  </a:tcPr>
                </a:tc>
                <a:tc>
                  <a:txBody>
                    <a:bodyPr wrap="square"/>
                    <a:lstStyle/>
                    <a:p>
                      <a:r>
                        <a:rPr sz="1150">
                          <a:solidFill>
                            <a:srgbClr val="333E4F"/>
                          </a:solidFill>
                          <a:latin typeface="Helvetica Neue"/>
                        </a:rPr>
                        <a:t>New — and not the same as a REST API</a:t>
                      </a:r>
                    </a:p>
                  </a:txBody>
                  <a:tcPr marL="91440" marR="73152" marT="36576" marB="36576" anchor="ctr">
                    <a:solidFill>
                      <a:srgbClr val="F3F6F8"/>
                    </a:solidFill>
                  </a:tcPr>
                </a:tc>
              </a:tr>
              <a:tr h="320040">
                <a:tc>
                  <a:txBody>
                    <a:bodyPr wrap="square"/>
                    <a:lstStyle/>
                    <a:p>
                      <a:r>
                        <a:rPr sz="1150" b="1">
                          <a:solidFill>
                            <a:srgbClr val="111A27"/>
                          </a:solidFill>
                          <a:latin typeface="Helvetica Neue"/>
                        </a:rPr>
                        <a:t>Verification &amp; guardrails</a:t>
                      </a:r>
                    </a:p>
                  </a:txBody>
                  <a:tcPr marL="91440" marR="73152" marT="36576" marB="36576" anchor="ctr">
                    <a:solidFill>
                      <a:srgbClr val="FFFFFF"/>
                    </a:solidFill>
                  </a:tcPr>
                </a:tc>
                <a:tc>
                  <a:txBody>
                    <a:bodyPr wrap="square"/>
                    <a:lstStyle/>
                    <a:p>
                      <a:r>
                        <a:rPr sz="1150">
                          <a:solidFill>
                            <a:srgbClr val="333E4F"/>
                          </a:solidFill>
                          <a:latin typeface="Helvetica Neue"/>
                        </a:rPr>
                        <a:t>—</a:t>
                      </a:r>
                    </a:p>
                  </a:txBody>
                  <a:tcPr marL="91440" marR="73152" marT="36576" marB="36576" anchor="ctr">
                    <a:solidFill>
                      <a:srgbClr val="FFFFFF"/>
                    </a:solidFill>
                  </a:tcPr>
                </a:tc>
                <a:tc>
                  <a:txBody>
                    <a:bodyPr wrap="square"/>
                    <a:lstStyle/>
                    <a:p>
                      <a:r>
                        <a:rPr sz="1150">
                          <a:solidFill>
                            <a:srgbClr val="7A3B08"/>
                          </a:solidFill>
                          <a:latin typeface="Helvetica Neue"/>
                        </a:rPr>
                        <a:t>~15%</a:t>
                      </a:r>
                    </a:p>
                  </a:txBody>
                  <a:tcPr marL="91440" marR="73152" marT="36576" marB="36576" anchor="ctr">
                    <a:solidFill>
                      <a:srgbClr val="FAEEE3"/>
                    </a:solidFill>
                  </a:tcPr>
                </a:tc>
                <a:tc>
                  <a:txBody>
                    <a:bodyPr wrap="square"/>
                    <a:lstStyle/>
                    <a:p>
                      <a:r>
                        <a:rPr sz="1150">
                          <a:solidFill>
                            <a:srgbClr val="333E4F"/>
                          </a:solidFill>
                          <a:latin typeface="Helvetica Neue"/>
                        </a:rPr>
                        <a:t>New — no analogue in the software we use</a:t>
                      </a:r>
                    </a:p>
                  </a:txBody>
                  <a:tcPr marL="91440" marR="73152" marT="36576" marB="36576" anchor="ctr">
                    <a:solidFill>
                      <a:srgbClr val="FFFFFF"/>
                    </a:solidFill>
                  </a:tcPr>
                </a:tc>
              </a:tr>
              <a:tr h="320040">
                <a:tc>
                  <a:txBody>
                    <a:bodyPr wrap="square"/>
                    <a:lstStyle/>
                    <a:p>
                      <a:r>
                        <a:rPr sz="1150" b="1">
                          <a:solidFill>
                            <a:srgbClr val="111A27"/>
                          </a:solidFill>
                          <a:latin typeface="Helvetica Neue"/>
                        </a:rPr>
                        <a:t>Evals &amp; ground-truth corpus</a:t>
                      </a:r>
                    </a:p>
                  </a:txBody>
                  <a:tcPr marL="91440" marR="73152" marT="36576" marB="36576" anchor="ctr">
                    <a:solidFill>
                      <a:srgbClr val="F3F6F8"/>
                    </a:solidFill>
                  </a:tcPr>
                </a:tc>
                <a:tc>
                  <a:txBody>
                    <a:bodyPr wrap="square"/>
                    <a:lstStyle/>
                    <a:p>
                      <a:r>
                        <a:rPr sz="1150">
                          <a:solidFill>
                            <a:srgbClr val="333E4F"/>
                          </a:solidFill>
                          <a:latin typeface="Helvetica Neue"/>
                        </a:rPr>
                        <a:t>—</a:t>
                      </a:r>
                    </a:p>
                  </a:txBody>
                  <a:tcPr marL="91440" marR="73152" marT="36576" marB="36576" anchor="ctr">
                    <a:solidFill>
                      <a:srgbClr val="F3F6F8"/>
                    </a:solidFill>
                  </a:tcPr>
                </a:tc>
                <a:tc>
                  <a:txBody>
                    <a:bodyPr wrap="square"/>
                    <a:lstStyle/>
                    <a:p>
                      <a:r>
                        <a:rPr sz="1150">
                          <a:solidFill>
                            <a:srgbClr val="7A3B08"/>
                          </a:solidFill>
                          <a:latin typeface="Helvetica Neue"/>
                        </a:rPr>
                        <a:t>10–15%</a:t>
                      </a:r>
                    </a:p>
                  </a:txBody>
                  <a:tcPr marL="91440" marR="73152" marT="36576" marB="36576" anchor="ctr">
                    <a:solidFill>
                      <a:srgbClr val="FAEEE3"/>
                    </a:solidFill>
                  </a:tcPr>
                </a:tc>
                <a:tc>
                  <a:txBody>
                    <a:bodyPr wrap="square"/>
                    <a:lstStyle/>
                    <a:p>
                      <a:r>
                        <a:rPr sz="1150">
                          <a:solidFill>
                            <a:srgbClr val="333E4F"/>
                          </a:solidFill>
                          <a:latin typeface="Helvetica Neue"/>
                        </a:rPr>
                        <a:t>New — is our test suite and our spec</a:t>
                      </a:r>
                    </a:p>
                  </a:txBody>
                  <a:tcPr marL="91440" marR="73152" marT="36576" marB="36576" anchor="ctr">
                    <a:solidFill>
                      <a:srgbClr val="F3F6F8"/>
                    </a:solidFill>
                  </a:tcPr>
                </a:tc>
              </a:tr>
              <a:tr h="320040">
                <a:tc>
                  <a:txBody>
                    <a:bodyPr wrap="square"/>
                    <a:lstStyle/>
                    <a:p>
                      <a:r>
                        <a:rPr sz="1150" b="1">
                          <a:solidFill>
                            <a:srgbClr val="111A27"/>
                          </a:solidFill>
                          <a:latin typeface="Helvetica Neue"/>
                        </a:rPr>
                        <a:t>Durable orchestration</a:t>
                      </a:r>
                    </a:p>
                  </a:txBody>
                  <a:tcPr marL="91440" marR="73152" marT="36576" marB="36576" anchor="ctr">
                    <a:solidFill>
                      <a:srgbClr val="FFFFFF"/>
                    </a:solidFill>
                  </a:tcPr>
                </a:tc>
                <a:tc>
                  <a:txBody>
                    <a:bodyPr wrap="square"/>
                    <a:lstStyle/>
                    <a:p>
                      <a:r>
                        <a:rPr sz="1150">
                          <a:solidFill>
                            <a:srgbClr val="333E4F"/>
                          </a:solidFill>
                          <a:latin typeface="Helvetica Neue"/>
                        </a:rPr>
                        <a:t>~2%</a:t>
                      </a:r>
                    </a:p>
                  </a:txBody>
                  <a:tcPr marL="91440" marR="73152" marT="36576" marB="36576" anchor="ctr">
                    <a:solidFill>
                      <a:srgbClr val="FFFFFF"/>
                    </a:solidFill>
                  </a:tcPr>
                </a:tc>
                <a:tc>
                  <a:txBody>
                    <a:bodyPr wrap="square"/>
                    <a:lstStyle/>
                    <a:p>
                      <a:r>
                        <a:rPr sz="1150">
                          <a:solidFill>
                            <a:srgbClr val="7A3B08"/>
                          </a:solidFill>
                          <a:latin typeface="Helvetica Neue"/>
                        </a:rPr>
                        <a:t>~10%</a:t>
                      </a:r>
                    </a:p>
                  </a:txBody>
                  <a:tcPr marL="91440" marR="73152" marT="36576" marB="36576" anchor="ctr">
                    <a:solidFill>
                      <a:srgbClr val="FAEEE3"/>
                    </a:solidFill>
                  </a:tcPr>
                </a:tc>
                <a:tc>
                  <a:txBody>
                    <a:bodyPr wrap="square"/>
                    <a:lstStyle/>
                    <a:p>
                      <a:r>
                        <a:rPr sz="1150">
                          <a:solidFill>
                            <a:srgbClr val="333E4F"/>
                          </a:solidFill>
                          <a:latin typeface="Helvetica Neue"/>
                        </a:rPr>
                        <a:t>Qualitatively different from cron and queues</a:t>
                      </a:r>
                    </a:p>
                  </a:txBody>
                  <a:tcPr marL="91440" marR="73152" marT="36576" marB="36576" anchor="ctr">
                    <a:solidFill>
                      <a:srgbClr val="FFFFFF"/>
                    </a:solidFill>
                  </a:tcPr>
                </a:tc>
              </a:tr>
              <a:tr h="320040">
                <a:tc>
                  <a:txBody>
                    <a:bodyPr wrap="square"/>
                    <a:lstStyle/>
                    <a:p>
                      <a:r>
                        <a:rPr sz="1150" b="1">
                          <a:solidFill>
                            <a:srgbClr val="111A27"/>
                          </a:solidFill>
                          <a:latin typeface="Helvetica Neue"/>
                        </a:rPr>
                        <a:t>Agent layer (prompts, memory)</a:t>
                      </a:r>
                    </a:p>
                  </a:txBody>
                  <a:tcPr marL="91440" marR="73152" marT="36576" marB="36576" anchor="ctr">
                    <a:solidFill>
                      <a:srgbClr val="F3F6F8"/>
                    </a:solidFill>
                  </a:tcPr>
                </a:tc>
                <a:tc>
                  <a:txBody>
                    <a:bodyPr wrap="square"/>
                    <a:lstStyle/>
                    <a:p>
                      <a:r>
                        <a:rPr sz="1150">
                          <a:solidFill>
                            <a:srgbClr val="333E4F"/>
                          </a:solidFill>
                          <a:latin typeface="Helvetica Neue"/>
                        </a:rPr>
                        <a:t>—</a:t>
                      </a:r>
                    </a:p>
                  </a:txBody>
                  <a:tcPr marL="91440" marR="73152" marT="36576" marB="36576" anchor="ctr">
                    <a:solidFill>
                      <a:srgbClr val="F3F6F8"/>
                    </a:solidFill>
                  </a:tcPr>
                </a:tc>
                <a:tc>
                  <a:txBody>
                    <a:bodyPr wrap="square"/>
                    <a:lstStyle/>
                    <a:p>
                      <a:r>
                        <a:rPr sz="1150">
                          <a:solidFill>
                            <a:srgbClr val="7A3B08"/>
                          </a:solidFill>
                          <a:latin typeface="Helvetica Neue"/>
                        </a:rPr>
                        <a:t>~10%</a:t>
                      </a:r>
                    </a:p>
                  </a:txBody>
                  <a:tcPr marL="91440" marR="73152" marT="36576" marB="36576" anchor="ctr">
                    <a:solidFill>
                      <a:srgbClr val="FAEEE3"/>
                    </a:solidFill>
                  </a:tcPr>
                </a:tc>
                <a:tc>
                  <a:txBody>
                    <a:bodyPr wrap="square"/>
                    <a:lstStyle/>
                    <a:p>
                      <a:r>
                        <a:rPr sz="1150">
                          <a:solidFill>
                            <a:srgbClr val="333E4F"/>
                          </a:solidFill>
                          <a:latin typeface="Helvetica Neue"/>
                        </a:rPr>
                        <a:t>New, and smaller than people expect</a:t>
                      </a:r>
                    </a:p>
                  </a:txBody>
                  <a:tcPr marL="91440" marR="73152" marT="36576" marB="36576" anchor="ctr">
                    <a:solidFill>
                      <a:srgbClr val="F3F6F8"/>
                    </a:solidFill>
                  </a:tcPr>
                </a:tc>
              </a:tr>
              <a:tr h="320040">
                <a:tc>
                  <a:txBody>
                    <a:bodyPr wrap="square"/>
                    <a:lstStyle/>
                    <a:p>
                      <a:r>
                        <a:rPr sz="1150" b="1">
                          <a:solidFill>
                            <a:srgbClr val="111A27"/>
                          </a:solidFill>
                          <a:latin typeface="Helvetica Neue"/>
                        </a:rPr>
                        <a:t>UI</a:t>
                      </a:r>
                    </a:p>
                  </a:txBody>
                  <a:tcPr marL="91440" marR="73152" marT="36576" marB="36576" anchor="ctr">
                    <a:solidFill>
                      <a:srgbClr val="FFFFFF"/>
                    </a:solidFill>
                  </a:tcPr>
                </a:tc>
                <a:tc>
                  <a:txBody>
                    <a:bodyPr wrap="square"/>
                    <a:lstStyle/>
                    <a:p>
                      <a:r>
                        <a:rPr sz="1150">
                          <a:solidFill>
                            <a:srgbClr val="333E4F"/>
                          </a:solidFill>
                          <a:latin typeface="Helvetica Neue"/>
                        </a:rPr>
                        <a:t>30–40%</a:t>
                      </a:r>
                    </a:p>
                  </a:txBody>
                  <a:tcPr marL="91440" marR="73152" marT="36576" marB="36576" anchor="ctr">
                    <a:solidFill>
                      <a:srgbClr val="FFFFFF"/>
                    </a:solidFill>
                  </a:tcPr>
                </a:tc>
                <a:tc>
                  <a:txBody>
                    <a:bodyPr wrap="square"/>
                    <a:lstStyle/>
                    <a:p>
                      <a:r>
                        <a:rPr sz="1150">
                          <a:solidFill>
                            <a:srgbClr val="7A3B08"/>
                          </a:solidFill>
                          <a:latin typeface="Helvetica Neue"/>
                        </a:rPr>
                        <a:t>15–20%</a:t>
                      </a:r>
                    </a:p>
                  </a:txBody>
                  <a:tcPr marL="91440" marR="73152" marT="36576" marB="36576" anchor="ctr">
                    <a:solidFill>
                      <a:srgbClr val="FAEEE3"/>
                    </a:solidFill>
                  </a:tcPr>
                </a:tc>
                <a:tc>
                  <a:txBody>
                    <a:bodyPr wrap="square"/>
                    <a:lstStyle/>
                    <a:p>
                      <a:r>
                        <a:rPr sz="1150">
                          <a:solidFill>
                            <a:srgbClr val="333E4F"/>
                          </a:solidFill>
                          <a:latin typeface="Helvetica Neue"/>
                        </a:rPr>
                        <a:t>Shrinks, and changes character entirely</a:t>
                      </a:r>
                    </a:p>
                  </a:txBody>
                  <a:tcPr marL="91440" marR="73152" marT="36576" marB="36576" anchor="ctr">
                    <a:solidFill>
                      <a:srgbClr val="FFFFFF"/>
                    </a:solidFill>
                  </a:tcPr>
                </a:tc>
              </a:tr>
              <a:tr h="320040">
                <a:tc>
                  <a:txBody>
                    <a:bodyPr wrap="square"/>
                    <a:lstStyle/>
                    <a:p>
                      <a:r>
                        <a:rPr sz="1150" b="1">
                          <a:solidFill>
                            <a:srgbClr val="111A27"/>
                          </a:solidFill>
                          <a:latin typeface="Helvetica Neue"/>
                        </a:rPr>
                        <a:t>Integrations</a:t>
                      </a:r>
                    </a:p>
                  </a:txBody>
                  <a:tcPr marL="91440" marR="73152" marT="36576" marB="36576" anchor="ctr">
                    <a:solidFill>
                      <a:srgbClr val="F3F6F8"/>
                    </a:solidFill>
                  </a:tcPr>
                </a:tc>
                <a:tc>
                  <a:txBody>
                    <a:bodyPr wrap="square"/>
                    <a:lstStyle/>
                    <a:p>
                      <a:r>
                        <a:rPr sz="1150">
                          <a:solidFill>
                            <a:srgbClr val="333E4F"/>
                          </a:solidFill>
                          <a:latin typeface="Helvetica Neue"/>
                        </a:rPr>
                        <a:t>10–15%</a:t>
                      </a:r>
                    </a:p>
                  </a:txBody>
                  <a:tcPr marL="91440" marR="73152" marT="36576" marB="36576" anchor="ctr">
                    <a:solidFill>
                      <a:srgbClr val="F3F6F8"/>
                    </a:solidFill>
                  </a:tcPr>
                </a:tc>
                <a:tc>
                  <a:txBody>
                    <a:bodyPr wrap="square"/>
                    <a:lstStyle/>
                    <a:p>
                      <a:r>
                        <a:rPr sz="1150">
                          <a:solidFill>
                            <a:srgbClr val="7A3B08"/>
                          </a:solidFill>
                          <a:latin typeface="Helvetica Neue"/>
                        </a:rPr>
                        <a:t>~10%</a:t>
                      </a:r>
                    </a:p>
                  </a:txBody>
                  <a:tcPr marL="91440" marR="73152" marT="36576" marB="36576" anchor="ctr">
                    <a:solidFill>
                      <a:srgbClr val="FAEEE3"/>
                    </a:solidFill>
                  </a:tcPr>
                </a:tc>
                <a:tc>
                  <a:txBody>
                    <a:bodyPr wrap="square"/>
                    <a:lstStyle/>
                    <a:p>
                      <a:r>
                        <a:rPr sz="1150">
                          <a:solidFill>
                            <a:srgbClr val="333E4F"/>
                          </a:solidFill>
                          <a:latin typeface="Helvetica Neue"/>
                        </a:rPr>
                        <a:t>Similar, plus agent-driven fallback</a:t>
                      </a:r>
                    </a:p>
                  </a:txBody>
                  <a:tcPr marL="91440" marR="73152" marT="36576" marB="36576" anchor="ctr">
                    <a:solidFill>
                      <a:srgbClr val="F3F6F8"/>
                    </a:solidFill>
                  </a:tcPr>
                </a:tc>
              </a:tr>
              <a:tr h="320040">
                <a:tc>
                  <a:txBody>
                    <a:bodyPr wrap="square"/>
                    <a:lstStyle/>
                    <a:p>
                      <a:r>
                        <a:rPr sz="1150" b="1">
                          <a:solidFill>
                            <a:srgbClr val="111A27"/>
                          </a:solidFill>
                          <a:latin typeface="Helvetica Neue"/>
                        </a:rPr>
                        <a:t>Platform</a:t>
                      </a:r>
                    </a:p>
                  </a:txBody>
                  <a:tcPr marL="91440" marR="73152" marT="36576" marB="36576" anchor="ctr">
                    <a:solidFill>
                      <a:srgbClr val="FFFFFF"/>
                    </a:solidFill>
                  </a:tcPr>
                </a:tc>
                <a:tc>
                  <a:txBody>
                    <a:bodyPr wrap="square"/>
                    <a:lstStyle/>
                    <a:p>
                      <a:r>
                        <a:rPr sz="1150">
                          <a:solidFill>
                            <a:srgbClr val="333E4F"/>
                          </a:solidFill>
                          <a:latin typeface="Helvetica Neue"/>
                        </a:rPr>
                        <a:t>~15%</a:t>
                      </a:r>
                    </a:p>
                  </a:txBody>
                  <a:tcPr marL="91440" marR="73152" marT="36576" marB="36576" anchor="ctr">
                    <a:solidFill>
                      <a:srgbClr val="FFFFFF"/>
                    </a:solidFill>
                  </a:tcPr>
                </a:tc>
                <a:tc>
                  <a:txBody>
                    <a:bodyPr wrap="square"/>
                    <a:lstStyle/>
                    <a:p>
                      <a:r>
                        <a:rPr sz="1150">
                          <a:solidFill>
                            <a:srgbClr val="7A3B08"/>
                          </a:solidFill>
                          <a:latin typeface="Helvetica Neue"/>
                        </a:rPr>
                        <a:t>~15%</a:t>
                      </a:r>
                    </a:p>
                  </a:txBody>
                  <a:tcPr marL="91440" marR="73152" marT="36576" marB="36576" anchor="ctr">
                    <a:solidFill>
                      <a:srgbClr val="FAEEE3"/>
                    </a:solidFill>
                  </a:tcPr>
                </a:tc>
                <a:tc>
                  <a:txBody>
                    <a:bodyPr wrap="square"/>
                    <a:lstStyle/>
                    <a:p>
                      <a:r>
                        <a:rPr sz="1150">
                          <a:solidFill>
                            <a:srgbClr val="333E4F"/>
                          </a:solidFill>
                          <a:latin typeface="Helvetica Neue"/>
                        </a:rPr>
                        <a:t>Plus agent identity and cost telemetry</a:t>
                      </a:r>
                    </a:p>
                  </a:txBody>
                  <a:tcPr marL="91440" marR="73152" marT="36576" marB="36576" anchor="ctr">
                    <a:solidFill>
                      <a:srgbClr val="FFFFFF"/>
                    </a:solidFill>
                  </a:tcPr>
                </a:tc>
              </a:tr>
            </a:tbl>
          </a:graphicData>
        </a:graphic>
      </p:graphicFrame>
      <p:sp>
        <p:nvSpPr>
          <p:cNvPr id="7" name="Rounded Rectangle 6"/>
          <p:cNvSpPr/>
          <p:nvPr/>
        </p:nvSpPr>
        <p:spPr>
          <a:xfrm>
            <a:off x="658368" y="5815584"/>
            <a:ext cx="10874959" cy="658368"/>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0976" y="5961888"/>
            <a:ext cx="10289743" cy="402336"/>
          </a:xfrm>
          <a:prstGeom prst="rect">
            <a:avLst/>
          </a:prstGeom>
          <a:noFill/>
        </p:spPr>
        <p:txBody>
          <a:bodyPr wrap="square" anchor="t" lIns="0" rIns="0" tIns="0" bIns="0">
            <a:spAutoFit/>
          </a:bodyPr>
          <a:lstStyle/>
          <a:p>
            <a:pPr algn="l">
              <a:lnSpc>
                <a:spcPct val="130000"/>
              </a:lnSpc>
              <a:spcAft>
                <a:spcPts val="600"/>
              </a:spcAft>
            </a:pPr>
            <a:r>
              <a:rPr sz="1350" b="1" i="0">
                <a:solidFill>
                  <a:srgbClr val="FFFFFF"/>
                </a:solidFill>
                <a:latin typeface="Helvetica Neue"/>
              </a:rPr>
              <a:t>Conventional software spent its engineering budget making a human effective at the interface. We spend ours making a machine's output provable at the substrate.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13</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HOW WE BUILD</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The bottleneck is specification, not implementation</a:t>
            </a:r>
          </a:p>
        </p:txBody>
      </p:sp>
      <p:sp>
        <p:nvSpPr>
          <p:cNvPr id="5" name="TextBox 4"/>
          <p:cNvSpPr txBox="1"/>
          <p:nvPr/>
        </p:nvSpPr>
        <p:spPr>
          <a:xfrm>
            <a:off x="658368" y="1719072"/>
            <a:ext cx="10424160" cy="566928"/>
          </a:xfrm>
          <a:prstGeom prst="rect">
            <a:avLst/>
          </a:prstGeom>
          <a:noFill/>
        </p:spPr>
        <p:txBody>
          <a:bodyPr wrap="square" anchor="t" lIns="0" rIns="0" tIns="0" bIns="0">
            <a:spAutoFit/>
          </a:bodyPr>
          <a:lstStyle/>
          <a:p>
            <a:pPr algn="l">
              <a:lnSpc>
                <a:spcPct val="135000"/>
              </a:lnSpc>
              <a:spcAft>
                <a:spcPts val="600"/>
              </a:spcAft>
            </a:pPr>
            <a:r>
              <a:rPr sz="1500" b="0" i="0">
                <a:solidFill>
                  <a:srgbClr val="333E4F"/>
                </a:solidFill>
                <a:latin typeface="Helvetica Neue"/>
              </a:rPr>
              <a:t>Coding agents changed where engineering time goes. Writing the implementation is no longer the expensive step — defining precisely what correct means, and building the harness that checks it, is. That happens to be the same asset the product needs.</a:t>
            </a:r>
          </a:p>
        </p:txBody>
      </p:sp>
      <p:sp>
        <p:nvSpPr>
          <p:cNvPr id="6" name="Rounded Rectangle 5"/>
          <p:cNvSpPr/>
          <p:nvPr/>
        </p:nvSpPr>
        <p:spPr>
          <a:xfrm>
            <a:off x="658368" y="2450592"/>
            <a:ext cx="25511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7824" y="2651760"/>
            <a:ext cx="2139696" cy="274320"/>
          </a:xfrm>
          <a:prstGeom prst="rect">
            <a:avLst/>
          </a:prstGeom>
          <a:noFill/>
        </p:spPr>
        <p:txBody>
          <a:bodyPr wrap="square" anchor="t" lIns="0" rIns="0" tIns="0" bIns="0">
            <a:spAutoFit/>
          </a:bodyPr>
          <a:lstStyle/>
          <a:p>
            <a:pPr algn="l">
              <a:lnSpc>
                <a:spcPct val="125000"/>
              </a:lnSpc>
              <a:spcAft>
                <a:spcPts val="600"/>
              </a:spcAft>
            </a:pPr>
            <a:r>
              <a:rPr sz="1350" b="1" i="0">
                <a:solidFill>
                  <a:srgbClr val="0E7490"/>
                </a:solidFill>
                <a:latin typeface="Helvetica Neue"/>
              </a:rPr>
              <a:t>1 · Define the outcome</a:t>
            </a:r>
          </a:p>
        </p:txBody>
      </p:sp>
      <p:sp>
        <p:nvSpPr>
          <p:cNvPr id="8" name="TextBox 7"/>
          <p:cNvSpPr txBox="1"/>
          <p:nvPr/>
        </p:nvSpPr>
        <p:spPr>
          <a:xfrm>
            <a:off x="877824" y="2999232"/>
            <a:ext cx="2139696" cy="118872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State the invariant before the feature. "An entry that fails trial-balance ties never commits." Written as an executable check, not prose in a ticket.</a:t>
            </a:r>
          </a:p>
        </p:txBody>
      </p:sp>
      <p:sp>
        <p:nvSpPr>
          <p:cNvPr id="9" name="Rounded Rectangle 8"/>
          <p:cNvSpPr/>
          <p:nvPr/>
        </p:nvSpPr>
        <p:spPr>
          <a:xfrm>
            <a:off x="3438144" y="2450592"/>
            <a:ext cx="25511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0" y="2651760"/>
            <a:ext cx="2139696" cy="274320"/>
          </a:xfrm>
          <a:prstGeom prst="rect">
            <a:avLst/>
          </a:prstGeom>
          <a:noFill/>
        </p:spPr>
        <p:txBody>
          <a:bodyPr wrap="square" anchor="t" lIns="0" rIns="0" tIns="0" bIns="0">
            <a:spAutoFit/>
          </a:bodyPr>
          <a:lstStyle/>
          <a:p>
            <a:pPr algn="l">
              <a:lnSpc>
                <a:spcPct val="125000"/>
              </a:lnSpc>
              <a:spcAft>
                <a:spcPts val="600"/>
              </a:spcAft>
            </a:pPr>
            <a:r>
              <a:rPr sz="1350" b="1" i="0">
                <a:solidFill>
                  <a:srgbClr val="0E7490"/>
                </a:solidFill>
                <a:latin typeface="Helvetica Neue"/>
              </a:rPr>
              <a:t>2 · Build the harness</a:t>
            </a:r>
          </a:p>
        </p:txBody>
      </p:sp>
      <p:sp>
        <p:nvSpPr>
          <p:cNvPr id="11" name="TextBox 10"/>
          <p:cNvSpPr txBox="1"/>
          <p:nvPr/>
        </p:nvSpPr>
        <p:spPr>
          <a:xfrm>
            <a:off x="3657600" y="2999232"/>
            <a:ext cx="2139696" cy="118872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Fixtures from real historical closes, replay runner, diff against known outcomes, CI gate. The harness comes before the implementation it will judge.</a:t>
            </a:r>
          </a:p>
        </p:txBody>
      </p:sp>
      <p:sp>
        <p:nvSpPr>
          <p:cNvPr id="12" name="Rounded Rectangle 11"/>
          <p:cNvSpPr/>
          <p:nvPr/>
        </p:nvSpPr>
        <p:spPr>
          <a:xfrm>
            <a:off x="6217920" y="2450592"/>
            <a:ext cx="25511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37376" y="2651760"/>
            <a:ext cx="2139696" cy="274320"/>
          </a:xfrm>
          <a:prstGeom prst="rect">
            <a:avLst/>
          </a:prstGeom>
          <a:noFill/>
        </p:spPr>
        <p:txBody>
          <a:bodyPr wrap="square" anchor="t" lIns="0" rIns="0" tIns="0" bIns="0">
            <a:spAutoFit/>
          </a:bodyPr>
          <a:lstStyle/>
          <a:p>
            <a:pPr algn="l">
              <a:lnSpc>
                <a:spcPct val="125000"/>
              </a:lnSpc>
              <a:spcAft>
                <a:spcPts val="600"/>
              </a:spcAft>
            </a:pPr>
            <a:r>
              <a:rPr sz="1350" b="1" i="0">
                <a:solidFill>
                  <a:srgbClr val="0E7490"/>
                </a:solidFill>
                <a:latin typeface="Helvetica Neue"/>
              </a:rPr>
              <a:t>3 · Let agents implement</a:t>
            </a:r>
          </a:p>
        </p:txBody>
      </p:sp>
      <p:sp>
        <p:nvSpPr>
          <p:cNvPr id="14" name="TextBox 13"/>
          <p:cNvSpPr txBox="1"/>
          <p:nvPr/>
        </p:nvSpPr>
        <p:spPr>
          <a:xfrm>
            <a:off x="6437376" y="2999232"/>
            <a:ext cx="2139696" cy="118872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With a mechanically-checkable target, coding agents iterate against the harness until it passes. Volume of code stops being the constraint.</a:t>
            </a:r>
          </a:p>
        </p:txBody>
      </p:sp>
      <p:sp>
        <p:nvSpPr>
          <p:cNvPr id="15" name="Rounded Rectangle 14"/>
          <p:cNvSpPr/>
          <p:nvPr/>
        </p:nvSpPr>
        <p:spPr>
          <a:xfrm>
            <a:off x="8997696" y="2450592"/>
            <a:ext cx="25511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17152" y="2651760"/>
            <a:ext cx="2139696" cy="274320"/>
          </a:xfrm>
          <a:prstGeom prst="rect">
            <a:avLst/>
          </a:prstGeom>
          <a:noFill/>
        </p:spPr>
        <p:txBody>
          <a:bodyPr wrap="square" anchor="t" lIns="0" rIns="0" tIns="0" bIns="0">
            <a:spAutoFit/>
          </a:bodyPr>
          <a:lstStyle/>
          <a:p>
            <a:pPr algn="l">
              <a:lnSpc>
                <a:spcPct val="125000"/>
              </a:lnSpc>
              <a:spcAft>
                <a:spcPts val="600"/>
              </a:spcAft>
            </a:pPr>
            <a:r>
              <a:rPr sz="1350" b="1" i="0">
                <a:solidFill>
                  <a:srgbClr val="0E7490"/>
                </a:solidFill>
                <a:latin typeface="Helvetica Neue"/>
              </a:rPr>
              <a:t>4 · Humans hold the boundaries</a:t>
            </a:r>
          </a:p>
        </p:txBody>
      </p:sp>
      <p:sp>
        <p:nvSpPr>
          <p:cNvPr id="17" name="TextBox 16"/>
          <p:cNvSpPr txBox="1"/>
          <p:nvPr/>
        </p:nvSpPr>
        <p:spPr>
          <a:xfrm>
            <a:off x="9217152" y="2999232"/>
            <a:ext cx="2139696" cy="118872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Schema and substrate decisions, tool granularity, what counts as correct, and reviewing the gates. The judgment, not the typing.</a:t>
            </a:r>
          </a:p>
        </p:txBody>
      </p:sp>
      <p:sp>
        <p:nvSpPr>
          <p:cNvPr id="18" name="Rounded Rectangle 17"/>
          <p:cNvSpPr/>
          <p:nvPr/>
        </p:nvSpPr>
        <p:spPr>
          <a:xfrm>
            <a:off x="658368" y="4526280"/>
            <a:ext cx="6766560" cy="178308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709160"/>
            <a:ext cx="621792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B45309"/>
                </a:solidFill>
                <a:latin typeface="Helvetica Neue"/>
              </a:rPr>
              <a:t>WHY THIS COMPRESSES THE TIMELINE</a:t>
            </a:r>
          </a:p>
        </p:txBody>
      </p:sp>
      <p:sp>
        <p:nvSpPr>
          <p:cNvPr id="20" name="TextBox 19"/>
          <p:cNvSpPr txBox="1"/>
          <p:nvPr/>
        </p:nvSpPr>
        <p:spPr>
          <a:xfrm>
            <a:off x="932688" y="5010912"/>
            <a:ext cx="6217920" cy="1143000"/>
          </a:xfrm>
          <a:prstGeom prst="rect">
            <a:avLst/>
          </a:prstGeom>
          <a:noFill/>
        </p:spPr>
        <p:txBody>
          <a:bodyPr wrap="square" anchor="t" lIns="0" rIns="0" tIns="0" bIns="0">
            <a:spAutoFit/>
          </a:bodyPr>
          <a:lstStyle/>
          <a:p>
            <a:pPr algn="l">
              <a:lnSpc>
                <a:spcPct val="142000"/>
              </a:lnSpc>
              <a:spcAft>
                <a:spcPts val="600"/>
              </a:spcAft>
            </a:pPr>
            <a:r>
              <a:rPr sz="1300" b="0" i="0">
                <a:solidFill>
                  <a:srgbClr val="7A3B08"/>
                </a:solidFill>
                <a:latin typeface="Helvetica Neue"/>
              </a:rPr>
              <a:t>The same property that makes the product work — a domain where correctness is machine-checkable — is what makes it buildable fast. A coding agent is only as good as the test it is aiming at, and accounting hands us the tests. So the plan on the next slide is measured in weeks, and it is gated on verified outcomes rather than on estimated effort.</a:t>
            </a:r>
          </a:p>
        </p:txBody>
      </p:sp>
      <p:sp>
        <p:nvSpPr>
          <p:cNvPr id="21" name="Rounded Rectangle 20"/>
          <p:cNvSpPr/>
          <p:nvPr/>
        </p:nvSpPr>
        <p:spPr>
          <a:xfrm>
            <a:off x="7653528" y="4526280"/>
            <a:ext cx="3877056" cy="1783080"/>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909560" y="4709160"/>
            <a:ext cx="338328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6B7688"/>
                </a:solidFill>
                <a:latin typeface="Helvetica Neue"/>
              </a:rPr>
              <a:t>THE HONEST LIMIT</a:t>
            </a:r>
          </a:p>
        </p:txBody>
      </p:sp>
      <p:sp>
        <p:nvSpPr>
          <p:cNvPr id="23" name="TextBox 22"/>
          <p:cNvSpPr txBox="1"/>
          <p:nvPr/>
        </p:nvSpPr>
        <p:spPr>
          <a:xfrm>
            <a:off x="7909560" y="5010912"/>
            <a:ext cx="3383280" cy="114300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Adding engineers does not compress this much. The rate limit is how fast we can specify and verify, which is domain work.
That is why the team below is small and weighted to substrate, evals and accounting expertise.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14</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IMPLEMENTATION PLAN</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Eight workstreams, gated on outcomes rather than dates</a:t>
            </a:r>
          </a:p>
        </p:txBody>
      </p:sp>
      <p:graphicFrame>
        <p:nvGraphicFramePr>
          <p:cNvPr id="5" name="Table 4"/>
          <p:cNvGraphicFramePr>
            <a:graphicFrameLocks noGrp="1"/>
          </p:cNvGraphicFramePr>
          <p:nvPr/>
        </p:nvGraphicFramePr>
        <p:xfrm>
          <a:off x="658368" y="1783080"/>
          <a:ext cx="10872216" cy="3310128"/>
        </p:xfrm>
        <a:graphic>
          <a:graphicData uri="http://schemas.openxmlformats.org/drawingml/2006/table">
            <a:tbl>
              <a:tblPr>
                <a:tableStyleId>{5C22544A-7EE6-4342-B048-85BDC9FD1C3A}</a:tableStyleId>
              </a:tblPr>
              <a:tblGrid>
                <a:gridCol w="3200400"/>
                <a:gridCol w="868680"/>
                <a:gridCol w="6803136"/>
              </a:tblGrid>
              <a:tr h="384048">
                <a:tc>
                  <a:txBody>
                    <a:bodyPr wrap="square"/>
                    <a:lstStyle/>
                    <a:p>
                      <a:r>
                        <a:rPr sz="1150" b="1">
                          <a:solidFill>
                            <a:srgbClr val="FFFFFF"/>
                          </a:solidFill>
                          <a:latin typeface="Helvetica Neue"/>
                        </a:rPr>
                        <a:t>Workstream</a:t>
                      </a:r>
                    </a:p>
                  </a:txBody>
                  <a:tcPr marL="91440" marR="73152" marT="36576" marB="36576" anchor="ctr">
                    <a:solidFill>
                      <a:srgbClr val="111A27"/>
                    </a:solidFill>
                  </a:tcPr>
                </a:tc>
                <a:tc>
                  <a:txBody>
                    <a:bodyPr wrap="square"/>
                    <a:lstStyle/>
                    <a:p>
                      <a:r>
                        <a:rPr sz="1150" b="1">
                          <a:solidFill>
                            <a:srgbClr val="FFFFFF"/>
                          </a:solidFill>
                          <a:latin typeface="Helvetica Neue"/>
                        </a:rPr>
                        <a:t>Weeks</a:t>
                      </a:r>
                    </a:p>
                  </a:txBody>
                  <a:tcPr marL="91440" marR="73152" marT="36576" marB="36576" anchor="ctr">
                    <a:solidFill>
                      <a:srgbClr val="111A27"/>
                    </a:solidFill>
                  </a:tcPr>
                </a:tc>
                <a:tc>
                  <a:txBody>
                    <a:bodyPr wrap="square"/>
                    <a:lstStyle/>
                    <a:p>
                      <a:r>
                        <a:rPr sz="1150" b="1">
                          <a:solidFill>
                            <a:srgbClr val="FFFFFF"/>
                          </a:solidFill>
                          <a:latin typeface="Helvetica Neue"/>
                        </a:rPr>
                        <a:t>The gate it must pass</a:t>
                      </a:r>
                    </a:p>
                  </a:txBody>
                  <a:tcPr marL="91440" marR="73152" marT="36576" marB="36576" anchor="ctr">
                    <a:solidFill>
                      <a:srgbClr val="111A27"/>
                    </a:solidFill>
                  </a:tcPr>
                </a:tc>
              </a:tr>
              <a:tr h="365760">
                <a:tc>
                  <a:txBody>
                    <a:bodyPr wrap="square"/>
                    <a:lstStyle/>
                    <a:p>
                      <a:r>
                        <a:rPr sz="1150" b="1">
                          <a:solidFill>
                            <a:srgbClr val="111A27"/>
                          </a:solidFill>
                          <a:latin typeface="Helvetica Neue"/>
                        </a:rPr>
                        <a:t>1 · Ledger substrate and cutover</a:t>
                      </a:r>
                    </a:p>
                  </a:txBody>
                  <a:tcPr marL="91440" marR="73152" marT="36576" marB="36576" anchor="ctr">
                    <a:solidFill>
                      <a:srgbClr val="FFFFFF"/>
                    </a:solidFill>
                  </a:tcPr>
                </a:tc>
                <a:tc>
                  <a:txBody>
                    <a:bodyPr wrap="square"/>
                    <a:lstStyle/>
                    <a:p>
                      <a:r>
                        <a:rPr sz="1150">
                          <a:solidFill>
                            <a:srgbClr val="333E4F"/>
                          </a:solidFill>
                          <a:latin typeface="Helvetica Neue"/>
                        </a:rPr>
                        <a:t>0–8</a:t>
                      </a:r>
                    </a:p>
                  </a:txBody>
                  <a:tcPr marL="91440" marR="73152" marT="36576" marB="36576" anchor="ctr">
                    <a:solidFill>
                      <a:srgbClr val="FFFFFF"/>
                    </a:solidFill>
                  </a:tcPr>
                </a:tc>
                <a:tc>
                  <a:txBody>
                    <a:bodyPr wrap="square"/>
                    <a:lstStyle/>
                    <a:p>
                      <a:r>
                        <a:rPr sz="1150">
                          <a:solidFill>
                            <a:srgbClr val="333E4F"/>
                          </a:solidFill>
                          <a:latin typeface="Helvetica Neue"/>
                        </a:rPr>
                        <a:t>Zero automated diff against the incumbent across three consecutive closes before primary flips</a:t>
                      </a:r>
                    </a:p>
                  </a:txBody>
                  <a:tcPr marL="91440" marR="73152" marT="36576" marB="36576" anchor="ctr">
                    <a:solidFill>
                      <a:srgbClr val="FFFFFF"/>
                    </a:solidFill>
                  </a:tcPr>
                </a:tc>
              </a:tr>
              <a:tr h="365760">
                <a:tc>
                  <a:txBody>
                    <a:bodyPr wrap="square"/>
                    <a:lstStyle/>
                    <a:p>
                      <a:r>
                        <a:rPr sz="1150" b="1">
                          <a:solidFill>
                            <a:srgbClr val="111A27"/>
                          </a:solidFill>
                          <a:latin typeface="Helvetica Neue"/>
                        </a:rPr>
                        <a:t>2 · Migration and opening balances</a:t>
                      </a:r>
                    </a:p>
                  </a:txBody>
                  <a:tcPr marL="91440" marR="73152" marT="36576" marB="36576" anchor="ctr">
                    <a:solidFill>
                      <a:srgbClr val="F3F6F8"/>
                    </a:solidFill>
                  </a:tcPr>
                </a:tc>
                <a:tc>
                  <a:txBody>
                    <a:bodyPr wrap="square"/>
                    <a:lstStyle/>
                    <a:p>
                      <a:r>
                        <a:rPr sz="1150">
                          <a:solidFill>
                            <a:srgbClr val="333E4F"/>
                          </a:solidFill>
                          <a:latin typeface="Helvetica Neue"/>
                        </a:rPr>
                        <a:t>2–12</a:t>
                      </a:r>
                    </a:p>
                  </a:txBody>
                  <a:tcPr marL="91440" marR="73152" marT="36576" marB="36576" anchor="ctr">
                    <a:solidFill>
                      <a:srgbClr val="F3F6F8"/>
                    </a:solidFill>
                  </a:tcPr>
                </a:tc>
                <a:tc>
                  <a:txBody>
                    <a:bodyPr wrap="square"/>
                    <a:lstStyle/>
                    <a:p>
                      <a:r>
                        <a:rPr sz="1150">
                          <a:solidFill>
                            <a:srgbClr val="333E4F"/>
                          </a:solidFill>
                          <a:latin typeface="Helvetica Neue"/>
                        </a:rPr>
                        <a:t>Reconstructed trial balance ties to the prior closing TB, per entity, with no manual plug</a:t>
                      </a:r>
                    </a:p>
                  </a:txBody>
                  <a:tcPr marL="91440" marR="73152" marT="36576" marB="36576" anchor="ctr">
                    <a:solidFill>
                      <a:srgbClr val="F3F6F8"/>
                    </a:solidFill>
                  </a:tcPr>
                </a:tc>
              </a:tr>
              <a:tr h="365760">
                <a:tc>
                  <a:txBody>
                    <a:bodyPr wrap="square"/>
                    <a:lstStyle/>
                    <a:p>
                      <a:r>
                        <a:rPr sz="1150" b="1">
                          <a:solidFill>
                            <a:srgbClr val="111A27"/>
                          </a:solidFill>
                          <a:latin typeface="Helvetica Neue"/>
                        </a:rPr>
                        <a:t>3 · Tool layer and invariants</a:t>
                      </a:r>
                    </a:p>
                  </a:txBody>
                  <a:tcPr marL="91440" marR="73152" marT="36576" marB="36576" anchor="ctr">
                    <a:solidFill>
                      <a:srgbClr val="FFFFFF"/>
                    </a:solidFill>
                  </a:tcPr>
                </a:tc>
                <a:tc>
                  <a:txBody>
                    <a:bodyPr wrap="square"/>
                    <a:lstStyle/>
                    <a:p>
                      <a:r>
                        <a:rPr sz="1150">
                          <a:solidFill>
                            <a:srgbClr val="333E4F"/>
                          </a:solidFill>
                          <a:latin typeface="Helvetica Neue"/>
                        </a:rPr>
                        <a:t>0–6</a:t>
                      </a:r>
                    </a:p>
                  </a:txBody>
                  <a:tcPr marL="91440" marR="73152" marT="36576" marB="36576" anchor="ctr">
                    <a:solidFill>
                      <a:srgbClr val="FFFFFF"/>
                    </a:solidFill>
                  </a:tcPr>
                </a:tc>
                <a:tc>
                  <a:txBody>
                    <a:bodyPr wrap="square"/>
                    <a:lstStyle/>
                    <a:p>
                      <a:r>
                        <a:rPr sz="1150">
                          <a:solidFill>
                            <a:srgbClr val="333E4F"/>
                          </a:solidFill>
                          <a:latin typeface="Helvetica Neue"/>
                        </a:rPr>
                        <a:t>Every state change goes through a typed tool; no path writes to the ledger directly</a:t>
                      </a:r>
                    </a:p>
                  </a:txBody>
                  <a:tcPr marL="91440" marR="73152" marT="36576" marB="36576" anchor="ctr">
                    <a:solidFill>
                      <a:srgbClr val="FFFFFF"/>
                    </a:solidFill>
                  </a:tcPr>
                </a:tc>
              </a:tr>
              <a:tr h="365760">
                <a:tc>
                  <a:txBody>
                    <a:bodyPr wrap="square"/>
                    <a:lstStyle/>
                    <a:p>
                      <a:r>
                        <a:rPr sz="1150" b="1">
                          <a:solidFill>
                            <a:srgbClr val="111A27"/>
                          </a:solidFill>
                          <a:latin typeface="Helvetica Neue"/>
                        </a:rPr>
                        <a:t>4 · Verification tiers and calibration</a:t>
                      </a:r>
                    </a:p>
                  </a:txBody>
                  <a:tcPr marL="91440" marR="73152" marT="36576" marB="36576" anchor="ctr">
                    <a:solidFill>
                      <a:srgbClr val="F3F6F8"/>
                    </a:solidFill>
                  </a:tcPr>
                </a:tc>
                <a:tc>
                  <a:txBody>
                    <a:bodyPr wrap="square"/>
                    <a:lstStyle/>
                    <a:p>
                      <a:r>
                        <a:rPr sz="1150">
                          <a:solidFill>
                            <a:srgbClr val="333E4F"/>
                          </a:solidFill>
                          <a:latin typeface="Helvetica Neue"/>
                        </a:rPr>
                        <a:t>1–10</a:t>
                      </a:r>
                    </a:p>
                  </a:txBody>
                  <a:tcPr marL="91440" marR="73152" marT="36576" marB="36576" anchor="ctr">
                    <a:solidFill>
                      <a:srgbClr val="F3F6F8"/>
                    </a:solidFill>
                  </a:tcPr>
                </a:tc>
                <a:tc>
                  <a:txBody>
                    <a:bodyPr wrap="square"/>
                    <a:lstStyle/>
                    <a:p>
                      <a:r>
                        <a:rPr sz="1150">
                          <a:solidFill>
                            <a:srgbClr val="333E4F"/>
                          </a:solidFill>
                          <a:latin typeface="Helvetica Neue"/>
                        </a:rPr>
                        <a:t>Calibration error under [Y] on the top five transaction categories, measured not asserted</a:t>
                      </a:r>
                    </a:p>
                  </a:txBody>
                  <a:tcPr marL="91440" marR="73152" marT="36576" marB="36576" anchor="ctr">
                    <a:solidFill>
                      <a:srgbClr val="F3F6F8"/>
                    </a:solidFill>
                  </a:tcPr>
                </a:tc>
              </a:tr>
              <a:tr h="365760">
                <a:tc>
                  <a:txBody>
                    <a:bodyPr wrap="square"/>
                    <a:lstStyle/>
                    <a:p>
                      <a:r>
                        <a:rPr sz="1150" b="1">
                          <a:solidFill>
                            <a:srgbClr val="111A27"/>
                          </a:solidFill>
                          <a:latin typeface="Helvetica Neue"/>
                        </a:rPr>
                        <a:t>5 · Eval harness and corpus</a:t>
                      </a:r>
                    </a:p>
                  </a:txBody>
                  <a:tcPr marL="91440" marR="73152" marT="36576" marB="36576" anchor="ctr">
                    <a:solidFill>
                      <a:srgbClr val="FFFFFF"/>
                    </a:solidFill>
                  </a:tcPr>
                </a:tc>
                <a:tc>
                  <a:txBody>
                    <a:bodyPr wrap="square"/>
                    <a:lstStyle/>
                    <a:p>
                      <a:r>
                        <a:rPr sz="1150">
                          <a:solidFill>
                            <a:srgbClr val="333E4F"/>
                          </a:solidFill>
                          <a:latin typeface="Helvetica Neue"/>
                        </a:rPr>
                        <a:t>0–16</a:t>
                      </a:r>
                    </a:p>
                  </a:txBody>
                  <a:tcPr marL="91440" marR="73152" marT="36576" marB="36576" anchor="ctr">
                    <a:solidFill>
                      <a:srgbClr val="FFFFFF"/>
                    </a:solidFill>
                  </a:tcPr>
                </a:tc>
                <a:tc>
                  <a:txBody>
                    <a:bodyPr wrap="square"/>
                    <a:lstStyle/>
                    <a:p>
                      <a:r>
                        <a:rPr sz="1150">
                          <a:solidFill>
                            <a:srgbClr val="333E4F"/>
                          </a:solidFill>
                          <a:latin typeface="Helvetica Neue"/>
                        </a:rPr>
                        <a:t>Every model or prompt change gated by corpus regression before it reaches a customer</a:t>
                      </a:r>
                    </a:p>
                  </a:txBody>
                  <a:tcPr marL="91440" marR="73152" marT="36576" marB="36576" anchor="ctr">
                    <a:solidFill>
                      <a:srgbClr val="FFFFFF"/>
                    </a:solidFill>
                  </a:tcPr>
                </a:tc>
              </a:tr>
              <a:tr h="365760">
                <a:tc>
                  <a:txBody>
                    <a:bodyPr wrap="square"/>
                    <a:lstStyle/>
                    <a:p>
                      <a:r>
                        <a:rPr sz="1150" b="1">
                          <a:solidFill>
                            <a:srgbClr val="111A27"/>
                          </a:solidFill>
                          <a:latin typeface="Helvetica Neue"/>
                        </a:rPr>
                        <a:t>6 · Durable close orchestration</a:t>
                      </a:r>
                    </a:p>
                  </a:txBody>
                  <a:tcPr marL="91440" marR="73152" marT="36576" marB="36576" anchor="ctr">
                    <a:solidFill>
                      <a:srgbClr val="F3F6F8"/>
                    </a:solidFill>
                  </a:tcPr>
                </a:tc>
                <a:tc>
                  <a:txBody>
                    <a:bodyPr wrap="square"/>
                    <a:lstStyle/>
                    <a:p>
                      <a:r>
                        <a:rPr sz="1150">
                          <a:solidFill>
                            <a:srgbClr val="333E4F"/>
                          </a:solidFill>
                          <a:latin typeface="Helvetica Neue"/>
                        </a:rPr>
                        <a:t>4–14</a:t>
                      </a:r>
                    </a:p>
                  </a:txBody>
                  <a:tcPr marL="91440" marR="73152" marT="36576" marB="36576" anchor="ctr">
                    <a:solidFill>
                      <a:srgbClr val="F3F6F8"/>
                    </a:solidFill>
                  </a:tcPr>
                </a:tc>
                <a:tc>
                  <a:txBody>
                    <a:bodyPr wrap="square"/>
                    <a:lstStyle/>
                    <a:p>
                      <a:r>
                        <a:rPr sz="1150">
                          <a:solidFill>
                            <a:srgbClr val="333E4F"/>
                          </a:solidFill>
                          <a:latin typeface="Helvetica Neue"/>
                        </a:rPr>
                        <a:t>Full checklist resumable; no re-decision on resume, proven by replay</a:t>
                      </a:r>
                    </a:p>
                  </a:txBody>
                  <a:tcPr marL="91440" marR="73152" marT="36576" marB="36576" anchor="ctr">
                    <a:solidFill>
                      <a:srgbClr val="F3F6F8"/>
                    </a:solidFill>
                  </a:tcPr>
                </a:tc>
              </a:tr>
              <a:tr h="365760">
                <a:tc>
                  <a:txBody>
                    <a:bodyPr wrap="square"/>
                    <a:lstStyle/>
                    <a:p>
                      <a:r>
                        <a:rPr sz="1150" b="1">
                          <a:solidFill>
                            <a:srgbClr val="111A27"/>
                          </a:solidFill>
                          <a:latin typeface="Helvetica Neue"/>
                        </a:rPr>
                        <a:t>7 · Exception console</a:t>
                      </a:r>
                    </a:p>
                  </a:txBody>
                  <a:tcPr marL="91440" marR="73152" marT="36576" marB="36576" anchor="ctr">
                    <a:solidFill>
                      <a:srgbClr val="FFFFFF"/>
                    </a:solidFill>
                  </a:tcPr>
                </a:tc>
                <a:tc>
                  <a:txBody>
                    <a:bodyPr wrap="square"/>
                    <a:lstStyle/>
                    <a:p>
                      <a:r>
                        <a:rPr sz="1150">
                          <a:solidFill>
                            <a:srgbClr val="333E4F"/>
                          </a:solidFill>
                          <a:latin typeface="Helvetica Neue"/>
                        </a:rPr>
                        <a:t>6–14</a:t>
                      </a:r>
                    </a:p>
                  </a:txBody>
                  <a:tcPr marL="91440" marR="73152" marT="36576" marB="36576" anchor="ctr">
                    <a:solidFill>
                      <a:srgbClr val="FFFFFF"/>
                    </a:solidFill>
                  </a:tcPr>
                </a:tc>
                <a:tc>
                  <a:txBody>
                    <a:bodyPr wrap="square"/>
                    <a:lstStyle/>
                    <a:p>
                      <a:r>
                        <a:rPr sz="1150">
                          <a:solidFill>
                            <a:srgbClr val="333E4F"/>
                          </a:solidFill>
                          <a:latin typeface="Helvetica Neue"/>
                        </a:rPr>
                        <a:t>Reviewer clears [N] items/hour with no measured loss of accuracy</a:t>
                      </a:r>
                    </a:p>
                  </a:txBody>
                  <a:tcPr marL="91440" marR="73152" marT="36576" marB="36576" anchor="ctr">
                    <a:solidFill>
                      <a:srgbClr val="FFFFFF"/>
                    </a:solidFill>
                  </a:tcPr>
                </a:tc>
              </a:tr>
              <a:tr h="365760">
                <a:tc>
                  <a:txBody>
                    <a:bodyPr wrap="square"/>
                    <a:lstStyle/>
                    <a:p>
                      <a:r>
                        <a:rPr sz="1150" b="1">
                          <a:solidFill>
                            <a:srgbClr val="111A27"/>
                          </a:solidFill>
                          <a:latin typeface="Helvetica Neue"/>
                        </a:rPr>
                        <a:t>8 · Controls, audit package, SOC 2</a:t>
                      </a:r>
                    </a:p>
                  </a:txBody>
                  <a:tcPr marL="91440" marR="73152" marT="36576" marB="36576" anchor="ctr">
                    <a:solidFill>
                      <a:srgbClr val="F3F6F8"/>
                    </a:solidFill>
                  </a:tcPr>
                </a:tc>
                <a:tc>
                  <a:txBody>
                    <a:bodyPr wrap="square"/>
                    <a:lstStyle/>
                    <a:p>
                      <a:r>
                        <a:rPr sz="1150">
                          <a:solidFill>
                            <a:srgbClr val="333E4F"/>
                          </a:solidFill>
                          <a:latin typeface="Helvetica Neue"/>
                        </a:rPr>
                        <a:t>4–20</a:t>
                      </a:r>
                    </a:p>
                  </a:txBody>
                  <a:tcPr marL="91440" marR="73152" marT="36576" marB="36576" anchor="ctr">
                    <a:solidFill>
                      <a:srgbClr val="F3F6F8"/>
                    </a:solidFill>
                  </a:tcPr>
                </a:tc>
                <a:tc>
                  <a:txBody>
                    <a:bodyPr wrap="square"/>
                    <a:lstStyle/>
                    <a:p>
                      <a:r>
                        <a:rPr sz="1150">
                          <a:solidFill>
                            <a:srgbClr val="333E4F"/>
                          </a:solidFill>
                          <a:latin typeface="Helvetica Neue"/>
                        </a:rPr>
                        <a:t>One external review accepts the audit package unmodified</a:t>
                      </a:r>
                    </a:p>
                  </a:txBody>
                  <a:tcPr marL="91440" marR="73152" marT="36576" marB="36576" anchor="ctr">
                    <a:solidFill>
                      <a:srgbClr val="F3F6F8"/>
                    </a:solidFill>
                  </a:tcPr>
                </a:tc>
              </a:tr>
            </a:tbl>
          </a:graphicData>
        </a:graphic>
      </p:graphicFrame>
      <p:sp>
        <p:nvSpPr>
          <p:cNvPr id="6" name="Rounded Rectangle 5"/>
          <p:cNvSpPr/>
          <p:nvPr/>
        </p:nvSpPr>
        <p:spPr>
          <a:xfrm>
            <a:off x="658368" y="5175504"/>
            <a:ext cx="5294376" cy="128016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5340096"/>
            <a:ext cx="475488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B45309"/>
                </a:solidFill>
                <a:latin typeface="Helvetica Neue"/>
              </a:rPr>
              <a:t>CRITICAL PATH</a:t>
            </a:r>
          </a:p>
        </p:txBody>
      </p:sp>
      <p:sp>
        <p:nvSpPr>
          <p:cNvPr id="8" name="TextBox 7"/>
          <p:cNvSpPr txBox="1"/>
          <p:nvPr/>
        </p:nvSpPr>
        <p:spPr>
          <a:xfrm>
            <a:off x="932688" y="5632704"/>
            <a:ext cx="4754880" cy="749808"/>
          </a:xfrm>
          <a:prstGeom prst="rect">
            <a:avLst/>
          </a:prstGeom>
          <a:noFill/>
        </p:spPr>
        <p:txBody>
          <a:bodyPr wrap="square" anchor="t" lIns="0" rIns="0" tIns="0" bIns="0">
            <a:spAutoFit/>
          </a:bodyPr>
          <a:lstStyle/>
          <a:p>
            <a:pPr algn="l">
              <a:lnSpc>
                <a:spcPct val="140000"/>
              </a:lnSpc>
              <a:spcAft>
                <a:spcPts val="600"/>
              </a:spcAft>
            </a:pPr>
            <a:r>
              <a:rPr sz="1200" b="0" i="0">
                <a:solidFill>
                  <a:srgbClr val="7A3B08"/>
                </a:solidFill>
                <a:latin typeface="Helvetica Neue"/>
              </a:rPr>
              <a:t>Workstreams 1, 3 and 5 gate everything else: the substrate, the tools that guard it, and the harness that proves it. They start in week zero and nothing downstream is meaningful until they hold.</a:t>
            </a:r>
          </a:p>
        </p:txBody>
      </p:sp>
      <p:sp>
        <p:nvSpPr>
          <p:cNvPr id="9" name="Rounded Rectangle 8"/>
          <p:cNvSpPr/>
          <p:nvPr/>
        </p:nvSpPr>
        <p:spPr>
          <a:xfrm>
            <a:off x="6245352" y="5175504"/>
            <a:ext cx="5294376" cy="128016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19672" y="5340096"/>
            <a:ext cx="475488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6B7688"/>
                </a:solidFill>
                <a:latin typeface="Helvetica Neue"/>
              </a:rPr>
              <a:t>ROUGHLY 20 WEEKS TO A CUSTOMER RUNNING END TO END</a:t>
            </a:r>
          </a:p>
        </p:txBody>
      </p:sp>
      <p:sp>
        <p:nvSpPr>
          <p:cNvPr id="11" name="TextBox 10"/>
          <p:cNvSpPr txBox="1"/>
          <p:nvPr/>
        </p:nvSpPr>
        <p:spPr>
          <a:xfrm>
            <a:off x="6519672" y="5632704"/>
            <a:ext cx="4754880" cy="749808"/>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Aggressive by convention, and it rests on the previous slide: the gates are machine-checkable, so implementation iterates against them without waiting on us. Slippage shows up as a failed gate, not a status report.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15</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RESOURCING</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A small team, weighted away from implementation</a:t>
            </a:r>
          </a:p>
        </p:txBody>
      </p:sp>
      <p:sp>
        <p:nvSpPr>
          <p:cNvPr id="5" name="TextBox 4"/>
          <p:cNvSpPr txBox="1"/>
          <p:nvPr/>
        </p:nvSpPr>
        <p:spPr>
          <a:xfrm>
            <a:off x="658368" y="1737360"/>
            <a:ext cx="10424160" cy="365760"/>
          </a:xfrm>
          <a:prstGeom prst="rect">
            <a:avLst/>
          </a:prstGeom>
          <a:noFill/>
        </p:spPr>
        <p:txBody>
          <a:bodyPr wrap="square" anchor="t" lIns="0" rIns="0" tIns="0" bIns="0">
            <a:spAutoFit/>
          </a:bodyPr>
          <a:lstStyle/>
          <a:p>
            <a:pPr algn="l">
              <a:lnSpc>
                <a:spcPct val="135000"/>
              </a:lnSpc>
              <a:spcAft>
                <a:spcPts val="600"/>
              </a:spcAft>
            </a:pPr>
            <a:r>
              <a:rPr sz="1450" b="0" i="0">
                <a:solidFill>
                  <a:srgbClr val="333E4F"/>
                </a:solidFill>
                <a:latin typeface="Helvetica Neue"/>
              </a:rPr>
              <a:t>Illustrative shape rather than a hiring plan. The notable feature is what is small: the agent layer, and implementation headcount generally.</a:t>
            </a:r>
          </a:p>
        </p:txBody>
      </p:sp>
      <p:graphicFrame>
        <p:nvGraphicFramePr>
          <p:cNvPr id="6" name="Table 5"/>
          <p:cNvGraphicFramePr>
            <a:graphicFrameLocks noGrp="1"/>
          </p:cNvGraphicFramePr>
          <p:nvPr/>
        </p:nvGraphicFramePr>
        <p:xfrm>
          <a:off x="658368" y="2286000"/>
          <a:ext cx="10872216" cy="3072384"/>
        </p:xfrm>
        <a:graphic>
          <a:graphicData uri="http://schemas.openxmlformats.org/drawingml/2006/table">
            <a:tbl>
              <a:tblPr>
                <a:tableStyleId>{5C22544A-7EE6-4342-B048-85BDC9FD1C3A}</a:tableStyleId>
              </a:tblPr>
              <a:tblGrid>
                <a:gridCol w="3200400"/>
                <a:gridCol w="685800"/>
                <a:gridCol w="6986016"/>
              </a:tblGrid>
              <a:tr h="384048">
                <a:tc>
                  <a:txBody>
                    <a:bodyPr wrap="square"/>
                    <a:lstStyle/>
                    <a:p>
                      <a:r>
                        <a:rPr sz="1150" b="1">
                          <a:solidFill>
                            <a:srgbClr val="FFFFFF"/>
                          </a:solidFill>
                          <a:latin typeface="Helvetica Neue"/>
                        </a:rPr>
                        <a:t>Function</a:t>
                      </a:r>
                    </a:p>
                  </a:txBody>
                  <a:tcPr marL="91440" marR="73152" marT="36576" marB="36576" anchor="ctr">
                    <a:solidFill>
                      <a:srgbClr val="111A27"/>
                    </a:solidFill>
                  </a:tcPr>
                </a:tc>
                <a:tc>
                  <a:txBody>
                    <a:bodyPr wrap="square"/>
                    <a:lstStyle/>
                    <a:p>
                      <a:r>
                        <a:rPr sz="1150" b="1">
                          <a:solidFill>
                            <a:srgbClr val="FFFFFF"/>
                          </a:solidFill>
                          <a:latin typeface="Helvetica Neue"/>
                        </a:rPr>
                        <a:t>FTE</a:t>
                      </a:r>
                    </a:p>
                  </a:txBody>
                  <a:tcPr marL="91440" marR="73152" marT="36576" marB="36576" anchor="ctr">
                    <a:solidFill>
                      <a:srgbClr val="111A27"/>
                    </a:solidFill>
                  </a:tcPr>
                </a:tc>
                <a:tc>
                  <a:txBody>
                    <a:bodyPr wrap="square"/>
                    <a:lstStyle/>
                    <a:p>
                      <a:r>
                        <a:rPr sz="1150" b="1">
                          <a:solidFill>
                            <a:srgbClr val="FFFFFF"/>
                          </a:solidFill>
                          <a:latin typeface="Helvetica Neue"/>
                        </a:rPr>
                        <a:t>Why it is sized this way</a:t>
                      </a:r>
                    </a:p>
                  </a:txBody>
                  <a:tcPr marL="91440" marR="73152" marT="36576" marB="36576" anchor="ctr">
                    <a:solidFill>
                      <a:srgbClr val="111A27"/>
                    </a:solidFill>
                  </a:tcPr>
                </a:tc>
              </a:tr>
              <a:tr h="384048">
                <a:tc>
                  <a:txBody>
                    <a:bodyPr wrap="square"/>
                    <a:lstStyle/>
                    <a:p>
                      <a:r>
                        <a:rPr sz="1150" b="1">
                          <a:solidFill>
                            <a:srgbClr val="111A27"/>
                          </a:solidFill>
                          <a:latin typeface="Helvetica Neue"/>
                        </a:rPr>
                        <a:t>Ledger substrate and tool layer</a:t>
                      </a:r>
                    </a:p>
                  </a:txBody>
                  <a:tcPr marL="91440" marR="73152" marT="36576" marB="36576" anchor="ctr">
                    <a:solidFill>
                      <a:srgbClr val="FFFFFF"/>
                    </a:solidFill>
                  </a:tcPr>
                </a:tc>
                <a:tc>
                  <a:txBody>
                    <a:bodyPr wrap="square"/>
                    <a:lstStyle/>
                    <a:p>
                      <a:r>
                        <a:rPr sz="1150">
                          <a:solidFill>
                            <a:srgbClr val="333E4F"/>
                          </a:solidFill>
                          <a:latin typeface="Helvetica Neue"/>
                        </a:rPr>
                        <a:t>2</a:t>
                      </a:r>
                    </a:p>
                  </a:txBody>
                  <a:tcPr marL="91440" marR="73152" marT="36576" marB="36576" anchor="ctr">
                    <a:solidFill>
                      <a:srgbClr val="FFFFFF"/>
                    </a:solidFill>
                  </a:tcPr>
                </a:tc>
                <a:tc>
                  <a:txBody>
                    <a:bodyPr wrap="square"/>
                    <a:lstStyle/>
                    <a:p>
                      <a:r>
                        <a:rPr sz="1150">
                          <a:solidFill>
                            <a:srgbClr val="333E4F"/>
                          </a:solidFill>
                          <a:latin typeface="Helvetica Neue"/>
                        </a:rPr>
                        <a:t>Schema, bitemporality, provenance, typed invariant-enforcing actions. Irreversible decisions, so senior.</a:t>
                      </a:r>
                    </a:p>
                  </a:txBody>
                  <a:tcPr marL="91440" marR="73152" marT="36576" marB="36576" anchor="ctr">
                    <a:solidFill>
                      <a:srgbClr val="FFFFFF"/>
                    </a:solidFill>
                  </a:tcPr>
                </a:tc>
              </a:tr>
              <a:tr h="384048">
                <a:tc>
                  <a:txBody>
                    <a:bodyPr wrap="square"/>
                    <a:lstStyle/>
                    <a:p>
                      <a:r>
                        <a:rPr sz="1150" b="1">
                          <a:solidFill>
                            <a:srgbClr val="111A27"/>
                          </a:solidFill>
                          <a:latin typeface="Helvetica Neue"/>
                        </a:rPr>
                        <a:t>Evals, harness and data</a:t>
                      </a:r>
                    </a:p>
                  </a:txBody>
                  <a:tcPr marL="91440" marR="73152" marT="36576" marB="36576" anchor="ctr">
                    <a:solidFill>
                      <a:srgbClr val="F3F6F8"/>
                    </a:solidFill>
                  </a:tcPr>
                </a:tc>
                <a:tc>
                  <a:txBody>
                    <a:bodyPr wrap="square"/>
                    <a:lstStyle/>
                    <a:p>
                      <a:r>
                        <a:rPr sz="1150">
                          <a:solidFill>
                            <a:srgbClr val="333E4F"/>
                          </a:solidFill>
                          <a:latin typeface="Helvetica Neue"/>
                        </a:rPr>
                        <a:t>2</a:t>
                      </a:r>
                    </a:p>
                  </a:txBody>
                  <a:tcPr marL="91440" marR="73152" marT="36576" marB="36576" anchor="ctr">
                    <a:solidFill>
                      <a:srgbClr val="F3F6F8"/>
                    </a:solidFill>
                  </a:tcPr>
                </a:tc>
                <a:tc>
                  <a:txBody>
                    <a:bodyPr wrap="square"/>
                    <a:lstStyle/>
                    <a:p>
                      <a:r>
                        <a:rPr sz="1150">
                          <a:solidFill>
                            <a:srgbClr val="333E4F"/>
                          </a:solidFill>
                          <a:latin typeface="Helvetica Neue"/>
                        </a:rPr>
                        <a:t>Corpus, replay runner, CI gates, ingestion quality, entity resolution. The largest engineering line, deliberately.</a:t>
                      </a:r>
                    </a:p>
                  </a:txBody>
                  <a:tcPr marL="91440" marR="73152" marT="36576" marB="36576" anchor="ctr">
                    <a:solidFill>
                      <a:srgbClr val="F3F6F8"/>
                    </a:solidFill>
                  </a:tcPr>
                </a:tc>
              </a:tr>
              <a:tr h="384048">
                <a:tc>
                  <a:txBody>
                    <a:bodyPr wrap="square"/>
                    <a:lstStyle/>
                    <a:p>
                      <a:r>
                        <a:rPr sz="1150" b="1">
                          <a:solidFill>
                            <a:srgbClr val="111A27"/>
                          </a:solidFill>
                          <a:latin typeface="Helvetica Neue"/>
                        </a:rPr>
                        <a:t>Verification and calibration</a:t>
                      </a:r>
                    </a:p>
                  </a:txBody>
                  <a:tcPr marL="91440" marR="73152" marT="36576" marB="36576" anchor="ctr">
                    <a:solidFill>
                      <a:srgbClr val="FFFFFF"/>
                    </a:solidFill>
                  </a:tcPr>
                </a:tc>
                <a:tc>
                  <a:txBody>
                    <a:bodyPr wrap="square"/>
                    <a:lstStyle/>
                    <a:p>
                      <a:r>
                        <a:rPr sz="1150">
                          <a:solidFill>
                            <a:srgbClr val="333E4F"/>
                          </a:solidFill>
                          <a:latin typeface="Helvetica Neue"/>
                        </a:rPr>
                        <a:t>1.5</a:t>
                      </a:r>
                    </a:p>
                  </a:txBody>
                  <a:tcPr marL="91440" marR="73152" marT="36576" marB="36576" anchor="ctr">
                    <a:solidFill>
                      <a:srgbClr val="FFFFFF"/>
                    </a:solidFill>
                  </a:tcPr>
                </a:tc>
                <a:tc>
                  <a:txBody>
                    <a:bodyPr wrap="square"/>
                    <a:lstStyle/>
                    <a:p>
                      <a:r>
                        <a:rPr sz="1150">
                          <a:solidFill>
                            <a:srgbClr val="333E4F"/>
                          </a:solidFill>
                          <a:latin typeface="Helvetica Neue"/>
                        </a:rPr>
                        <a:t>Invariants, anomaly detection, confidence derived from signals rather than self-report.</a:t>
                      </a:r>
                    </a:p>
                  </a:txBody>
                  <a:tcPr marL="91440" marR="73152" marT="36576" marB="36576" anchor="ctr">
                    <a:solidFill>
                      <a:srgbClr val="FFFFFF"/>
                    </a:solidFill>
                  </a:tcPr>
                </a:tc>
              </a:tr>
              <a:tr h="384048">
                <a:tc>
                  <a:txBody>
                    <a:bodyPr wrap="square"/>
                    <a:lstStyle/>
                    <a:p>
                      <a:r>
                        <a:rPr sz="1150" b="1">
                          <a:solidFill>
                            <a:srgbClr val="111A27"/>
                          </a:solidFill>
                          <a:latin typeface="Helvetica Neue"/>
                        </a:rPr>
                        <a:t>Orchestration and exception console</a:t>
                      </a:r>
                    </a:p>
                  </a:txBody>
                  <a:tcPr marL="91440" marR="73152" marT="36576" marB="36576" anchor="ctr">
                    <a:solidFill>
                      <a:srgbClr val="F3F6F8"/>
                    </a:solidFill>
                  </a:tcPr>
                </a:tc>
                <a:tc>
                  <a:txBody>
                    <a:bodyPr wrap="square"/>
                    <a:lstStyle/>
                    <a:p>
                      <a:r>
                        <a:rPr sz="1150">
                          <a:solidFill>
                            <a:srgbClr val="333E4F"/>
                          </a:solidFill>
                          <a:latin typeface="Helvetica Neue"/>
                        </a:rPr>
                        <a:t>1.5</a:t>
                      </a:r>
                    </a:p>
                  </a:txBody>
                  <a:tcPr marL="91440" marR="73152" marT="36576" marB="36576" anchor="ctr">
                    <a:solidFill>
                      <a:srgbClr val="F3F6F8"/>
                    </a:solidFill>
                  </a:tcPr>
                </a:tc>
                <a:tc>
                  <a:txBody>
                    <a:bodyPr wrap="square"/>
                    <a:lstStyle/>
                    <a:p>
                      <a:r>
                        <a:rPr sz="1150">
                          <a:solidFill>
                            <a:srgbClr val="333E4F"/>
                          </a:solidFill>
                          <a:latin typeface="Helvetica Neue"/>
                        </a:rPr>
                        <a:t>Durable workflows and one surface built well, instead of forty screens.</a:t>
                      </a:r>
                    </a:p>
                  </a:txBody>
                  <a:tcPr marL="91440" marR="73152" marT="36576" marB="36576" anchor="ctr">
                    <a:solidFill>
                      <a:srgbClr val="F3F6F8"/>
                    </a:solidFill>
                  </a:tcPr>
                </a:tc>
              </a:tr>
              <a:tr h="384048">
                <a:tc>
                  <a:txBody>
                    <a:bodyPr wrap="square"/>
                    <a:lstStyle/>
                    <a:p>
                      <a:r>
                        <a:rPr sz="1150" b="1">
                          <a:solidFill>
                            <a:srgbClr val="111A27"/>
                          </a:solidFill>
                          <a:latin typeface="Helvetica Neue"/>
                        </a:rPr>
                        <a:t>Accounting domain expertise</a:t>
                      </a:r>
                    </a:p>
                  </a:txBody>
                  <a:tcPr marL="91440" marR="73152" marT="36576" marB="36576" anchor="ctr">
                    <a:solidFill>
                      <a:srgbClr val="FFFFFF"/>
                    </a:solidFill>
                  </a:tcPr>
                </a:tc>
                <a:tc>
                  <a:txBody>
                    <a:bodyPr wrap="square"/>
                    <a:lstStyle/>
                    <a:p>
                      <a:r>
                        <a:rPr sz="1150">
                          <a:solidFill>
                            <a:srgbClr val="333E4F"/>
                          </a:solidFill>
                          <a:latin typeface="Helvetica Neue"/>
                        </a:rPr>
                        <a:t>2–3</a:t>
                      </a:r>
                    </a:p>
                  </a:txBody>
                  <a:tcPr marL="91440" marR="73152" marT="36576" marB="36576" anchor="ctr">
                    <a:solidFill>
                      <a:srgbClr val="FFFFFF"/>
                    </a:solidFill>
                  </a:tcPr>
                </a:tc>
                <a:tc>
                  <a:txBody>
                    <a:bodyPr wrap="square"/>
                    <a:lstStyle/>
                    <a:p>
                      <a:r>
                        <a:rPr sz="1150">
                          <a:solidFill>
                            <a:srgbClr val="333E4F"/>
                          </a:solidFill>
                          <a:latin typeface="Helvetica Neue"/>
                        </a:rPr>
                        <a:t>Writes the specifications and labels the corpus. This is the rate limit on the whole plan.</a:t>
                      </a:r>
                    </a:p>
                  </a:txBody>
                  <a:tcPr marL="91440" marR="73152" marT="36576" marB="36576" anchor="ctr">
                    <a:solidFill>
                      <a:srgbClr val="FFFFFF"/>
                    </a:solidFill>
                  </a:tcPr>
                </a:tc>
              </a:tr>
              <a:tr h="384048">
                <a:tc>
                  <a:txBody>
                    <a:bodyPr wrap="square"/>
                    <a:lstStyle/>
                    <a:p>
                      <a:r>
                        <a:rPr sz="1150" b="1">
                          <a:solidFill>
                            <a:srgbClr val="111A27"/>
                          </a:solidFill>
                          <a:latin typeface="Helvetica Neue"/>
                        </a:rPr>
                        <a:t>Security and controls</a:t>
                      </a:r>
                    </a:p>
                  </a:txBody>
                  <a:tcPr marL="91440" marR="73152" marT="36576" marB="36576" anchor="ctr">
                    <a:solidFill>
                      <a:srgbClr val="F3F6F8"/>
                    </a:solidFill>
                  </a:tcPr>
                </a:tc>
                <a:tc>
                  <a:txBody>
                    <a:bodyPr wrap="square"/>
                    <a:lstStyle/>
                    <a:p>
                      <a:r>
                        <a:rPr sz="1150">
                          <a:solidFill>
                            <a:srgbClr val="333E4F"/>
                          </a:solidFill>
                          <a:latin typeface="Helvetica Neue"/>
                        </a:rPr>
                        <a:t>1</a:t>
                      </a:r>
                    </a:p>
                  </a:txBody>
                  <a:tcPr marL="91440" marR="73152" marT="36576" marB="36576" anchor="ctr">
                    <a:solidFill>
                      <a:srgbClr val="F3F6F8"/>
                    </a:solidFill>
                  </a:tcPr>
                </a:tc>
                <a:tc>
                  <a:txBody>
                    <a:bodyPr wrap="square"/>
                    <a:lstStyle/>
                    <a:p>
                      <a:r>
                        <a:rPr sz="1150">
                          <a:solidFill>
                            <a:srgbClr val="333E4F"/>
                          </a:solidFill>
                          <a:latin typeface="Helvetica Neue"/>
                        </a:rPr>
                        <a:t>Agent identity, least privilege, separation of duties, audit package, SOC 2.</a:t>
                      </a:r>
                    </a:p>
                  </a:txBody>
                  <a:tcPr marL="91440" marR="73152" marT="36576" marB="36576" anchor="ctr">
                    <a:solidFill>
                      <a:srgbClr val="F3F6F8"/>
                    </a:solidFill>
                  </a:tcPr>
                </a:tc>
              </a:tr>
              <a:tr h="384048">
                <a:tc>
                  <a:txBody>
                    <a:bodyPr wrap="square"/>
                    <a:lstStyle/>
                    <a:p>
                      <a:r>
                        <a:rPr sz="1150" b="1">
                          <a:solidFill>
                            <a:srgbClr val="111A27"/>
                          </a:solidFill>
                          <a:latin typeface="Helvetica Neue"/>
                        </a:rPr>
                        <a:t>Agent layer</a:t>
                      </a:r>
                    </a:p>
                  </a:txBody>
                  <a:tcPr marL="91440" marR="73152" marT="36576" marB="36576" anchor="ctr">
                    <a:solidFill>
                      <a:srgbClr val="FFFFFF"/>
                    </a:solidFill>
                  </a:tcPr>
                </a:tc>
                <a:tc>
                  <a:txBody>
                    <a:bodyPr wrap="square"/>
                    <a:lstStyle/>
                    <a:p>
                      <a:r>
                        <a:rPr sz="1150">
                          <a:solidFill>
                            <a:srgbClr val="333E4F"/>
                          </a:solidFill>
                          <a:latin typeface="Helvetica Neue"/>
                        </a:rPr>
                        <a:t>1</a:t>
                      </a:r>
                    </a:p>
                  </a:txBody>
                  <a:tcPr marL="91440" marR="73152" marT="36576" marB="36576" anchor="ctr">
                    <a:solidFill>
                      <a:srgbClr val="FFFFFF"/>
                    </a:solidFill>
                  </a:tcPr>
                </a:tc>
                <a:tc>
                  <a:txBody>
                    <a:bodyPr wrap="square"/>
                    <a:lstStyle/>
                    <a:p>
                      <a:r>
                        <a:rPr sz="1150">
                          <a:solidFill>
                            <a:srgbClr val="333E4F"/>
                          </a:solidFill>
                          <a:latin typeface="Helvetica Neue"/>
                        </a:rPr>
                        <a:t>Prompts, decomposition, policy memory. The cheapest and most replaceable component.</a:t>
                      </a:r>
                    </a:p>
                  </a:txBody>
                  <a:tcPr marL="91440" marR="73152" marT="36576" marB="36576" anchor="ctr">
                    <a:solidFill>
                      <a:srgbClr val="FFFFFF"/>
                    </a:solidFill>
                  </a:tcPr>
                </a:tc>
              </a:tr>
            </a:tbl>
          </a:graphicData>
        </a:graphic>
      </p:graphicFrame>
      <p:sp>
        <p:nvSpPr>
          <p:cNvPr id="7" name="Rounded Rectangle 6"/>
          <p:cNvSpPr/>
          <p:nvPr/>
        </p:nvSpPr>
        <p:spPr>
          <a:xfrm>
            <a:off x="658368" y="5468112"/>
            <a:ext cx="3465576" cy="960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6112" y="5614416"/>
            <a:ext cx="3017520" cy="292608"/>
          </a:xfrm>
          <a:prstGeom prst="rect">
            <a:avLst/>
          </a:prstGeom>
          <a:noFill/>
        </p:spPr>
        <p:txBody>
          <a:bodyPr wrap="square" anchor="t" lIns="0" rIns="0" tIns="0" bIns="0">
            <a:spAutoFit/>
          </a:bodyPr>
          <a:lstStyle/>
          <a:p>
            <a:pPr algn="l">
              <a:lnSpc>
                <a:spcPct val="125000"/>
              </a:lnSpc>
              <a:spcAft>
                <a:spcPts val="600"/>
              </a:spcAft>
            </a:pPr>
            <a:r>
              <a:rPr sz="1500" b="1" i="0">
                <a:solidFill>
                  <a:srgbClr val="0E7490"/>
                </a:solidFill>
                <a:latin typeface="Helvetica Neue"/>
              </a:rPr>
              <a:t>~11 FTE</a:t>
            </a:r>
          </a:p>
        </p:txBody>
      </p:sp>
      <p:sp>
        <p:nvSpPr>
          <p:cNvPr id="9" name="TextBox 8"/>
          <p:cNvSpPr txBox="1"/>
          <p:nvPr/>
        </p:nvSpPr>
        <p:spPr>
          <a:xfrm>
            <a:off x="896112" y="5943600"/>
            <a:ext cx="3017520" cy="402336"/>
          </a:xfrm>
          <a:prstGeom prst="rect">
            <a:avLst/>
          </a:prstGeom>
          <a:noFill/>
        </p:spPr>
        <p:txBody>
          <a:bodyPr wrap="square" anchor="t" lIns="0" rIns="0" tIns="0" bIns="0">
            <a:spAutoFit/>
          </a:bodyPr>
          <a:lstStyle/>
          <a:p>
            <a:pPr algn="l">
              <a:lnSpc>
                <a:spcPct val="132000"/>
              </a:lnSpc>
              <a:spcAft>
                <a:spcPts val="600"/>
              </a:spcAft>
            </a:pPr>
            <a:r>
              <a:rPr sz="1150" b="0" i="0">
                <a:solidFill>
                  <a:srgbClr val="333E4F"/>
                </a:solidFill>
                <a:latin typeface="Helvetica Neue"/>
              </a:rPr>
              <a:t>Two of those eleven touch prompts or implementation volume.</a:t>
            </a:r>
          </a:p>
        </p:txBody>
      </p:sp>
      <p:sp>
        <p:nvSpPr>
          <p:cNvPr id="10" name="Rounded Rectangle 9"/>
          <p:cNvSpPr/>
          <p:nvPr/>
        </p:nvSpPr>
        <p:spPr>
          <a:xfrm>
            <a:off x="4379976" y="5468112"/>
            <a:ext cx="3465576" cy="960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17720" y="5614416"/>
            <a:ext cx="301752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6B7688"/>
                </a:solidFill>
                <a:latin typeface="Helvetica Neue"/>
              </a:rPr>
              <a:t>NON-HEADCOUNT</a:t>
            </a:r>
          </a:p>
        </p:txBody>
      </p:sp>
      <p:sp>
        <p:nvSpPr>
          <p:cNvPr id="12" name="TextBox 11"/>
          <p:cNvSpPr txBox="1"/>
          <p:nvPr/>
        </p:nvSpPr>
        <p:spPr>
          <a:xfrm>
            <a:off x="4617720" y="5888736"/>
            <a:ext cx="3017520" cy="457200"/>
          </a:xfrm>
          <a:prstGeom prst="rect">
            <a:avLst/>
          </a:prstGeom>
          <a:noFill/>
        </p:spPr>
        <p:txBody>
          <a:bodyPr wrap="square" anchor="t" lIns="0" rIns="0" tIns="0" bIns="0">
            <a:spAutoFit/>
          </a:bodyPr>
          <a:lstStyle/>
          <a:p>
            <a:pPr algn="l">
              <a:lnSpc>
                <a:spcPct val="130000"/>
              </a:lnSpc>
              <a:spcAft>
                <a:spcPts val="600"/>
              </a:spcAft>
            </a:pPr>
            <a:r>
              <a:rPr sz="1050" b="0" i="0">
                <a:solidFill>
                  <a:srgbClr val="333E4F"/>
                </a:solidFill>
                <a:latin typeface="Helvetica Neue"/>
              </a:rPr>
              <a:t>Inference is COGS, not R&amp;D · SOC 2 Type II · E&amp;O review · data infra · customer consent updates</a:t>
            </a:r>
          </a:p>
        </p:txBody>
      </p:sp>
      <p:sp>
        <p:nvSpPr>
          <p:cNvPr id="13" name="Rounded Rectangle 12"/>
          <p:cNvSpPr/>
          <p:nvPr/>
        </p:nvSpPr>
        <p:spPr>
          <a:xfrm>
            <a:off x="8101584" y="5468112"/>
            <a:ext cx="3429000" cy="96012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39328" y="5614416"/>
            <a:ext cx="297180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B45309"/>
                </a:solidFill>
                <a:latin typeface="Helvetica Neue"/>
              </a:rPr>
              <a:t>TO FILL IN</a:t>
            </a:r>
          </a:p>
        </p:txBody>
      </p:sp>
      <p:sp>
        <p:nvSpPr>
          <p:cNvPr id="15" name="TextBox 14"/>
          <p:cNvSpPr txBox="1"/>
          <p:nvPr/>
        </p:nvSpPr>
        <p:spPr>
          <a:xfrm>
            <a:off x="8339328" y="5888736"/>
            <a:ext cx="2971800" cy="457200"/>
          </a:xfrm>
          <a:prstGeom prst="rect">
            <a:avLst/>
          </a:prstGeom>
          <a:noFill/>
        </p:spPr>
        <p:txBody>
          <a:bodyPr wrap="square" anchor="t" lIns="0" rIns="0" tIns="0" bIns="0">
            <a:spAutoFit/>
          </a:bodyPr>
          <a:lstStyle/>
          <a:p>
            <a:pPr algn="l">
              <a:lnSpc>
                <a:spcPct val="130000"/>
              </a:lnSpc>
              <a:spcAft>
                <a:spcPts val="600"/>
              </a:spcAft>
            </a:pPr>
            <a:r>
              <a:rPr sz="1050" b="0" i="0">
                <a:solidFill>
                  <a:srgbClr val="7A3B08"/>
                </a:solidFill>
                <a:latin typeface="Helvetica Neue"/>
              </a:rPr>
              <a:t>[Total investment over 20 weeks] and [the labour cost it removes]. Do not present brackets live.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16</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HOW WE KNOW IT WORKED</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The metrics, and the definition of done</a:t>
            </a:r>
          </a:p>
        </p:txBody>
      </p:sp>
      <p:sp>
        <p:nvSpPr>
          <p:cNvPr id="5" name="Rounded Rectangle 4"/>
          <p:cNvSpPr/>
          <p:nvPr/>
        </p:nvSpPr>
        <p:spPr>
          <a:xfrm>
            <a:off x="658368" y="1737360"/>
            <a:ext cx="2551176" cy="2103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77824" y="1929384"/>
            <a:ext cx="2139696" cy="640080"/>
          </a:xfrm>
          <a:prstGeom prst="rect">
            <a:avLst/>
          </a:prstGeom>
          <a:noFill/>
        </p:spPr>
        <p:txBody>
          <a:bodyPr wrap="square" anchor="t" lIns="0" rIns="0" tIns="0" bIns="0">
            <a:spAutoFit/>
          </a:bodyPr>
          <a:lstStyle/>
          <a:p>
            <a:pPr algn="l">
              <a:lnSpc>
                <a:spcPct val="115000"/>
              </a:lnSpc>
              <a:spcAft>
                <a:spcPts val="600"/>
              </a:spcAft>
            </a:pPr>
            <a:r>
              <a:rPr sz="1550" b="1" i="0">
                <a:solidFill>
                  <a:srgbClr val="0E7490"/>
                </a:solidFill>
                <a:latin typeface="Helvetica Neue"/>
              </a:rPr>
              <a:t>Auto-post rate</a:t>
            </a:r>
          </a:p>
        </p:txBody>
      </p:sp>
      <p:sp>
        <p:nvSpPr>
          <p:cNvPr id="7" name="TextBox 6"/>
          <p:cNvSpPr txBox="1"/>
          <p:nvPr/>
        </p:nvSpPr>
        <p:spPr>
          <a:xfrm>
            <a:off x="877824" y="2670048"/>
            <a:ext cx="2139696" cy="109728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Share of transactions posted with zero human touch, reported by category with the denominator stated. Product quality and hours saved in one number.</a:t>
            </a:r>
          </a:p>
        </p:txBody>
      </p:sp>
      <p:sp>
        <p:nvSpPr>
          <p:cNvPr id="8" name="Rounded Rectangle 7"/>
          <p:cNvSpPr/>
          <p:nvPr/>
        </p:nvSpPr>
        <p:spPr>
          <a:xfrm>
            <a:off x="3438144" y="1737360"/>
            <a:ext cx="2551176" cy="2103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57600" y="1929384"/>
            <a:ext cx="2139696" cy="640080"/>
          </a:xfrm>
          <a:prstGeom prst="rect">
            <a:avLst/>
          </a:prstGeom>
          <a:noFill/>
        </p:spPr>
        <p:txBody>
          <a:bodyPr wrap="square" anchor="t" lIns="0" rIns="0" tIns="0" bIns="0">
            <a:spAutoFit/>
          </a:bodyPr>
          <a:lstStyle/>
          <a:p>
            <a:pPr algn="l">
              <a:lnSpc>
                <a:spcPct val="115000"/>
              </a:lnSpc>
              <a:spcAft>
                <a:spcPts val="600"/>
              </a:spcAft>
            </a:pPr>
            <a:r>
              <a:rPr sz="1550" b="1" i="0">
                <a:solidFill>
                  <a:srgbClr val="0E7490"/>
                </a:solidFill>
                <a:latin typeface="Helvetica Neue"/>
              </a:rPr>
              <a:t>Hours per close,
per entity</a:t>
            </a:r>
          </a:p>
        </p:txBody>
      </p:sp>
      <p:sp>
        <p:nvSpPr>
          <p:cNvPr id="10" name="TextBox 9"/>
          <p:cNvSpPr txBox="1"/>
          <p:nvPr/>
        </p:nvSpPr>
        <p:spPr>
          <a:xfrm>
            <a:off x="3657600" y="2670048"/>
            <a:ext cx="2139696" cy="109728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The honest automation measure. Transaction counts flatter us; hours do not, because the residual tail holds most of the cost.</a:t>
            </a:r>
          </a:p>
        </p:txBody>
      </p:sp>
      <p:sp>
        <p:nvSpPr>
          <p:cNvPr id="11" name="Rounded Rectangle 10"/>
          <p:cNvSpPr/>
          <p:nvPr/>
        </p:nvSpPr>
        <p:spPr>
          <a:xfrm>
            <a:off x="6217920" y="1737360"/>
            <a:ext cx="2551176" cy="2103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37376" y="1929384"/>
            <a:ext cx="2139696" cy="640080"/>
          </a:xfrm>
          <a:prstGeom prst="rect">
            <a:avLst/>
          </a:prstGeom>
          <a:noFill/>
        </p:spPr>
        <p:txBody>
          <a:bodyPr wrap="square" anchor="t" lIns="0" rIns="0" tIns="0" bIns="0">
            <a:spAutoFit/>
          </a:bodyPr>
          <a:lstStyle/>
          <a:p>
            <a:pPr algn="l">
              <a:lnSpc>
                <a:spcPct val="115000"/>
              </a:lnSpc>
              <a:spcAft>
                <a:spcPts val="600"/>
              </a:spcAft>
            </a:pPr>
            <a:r>
              <a:rPr sz="1550" b="1" i="0">
                <a:solidFill>
                  <a:srgbClr val="0E7490"/>
                </a:solidFill>
                <a:latin typeface="Helvetica Neue"/>
              </a:rPr>
              <a:t>Cost per close vs.
labour replaced</a:t>
            </a:r>
          </a:p>
        </p:txBody>
      </p:sp>
      <p:sp>
        <p:nvSpPr>
          <p:cNvPr id="13" name="TextBox 12"/>
          <p:cNvSpPr txBox="1"/>
          <p:nvPr/>
        </p:nvSpPr>
        <p:spPr>
          <a:xfrm>
            <a:off x="6437376" y="2670048"/>
            <a:ext cx="2139696" cy="109728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Inference plus review, against the fully-loaded cost of the work it removes. If this does not fall, nothing else matters.</a:t>
            </a:r>
          </a:p>
        </p:txBody>
      </p:sp>
      <p:sp>
        <p:nvSpPr>
          <p:cNvPr id="14" name="Rounded Rectangle 13"/>
          <p:cNvSpPr/>
          <p:nvPr/>
        </p:nvSpPr>
        <p:spPr>
          <a:xfrm>
            <a:off x="8997696" y="1737360"/>
            <a:ext cx="2551176" cy="2103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217152" y="1929384"/>
            <a:ext cx="2139696" cy="640080"/>
          </a:xfrm>
          <a:prstGeom prst="rect">
            <a:avLst/>
          </a:prstGeom>
          <a:noFill/>
        </p:spPr>
        <p:txBody>
          <a:bodyPr wrap="square" anchor="t" lIns="0" rIns="0" tIns="0" bIns="0">
            <a:spAutoFit/>
          </a:bodyPr>
          <a:lstStyle/>
          <a:p>
            <a:pPr algn="l">
              <a:lnSpc>
                <a:spcPct val="115000"/>
              </a:lnSpc>
              <a:spcAft>
                <a:spcPts val="600"/>
              </a:spcAft>
            </a:pPr>
            <a:r>
              <a:rPr sz="1550" b="1" i="0">
                <a:solidFill>
                  <a:srgbClr val="0E7490"/>
                </a:solidFill>
                <a:latin typeface="Helvetica Neue"/>
              </a:rPr>
              <a:t>Restatement /
error rate</a:t>
            </a:r>
          </a:p>
        </p:txBody>
      </p:sp>
      <p:sp>
        <p:nvSpPr>
          <p:cNvPr id="16" name="TextBox 15"/>
          <p:cNvSpPr txBox="1"/>
          <p:nvPr/>
        </p:nvSpPr>
        <p:spPr>
          <a:xfrm>
            <a:off x="9217152" y="2670048"/>
            <a:ext cx="2139696" cy="109728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The metric that can end this. Governed against an absolute ceiling, not a trend — and measured against the current baseline.</a:t>
            </a:r>
          </a:p>
        </p:txBody>
      </p:sp>
      <p:sp>
        <p:nvSpPr>
          <p:cNvPr id="17" name="TextBox 16"/>
          <p:cNvSpPr txBox="1"/>
          <p:nvPr/>
        </p:nvSpPr>
        <p:spPr>
          <a:xfrm>
            <a:off x="658368" y="3968496"/>
            <a:ext cx="10874959" cy="365760"/>
          </a:xfrm>
          <a:prstGeom prst="rect">
            <a:avLst/>
          </a:prstGeom>
          <a:noFill/>
        </p:spPr>
        <p:txBody>
          <a:bodyPr wrap="square" anchor="t" lIns="0" rIns="0" tIns="0" bIns="0">
            <a:spAutoFit/>
          </a:bodyPr>
          <a:lstStyle/>
          <a:p>
            <a:pPr algn="l">
              <a:lnSpc>
                <a:spcPct val="130000"/>
              </a:lnSpc>
              <a:spcAft>
                <a:spcPts val="600"/>
              </a:spcAft>
            </a:pPr>
            <a:r>
              <a:rPr sz="1350" b="1" i="0">
                <a:solidFill>
                  <a:srgbClr val="B45309"/>
                </a:solidFill>
                <a:latin typeface="Helvetica Neue"/>
              </a:rPr>
              <a:t>The baseline is not zero error. Today's RPA-plus-human process makes mistakes, and we can measure its rate. That is the bar an agent has to beat — not perfection.</a:t>
            </a:r>
          </a:p>
        </p:txBody>
      </p:sp>
      <p:sp>
        <p:nvSpPr>
          <p:cNvPr id="18" name="Rounded Rectangle 17"/>
          <p:cNvSpPr/>
          <p:nvPr/>
        </p:nvSpPr>
        <p:spPr>
          <a:xfrm>
            <a:off x="658368" y="4389120"/>
            <a:ext cx="10874959" cy="1444752"/>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50976" y="4553712"/>
            <a:ext cx="457200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6B7688"/>
                </a:solidFill>
                <a:latin typeface="Helvetica Neue"/>
              </a:rPr>
              <a:t>DEFINITION OF DONE</a:t>
            </a:r>
          </a:p>
        </p:txBody>
      </p:sp>
      <p:sp>
        <p:nvSpPr>
          <p:cNvPr id="20" name="TextBox 19"/>
          <p:cNvSpPr txBox="1"/>
          <p:nvPr/>
        </p:nvSpPr>
        <p:spPr>
          <a:xfrm>
            <a:off x="950976" y="4864608"/>
            <a:ext cx="5120640" cy="914400"/>
          </a:xfrm>
          <a:prstGeom prst="rect">
            <a:avLst/>
          </a:prstGeom>
          <a:noFill/>
        </p:spPr>
        <p:txBody>
          <a:bodyPr wrap="square" lIns="0" rIns="0" tIns="0" bIns="0">
            <a:spAutoFit/>
          </a:bodyPr>
          <a:lstStyle/>
          <a:p>
            <a:pPr>
              <a:lnSpc>
                <a:spcPct val="128000"/>
              </a:lnSpc>
              <a:spcAft>
                <a:spcPts val="500"/>
              </a:spcAft>
            </a:pPr>
            <a:r>
              <a:rPr sz="1200">
                <a:solidFill>
                  <a:srgbClr val="333E4F"/>
                </a:solidFill>
                <a:latin typeface="Helvetica Neue"/>
              </a:rPr>
              <a:t>— Our ledger primary for [X] customers, zero dual-write diff for three closes</a:t>
            </a:r>
          </a:p>
          <a:p>
            <a:pPr>
              <a:lnSpc>
                <a:spcPct val="128000"/>
              </a:lnSpc>
              <a:spcAft>
                <a:spcPts val="500"/>
              </a:spcAft>
            </a:pPr>
            <a:r>
              <a:rPr sz="1200">
                <a:solidFill>
                  <a:srgbClr val="333E4F"/>
                </a:solidFill>
                <a:latin typeface="Helvetica Neue"/>
              </a:rPr>
              <a:t>— Auto-post rate at or above [X]% on the top five categories, denominators stated</a:t>
            </a:r>
          </a:p>
          <a:p>
            <a:pPr>
              <a:lnSpc>
                <a:spcPct val="128000"/>
              </a:lnSpc>
              <a:spcAft>
                <a:spcPts val="500"/>
              </a:spcAft>
            </a:pPr>
            <a:r>
              <a:rPr sz="1200">
                <a:solidFill>
                  <a:srgbClr val="333E4F"/>
                </a:solidFill>
                <a:latin typeface="Helvetica Neue"/>
              </a:rPr>
              <a:t>— Hours per close per entity down [Z]% against the current baseline</a:t>
            </a:r>
          </a:p>
        </p:txBody>
      </p:sp>
      <p:sp>
        <p:nvSpPr>
          <p:cNvPr id="21" name="TextBox 20"/>
          <p:cNvSpPr txBox="1"/>
          <p:nvPr/>
        </p:nvSpPr>
        <p:spPr>
          <a:xfrm>
            <a:off x="6327648" y="4864608"/>
            <a:ext cx="4937760" cy="914400"/>
          </a:xfrm>
          <a:prstGeom prst="rect">
            <a:avLst/>
          </a:prstGeom>
          <a:noFill/>
        </p:spPr>
        <p:txBody>
          <a:bodyPr wrap="square" lIns="0" rIns="0" tIns="0" bIns="0">
            <a:spAutoFit/>
          </a:bodyPr>
          <a:lstStyle/>
          <a:p>
            <a:pPr>
              <a:lnSpc>
                <a:spcPct val="128000"/>
              </a:lnSpc>
              <a:spcAft>
                <a:spcPts val="500"/>
              </a:spcAft>
            </a:pPr>
            <a:r>
              <a:rPr sz="1200">
                <a:solidFill>
                  <a:srgbClr val="333E4F"/>
                </a:solidFill>
                <a:latin typeface="Helvetica Neue"/>
              </a:rPr>
              <a:t>— Restatement rate at or below the pre-agent baseline</a:t>
            </a:r>
          </a:p>
          <a:p>
            <a:pPr>
              <a:lnSpc>
                <a:spcPct val="128000"/>
              </a:lnSpc>
              <a:spcAft>
                <a:spcPts val="500"/>
              </a:spcAft>
            </a:pPr>
            <a:r>
              <a:rPr sz="1200">
                <a:solidFill>
                  <a:srgbClr val="333E4F"/>
                </a:solidFill>
                <a:latin typeface="Helvetica Neue"/>
              </a:rPr>
              <a:t>— Cost per close below [W]% of the labour cost it replaces</a:t>
            </a:r>
          </a:p>
          <a:p>
            <a:pPr>
              <a:lnSpc>
                <a:spcPct val="128000"/>
              </a:lnSpc>
              <a:spcAft>
                <a:spcPts val="500"/>
              </a:spcAft>
            </a:pPr>
            <a:r>
              <a:rPr sz="1200">
                <a:solidFill>
                  <a:srgbClr val="333E4F"/>
                </a:solidFill>
                <a:latin typeface="Helvetica Neue"/>
              </a:rPr>
              <a:t>— SOC 2 Type II achieved; audit package accepted in one external review</a:t>
            </a:r>
          </a:p>
        </p:txBody>
      </p:sp>
      <p:sp>
        <p:nvSpPr>
          <p:cNvPr id="22" name="Rounded Rectangle 21"/>
          <p:cNvSpPr/>
          <p:nvPr/>
        </p:nvSpPr>
        <p:spPr>
          <a:xfrm>
            <a:off x="658368" y="5925312"/>
            <a:ext cx="10874959" cy="5486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50976" y="6035040"/>
            <a:ext cx="10289743" cy="384048"/>
          </a:xfrm>
          <a:prstGeom prst="rect">
            <a:avLst/>
          </a:prstGeom>
          <a:noFill/>
        </p:spPr>
        <p:txBody>
          <a:bodyPr wrap="square" anchor="t" lIns="0" rIns="0" tIns="0" bIns="0">
            <a:spAutoFit/>
          </a:bodyPr>
          <a:lstStyle/>
          <a:p>
            <a:pPr algn="l">
              <a:lnSpc>
                <a:spcPct val="130000"/>
              </a:lnSpc>
              <a:spcAft>
                <a:spcPts val="600"/>
              </a:spcAft>
            </a:pPr>
            <a:r>
              <a:rPr sz="1300" b="1" i="0">
                <a:solidFill>
                  <a:srgbClr val="FFFFFF"/>
                </a:solidFill>
                <a:latin typeface="Helvetica Neue"/>
              </a:rPr>
              <a:t>Not AI features on top of accounting software. Software that does the accounting — on a substrate where every number can be proven and defended.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