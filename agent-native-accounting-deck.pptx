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60" r:id="rId4"/>
    <p:sldId id="261" r:id="rId5"/>
    <p:sldId id="262" r:id="rId6"/>
    <p:sldId id="263" r:id="rId7"/>
    <p:sldId id="264" r:id="rId8"/>
    <p:sldId id="265" r:id="rId9"/>
    <p:sldId id="269" r:id="rId16"/>
    <p:sldId id="268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2"/>
    <p:restoredTop sz="73508"/>
  </p:normalViewPr>
  <p:slideViewPr>
    <p:cSldViewPr snapToGrid="0" snapToObjects="1">
      <p:cViewPr varScale="1">
        <p:scale>
          <a:sx n="147" d="100"/>
          <a:sy n="147" d="100"/>
        </p:scale>
        <p:origin x="232" y="48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38429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今天讲一件事：我们要把会计软件</a:t>
            </a:r>
            <a:r>
              <a:rPr lang="zh-CN" altLang="en-US"/>
              <a:t>按智能体时代的方式来</a:t>
            </a:r>
            <a:r>
              <a:t>重写一遍。</a:t>
            </a:r>
          </a:p>
          <a:p>
            <a:endParaRPr/>
          </a:p>
          <a:p>
            <a:r>
              <a:t>先把两条路分开。一条是在现有软件上挂个 AI 助手，该填的表还是得填。另一条是推倒重写，让软件直接把活干完，而不是等人干完了再记一笔。只有第二条真正改变什么，但它要求一套完全不同的底层。今天主要讲这套底层。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这一页是我们全部的论点，分三块看。</a:t>
            </a:r>
          </a:p>
          <a:p/>
          <a:p>
            <a:r>
              <a:t>第一块，传统软件的局限。它只能处理确定性的逻辑，所以复杂性都堆在一件事上：得由人通过各种表单，把需求翻译成程序能执行的结构。这就是为什么 SaaS 永远在功能和易用性之间做取舍，功能做多了没人会用，做少了又不够用。另外它处理不了非结构化的数据，凭证、发票、银行摘要，最后都得靠人一条条录进去。</a:t>
            </a:r>
          </a:p>
          <a:p/>
          <a:p>
            <a:r>
              <a:t>第二块，大模型改变了什么。三件事。推理能力能吃下模糊的需求，不用先把需求写死；编码成本被极大压缩，所以界面可以按客户的需要动态生成，这一点我在第四个关键部件里会专门展开；多模态能直接读非结构化数据，录入这部分人力可以省掉。</a:t>
            </a:r>
          </a:p>
          <a:p/>
          <a:p>
            <a:r>
              <a:t>第三块，为什么这件事在会计领域特别值得做。会计和税务本身法规复杂，又要面对不同行业，所以软件复杂度天然就高。同时它要处理大量文档和图片，而且对准确度的要求极高。复杂度高、非结构化多、准确度要求严，前面两块的能力刚好都用得上。</a:t>
            </a:r>
          </a:p>
          <a:p/>
          <a:p>
            <a:r>
              <a:t>最后一句是我们真正赌的东西：我们赌的不是模型有多聪明，是会计这件事能验。结果进客户账之前，我们有办法证明它是对的。这句话的分量，下一页讲清楚。</a:t>
            </a:r>
          </a:p>
          <a:p/>
          <a:p>
            <a:r>
              <a:t>如果有人问现有厂商为什么不直接做，架构那几页会从结构上回答。短版本是，他们需要的那个底座是数据层面的决定，事后补不上；而且他们的收入，恰好靠这套东西要省掉的那些席位。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这一页回答两个问题：为什么是会计这个行业，以及为什么是我们。</a:t>
            </a:r>
          </a:p>
          <a:p/>
          <a:p>
            <a:r>
              <a:t>先说行业。大部分脑力活，你没法机械地检查答案，所以人永远留在环里，产品的天花板就是打辅助。会计行业不一样，是因为它能验。借贷必须相等，试算表必须平，明细账要跟总账勾得上，银行对账差额必须为零，税务和申报规则都是成文的。这些规则是现成的，不用我们发明。</a:t>
            </a:r>
          </a:p>
          <a:p/>
          <a:p>
            <a:r>
              <a:t>有了这些规则，我们才敢自动过账，而且说得清误差有多大；也才能只把真有歧义的那部分推给人。就这一件事，分开了一个 demo 和一套敢放到客户面前的系统。</a:t>
            </a:r>
          </a:p>
          <a:p/>
          <a:p>
            <a:r>
              <a:t>再说为什么是我们。这些年我们的机器人在替客户执行机械步骤，一碰到要判断的地方就停下来等人。这些操作日志攒下来，等于画了一张图：哪一步是机械的，哪一步非人不可。一个从零起步的团队要花一年才摸出这张图，我们是把它当生产系统在养。它还告诉我们该先打哪几类、按什么顺序，按笔数排，也按出错率排。</a:t>
            </a:r>
          </a:p>
          <a:p/>
          <a:p>
            <a:r>
              <a:t>有一点我要讲准。操作日志和流程数据，我们有；客户的账簿，我们不拥有。用来训练和评测的历史结账数据，是通过现有合作、在客户授权下拿的，有些协议要更新。这是个流程问题，不是拦路石，但我不想假装它不存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接下来六页讲架构。在进去之前，我想先说清楚守得住的是哪几样东西。</a:t>
            </a:r>
          </a:p>
          <a:p/>
          <a:p>
            <a:r>
              <a:t>厂商靠界面做差异化的时候，护城河是用户习惯和生态。等系统开始替客户干活，变得难抄的是另外四样。</a:t>
            </a:r>
          </a:p>
          <a:p/>
          <a:p>
            <a:r>
              <a:t>第一样是校验。给模型写提示词谁都会，证明输出是对的几乎没人会。在一个有标准答案的行业里，校验本身就是产品。</a:t>
            </a:r>
          </a:p>
          <a:p/>
          <a:p>
            <a:r>
              <a:t>第二样是上下文，也就是客户身上攒下来的规矩和历史。比如这家供应商一律进主营成本。这种东西是专有的状态，不是模型。</a:t>
            </a:r>
          </a:p>
          <a:p/>
          <a:p>
            <a:r>
              <a:t>第三样是权限。我想特别说一下这一条，因为它最容易被低估。界面用惯了是一种偏好，而偏好一轮采购就能推翻；但往客户账上、银行、申报里写数的权限，后面挂着我们的责任，是一个有审批留痕的治理决定，要收回它得开管理层的会。</a:t>
            </a:r>
          </a:p>
          <a:p/>
          <a:p>
            <a:r>
              <a:t>第四样是评测集。提示词一下午就抄走了，几年被复核过的结账数据抄不走。</a:t>
            </a:r>
          </a:p>
          <a:p/>
          <a:p>
            <a:r>
              <a:t>也有些东西没有变。记录系统更重要了，不是更不重要。智能体需要一个有真值、有权限、有历史的底座，被淘汰的是界面，不是数据库。信任、安全、保密、专业规范，还是一切的前提；押上去的是客户的账和我们自己的名声，所以架构里那些控制手段，不是可选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这是整套系统的架构。标题那句话就是我们的设计哲学：智能体负责决定，确定性代码负责执行，所有操作可验证可溯源。</a:t>
            </a:r>
          </a:p>
          <a:p/>
          <a:p>
            <a:r>
              <a:t>我从下往上讲，因为这是真实的建设顺序。最底下是数据接入，银行、卡、工资、POS、应付邮箱、凭证、往年账套。往上是账簿内核，只追加、双时间维度、复式记账、全程可溯。再往上是工具层，所有动作都带类型、自己守不变量。再往上是持久化编排，把结账清单做成能断点续跑的状态机。然后才是智能体层，再上面是校验与护栏，最上面才是客户看到的界面。</a:t>
            </a:r>
          </a:p>
          <a:p/>
          <a:p>
            <a:r>
              <a:t>请各位注意校验层的位置。它在智能体之上，在客户之下。智能体产出的任何东西，不过确定性检查，进不了客户的账。这是架构上的保证，不是一条政策，也不是我们对模型行为的承诺。</a:t>
            </a:r>
          </a:p>
          <a:p/>
          <a:p>
            <a:r>
              <a:t>右边那一列是横向能力：审计溯源、评测回放、成本监控、智能体身份与最小权限。它们每一层都要用，所以单独拉出来。</a:t>
            </a:r>
          </a:p>
          <a:p/>
          <a:p>
            <a:r>
              <a:t>三个菱形是我们认为专有、守得住的地方，分别是账簿内核、工具层、校验与护栏，而智能体层不在里面。这个赛道很多团队在智能体层上投得过重，因为那是看得见、能演示的部分，然后发现自己既没校验也没评测，压根判断不出来有没有变好。我们是故意反过来做的。</a:t>
            </a:r>
          </a:p>
          <a:p/>
          <a:p>
            <a:r>
              <a:t>可能有人会问，为什么用持久化编排，不让智能体自己规划结账。因为结账是一份已知的清单，要拖好几天，中间得等客户回邮件，某一步失败还得有补偿逻辑。已知的流程我们用确定性方式建模，只在要判断的步骤里用智能体。让智能体在总账上自由发挥，是拿到一份自己都解释不清的财务重述的最快办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这一层，抄提示词是抄不走的。</a:t>
            </a:r>
          </a:p>
          <a:p/>
          <a:p>
            <a:r>
              <a:t>先说双时间维度，我举个例子。客户三月的账是四月关的，到了六月，有人来问我们三月三十一号那天认为的情况是什么、凭什么这么记。普通数据库答不上来，它只存当前状态。我们答得上来，因为我们把一件事什么时候成立、和我们什么时候知道它，分开存了。同一个机制，也让我们能把去年真实的结账数据拿出来，把智能体丢回去重跑一遍，量它的准确率。我们整套评测能力，就压在这一个数据内核的选择上。</a:t>
            </a:r>
          </a:p>
          <a:p/>
          <a:p>
            <a:r>
              <a:t>第二条是不可变。更正走红冲，不直接改数。能改的账，事后说不清；能悄悄覆盖数据的智能体，给多少钱也不该收。</a:t>
            </a:r>
          </a:p>
          <a:p/>
          <a:p>
            <a:r>
              <a:t>第三条是溯源。源凭证、抽取、推理轨迹、工具调用、命中哪条规矩、谁批的、最后过账，这一整条链要能查。在现有系统里，审计日志是贴在边上的合规材料；在这里它是承重墙。项目最常死在一句话上：这笔分录怎么来的，给我看看。只有在数据层上就为它设计过，这句话才答得上来。</a:t>
            </a:r>
          </a:p>
          <a:p/>
          <a:p>
            <a:r>
              <a:t>还有一点，每个操作者都分类型，是人、是智能体，还是系统；智能体的身份、模型版本、提示词版本，都写在分录上。出了问题，能定位到是哪一版在什么时候做的。</a:t>
            </a:r>
          </a:p>
          <a:p/>
          <a:p>
            <a:r>
              <a:t>我知道有人会算成本。只追加加上双时间维度的账簿，建起来、查起来都比可变表贵。这笔账我们在第一个月就认了，因为它事后补不回来。这一层占的工程量不小，但它几乎不会出现在 demo 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工具层不是把 API 改个名字。API 假设调用方知道自己要什么，而工具层假设调用方很能干，但偶尔是错的。</a:t>
            </a:r>
          </a:p>
          <a:p/>
          <a:p>
            <a:r>
              <a:t>第一点，不变量归工具管，不归调用方管。平时你会信自己前端传上来的数，这里反过来。每个工具都当调用方是错的，自己去卡平衡、卡期间、卡权限。</a:t>
            </a:r>
          </a:p>
          <a:p/>
          <a:p>
            <a:r>
              <a:t>第二点，幂等是硬要求，因为智能体一定会重试。</a:t>
            </a:r>
          </a:p>
          <a:p/>
          <a:p>
            <a:r>
              <a:t>第三点，粒度得反复磨。太细，智能体调四十次还把上下文丢了；太粗，它表达不出意图。这块必然要来回调整。</a:t>
            </a:r>
          </a:p>
          <a:p/>
          <a:p>
            <a:r>
              <a:t>第四点，接口面必须小、必须好找。上下文是稀缺资源，不能把四百个接口摆在一个模型面前。</a:t>
            </a:r>
          </a:p>
          <a:p/>
          <a:p>
            <a:r>
              <a:t>第五点，报错要能指路，因为智能体会读它然后重试。四百参数错误这种报错一点用没有；分录不平、借方一千二、贷方一千一百五、差五十，这样的报错能换来一次成功的重试。在这儿，报错文案是功能，不是细节。这一条最能说明这层跟普通 API 的区别，没建过这类系统的人不会把报错字符串当成功能需求。</a:t>
            </a:r>
          </a:p>
          <a:p/>
          <a:p>
            <a:r>
              <a:t>如果这一页只留一句话，就是右边那条原则：不要指望模型在脑子里算数，也不要指望它在脑子里套规则。每一次状态变更都由模型走一个带类型的工具调用，由工具自己校验。智能体只管挑哪个工具、传什么参数；对不对，是工具的事。竞争对手 demo 里出现的每一个错数字，都是因为让模型自己算，而不是去调一个会算的东西。</a:t>
            </a:r>
          </a:p>
          <a:p/>
          <a:p>
            <a:r>
              <a:t>有人会问 MCP 或者工具协议标准化。我们兼容，但那是集成细节，不是难点。难点是把大概三十个工具的粒度和不变量设计对，那靠的是会计专业，不是协议工作。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这是第三个关键部件，也是我认为最值钱的一个。</a:t>
            </a:r>
          </a:p>
          <a:p/>
          <a:p>
            <a:r>
              <a:t>跟现在用的软件比，最大的变化是校验的对象变了。以前只校验格式对不对，现在要校验一个格式没问题的答案，内容对不对。</a:t>
            </a:r>
          </a:p>
          <a:p/>
          <a:p>
            <a:r>
              <a:t>我们分三层。第一层是硬性不变量，确定性的，不讲条件，提交之前一定跑，过不去就直接拦住，不是给个提醒。第二层是统计检查，跟上期比波动，看供应商和科目的搭配是不是反常。它抓的是不变量放过去的那一类，格式没错，内容错了；它出分，不下结论。第三层是分流，过线的自动过账，没过线的进复核队列。</a:t>
            </a:r>
          </a:p>
          <a:p/>
          <a:p>
            <a:r>
              <a:t>这里有一件事我想强调。模型的置信度校得很差，而且一贯自信过头，所以问它有几成把握，不算一道控制。我们的置信度是从前两层的信号，加上跑几遍看结果一致不一致推出来的。</a:t>
            </a:r>
          </a:p>
          <a:p/>
          <a:p>
            <a:r>
              <a:t>接下来是这一页真正的重点。剩下那部分不确定，我们不把它当成损耗，而是当成燃料。</a:t>
            </a:r>
          </a:p>
          <a:p/>
          <a:p>
            <a:r>
              <a:t>低于阈值的条目，带完整上下文推给复核人，他只看该看的那一段。他改完之后，这次修改不是就地消失，而是当场落成一条显式规则，带版本、带适用范围。我强调显式，因为规则能拿给审阅的人看，向量不行。然后规则和修正一起进评测语料，而真值来自已经结完的账，所以我们可以把智能体丢回历史期间重跑，直接给它打分。下一轮，规则先命中，模型就少猜一次；模型或者提示词一改，先过语料回归，再碰客户。</a:t>
            </a:r>
          </a:p>
          <a:p/>
          <a:p>
            <a:r>
              <a:t>这就形成一个飞轮：客户每复核一条，系统下一次就少问一条。自动过账率往上走，复核量往下走，而这两个数我们都在量。这条阈值就是钱，每涨一个点对应多少工时，我们算得出来。</a:t>
            </a:r>
          </a:p>
          <a:p/>
          <a:p>
            <a:r>
              <a:t>也因为这样，我们以后汇报的单位跟软件公司不一样。我们不会拿上了一个功能来汇报，我们会拿某一类的自动过账率从七十一提到八十八、对应多少工时来汇报。进度是量出来的，不是说出来的。</a:t>
            </a:r>
          </a:p>
          <a:p/>
          <a:p>
            <a:r>
              <a:t>我想老实说一句，这套语料和回放框架比产品本身更难做，而且要占资深会计的标注时间。但不投这一块，就没有这个飞轮，所有指标也都变成没法验证的。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这一页收技术部分，用一张表把工程投入的形态讲清楚。先说明一下，这些百分比是形态上的估计，不是实测数据。</a:t>
            </a:r>
          </a:p>
          <a:p/>
          <a:p>
            <a:r>
              <a:t>先看传统软件那一列。记录系统只占一成到一成五，是代码库里最小、最稳、也最值钱的一块；界面占三到四成，是最大、改得最勤的一块。主流会计软件底下的账簿内核可能就几千行，十年没怎么动；外面那层界面几十万行，每个版本都在改。</a:t>
            </a:r>
          </a:p>
          <a:p/>
          <a:p>
            <a:r>
              <a:t>原因就是上一页讲的：界面在替厂商吸收客户的多样性。每来一个新客户类型、新特例、新监管差异，就多一个页面、多一个字段、多一张报表，而领域模型几乎什么都没吸。</a:t>
            </a:r>
          </a:p>
          <a:p/>
          <a:p>
            <a:r>
              <a:t>再看我们这一列，我请各位重点看两处。</a:t>
            </a:r>
          </a:p>
          <a:p/>
          <a:p>
            <a:r>
              <a:t>第一处，界面从三到四成降到一成到一成五，大概是原来的三分之一。不是因为我们少做了，而是多样性交给模型和按需生成的界面去吸收，不再往代码里堆页面。</a:t>
            </a:r>
          </a:p>
          <a:p/>
          <a:p>
            <a:r>
              <a:t>第二处，表里有四行在传统软件那一列是一道横线，也就是根本不存在：工具层、校验与护栏、评测与真值语料，还有智能体层。这四行加起来差不多占一半的工程量。这就是工程形态上真正的差别：省下来的界面预算，全挪到了底座和校验上。而这四行里的前三行，正是刚才那四个关键部件的下半截。</a:t>
            </a:r>
          </a:p>
          <a:p/>
          <a:p>
            <a:r>
              <a:t>还有两个细节。记录系统的占比反而升了，从一成到一成五升到一成五到两成，因为同样的内核，要求高多了。而智能体层只占约百分之五，是全表最小的几项之一。今天这已经是第二次说到它：它最便宜、最容易被换掉，所以我们刻意做得很薄，重心压在下面几层。</a:t>
            </a:r>
          </a:p>
          <a:p/>
          <a:p>
            <a:r>
              <a:t>一句话总结：传统软件把工程预算花在让人在界面上更快，我们花在让机器的输出在底座上站得住。</a:t>
            </a:r>
          </a:p>
          <a:p/>
          <a:p>
            <a:r>
              <a:t>如果各位关心我们的人数是不是比同类软件公司少，不是少，是结构不同。前端更少，数据和基础设施更多，再加上会计专业，而且是放在环里，不是放在旁边。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这是第四个关键部件，讲客户看到的那一层。</a:t>
            </a:r>
          </a:p>
          <a:p/>
          <a:p>
            <a:r>
              <a:t>先说传统软件的做法。厂商必须先想好界面长什么样，再把所有客户塞进同一套界面里。每来一个新客户类型、一个新特例，就多一个页面、多一个字段、多一个开关。所以在传统软件里，界面是代码量最大、改得最勤的一块，原因就是它在替厂商吸收客户的多样性。</a:t>
            </a:r>
          </a:p>
          <a:p/>
          <a:p>
            <a:r>
              <a:t>如果界面可以按需生成，这个约束就没了。客户提一个需求，界面当场生成给他用，我们不用先想好所有人要什么，再排期。第二页讲大模型带来的改变时提到编码成本被极大压缩，兑现的地方就是这里。</a:t>
            </a:r>
          </a:p>
          <a:p/>
          <a:p>
            <a:r>
              <a:t>但第二点才是关键，我想特别强调。生成不等于一次性。用得顺的界面必须沉淀下来，存成这家客户自己的资产，下次直接调用。如果每次都重新生成、每次长得都不一样，那不叫界面，那叫抽奖，没有人敢拿它做账。</a:t>
            </a:r>
          </a:p>
          <a:p/>
          <a:p>
            <a:r>
              <a:t>第三点，用他自己的叫法。科目怎么叫、流程怎么走、报表长什么样，都按这家客户的习惯来，不用他先学我们的术语。</a:t>
            </a:r>
          </a:p>
          <a:p/>
          <a:p>
            <a:r>
              <a:t>第四点，这套界面归客户所有，他可以继续改。我们只负责托管，负责它一直跑得起来。</a:t>
            </a:r>
          </a:p>
          <a:p/>
          <a:p>
            <a:r>
              <a:t>集成这件事的方向也反过来了。以前是我们排期做插件，客户排队等我们支持他那套系统；现在客户要接什么就接什么，智能体照人的操作方式去用那个系统，不用等我们的路线图。长尾集成从我们的成本，变成客户自己的能力。</a:t>
            </a:r>
          </a:p>
          <a:p/>
          <a:p>
            <a:r>
              <a:t>会有人担心，界面能随便生成，账会不会被写坏。不会。生成出来的界面一样只能通过带类型的工具层动手，不变量、期间锁定、职责分离一条都绕不过去。这也正是为什么工具层要先建好，它在下面兜着。</a:t>
            </a:r>
          </a:p>
          <a:p/>
          <a:p>
            <a:r>
              <a:t>最后一句是我最想留下的：传统软件的学习曲线，本质上是客户在为我们的设计买单。界面按需生成、归客户所有之后，这笔账就不存在了。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0"/>
            </a:avLst>
          </a:prstGeom>
          <a:solidFill>
            <a:srgbClr val="111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417320"/>
            <a:ext cx="1087495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1" i="0">
                <a:solidFill>
                  <a:srgbClr val="7AB8C8"/>
                </a:solidFill>
                <a:latin typeface="Helvetica Neue"/>
                <a:ea typeface="PingFang SC"/>
              </a:rPr>
              <a:t>2026 年 8 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529458"/>
            <a:ext cx="10424160" cy="748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Helvetica Neue"/>
                <a:ea typeface="PingFang SC"/>
              </a:rPr>
              <a:t>智能体</a:t>
            </a:r>
            <a:r>
              <a:rPr lang="en-US" sz="4600" b="1" i="0">
                <a:solidFill>
                  <a:srgbClr val="FFFFFF"/>
                </a:solidFill>
                <a:latin typeface="Helvetica Neue"/>
                <a:ea typeface="PingFang SC"/>
              </a:rPr>
              <a:t>时代</a:t>
            </a:r>
            <a:r>
              <a:rPr sz="4600" b="1" i="0">
                <a:solidFill>
                  <a:srgbClr val="FFFFFF"/>
                </a:solidFill>
                <a:latin typeface="Helvetica Neue"/>
                <a:ea typeface="PingFang SC"/>
              </a:rPr>
              <a:t>的会计软件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4846320"/>
            <a:ext cx="2011680" cy="3175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5120640"/>
            <a:ext cx="10874959" cy="2701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en-US" sz="1500" b="0" i="0">
                <a:solidFill>
                  <a:srgbClr val="8E9CAE"/>
                </a:solidFill>
                <a:latin typeface="Helvetica Neue"/>
                <a:ea typeface="PingFang SC"/>
              </a:rPr>
              <a:t>AIMI代账机器人协作平台</a:t>
            </a:r>
            <a:endParaRPr sz="1500" b="0" i="0">
              <a:solidFill>
                <a:srgbClr val="8E9CAE"/>
              </a:solidFill>
              <a:latin typeface="Helvetica Neue"/>
              <a:ea typeface="PingFang S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801807" y="6528816"/>
            <a:ext cx="7315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D5DCE4"/>
                </a:solidFill>
                <a:latin typeface="Helvetica Neue"/>
                <a:ea typeface="PingFang SC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1" i="0">
                <a:solidFill>
                  <a:srgbClr val="0E7490"/>
                </a:solidFill>
                <a:latin typeface="Helvetica Neue"/>
                <a:ea typeface="PingFang SC"/>
              </a:rPr>
              <a:t>核心论点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49808"/>
            <a:ext cx="10874959" cy="4213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lang="zh-CN" altLang="en-US" sz="2500" b="1">
                <a:solidFill>
                  <a:srgbClr val="111A27"/>
                </a:solidFill>
                <a:latin typeface="Helvetica Neue"/>
                <a:ea typeface="PingFang SC"/>
              </a:rPr>
              <a:t>智能体时代的软件不再是单纯的工具</a:t>
            </a:r>
            <a:endParaRPr sz="2500" b="1" i="0">
              <a:solidFill>
                <a:srgbClr val="111A27"/>
              </a:solidFill>
              <a:latin typeface="Helvetica Neue"/>
              <a:ea typeface="PingFang SC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58368" y="2194560"/>
            <a:ext cx="3465576" cy="2880360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432304"/>
            <a:ext cx="2962656" cy="3241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en-US" b="1">
                <a:solidFill>
                  <a:srgbClr val="111A27"/>
                </a:solidFill>
                <a:latin typeface="Helvetica Neue"/>
                <a:ea typeface="PingFang SC"/>
              </a:rPr>
              <a:t>传统软件</a:t>
            </a:r>
            <a:r>
              <a:rPr sz="1800" b="1" i="0">
                <a:solidFill>
                  <a:srgbClr val="111A27"/>
                </a:solidFill>
                <a:latin typeface="Helvetica Neue"/>
                <a:ea typeface="PingFang SC"/>
              </a:rPr>
              <a:t>的</a:t>
            </a:r>
            <a:r>
              <a:rPr lang="en-US" sz="1800" b="1" i="0">
                <a:solidFill>
                  <a:srgbClr val="111A27"/>
                </a:solidFill>
                <a:latin typeface="Helvetica Neue"/>
                <a:ea typeface="PingFang SC"/>
              </a:rPr>
              <a:t>局限</a:t>
            </a:r>
            <a:endParaRPr sz="1800" b="1" i="0">
              <a:solidFill>
                <a:srgbClr val="111A27"/>
              </a:solidFill>
              <a:latin typeface="Helvetica Neue"/>
              <a:ea typeface="PingFang SC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14400" y="2962656"/>
            <a:ext cx="2962656" cy="18389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lang="en-US" sz="1300" b="0" i="0">
                <a:solidFill>
                  <a:srgbClr val="333E4F"/>
                </a:solidFill>
                <a:latin typeface="Helvetica Neue"/>
                <a:ea typeface="PingFang SC"/>
              </a:rPr>
              <a:t>传统软件只能处理</a:t>
            </a:r>
            <a:r>
              <a:rPr sz="1300" b="0" i="0">
                <a:solidFill>
                  <a:srgbClr val="333E4F"/>
                </a:solidFill>
                <a:latin typeface="Helvetica Neue"/>
                <a:ea typeface="PingFang SC"/>
              </a:rPr>
              <a:t>确定性的</a:t>
            </a:r>
            <a:r>
              <a:rPr lang="en-US" sz="1300" b="0" i="0">
                <a:solidFill>
                  <a:srgbClr val="333E4F"/>
                </a:solidFill>
                <a:latin typeface="Helvetica Neue"/>
                <a:ea typeface="PingFang SC"/>
              </a:rPr>
              <a:t>逻辑</a:t>
            </a:r>
            <a:r>
              <a:rPr lang="zh-CN" altLang="en-US" sz="1300" b="0" i="0">
                <a:solidFill>
                  <a:srgbClr val="333E4F"/>
                </a:solidFill>
                <a:latin typeface="Helvetica Neue"/>
                <a:ea typeface="PingFang SC"/>
              </a:rPr>
              <a:t>，多数复杂性来源于需要人通过不同的表单把需求转化为编码逻辑。这导致 </a:t>
            </a:r>
            <a:r>
              <a:rPr lang="en-US" altLang="zh-CN" sz="1300" b="0" i="0">
                <a:solidFill>
                  <a:srgbClr val="333E4F"/>
                </a:solidFill>
                <a:latin typeface="Helvetica Neue"/>
                <a:ea typeface="PingFang SC"/>
              </a:rPr>
              <a:t>SaaS</a:t>
            </a:r>
            <a:r>
              <a:rPr lang="zh-CN" altLang="en-US" sz="1300" b="0" i="0">
                <a:solidFill>
                  <a:srgbClr val="333E4F"/>
                </a:solidFill>
                <a:latin typeface="Helvetica Neue"/>
                <a:ea typeface="PingFang SC"/>
              </a:rPr>
              <a:t> 软件需要在功能和易用性上做取舍。</a:t>
            </a:r>
            <a:endParaRPr lang="en-US" altLang="zh-CN" sz="1300" b="0" i="0">
              <a:solidFill>
                <a:srgbClr val="333E4F"/>
              </a:solidFill>
              <a:latin typeface="Helvetica Neue"/>
              <a:ea typeface="PingFang SC"/>
            </a:endParaRP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lang="en-US" sz="1300">
                <a:solidFill>
                  <a:srgbClr val="333E4F"/>
                </a:solidFill>
                <a:latin typeface="Helvetica Neue"/>
                <a:ea typeface="PingFang SC"/>
              </a:rPr>
              <a:t>另外</a:t>
            </a:r>
            <a:r>
              <a:rPr lang="zh-CN" altLang="en-US" sz="1300">
                <a:solidFill>
                  <a:srgbClr val="333E4F"/>
                </a:solidFill>
                <a:latin typeface="Helvetica Neue"/>
                <a:ea typeface="PingFang SC"/>
              </a:rPr>
              <a:t>，传统软件无法处理非结构化数据，需要大量人力进行数据录入和处理。</a:t>
            </a:r>
            <a:endParaRPr sz="1300" b="0" i="0">
              <a:solidFill>
                <a:srgbClr val="333E4F"/>
              </a:solidFill>
              <a:latin typeface="Helvetica Neue"/>
              <a:ea typeface="PingFang SC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4379976" y="2194560"/>
            <a:ext cx="3465576" cy="2880360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36008" y="2432304"/>
            <a:ext cx="2962656" cy="3241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en-US" sz="1800" b="1" i="0">
                <a:solidFill>
                  <a:srgbClr val="111A27"/>
                </a:solidFill>
                <a:latin typeface="Helvetica Neue"/>
                <a:ea typeface="PingFang SC"/>
              </a:rPr>
              <a:t>大模型带来的改变</a:t>
            </a:r>
            <a:endParaRPr sz="1800" b="1" i="0">
              <a:solidFill>
                <a:srgbClr val="111A27"/>
              </a:solidFill>
              <a:latin typeface="Helvetica Neue"/>
              <a:ea typeface="PingFang SC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636008" y="2962656"/>
            <a:ext cx="2962656" cy="15388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lang="en-US" sz="1300" b="0" i="0">
                <a:solidFill>
                  <a:srgbClr val="333E4F"/>
                </a:solidFill>
                <a:latin typeface="Helvetica Neue"/>
                <a:ea typeface="PingFang SC"/>
              </a:rPr>
              <a:t>大模型的推理能力可以处理模糊的需求</a:t>
            </a:r>
            <a:r>
              <a:rPr lang="zh-CN" altLang="en-US" sz="1300" b="0" i="0">
                <a:solidFill>
                  <a:srgbClr val="333E4F"/>
                </a:solidFill>
                <a:latin typeface="Helvetica Neue"/>
                <a:ea typeface="PingFang SC"/>
              </a:rPr>
              <a:t>，并且编码的成本极大压缩，可以动态定制客户所需界面。</a:t>
            </a:r>
            <a:endParaRPr lang="en-US" altLang="zh-CN" sz="1300" b="0" i="0">
              <a:solidFill>
                <a:srgbClr val="333E4F"/>
              </a:solidFill>
              <a:latin typeface="Helvetica Neue"/>
              <a:ea typeface="PingFang SC"/>
            </a:endParaRP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lang="zh-CN" altLang="en-US" sz="1300" b="0" i="0">
                <a:solidFill>
                  <a:srgbClr val="333E4F"/>
                </a:solidFill>
                <a:latin typeface="Helvetica Neue"/>
                <a:ea typeface="PingFang SC"/>
              </a:rPr>
              <a:t>多模态模型可以直接处理非结构话数据，减少人力需求。</a:t>
            </a:r>
            <a:endParaRPr sz="1300" b="0" i="0">
              <a:solidFill>
                <a:srgbClr val="333E4F"/>
              </a:solidFill>
              <a:latin typeface="Helvetica Neue"/>
              <a:ea typeface="PingFang SC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101583" y="2194560"/>
            <a:ext cx="3465576" cy="2880360"/>
          </a:xfrm>
          <a:prstGeom prst="roundRect">
            <a:avLst>
              <a:gd name="adj" fmla="val 4000"/>
            </a:avLst>
          </a:prstGeom>
          <a:solidFill>
            <a:srgbClr val="FAEEE3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57615" y="2432304"/>
            <a:ext cx="2962656" cy="3241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en-US" sz="1800" b="1" i="0">
                <a:solidFill>
                  <a:srgbClr val="7A3B08"/>
                </a:solidFill>
                <a:latin typeface="Helvetica Neue"/>
                <a:ea typeface="PingFang SC"/>
              </a:rPr>
              <a:t>会记软件</a:t>
            </a:r>
            <a:endParaRPr sz="1800" b="1" i="0">
              <a:solidFill>
                <a:srgbClr val="7A3B08"/>
              </a:solidFill>
              <a:latin typeface="Helvetica Neue"/>
              <a:ea typeface="PingFang SC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357615" y="2962656"/>
            <a:ext cx="2962656" cy="15388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en-US" sz="1300" b="0" i="0">
                <a:solidFill>
                  <a:srgbClr val="333E4F"/>
                </a:solidFill>
                <a:latin typeface="Helvetica Neue"/>
                <a:ea typeface="PingFang SC"/>
              </a:rPr>
              <a:t>会记与税务</a:t>
            </a:r>
            <a:r>
              <a:rPr lang="zh-CN" altLang="en-US" sz="1300" b="0" i="0">
                <a:solidFill>
                  <a:srgbClr val="333E4F"/>
                </a:solidFill>
                <a:latin typeface="Helvetica Neue"/>
                <a:ea typeface="PingFang SC"/>
              </a:rPr>
              <a:t>有复杂的法律法规，再加上需要面对不同的行业，导致会记软件本身复杂度高。</a:t>
            </a:r>
            <a:endParaRPr lang="en-US" altLang="zh-CN" sz="1300">
              <a:solidFill>
                <a:srgbClr val="333E4F"/>
              </a:solidFill>
              <a:latin typeface="Helvetica Neue"/>
              <a:ea typeface="PingFang SC"/>
            </a:endParaRP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en-US" sz="1300" b="0" i="0">
                <a:solidFill>
                  <a:srgbClr val="333E4F"/>
                </a:solidFill>
                <a:latin typeface="Helvetica Neue"/>
                <a:ea typeface="PingFang SC"/>
              </a:rPr>
              <a:t>会计领域需要处理大量文档</a:t>
            </a:r>
            <a:r>
              <a:rPr lang="zh-CN" altLang="en-US" sz="1300">
                <a:solidFill>
                  <a:srgbClr val="333E4F"/>
                </a:solidFill>
                <a:latin typeface="Helvetica Neue"/>
                <a:ea typeface="PingFang SC"/>
              </a:rPr>
              <a:t>和</a:t>
            </a:r>
            <a:r>
              <a:rPr lang="zh-CN" altLang="en-US" sz="1300" b="0" i="0">
                <a:solidFill>
                  <a:srgbClr val="333E4F"/>
                </a:solidFill>
                <a:latin typeface="Helvetica Neue"/>
                <a:ea typeface="PingFang SC"/>
              </a:rPr>
              <a:t>图片，并且有极高的准确度要求。</a:t>
            </a:r>
            <a:endParaRPr sz="1300" b="0" i="0">
              <a:solidFill>
                <a:srgbClr val="333E4F"/>
              </a:solidFill>
              <a:latin typeface="Helvetica Neue"/>
              <a:ea typeface="PingFang SC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969264" y="5559552"/>
            <a:ext cx="1025316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Helvetica Neue"/>
                <a:ea typeface="PingFang SC"/>
              </a:rPr>
              <a:t>我们赌的不是模型有多聪明，是会计这件事能验。结果进客户账之前，我们有办法证明它是对的。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801807" y="6528816"/>
            <a:ext cx="7315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D5DCE4"/>
                </a:solidFill>
                <a:latin typeface="Helvetica Neue"/>
                <a:ea typeface="PingFang SC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1" i="0">
                <a:solidFill>
                  <a:srgbClr val="0E7490"/>
                </a:solidFill>
                <a:latin typeface="Helvetica Neue"/>
                <a:ea typeface="PingFang SC"/>
              </a:rPr>
              <a:t>领域适配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49808"/>
            <a:ext cx="10874959" cy="4381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600" b="1" i="0">
                <a:solidFill>
                  <a:srgbClr val="111A27"/>
                </a:solidFill>
                <a:latin typeface="Helvetica Neue"/>
                <a:ea typeface="PingFang SC"/>
              </a:rPr>
              <a:t>会计</a:t>
            </a:r>
            <a:r>
              <a:rPr lang="en-US" sz="2600" b="1">
                <a:solidFill>
                  <a:srgbClr val="111A27"/>
                </a:solidFill>
                <a:latin typeface="Helvetica Neue"/>
                <a:ea typeface="PingFang SC"/>
              </a:rPr>
              <a:t>领域的可</a:t>
            </a:r>
            <a:r>
              <a:rPr lang="en-US" sz="2600" b="1" i="0">
                <a:solidFill>
                  <a:srgbClr val="111A27"/>
                </a:solidFill>
                <a:latin typeface="Helvetica Neue"/>
                <a:ea typeface="PingFang SC"/>
              </a:rPr>
              <a:t>校验性</a:t>
            </a:r>
            <a:endParaRPr sz="2600" b="1" i="0">
              <a:solidFill>
                <a:srgbClr val="111A27"/>
              </a:solidFill>
              <a:latin typeface="Helvetica Neue"/>
              <a:ea typeface="PingFang S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58368" y="1719072"/>
            <a:ext cx="10424160" cy="610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 i="0">
                <a:solidFill>
                  <a:srgbClr val="333E4F"/>
                </a:solidFill>
                <a:latin typeface="Helvetica Neue"/>
                <a:ea typeface="PingFang SC"/>
              </a:rPr>
              <a:t>多数智能体产品最后只能停在“打辅助”，因为没人说得清输出到底对不对。法律、咨询、大部分脑力活都没有标准答案。会计</a:t>
            </a:r>
            <a:r>
              <a:rPr lang="en-US" sz="1500" b="0" i="0">
                <a:solidFill>
                  <a:srgbClr val="333E4F"/>
                </a:solidFill>
                <a:latin typeface="Helvetica Neue"/>
                <a:ea typeface="PingFang SC"/>
              </a:rPr>
              <a:t>领域却不同</a:t>
            </a:r>
            <a:endParaRPr sz="1500" b="0" i="0">
              <a:solidFill>
                <a:srgbClr val="333E4F"/>
              </a:solidFill>
              <a:latin typeface="Helvetica Neue"/>
              <a:ea typeface="PingFang SC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58368" y="2450592"/>
            <a:ext cx="3465576" cy="2926080"/>
          </a:xfrm>
          <a:prstGeom prst="roundRect">
            <a:avLst>
              <a:gd name="adj" fmla="val 4000"/>
            </a:avLst>
          </a:prstGeom>
          <a:solidFill>
            <a:srgbClr val="E4F0F4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670048"/>
            <a:ext cx="30083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 i="0">
                <a:solidFill>
                  <a:srgbClr val="0A5366"/>
                </a:solidFill>
                <a:latin typeface="Helvetica Neue"/>
                <a:ea typeface="PingFang SC"/>
              </a:rPr>
              <a:t>1 · 规则是现成的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090672"/>
            <a:ext cx="3008376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— 借贷必须相等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— 试算平衡表必须平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— 明细账要跟总账勾得上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— 银行对账差额必须为零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— 税务和申报规则都是成文的，不用猜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9976" y="2450592"/>
            <a:ext cx="3465576" cy="2926080"/>
          </a:xfrm>
          <a:prstGeom prst="roundRect">
            <a:avLst>
              <a:gd name="adj" fmla="val 4000"/>
            </a:avLst>
          </a:prstGeom>
          <a:solidFill>
            <a:srgbClr val="FAEEE3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17720" y="2670048"/>
            <a:ext cx="30083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 i="0">
                <a:solidFill>
                  <a:srgbClr val="7A3B08"/>
                </a:solidFill>
                <a:latin typeface="Helvetica Neue"/>
                <a:ea typeface="PingFang SC"/>
              </a:rPr>
              <a:t>2 · 所以能先验再提交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3090672"/>
            <a:ext cx="3008376" cy="12326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就这一件事，分开了一个 demo 和一套敢放到客户面前的系统。
有了它，我们才敢自动过账、而且说得清误差有多大；才能只把真有歧义的推给人</a:t>
            </a:r>
            <a:r>
              <a:rPr lang="zh-CN" altLang="en-US" sz="1250">
                <a:solidFill>
                  <a:srgbClr val="333E4F"/>
                </a:solidFill>
                <a:latin typeface="Helvetica Neue"/>
                <a:ea typeface="PingFang SC"/>
              </a:rPr>
              <a:t>。</a:t>
            </a:r>
            <a:endParaRPr sz="1250" b="0" i="0">
              <a:solidFill>
                <a:srgbClr val="333E4F"/>
              </a:solidFill>
              <a:latin typeface="Helvetica Neue"/>
              <a:ea typeface="PingFang SC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101583" y="2450592"/>
            <a:ext cx="3465576" cy="2926080"/>
          </a:xfrm>
          <a:prstGeom prst="roundRect">
            <a:avLst>
              <a:gd name="adj" fmla="val 4000"/>
            </a:avLst>
          </a:prstGeom>
          <a:solidFill>
            <a:srgbClr val="FAEEE3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39327" y="2670048"/>
            <a:ext cx="30083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 i="0">
                <a:solidFill>
                  <a:srgbClr val="7A3B08"/>
                </a:solidFill>
                <a:latin typeface="Helvetica Neue"/>
                <a:ea typeface="PingFang SC"/>
              </a:rPr>
              <a:t>3 · 而且我们知道卡在哪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9327" y="3090672"/>
            <a:ext cx="3008376" cy="18289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lang="en-US" sz="1250" b="0" i="0">
                <a:solidFill>
                  <a:srgbClr val="333E4F"/>
                </a:solidFill>
                <a:latin typeface="Helvetica Neue"/>
                <a:ea typeface="PingFang SC"/>
              </a:rPr>
              <a:t>我们已经在</a:t>
            </a: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用 RPA 驱动这些系统，等于画了一张图：哪一步是机械的，哪一步非人不可。
机器人</a:t>
            </a:r>
            <a:r>
              <a:rPr lang="en-US" sz="1250" b="0" i="0">
                <a:solidFill>
                  <a:srgbClr val="333E4F"/>
                </a:solidFill>
                <a:latin typeface="Helvetica Neue"/>
                <a:ea typeface="PingFang SC"/>
              </a:rPr>
              <a:t>的操作</a:t>
            </a: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日志加上通过现有合作能拿到的历史结账数据，这套真值集</a:t>
            </a:r>
            <a:r>
              <a:rPr lang="en-US" sz="1250" b="0" i="0">
                <a:solidFill>
                  <a:srgbClr val="333E4F"/>
                </a:solidFill>
                <a:latin typeface="Helvetica Neue"/>
                <a:ea typeface="PingFang SC"/>
              </a:rPr>
              <a:t>让</a:t>
            </a: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我们不是从零起跑。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801807" y="6528816"/>
            <a:ext cx="7315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D5DCE4"/>
                </a:solidFill>
                <a:latin typeface="Helvetica Neue"/>
                <a:ea typeface="PingFang SC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1980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en-US" sz="1100" b="1">
                <a:solidFill>
                  <a:srgbClr val="0E7490"/>
                </a:solidFill>
                <a:latin typeface="Helvetica Neue"/>
                <a:ea typeface="PingFang SC"/>
              </a:rPr>
              <a:t>技术壁垒</a:t>
            </a:r>
            <a:endParaRPr sz="1100" b="1" i="0">
              <a:solidFill>
                <a:srgbClr val="0E7490"/>
              </a:solidFill>
              <a:latin typeface="Helvetica Neue"/>
              <a:ea typeface="PingFang SC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58368" y="749808"/>
            <a:ext cx="10874959" cy="4381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lang="en-US" sz="2600" b="1">
                <a:solidFill>
                  <a:srgbClr val="111A27"/>
                </a:solidFill>
                <a:latin typeface="Helvetica Neue"/>
                <a:ea typeface="PingFang SC"/>
              </a:rPr>
              <a:t>智能体</a:t>
            </a:r>
            <a:r>
              <a:rPr lang="en-US" sz="2600" b="1" i="0">
                <a:solidFill>
                  <a:srgbClr val="111A27"/>
                </a:solidFill>
                <a:latin typeface="Helvetica Neue"/>
                <a:ea typeface="PingFang SC"/>
              </a:rPr>
              <a:t>时代的护城河</a:t>
            </a:r>
            <a:endParaRPr sz="2600" b="1" i="0">
              <a:solidFill>
                <a:srgbClr val="111A27"/>
              </a:solidFill>
              <a:latin typeface="Helvetica Neue"/>
              <a:ea typeface="PingFang S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58368" y="1719072"/>
            <a:ext cx="10424160" cy="2874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lang="en-US" sz="1500">
                <a:solidFill>
                  <a:srgbClr val="333E4F"/>
                </a:solidFill>
                <a:latin typeface="Helvetica Neue"/>
                <a:ea typeface="PingFang SC"/>
              </a:rPr>
              <a:t>传统软件</a:t>
            </a:r>
            <a:r>
              <a:rPr sz="1500" b="0" i="0">
                <a:solidFill>
                  <a:srgbClr val="333E4F"/>
                </a:solidFill>
                <a:latin typeface="Helvetica Neue"/>
                <a:ea typeface="PingFang SC"/>
              </a:rPr>
              <a:t>靠界面做差异化的时候，护城河是</a:t>
            </a:r>
            <a:r>
              <a:rPr lang="en-US" sz="1500" b="0" i="0">
                <a:solidFill>
                  <a:srgbClr val="333E4F"/>
                </a:solidFill>
                <a:latin typeface="Helvetica Neue"/>
                <a:ea typeface="PingFang SC"/>
              </a:rPr>
              <a:t>用户习惯</a:t>
            </a:r>
            <a:r>
              <a:rPr sz="1500" b="0" i="0">
                <a:solidFill>
                  <a:srgbClr val="333E4F"/>
                </a:solidFill>
                <a:latin typeface="Helvetica Neue"/>
                <a:ea typeface="PingFang SC"/>
              </a:rPr>
              <a:t>和</a:t>
            </a:r>
            <a:r>
              <a:rPr lang="en-US" sz="1500">
                <a:solidFill>
                  <a:srgbClr val="333E4F"/>
                </a:solidFill>
                <a:latin typeface="Helvetica Neue"/>
                <a:ea typeface="PingFang SC"/>
              </a:rPr>
              <a:t>生态</a:t>
            </a:r>
            <a:r>
              <a:rPr sz="1500" b="0" i="0">
                <a:solidFill>
                  <a:srgbClr val="333E4F"/>
                </a:solidFill>
                <a:latin typeface="Helvetica Neue"/>
                <a:ea typeface="PingFang SC"/>
              </a:rPr>
              <a:t>。</a:t>
            </a:r>
            <a:r>
              <a:rPr lang="en-US" sz="1500">
                <a:solidFill>
                  <a:srgbClr val="333E4F"/>
                </a:solidFill>
                <a:latin typeface="Helvetica Neue"/>
                <a:ea typeface="PingFang SC"/>
              </a:rPr>
              <a:t>智能体时代</a:t>
            </a:r>
            <a:r>
              <a:rPr lang="zh-CN" altLang="en-US" sz="1500">
                <a:solidFill>
                  <a:srgbClr val="333E4F"/>
                </a:solidFill>
                <a:latin typeface="Helvetica Neue"/>
                <a:ea typeface="PingFang SC"/>
              </a:rPr>
              <a:t>，更重要的是围绕模型的控制框架。</a:t>
            </a:r>
            <a:endParaRPr sz="1500" b="0" i="0">
              <a:solidFill>
                <a:srgbClr val="333E4F"/>
              </a:solidFill>
              <a:latin typeface="Helvetica Neue"/>
              <a:ea typeface="PingFang SC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2432304"/>
            <a:ext cx="2542032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50" b="1" i="0">
                <a:solidFill>
                  <a:srgbClr val="0E7490"/>
                </a:solidFill>
                <a:latin typeface="Helvetica Neue"/>
                <a:ea typeface="PingFang SC"/>
              </a:rPr>
              <a:t>校验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816352"/>
            <a:ext cx="2542032" cy="8310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给模型写提示词谁都会，证明输出是对的几乎没人会。在一个有标准答案的行业里，校验本身就是产品。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19856" y="2432304"/>
            <a:ext cx="2542032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50" b="1" i="0">
                <a:solidFill>
                  <a:srgbClr val="0E7490"/>
                </a:solidFill>
                <a:latin typeface="Helvetica Neue"/>
                <a:ea typeface="PingFang SC"/>
              </a:rPr>
              <a:t>上下文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9856" y="2816352"/>
            <a:ext cx="2542032" cy="8310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客户身上攒下来的规</a:t>
            </a:r>
            <a:r>
              <a:rPr lang="zh-CN" altLang="en-US" sz="1250" b="0" i="0">
                <a:solidFill>
                  <a:srgbClr val="333E4F"/>
                </a:solidFill>
                <a:latin typeface="Helvetica Neue"/>
                <a:ea typeface="PingFang SC"/>
              </a:rPr>
              <a:t>矩</a:t>
            </a: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和历史：这家供应商一律进主营成本。这是专有的状态，不是模型。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941064"/>
            <a:ext cx="2542032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50" b="1" i="0">
                <a:solidFill>
                  <a:srgbClr val="0E7490"/>
                </a:solidFill>
                <a:latin typeface="Helvetica Neue"/>
                <a:ea typeface="PingFang SC"/>
              </a:rPr>
              <a:t>权限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325112"/>
            <a:ext cx="2542032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往账上、银行、申报里写数的权限。要收回它，是一个带责任链的治理决定，比“用惯了”结实得多。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9856" y="3941064"/>
            <a:ext cx="2542032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50" b="1" i="0">
                <a:solidFill>
                  <a:srgbClr val="0E7490"/>
                </a:solidFill>
                <a:latin typeface="Helvetica Neue"/>
                <a:ea typeface="PingFang SC"/>
              </a:rPr>
              <a:t>评测集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9856" y="4325112"/>
            <a:ext cx="2542032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一套带结果的语料，拿来跑回归。提示词一下午就抄走了，几年被复核过的结账数据抄不走。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64807" y="2432304"/>
            <a:ext cx="5074920" cy="2926080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39128" y="265176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1" i="0">
                <a:solidFill>
                  <a:srgbClr val="6B7688"/>
                </a:solidFill>
                <a:latin typeface="Helvetica Neue"/>
                <a:ea typeface="PingFang SC"/>
              </a:rPr>
              <a:t>什么没有变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3035808"/>
            <a:ext cx="4572000" cy="15764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6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记录系统更重要了，不是更不重要。智能体需要一个有真值、有权限、有历史的底座；被淘汰的是界面，不是数据库。
信任、安全、保密、专业规范，还是一切的前提。押上去的是客户的账和我们自己的名声，所以架构里那些控制手段，不是可选项。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801807" y="6528816"/>
            <a:ext cx="7315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D5DCE4"/>
                </a:solidFill>
                <a:latin typeface="Helvetica Neue"/>
                <a:ea typeface="PingFang SC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1" i="0">
                <a:solidFill>
                  <a:srgbClr val="0E7490"/>
                </a:solidFill>
                <a:latin typeface="Helvetica Neue"/>
                <a:ea typeface="PingFang SC"/>
              </a:rPr>
              <a:t>技术架构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49808"/>
            <a:ext cx="10874959" cy="9246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1" i="0">
                <a:solidFill>
                  <a:srgbClr val="111A27"/>
                </a:solidFill>
                <a:latin typeface="Helvetica Neue"/>
                <a:ea typeface="PingFang SC"/>
              </a:rPr>
              <a:t>智能体负责决定，确定性代码负责执行</a:t>
            </a:r>
            <a:r>
              <a:rPr lang="zh-CN" altLang="en-US" sz="2400" b="1" i="0">
                <a:solidFill>
                  <a:srgbClr val="111A27"/>
                </a:solidFill>
                <a:latin typeface="Helvetica Neue"/>
                <a:ea typeface="PingFang SC"/>
              </a:rPr>
              <a:t>，
所有操作可验证可溯源</a:t>
            </a:r>
            <a:endParaRPr sz="2400" b="1" i="0">
              <a:solidFill>
                <a:srgbClr val="111A27"/>
              </a:solidFill>
              <a:latin typeface="Helvetica Neue"/>
              <a:ea typeface="PingFang SC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58368" y="2212848"/>
            <a:ext cx="9006840" cy="470916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59536" y="2313432"/>
            <a:ext cx="2377440" cy="2431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50" b="1" i="0">
                <a:solidFill>
                  <a:srgbClr val="111A27"/>
                </a:solidFill>
                <a:latin typeface="Helvetica Neue"/>
                <a:ea typeface="PingFang SC"/>
              </a:rPr>
              <a:t>客户界面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01568" y="2331720"/>
            <a:ext cx="6035040" cy="20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 i="0">
                <a:solidFill>
                  <a:srgbClr val="333E4F"/>
                </a:solidFill>
                <a:latin typeface="Helvetica Neue"/>
                <a:ea typeface="PingFang SC"/>
              </a:rPr>
              <a:t>异常队列</a:t>
            </a:r>
            <a:r>
              <a:rPr lang="zh-CN" altLang="en-US" sz="1150" b="0" i="0">
                <a:solidFill>
                  <a:srgbClr val="333E4F"/>
                </a:solidFill>
                <a:latin typeface="Helvetica Neue"/>
                <a:ea typeface="PingFang SC"/>
              </a:rPr>
              <a:t> </a:t>
            </a:r>
            <a:r>
              <a:rPr sz="1150" b="0" i="0">
                <a:solidFill>
                  <a:srgbClr val="333E4F"/>
                </a:solidFill>
                <a:latin typeface="Helvetica Neue"/>
                <a:ea typeface="PingFang SC"/>
              </a:rPr>
              <a:t>· 对话和邮件 · 报表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752344"/>
            <a:ext cx="9006840" cy="470916"/>
          </a:xfrm>
          <a:prstGeom prst="roundRect">
            <a:avLst>
              <a:gd name="adj" fmla="val 4000"/>
            </a:avLst>
          </a:prstGeom>
          <a:solidFill>
            <a:srgbClr val="FAEEE3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9536" y="2852927"/>
            <a:ext cx="23774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50" b="1" i="0">
                <a:solidFill>
                  <a:srgbClr val="111A27"/>
                </a:solidFill>
                <a:latin typeface="Helvetica Neue"/>
                <a:ea typeface="PingFang SC"/>
              </a:rPr>
              <a:t>校验与护栏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01568" y="2871215"/>
            <a:ext cx="60350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 i="0">
                <a:solidFill>
                  <a:srgbClr val="333E4F"/>
                </a:solidFill>
                <a:latin typeface="Helvetica Neue"/>
                <a:ea typeface="PingFang SC"/>
              </a:rPr>
              <a:t>硬性不变量 · 波动和异常检测 · 按置信度分流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54312" y="286207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1" i="0">
                <a:solidFill>
                  <a:srgbClr val="B45309"/>
                </a:solidFill>
                <a:latin typeface="Helvetica Neue"/>
                <a:ea typeface="PingFang SC"/>
              </a:rPr>
              <a:t>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291839"/>
            <a:ext cx="9006840" cy="470916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9536" y="3392423"/>
            <a:ext cx="23774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50" b="1" i="0">
                <a:solidFill>
                  <a:srgbClr val="111A27"/>
                </a:solidFill>
                <a:latin typeface="Helvetica Neue"/>
                <a:ea typeface="PingFang SC"/>
              </a:rPr>
              <a:t>智能体层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01568" y="3410711"/>
            <a:ext cx="6035040" cy="20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 i="0">
                <a:solidFill>
                  <a:srgbClr val="333E4F"/>
                </a:solidFill>
                <a:latin typeface="Helvetica Neue"/>
                <a:ea typeface="PingFang SC"/>
              </a:rPr>
              <a:t>流程主控 · </a:t>
            </a:r>
            <a:r>
              <a:rPr lang="en-US" sz="1150" b="0" i="0">
                <a:solidFill>
                  <a:srgbClr val="333E4F"/>
                </a:solidFill>
                <a:latin typeface="Helvetica Neue"/>
                <a:ea typeface="PingFang SC"/>
              </a:rPr>
              <a:t>数据</a:t>
            </a:r>
            <a:r>
              <a:rPr sz="1150" b="0" i="0">
                <a:solidFill>
                  <a:srgbClr val="333E4F"/>
                </a:solidFill>
                <a:latin typeface="Helvetica Neue"/>
                <a:ea typeface="PingFang SC"/>
              </a:rPr>
              <a:t>抽取 · 分类 · 匹配 · 催单 · 分析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831335"/>
            <a:ext cx="9006840" cy="470916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9536" y="3931920"/>
            <a:ext cx="23774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50" b="1" i="0">
                <a:solidFill>
                  <a:srgbClr val="111A27"/>
                </a:solidFill>
                <a:latin typeface="Helvetica Neue"/>
                <a:ea typeface="PingFang SC"/>
              </a:rPr>
              <a:t>持久化编排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01568" y="3950207"/>
            <a:ext cx="60350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 i="0">
                <a:solidFill>
                  <a:srgbClr val="333E4F"/>
                </a:solidFill>
                <a:latin typeface="Helvetica Neue"/>
                <a:ea typeface="PingFang SC"/>
              </a:rPr>
              <a:t>把结账清单做成能断点续跑的状态机，不是放手让它自己发挥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370831"/>
            <a:ext cx="9006840" cy="470916"/>
          </a:xfrm>
          <a:prstGeom prst="roundRect">
            <a:avLst>
              <a:gd name="adj" fmla="val 4000"/>
            </a:avLst>
          </a:prstGeom>
          <a:solidFill>
            <a:srgbClr val="FAEEE3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59536" y="4471416"/>
            <a:ext cx="2377440" cy="2431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50" b="1" i="0">
                <a:solidFill>
                  <a:srgbClr val="111A27"/>
                </a:solidFill>
                <a:latin typeface="Helvetica Neue"/>
                <a:ea typeface="PingFang SC"/>
              </a:rPr>
              <a:t>工具层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1568" y="4489703"/>
            <a:ext cx="60350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 i="0">
                <a:solidFill>
                  <a:srgbClr val="333E4F"/>
                </a:solidFill>
                <a:latin typeface="Helvetica Neue"/>
                <a:ea typeface="PingFang SC"/>
              </a:rPr>
              <a:t>带类型、自己守不变量的动作：过账 · 对账 · 关账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54312" y="4480559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1" i="0">
                <a:solidFill>
                  <a:srgbClr val="B45309"/>
                </a:solidFill>
                <a:latin typeface="Helvetica Neue"/>
                <a:ea typeface="PingFang SC"/>
              </a:rPr>
              <a:t>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910327"/>
            <a:ext cx="9006840" cy="470916"/>
          </a:xfrm>
          <a:prstGeom prst="roundRect">
            <a:avLst>
              <a:gd name="adj" fmla="val 4000"/>
            </a:avLst>
          </a:prstGeom>
          <a:solidFill>
            <a:srgbClr val="FAEEE3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59536" y="5010912"/>
            <a:ext cx="23774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50" b="1" i="0">
                <a:solidFill>
                  <a:srgbClr val="111A27"/>
                </a:solidFill>
                <a:latin typeface="Helvetica Neue"/>
                <a:ea typeface="PingFang SC"/>
              </a:rPr>
              <a:t>账簿内核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01568" y="5029199"/>
            <a:ext cx="60350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 i="0">
                <a:solidFill>
                  <a:srgbClr val="333E4F"/>
                </a:solidFill>
                <a:latin typeface="Helvetica Neue"/>
                <a:ea typeface="PingFang SC"/>
              </a:rPr>
              <a:t>只追加 · 双时间维度 · 复式记账 · 全程可溯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54312" y="5020055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1" i="0">
                <a:solidFill>
                  <a:srgbClr val="B45309"/>
                </a:solidFill>
                <a:latin typeface="Helvetica Neue"/>
                <a:ea typeface="PingFang SC"/>
              </a:rPr>
              <a:t>◆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449823"/>
            <a:ext cx="9006840" cy="470916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59536" y="5550407"/>
            <a:ext cx="23774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50" b="1" i="0">
                <a:solidFill>
                  <a:srgbClr val="111A27"/>
                </a:solidFill>
                <a:latin typeface="Helvetica Neue"/>
                <a:ea typeface="PingFang SC"/>
              </a:rPr>
              <a:t>数据接入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01568" y="5568695"/>
            <a:ext cx="60350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 i="0">
                <a:solidFill>
                  <a:srgbClr val="333E4F"/>
                </a:solidFill>
                <a:latin typeface="Helvetica Neue"/>
                <a:ea typeface="PingFang SC"/>
              </a:rPr>
              <a:t>银行 · 卡 · 工资 · POS · 应付邮箱 · 凭证 · 往年账套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48088" y="2212848"/>
            <a:ext cx="1673352" cy="3707891"/>
          </a:xfrm>
          <a:prstGeom prst="roundRect">
            <a:avLst>
              <a:gd name="adj" fmla="val 4000"/>
            </a:avLst>
          </a:prstGeom>
          <a:solidFill>
            <a:srgbClr val="E8EEF2"/>
          </a:solidFill>
          <a:ln w="12700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994392" y="2340864"/>
            <a:ext cx="13807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50" b="1" i="0">
                <a:solidFill>
                  <a:srgbClr val="6B7688"/>
                </a:solidFill>
                <a:latin typeface="Helvetica Neue"/>
                <a:ea typeface="PingFang SC"/>
              </a:rPr>
              <a:t>横向能力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94392" y="2761488"/>
            <a:ext cx="1380744" cy="5099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00" b="0" i="0">
                <a:solidFill>
                  <a:srgbClr val="333E4F"/>
                </a:solidFill>
                <a:latin typeface="Helvetica Neue"/>
                <a:ea typeface="PingFang SC"/>
              </a:rPr>
              <a:t>审计</a:t>
            </a:r>
            <a:endParaRPr lang="en-US" altLang="zh-CN" sz="1100" b="0" i="0">
              <a:solidFill>
                <a:srgbClr val="333E4F"/>
              </a:solidFill>
              <a:latin typeface="Helvetica Neue"/>
              <a:ea typeface="PingFang SC"/>
            </a:endParaR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00" b="0" i="0">
                <a:solidFill>
                  <a:srgbClr val="333E4F"/>
                </a:solidFill>
                <a:latin typeface="Helvetica Neue"/>
                <a:ea typeface="PingFang SC"/>
              </a:rPr>
              <a:t>溯源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94392" y="3401568"/>
            <a:ext cx="1380744" cy="5099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00" b="0" i="0">
                <a:solidFill>
                  <a:srgbClr val="333E4F"/>
                </a:solidFill>
                <a:latin typeface="Helvetica Neue"/>
                <a:ea typeface="PingFang SC"/>
              </a:rPr>
              <a:t>评测
回放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94392" y="4041648"/>
            <a:ext cx="1380744" cy="5099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00" b="0" i="0">
                <a:solidFill>
                  <a:srgbClr val="333E4F"/>
                </a:solidFill>
                <a:latin typeface="Helvetica Neue"/>
                <a:ea typeface="PingFang SC"/>
              </a:rPr>
              <a:t>成本
</a:t>
            </a:r>
            <a:r>
              <a:rPr lang="en-US" sz="1100" b="0" i="0">
                <a:solidFill>
                  <a:srgbClr val="333E4F"/>
                </a:solidFill>
                <a:latin typeface="Helvetica Neue"/>
                <a:ea typeface="PingFang SC"/>
              </a:rPr>
              <a:t>监控</a:t>
            </a:r>
            <a:endParaRPr sz="1100" b="0" i="0">
              <a:solidFill>
                <a:srgbClr val="333E4F"/>
              </a:solidFill>
              <a:latin typeface="Helvetica Neue"/>
              <a:ea typeface="PingFang SC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9994392" y="4681728"/>
            <a:ext cx="1380744" cy="5099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00" b="0" i="0">
                <a:solidFill>
                  <a:srgbClr val="333E4F"/>
                </a:solidFill>
                <a:latin typeface="Helvetica Neue"/>
                <a:ea typeface="PingFang SC"/>
              </a:rPr>
              <a:t>智能体身份
最小权限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801807" y="6528816"/>
            <a:ext cx="7315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D5DCE4"/>
                </a:solidFill>
                <a:latin typeface="Helvetica Neue"/>
                <a:ea typeface="PingFang SC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1" i="0">
                <a:solidFill>
                  <a:srgbClr val="0E7490"/>
                </a:solidFill>
                <a:latin typeface="Helvetica Neue"/>
                <a:ea typeface="PingFang SC"/>
              </a:rPr>
              <a:t>关键部件 · 1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49808"/>
            <a:ext cx="10874959" cy="4381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600" b="1" i="0">
                <a:solidFill>
                  <a:srgbClr val="111A27"/>
                </a:solidFill>
                <a:latin typeface="Helvetica Neue"/>
                <a:ea typeface="PingFang SC"/>
              </a:rPr>
              <a:t>账簿内核：只追加、双时间维度、</a:t>
            </a:r>
            <a:r>
              <a:rPr lang="en-US" sz="2600" b="1" i="0">
                <a:solidFill>
                  <a:srgbClr val="111A27"/>
                </a:solidFill>
                <a:latin typeface="Helvetica Neue"/>
                <a:ea typeface="PingFang SC"/>
              </a:rPr>
              <a:t>可溯源</a:t>
            </a:r>
            <a:endParaRPr sz="2600" b="1" i="0">
              <a:solidFill>
                <a:srgbClr val="111A27"/>
              </a:solidFill>
              <a:latin typeface="Helvetica Neue"/>
              <a:ea typeface="PingFang S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58368" y="1719072"/>
            <a:ext cx="10332720" cy="5902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50" b="0" i="0">
                <a:solidFill>
                  <a:srgbClr val="333E4F"/>
                </a:solidFill>
                <a:latin typeface="Helvetica Neue"/>
                <a:ea typeface="PingFang SC"/>
              </a:rPr>
              <a:t>普通软件改一行数据就完事。有三条要求，我们用过的会计软件一个都不具备，而它们让“改一行”变得不能接受。三条都是</a:t>
            </a:r>
            <a:r>
              <a:rPr lang="en-US" sz="1450" b="0" i="0">
                <a:solidFill>
                  <a:srgbClr val="333E4F"/>
                </a:solidFill>
                <a:latin typeface="Helvetica Neue"/>
                <a:ea typeface="PingFang SC"/>
              </a:rPr>
              <a:t>数据</a:t>
            </a:r>
            <a:r>
              <a:rPr sz="1450" b="0" i="0">
                <a:solidFill>
                  <a:srgbClr val="333E4F"/>
                </a:solidFill>
                <a:latin typeface="Helvetica Neue"/>
                <a:ea typeface="PingFang SC"/>
              </a:rPr>
              <a:t>层面的决定，第一天不定，以后补不回来。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450592"/>
            <a:ext cx="6766560" cy="31858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1300"/>
              </a:spcBef>
              <a:spcAft>
                <a:spcPts val="200"/>
              </a:spcAft>
            </a:pPr>
            <a:r>
              <a:rPr sz="1300" b="1" i="0">
                <a:solidFill>
                  <a:srgbClr val="111A27"/>
                </a:solidFill>
                <a:latin typeface="Helvetica Neue"/>
                <a:ea typeface="PingFang SC"/>
              </a:rPr>
              <a:t>双时间维度：记账时间和生效时间分开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0" i="0">
                <a:solidFill>
                  <a:srgbClr val="333E4F"/>
                </a:solidFill>
                <a:latin typeface="Helvetica Neue"/>
                <a:ea typeface="PingFang SC"/>
              </a:rPr>
              <a:t>— 得答得上来“3 月 31 号那天账上是什么”。更要紧的是，只有这样才能把智能体丢回某个历史期间重跑一遍、给它打分。我们整套评测能力，就压在这一个</a:t>
            </a:r>
            <a:r>
              <a:rPr lang="en-US" sz="1300" b="0" i="0">
                <a:solidFill>
                  <a:srgbClr val="333E4F"/>
                </a:solidFill>
                <a:latin typeface="Helvetica Neue"/>
                <a:ea typeface="PingFang SC"/>
              </a:rPr>
              <a:t>数据内核</a:t>
            </a:r>
            <a:r>
              <a:rPr sz="1300" b="0" i="0">
                <a:solidFill>
                  <a:srgbClr val="333E4F"/>
                </a:solidFill>
                <a:latin typeface="Helvetica Neue"/>
                <a:ea typeface="PingFang SC"/>
              </a:rPr>
              <a:t>选择上。</a:t>
            </a:r>
          </a:p>
          <a:p>
            <a:pPr>
              <a:lnSpc>
                <a:spcPct val="135000"/>
              </a:lnSpc>
              <a:spcBef>
                <a:spcPts val="1300"/>
              </a:spcBef>
              <a:spcAft>
                <a:spcPts val="200"/>
              </a:spcAft>
            </a:pPr>
            <a:r>
              <a:rPr sz="1300" b="1" i="0">
                <a:solidFill>
                  <a:srgbClr val="111A27"/>
                </a:solidFill>
                <a:latin typeface="Helvetica Neue"/>
                <a:ea typeface="PingFang SC"/>
              </a:rPr>
              <a:t>不可变：更正走红冲，不是</a:t>
            </a:r>
            <a:r>
              <a:rPr lang="en-US" sz="1300" b="1" i="0">
                <a:solidFill>
                  <a:srgbClr val="111A27"/>
                </a:solidFill>
                <a:latin typeface="Helvetica Neue"/>
                <a:ea typeface="PingFang SC"/>
              </a:rPr>
              <a:t>直接</a:t>
            </a:r>
            <a:r>
              <a:rPr sz="1300" b="1" i="0">
                <a:solidFill>
                  <a:srgbClr val="111A27"/>
                </a:solidFill>
                <a:latin typeface="Helvetica Neue"/>
                <a:ea typeface="PingFang SC"/>
              </a:rPr>
              <a:t>改数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0" i="0">
                <a:solidFill>
                  <a:srgbClr val="333E4F"/>
                </a:solidFill>
                <a:latin typeface="Helvetica Neue"/>
                <a:ea typeface="PingFang SC"/>
              </a:rPr>
              <a:t>— 能改的账，事后说不清；能悄悄覆盖数据的智能体，给多少钱也不该收。</a:t>
            </a:r>
          </a:p>
          <a:p>
            <a:pPr>
              <a:lnSpc>
                <a:spcPct val="135000"/>
              </a:lnSpc>
              <a:spcBef>
                <a:spcPts val="1300"/>
              </a:spcBef>
              <a:spcAft>
                <a:spcPts val="200"/>
              </a:spcAft>
            </a:pPr>
            <a:r>
              <a:rPr sz="1300" b="1" i="0">
                <a:solidFill>
                  <a:srgbClr val="111A27"/>
                </a:solidFill>
                <a:latin typeface="Helvetica Neue"/>
                <a:ea typeface="PingFang SC"/>
              </a:rPr>
              <a:t>溯源是一等公民，而且能查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0" i="0">
                <a:solidFill>
                  <a:srgbClr val="333E4F"/>
                </a:solidFill>
                <a:latin typeface="Helvetica Neue"/>
                <a:ea typeface="PingFang SC"/>
              </a:rPr>
              <a:t>— 源凭证 → 抽取 → 推理轨迹 → 工具调用 → 命中哪条规矩 → 谁批的 → 过账。在现有系统里，审计日志是贴在边上的合规材料；在这里它是承重墙，工作成果全靠它站住。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200"/>
              </a:spcAft>
            </a:pPr>
            <a:r>
              <a:rPr sz="1100" b="0" i="1">
                <a:solidFill>
                  <a:srgbClr val="B45309"/>
                </a:solidFill>
                <a:latin typeface="Helvetica Neue"/>
                <a:ea typeface="PingFang SC"/>
              </a:rPr>
              <a:t>每个操作者都分类型：人、智能体，还是系统。智能体的身份、模型版本、提示词版本，都写在分录上。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36408" y="2450592"/>
            <a:ext cx="3675887" cy="3246120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92440" y="2651760"/>
            <a:ext cx="3154680" cy="2070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1" i="0">
                <a:solidFill>
                  <a:srgbClr val="6B7688"/>
                </a:solidFill>
                <a:latin typeface="Helvetica Neue"/>
                <a:ea typeface="PingFang SC"/>
              </a:rPr>
              <a:t>为什么最要紧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3017520"/>
            <a:ext cx="3154680" cy="15308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这一层，抄提示词抄不走。
客户能不能拿这套东西去面对审计和监管，也看这一层。项目最常死在一句话上：“这笔分录怎么来的，给我看看。”只有在</a:t>
            </a:r>
            <a:r>
              <a:rPr lang="en-US" sz="1250">
                <a:solidFill>
                  <a:srgbClr val="333E4F"/>
                </a:solidFill>
                <a:latin typeface="Helvetica Neue"/>
                <a:ea typeface="PingFang SC"/>
              </a:rPr>
              <a:t>数据层</a:t>
            </a: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上就为它设计过，这句话才答得上来。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801807" y="6528816"/>
            <a:ext cx="7315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D5DCE4"/>
                </a:solidFill>
                <a:latin typeface="Helvetica Neue"/>
                <a:ea typeface="PingFang SC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1" i="0">
                <a:solidFill>
                  <a:srgbClr val="0E7490"/>
                </a:solidFill>
                <a:latin typeface="Helvetica Neue"/>
                <a:ea typeface="PingFang SC"/>
              </a:rPr>
              <a:t>关键部件 · 2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49808"/>
            <a:ext cx="10874959" cy="4381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600" b="1" i="0">
                <a:solidFill>
                  <a:srgbClr val="111A27"/>
                </a:solidFill>
                <a:latin typeface="Helvetica Neue"/>
                <a:ea typeface="PingFang SC"/>
              </a:rPr>
              <a:t>工具层：面向一个不</a:t>
            </a:r>
            <a:r>
              <a:rPr lang="en-US" sz="2600" b="1" i="0">
                <a:solidFill>
                  <a:srgbClr val="111A27"/>
                </a:solidFill>
                <a:latin typeface="Helvetica Neue"/>
                <a:ea typeface="PingFang SC"/>
              </a:rPr>
              <a:t>确定</a:t>
            </a:r>
            <a:r>
              <a:rPr sz="2600" b="1" i="0">
                <a:solidFill>
                  <a:srgbClr val="111A27"/>
                </a:solidFill>
                <a:latin typeface="Helvetica Neue"/>
                <a:ea typeface="PingFang SC"/>
              </a:rPr>
              <a:t>的</a:t>
            </a:r>
            <a:r>
              <a:rPr lang="en-US" sz="2600" b="1" i="0">
                <a:solidFill>
                  <a:srgbClr val="111A27"/>
                </a:solidFill>
                <a:latin typeface="Helvetica Neue"/>
                <a:ea typeface="PingFang SC"/>
              </a:rPr>
              <a:t>模型</a:t>
            </a:r>
            <a:endParaRPr sz="2600" b="1" i="0">
              <a:solidFill>
                <a:srgbClr val="111A27"/>
              </a:solidFill>
              <a:latin typeface="Helvetica Neue"/>
              <a:ea typeface="PingFang S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58368" y="1719072"/>
            <a:ext cx="10332720" cy="2778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450" b="0" i="0">
                <a:solidFill>
                  <a:srgbClr val="333E4F"/>
                </a:solidFill>
                <a:latin typeface="Helvetica Neue"/>
                <a:ea typeface="PingFang SC"/>
              </a:rPr>
              <a:t>这</a:t>
            </a:r>
            <a:r>
              <a:rPr lang="en-US" sz="1450" b="0" i="0">
                <a:solidFill>
                  <a:srgbClr val="333E4F"/>
                </a:solidFill>
                <a:latin typeface="Helvetica Neue"/>
                <a:ea typeface="PingFang SC"/>
              </a:rPr>
              <a:t>里</a:t>
            </a:r>
            <a:r>
              <a:rPr sz="1450" b="0" i="0">
                <a:solidFill>
                  <a:srgbClr val="333E4F"/>
                </a:solidFill>
                <a:latin typeface="Helvetica Neue"/>
                <a:ea typeface="PingFang SC"/>
              </a:rPr>
              <a:t>不</a:t>
            </a:r>
            <a:r>
              <a:rPr lang="en-US" sz="1450">
                <a:solidFill>
                  <a:srgbClr val="333E4F"/>
                </a:solidFill>
                <a:latin typeface="Helvetica Neue"/>
                <a:ea typeface="PingFang SC"/>
              </a:rPr>
              <a:t>能简单</a:t>
            </a:r>
            <a:r>
              <a:rPr lang="zh-CN" altLang="en-US" sz="1450">
                <a:solidFill>
                  <a:srgbClr val="333E4F"/>
                </a:solidFill>
                <a:latin typeface="Helvetica Neue"/>
                <a:ea typeface="PingFang SC"/>
              </a:rPr>
              <a:t>地</a:t>
            </a:r>
            <a:r>
              <a:rPr sz="1450" b="0" i="0">
                <a:solidFill>
                  <a:srgbClr val="333E4F"/>
                </a:solidFill>
                <a:latin typeface="Helvetica Neue"/>
                <a:ea typeface="PingFang SC"/>
              </a:rPr>
              <a:t>把 API 改个名字。API 假设调用方知道自己要什么；</a:t>
            </a:r>
            <a:r>
              <a:rPr lang="en-US" sz="1450" b="0" i="0">
                <a:solidFill>
                  <a:srgbClr val="333E4F"/>
                </a:solidFill>
                <a:latin typeface="Helvetica Neue"/>
                <a:ea typeface="PingFang SC"/>
              </a:rPr>
              <a:t>这里</a:t>
            </a:r>
            <a:r>
              <a:rPr sz="1450" b="0" i="0">
                <a:solidFill>
                  <a:srgbClr val="333E4F"/>
                </a:solidFill>
                <a:latin typeface="Helvetica Neue"/>
                <a:ea typeface="PingFang SC"/>
              </a:rPr>
              <a:t>工具层假设调用方很能干，但偶尔是错的。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337378"/>
            <a:ext cx="6766560" cy="41067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1200"/>
              </a:spcBef>
              <a:spcAft>
                <a:spcPts val="200"/>
              </a:spcAft>
            </a:pPr>
            <a:r>
              <a:rPr sz="1300" b="1" i="0">
                <a:solidFill>
                  <a:srgbClr val="111A27"/>
                </a:solidFill>
                <a:latin typeface="Helvetica Neue"/>
                <a:ea typeface="PingFang SC"/>
              </a:rPr>
              <a:t>不变量归工具管，不归调用方管。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1300" b="0" i="0">
                <a:solidFill>
                  <a:srgbClr val="333E4F"/>
                </a:solidFill>
                <a:latin typeface="Helvetica Neue"/>
                <a:ea typeface="PingFang SC"/>
              </a:rPr>
              <a:t>— 平时你会信自己前端传上来的数。这里反过来：每个工具都当调用方是错的，自己去卡平衡、卡期间、卡权限。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200"/>
              </a:spcAft>
            </a:pPr>
            <a:r>
              <a:rPr sz="1300" b="1" i="0">
                <a:solidFill>
                  <a:srgbClr val="111A27"/>
                </a:solidFill>
                <a:latin typeface="Helvetica Neue"/>
                <a:ea typeface="PingFang SC"/>
              </a:rPr>
              <a:t>幂等是硬要求，因为智能体一定会重试。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200"/>
              </a:spcAft>
            </a:pPr>
            <a:r>
              <a:rPr sz="1300" b="1" i="0">
                <a:solidFill>
                  <a:srgbClr val="111A27"/>
                </a:solidFill>
                <a:latin typeface="Helvetica Neue"/>
                <a:ea typeface="PingFang SC"/>
              </a:rPr>
              <a:t>粒度得反复磨。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1300" b="0" i="0">
                <a:solidFill>
                  <a:srgbClr val="333E4F"/>
                </a:solidFill>
                <a:latin typeface="Helvetica Neue"/>
                <a:ea typeface="PingFang SC"/>
              </a:rPr>
              <a:t>太细，智能体调四十次还把上下文丢了；太粗，它表达不出意图。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200"/>
              </a:spcAft>
            </a:pPr>
            <a:r>
              <a:rPr sz="1300" b="1" i="0">
                <a:solidFill>
                  <a:srgbClr val="111A27"/>
                </a:solidFill>
                <a:latin typeface="Helvetica Neue"/>
                <a:ea typeface="PingFang SC"/>
              </a:rPr>
              <a:t>接口面必须小、必须好找。上下文是稀缺资源，不能把四百个接口摆在一个</a:t>
            </a:r>
            <a:r>
              <a:rPr lang="en-US" sz="1300" b="1" i="0">
                <a:solidFill>
                  <a:srgbClr val="111A27"/>
                </a:solidFill>
                <a:latin typeface="Helvetica Neue"/>
                <a:ea typeface="PingFang SC"/>
              </a:rPr>
              <a:t>模型</a:t>
            </a:r>
            <a:r>
              <a:rPr sz="1300" b="1" i="0">
                <a:solidFill>
                  <a:srgbClr val="111A27"/>
                </a:solidFill>
                <a:latin typeface="Helvetica Neue"/>
                <a:ea typeface="PingFang SC"/>
              </a:rPr>
              <a:t>面前。</a:t>
            </a:r>
            <a:endParaRPr lang="en-US" sz="1300" b="1" i="0">
              <a:solidFill>
                <a:srgbClr val="111A27"/>
              </a:solidFill>
              <a:latin typeface="Helvetica Neue"/>
              <a:ea typeface="PingFang SC"/>
            </a:endParaRP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200"/>
              </a:spcAft>
            </a:pPr>
            <a:r>
              <a:rPr lang="zh-CN" altLang="en-US" sz="1300" b="1">
                <a:solidFill>
                  <a:srgbClr val="111A27"/>
                </a:solidFill>
                <a:latin typeface="Helvetica Neue"/>
                <a:ea typeface="PingFang SC"/>
              </a:rPr>
              <a:t>报错要能指路，因为智能体会读它然后重试。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lang="en-US" altLang="zh-CN" sz="1300">
                <a:solidFill>
                  <a:srgbClr val="333E4F"/>
                </a:solidFill>
                <a:latin typeface="Helvetica Neue"/>
                <a:ea typeface="PingFang SC"/>
              </a:rPr>
              <a:t>“400 </a:t>
            </a:r>
            <a:r>
              <a:rPr lang="zh-CN" altLang="en-US" sz="1300">
                <a:solidFill>
                  <a:srgbClr val="333E4F"/>
                </a:solidFill>
                <a:latin typeface="Helvetica Neue"/>
                <a:ea typeface="PingFang SC"/>
              </a:rPr>
              <a:t>参数错误”一点用没有。“分录不平：借方 </a:t>
            </a:r>
            <a:r>
              <a:rPr lang="en-US" altLang="zh-CN" sz="1300">
                <a:solidFill>
                  <a:srgbClr val="333E4F"/>
                </a:solidFill>
                <a:latin typeface="Helvetica Neue"/>
                <a:ea typeface="PingFang SC"/>
              </a:rPr>
              <a:t>1,200.00</a:t>
            </a:r>
            <a:r>
              <a:rPr lang="zh-CN" altLang="en-US" sz="1300">
                <a:solidFill>
                  <a:srgbClr val="333E4F"/>
                </a:solidFill>
                <a:latin typeface="Helvetica Neue"/>
                <a:ea typeface="PingFang SC"/>
              </a:rPr>
              <a:t>，贷方 </a:t>
            </a:r>
            <a:r>
              <a:rPr lang="en-US" altLang="zh-CN" sz="1300">
                <a:solidFill>
                  <a:srgbClr val="333E4F"/>
                </a:solidFill>
                <a:latin typeface="Helvetica Neue"/>
                <a:ea typeface="PingFang SC"/>
              </a:rPr>
              <a:t>1,150.00</a:t>
            </a:r>
            <a:r>
              <a:rPr lang="zh-CN" altLang="en-US" sz="1300">
                <a:solidFill>
                  <a:srgbClr val="333E4F"/>
                </a:solidFill>
                <a:latin typeface="Helvetica Neue"/>
                <a:ea typeface="PingFang SC"/>
              </a:rPr>
              <a:t>，差 </a:t>
            </a:r>
            <a:r>
              <a:rPr lang="en-US" altLang="zh-CN" sz="1300">
                <a:solidFill>
                  <a:srgbClr val="333E4F"/>
                </a:solidFill>
                <a:latin typeface="Helvetica Neue"/>
                <a:ea typeface="PingFang SC"/>
              </a:rPr>
              <a:t>50.00”</a:t>
            </a:r>
            <a:r>
              <a:rPr lang="zh-CN" altLang="en-US" sz="1300">
                <a:solidFill>
                  <a:srgbClr val="333E4F"/>
                </a:solidFill>
                <a:latin typeface="Helvetica Neue"/>
                <a:ea typeface="PingFang SC"/>
              </a:rPr>
              <a:t> 能换来一次成功的重试。在这儿，报错文案是功能，不是细节。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200"/>
              </a:spcAft>
            </a:pPr>
            <a:endParaRPr sz="1300" b="1" i="0">
              <a:solidFill>
                <a:srgbClr val="111A27"/>
              </a:solidFill>
              <a:latin typeface="Helvetica Neue"/>
              <a:ea typeface="PingFang SC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836408" y="2450592"/>
            <a:ext cx="3675887" cy="2542032"/>
          </a:xfrm>
          <a:prstGeom prst="roundRect">
            <a:avLst>
              <a:gd name="adj" fmla="val 4000"/>
            </a:avLst>
          </a:prstGeom>
          <a:solidFill>
            <a:srgbClr val="E4F0F4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92440" y="2651760"/>
            <a:ext cx="3154680" cy="2070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en-US" sz="1150" b="1" i="0">
                <a:solidFill>
                  <a:srgbClr val="0A5366"/>
                </a:solidFill>
                <a:latin typeface="Helvetica Neue"/>
                <a:ea typeface="PingFang SC"/>
              </a:rPr>
              <a:t>原则</a:t>
            </a:r>
            <a:endParaRPr sz="1150" b="1" i="0">
              <a:solidFill>
                <a:srgbClr val="0A5366"/>
              </a:solidFill>
              <a:latin typeface="Helvetica Neue"/>
              <a:ea typeface="PingFang SC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092440" y="3017520"/>
            <a:ext cx="3154680" cy="18289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lang="en-US" sz="1250" b="0" i="0">
                <a:solidFill>
                  <a:srgbClr val="333E4F"/>
                </a:solidFill>
                <a:latin typeface="Helvetica Neue"/>
                <a:ea typeface="PingFang SC"/>
              </a:rPr>
              <a:t>不期待</a:t>
            </a: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模型不在脑子里算数，也不在脑子里套规则。
每一次状态变更都</a:t>
            </a:r>
            <a:r>
              <a:rPr lang="en-US" sz="1250" b="0" i="0">
                <a:solidFill>
                  <a:srgbClr val="333E4F"/>
                </a:solidFill>
                <a:latin typeface="Helvetica Neue"/>
                <a:ea typeface="PingFang SC"/>
              </a:rPr>
              <a:t>由模型</a:t>
            </a: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走一个带类型的工具调用，由工具自己校验。智能体只管挑哪个工具、传什么参数；对不对，是工具的事。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20624"/>
            <a:ext cx="1087495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0E7490"/>
                </a:solidFill>
                <a:latin typeface="Helvetica Neue"/>
                <a:ea typeface="PingFang SC"/>
              </a:rPr>
              <a:t>关键部件 · 3 /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7495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11A27"/>
                </a:solidFill>
                <a:latin typeface="Helvetica Neue"/>
                <a:ea typeface="PingFang SC"/>
              </a:rPr>
              <a:t>校验、分流，和越用越准的闭环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16736"/>
            <a:ext cx="104241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33E4F"/>
                </a:solidFill>
                <a:latin typeface="Helvetica Neue"/>
                <a:ea typeface="PingFang SC"/>
              </a:rPr>
              <a:t>跟现在用的软件比，最大的变化是：以前只校验格式对不对，现在要校验一个格式没问题的答案，内容对不对。而校验剩下的那部分不确定，正好是系统进步的燃料。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20240"/>
            <a:ext cx="3465576" cy="1874519"/>
          </a:xfrm>
          <a:prstGeom prst="roundRect">
            <a:avLst>
              <a:gd name="adj" fmla="val 4000"/>
            </a:avLst>
          </a:prstGeom>
          <a:solidFill>
            <a:srgbClr val="FAEEE3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96112" y="2121408"/>
            <a:ext cx="29900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 i="0">
                <a:solidFill>
                  <a:srgbClr val="111A27"/>
                </a:solidFill>
                <a:latin typeface="Helvetica Neue"/>
                <a:ea typeface="PingFang SC"/>
              </a:rPr>
              <a:t>第一层 · 硬性不变量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468880"/>
            <a:ext cx="2990088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333E4F"/>
                </a:solidFill>
                <a:latin typeface="Helvetica Neue"/>
                <a:ea typeface="PingFang SC"/>
              </a:rPr>
              <a:t>确定性的，不讲条件，提交之前一定跑。借贷平衡、试算表勾稽、明细账对总账、对账差额、查重、期间锁定。这一层过不去就是直接拦住，不是给个提醒。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1920240"/>
            <a:ext cx="3465576" cy="1874519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17720" y="2121408"/>
            <a:ext cx="29900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 i="0">
                <a:solidFill>
                  <a:srgbClr val="111A27"/>
                </a:solidFill>
                <a:latin typeface="Helvetica Neue"/>
                <a:ea typeface="PingFang SC"/>
              </a:rPr>
              <a:t>第二层 · 统计检查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2468880"/>
            <a:ext cx="2990088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333E4F"/>
                </a:solidFill>
                <a:latin typeface="Helvetica Neue"/>
                <a:ea typeface="PingFang SC"/>
              </a:rPr>
              <a:t>跟上期比波动，看供应商和科目的搭配是不是反常，看分布有没有异常。抓的是不变量放过去的那一类：格式没错，内容错了。它出分，不下结论。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1583" y="1920240"/>
            <a:ext cx="3465576" cy="1874519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39327" y="2121408"/>
            <a:ext cx="29900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 i="0">
                <a:solidFill>
                  <a:srgbClr val="111A27"/>
                </a:solidFill>
                <a:latin typeface="Helvetica Neue"/>
                <a:ea typeface="PingFang SC"/>
              </a:rPr>
              <a:t>第三层 · 分流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9327" y="2468880"/>
            <a:ext cx="2990088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333E4F"/>
                </a:solidFill>
                <a:latin typeface="Helvetica Neue"/>
                <a:ea typeface="PingFang SC"/>
              </a:rPr>
              <a:t>过线的自动过账；没过线的带上全部上下文进复核队列。置信度是从前两层的信号、加上跑几遍看结果一致不一致推出来的。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886200"/>
            <a:ext cx="1087495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6B7688"/>
                </a:solidFill>
                <a:latin typeface="Helvetica Neue"/>
                <a:ea typeface="PingFang SC"/>
              </a:rPr>
              <a:t>置信度来自前两层的信号，和多次独立运行之间的一致性。我们不问模型“你有几成把握”，因为它一贯自信过头。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133088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1" i="0">
                <a:solidFill>
                  <a:srgbClr val="0E7490"/>
                </a:solidFill>
                <a:latin typeface="Helvetica Neue"/>
                <a:ea typeface="PingFang SC"/>
              </a:rPr>
              <a:t>剩下的不确定，走这个闭环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462272"/>
            <a:ext cx="2551176" cy="1371600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9536" y="4608576"/>
            <a:ext cx="2148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1" i="0">
                <a:solidFill>
                  <a:srgbClr val="0E7490"/>
                </a:solidFill>
                <a:latin typeface="Helvetica Neue"/>
                <a:ea typeface="PingFang SC"/>
              </a:rPr>
              <a:t>① 不确定的交给人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" y="4937760"/>
            <a:ext cx="2148840" cy="7863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0">
                <a:solidFill>
                  <a:srgbClr val="333E4F"/>
                </a:solidFill>
                <a:latin typeface="Helvetica Neue"/>
                <a:ea typeface="PingFang SC"/>
              </a:rPr>
              <a:t>低于阈值的条目带完整上下文进复核队列。复核人只看该看的那一段，不用满屏去找。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5010912"/>
            <a:ext cx="2377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1" i="0">
                <a:solidFill>
                  <a:srgbClr val="B45309"/>
                </a:solidFill>
                <a:latin typeface="Helvetica Neue"/>
                <a:ea typeface="PingFang SC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68319" y="4462272"/>
            <a:ext cx="2551176" cy="1371600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669487" y="4608576"/>
            <a:ext cx="2148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1" i="0">
                <a:solidFill>
                  <a:srgbClr val="0E7490"/>
                </a:solidFill>
                <a:latin typeface="Helvetica Neue"/>
                <a:ea typeface="PingFang SC"/>
              </a:rPr>
              <a:t>② 修正当场结构化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69487" y="4937760"/>
            <a:ext cx="2148840" cy="7863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0">
                <a:solidFill>
                  <a:srgbClr val="333E4F"/>
                </a:solidFill>
                <a:latin typeface="Helvetica Neue"/>
                <a:ea typeface="PingFang SC"/>
              </a:rPr>
              <a:t>每一次修改都落成一条显式规则，带版本、带适用范围，而不是悄悄进一个向量库。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56071" y="5010912"/>
            <a:ext cx="2377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1" i="0">
                <a:solidFill>
                  <a:srgbClr val="B45309"/>
                </a:solidFill>
                <a:latin typeface="Helvetica Neue"/>
                <a:ea typeface="PingFang SC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78270" y="4462272"/>
            <a:ext cx="2551176" cy="1371600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79438" y="4608576"/>
            <a:ext cx="2148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1" i="0">
                <a:solidFill>
                  <a:srgbClr val="0E7490"/>
                </a:solidFill>
                <a:latin typeface="Helvetica Neue"/>
                <a:ea typeface="PingFang SC"/>
              </a:rPr>
              <a:t>③ 回灌语料与回放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4937760"/>
            <a:ext cx="2148840" cy="7863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0">
                <a:solidFill>
                  <a:srgbClr val="333E4F"/>
                </a:solidFill>
                <a:latin typeface="Helvetica Neue"/>
                <a:ea typeface="PingFang SC"/>
              </a:rPr>
              <a:t>规则和修正一起进评测语料。真值来自已经结完的账，把智能体丢回历史期间重跑就能打分。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6022" y="5010912"/>
            <a:ext cx="2377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1" i="0">
                <a:solidFill>
                  <a:srgbClr val="B45309"/>
                </a:solidFill>
                <a:latin typeface="Helvetica Neue"/>
                <a:ea typeface="PingFang SC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88221" y="4462272"/>
            <a:ext cx="2551176" cy="1371600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289389" y="4608576"/>
            <a:ext cx="2148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1" i="0">
                <a:solidFill>
                  <a:srgbClr val="0E7490"/>
                </a:solidFill>
                <a:latin typeface="Helvetica Neue"/>
                <a:ea typeface="PingFang SC"/>
              </a:rPr>
              <a:t>④ 下一轮少问一次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89389" y="4937760"/>
            <a:ext cx="2148840" cy="7863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0">
                <a:solidFill>
                  <a:srgbClr val="333E4F"/>
                </a:solidFill>
                <a:latin typeface="Helvetica Neue"/>
                <a:ea typeface="PingFang SC"/>
              </a:rPr>
              <a:t>规则先命中，模型少猜。模型或提示词一改，先过语料回归，再碰客户。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961888"/>
            <a:ext cx="10874959" cy="457200"/>
          </a:xfrm>
          <a:prstGeom prst="roundRect">
            <a:avLst>
              <a:gd name="adj" fmla="val 4000"/>
            </a:avLst>
          </a:prstGeom>
          <a:solidFill>
            <a:srgbClr val="111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50976" y="6071616"/>
            <a:ext cx="1028974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>
                <a:solidFill>
                  <a:srgbClr val="FFFFFF"/>
                </a:solidFill>
                <a:latin typeface="Helvetica Neue"/>
                <a:ea typeface="PingFang SC"/>
              </a:rPr>
              <a:t>这就是飞轮：客户每复核一条，系统下一次就少问一条。自动过账率往上走，复核量往下走，而这条阈值就是钱。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01807" y="6528816"/>
            <a:ext cx="731520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D5DCE4"/>
                </a:solidFill>
                <a:latin typeface="Helvetica Neue"/>
                <a:ea typeface="PingFang SC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108749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1">
                <a:solidFill>
                  <a:srgbClr val="0E7490"/>
                </a:solidFill>
                <a:latin typeface="Helvetica Neue"/>
                <a:ea typeface="PingFang SC"/>
              </a:rPr>
              <a:t>关键部件 · 4 /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11A27"/>
                </a:solidFill>
                <a:latin typeface="Helvetica Neue"/>
                <a:ea typeface="PingFang SC"/>
              </a:rPr>
              <a:t>界面：按需生成，归客户所有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16736"/>
            <a:ext cx="104241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333E4F"/>
                </a:solidFill>
                <a:latin typeface="Helvetica Neue"/>
                <a:ea typeface="PingFang SC"/>
              </a:rPr>
              <a:t>传统软件必须先想好界面长什么样，再把所有客户塞进同一套界面里。如果界面可以按需生成、而且能沉淀下来复用，这个约束就没了。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65960"/>
            <a:ext cx="2551176" cy="1828800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121408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1">
                <a:solidFill>
                  <a:srgbClr val="0E7490"/>
                </a:solidFill>
                <a:latin typeface="Helvetica Neue"/>
                <a:ea typeface="PingFang SC"/>
              </a:rPr>
              <a:t>① 按需生成，不预先设计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468880"/>
            <a:ext cx="2148840" cy="1170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333E4F"/>
                </a:solidFill>
                <a:latin typeface="Helvetica Neue"/>
                <a:ea typeface="PingFang SC"/>
              </a:rPr>
              <a:t>客户提一个需求，界面当场生成给他用。我们不用先想好所有人要什么，再排期。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68319" y="1965960"/>
            <a:ext cx="2551176" cy="1828800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669487" y="2121408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1">
                <a:solidFill>
                  <a:srgbClr val="0E7490"/>
                </a:solidFill>
                <a:latin typeface="Helvetica Neue"/>
                <a:ea typeface="PingFang SC"/>
              </a:rPr>
              <a:t>② 生成完要沉淀下来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69487" y="2468880"/>
            <a:ext cx="2148840" cy="1170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333E4F"/>
                </a:solidFill>
                <a:latin typeface="Helvetica Neue"/>
                <a:ea typeface="PingFang SC"/>
              </a:rPr>
              <a:t>用得顺的界面存成他自己的资产，下次直接调用，而不是每次重新生成、每次都不一样。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270" y="1965960"/>
            <a:ext cx="2551176" cy="1828800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79438" y="2121408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1">
                <a:solidFill>
                  <a:srgbClr val="0E7490"/>
                </a:solidFill>
                <a:latin typeface="Helvetica Neue"/>
                <a:ea typeface="PingFang SC"/>
              </a:rPr>
              <a:t>③ 用他自己的叫法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9438" y="2468880"/>
            <a:ext cx="2148840" cy="1170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333E4F"/>
                </a:solidFill>
                <a:latin typeface="Helvetica Neue"/>
                <a:ea typeface="PingFang SC"/>
              </a:rPr>
              <a:t>科目怎么叫、流程怎么走、报表长什么样，按这家客户的习惯来，不用他先学我们的术语。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88221" y="1965960"/>
            <a:ext cx="2551176" cy="1828800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289389" y="2121408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1">
                <a:solidFill>
                  <a:srgbClr val="0E7490"/>
                </a:solidFill>
                <a:latin typeface="Helvetica Neue"/>
                <a:ea typeface="PingFang SC"/>
              </a:rPr>
              <a:t>④ 归客户所有，随便改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89389" y="2468880"/>
            <a:ext cx="2148840" cy="1170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333E4F"/>
                </a:solidFill>
                <a:latin typeface="Helvetica Neue"/>
                <a:ea typeface="PingFang SC"/>
              </a:rPr>
              <a:t>这套界面是他的，他可以继续改。我们负责托管，负责它一直跑得起来。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977639"/>
            <a:ext cx="5294376" cy="1554480"/>
          </a:xfrm>
          <a:prstGeom prst="roundRect">
            <a:avLst>
              <a:gd name="adj" fmla="val 4000"/>
            </a:avLst>
          </a:prstGeom>
          <a:solidFill>
            <a:srgbClr val="FAEEE3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14400" y="4160520"/>
            <a:ext cx="4800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1">
                <a:solidFill>
                  <a:srgbClr val="B45309"/>
                </a:solidFill>
                <a:latin typeface="Helvetica Neue"/>
                <a:ea typeface="PingFang SC"/>
              </a:rPr>
              <a:t>集成的方向反过来了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498848"/>
            <a:ext cx="4800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7A3B08"/>
                </a:solidFill>
                <a:latin typeface="Helvetica Neue"/>
                <a:ea typeface="PingFang SC"/>
              </a:rPr>
              <a:t>以前是我们排期做插件，客户等我们支持他那套系统。现在客户要接什么就接什么，智能体照人的操作方式去用那个系统，不用等我们的路线图。长尾集成从我们的成本，变成客户自己的能力。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5352" y="3977639"/>
            <a:ext cx="5285232" cy="1554480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501383" y="4160520"/>
            <a:ext cx="479145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1">
                <a:solidFill>
                  <a:srgbClr val="6B7688"/>
                </a:solidFill>
                <a:latin typeface="Helvetica Neue"/>
                <a:ea typeface="PingFang SC"/>
              </a:rPr>
              <a:t>界面变了，护栏没变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01383" y="4498848"/>
            <a:ext cx="4791456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E4F"/>
                </a:solidFill>
                <a:latin typeface="Helvetica Neue"/>
                <a:ea typeface="PingFang SC"/>
              </a:rPr>
              <a:t>生成出来的界面，一样只能通过带类型的工具层动手，不变量、期间锁定、职责分离一条都绕不过去。所以界面可以随便生成，和账不会被写坏，这两件事不矛盾。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715000"/>
            <a:ext cx="10874959" cy="548640"/>
          </a:xfrm>
          <a:prstGeom prst="roundRect">
            <a:avLst>
              <a:gd name="adj" fmla="val 4000"/>
            </a:avLst>
          </a:prstGeom>
          <a:solidFill>
            <a:srgbClr val="111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50976" y="5824728"/>
            <a:ext cx="1028974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  <a:ea typeface="PingFang SC"/>
              </a:rPr>
              <a:t>传统软件的学习曲线，本质上是客户在为我们的设计买单。界面按需生成、归客户所有之后，这笔账就不存在了。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01807" y="6528816"/>
            <a:ext cx="7315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D5DCE4"/>
                </a:solidFill>
                <a:latin typeface="Helvetica Neue"/>
                <a:ea typeface="PingFang SC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801807" y="6528816"/>
            <a:ext cx="7315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D5DCE4"/>
                </a:solidFill>
                <a:latin typeface="Helvetica Neue"/>
                <a:ea typeface="PingFang SC"/>
              </a:rPr>
              <a:t>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1" i="0">
                <a:solidFill>
                  <a:srgbClr val="0E7490"/>
                </a:solidFill>
                <a:latin typeface="Helvetica Neue"/>
                <a:ea typeface="PingFang SC"/>
              </a:rPr>
              <a:t>工程形态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49808"/>
            <a:ext cx="10874959" cy="4381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600" b="1" i="0">
                <a:solidFill>
                  <a:srgbClr val="111A27"/>
                </a:solidFill>
                <a:latin typeface="Helvetica Neue"/>
                <a:ea typeface="PingFang SC"/>
              </a:rPr>
              <a:t>工程形态</a:t>
            </a:r>
            <a:r>
              <a:rPr lang="en-US" sz="2600" b="1" i="0">
                <a:solidFill>
                  <a:srgbClr val="111A27"/>
                </a:solidFill>
                <a:latin typeface="Helvetica Neue"/>
                <a:ea typeface="PingFang SC"/>
              </a:rPr>
              <a:t>的改变</a:t>
            </a:r>
            <a:endParaRPr sz="2600" b="1" i="0">
              <a:solidFill>
                <a:srgbClr val="111A27"/>
              </a:solidFill>
              <a:latin typeface="Helvetica Neue"/>
              <a:ea typeface="PingFang SC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2050530"/>
              </p:ext>
            </p:extLst>
          </p:nvPr>
        </p:nvGraphicFramePr>
        <p:xfrm>
          <a:off x="658368" y="1953330"/>
          <a:ext cx="10872216" cy="33467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943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Helvetica Neue"/>
                          <a:ea typeface="PingFang SC"/>
                        </a:rPr>
                        <a:t>分层</a:t>
                      </a:r>
                    </a:p>
                  </a:txBody>
                  <a:tcPr marR="73152" marT="36576" marB="36576" anchor="ctr">
                    <a:solidFill>
                      <a:srgbClr val="111A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Helvetica Neue"/>
                          <a:ea typeface="PingFang SC"/>
                        </a:rPr>
                        <a:t>传统软件</a:t>
                      </a:r>
                    </a:p>
                  </a:txBody>
                  <a:tcPr marR="73152" marT="36576" marB="36576" anchor="ctr">
                    <a:solidFill>
                      <a:srgbClr val="111A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Helvetica Neue"/>
                          <a:ea typeface="PingFang SC"/>
                        </a:rPr>
                        <a:t>我们</a:t>
                      </a:r>
                    </a:p>
                  </a:txBody>
                  <a:tcPr marR="73152" marT="36576" marB="36576" anchor="ctr">
                    <a:solidFill>
                      <a:srgbClr val="111A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Helvetica Neue"/>
                          <a:ea typeface="PingFang SC"/>
                        </a:rPr>
                        <a:t>变化</a:t>
                      </a:r>
                    </a:p>
                  </a:txBody>
                  <a:tcPr marR="73152" marT="36576" marB="36576" anchor="ctr">
                    <a:solidFill>
                      <a:srgbClr val="111A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111A27"/>
                          </a:solidFill>
                          <a:latin typeface="Helvetica Neue"/>
                          <a:ea typeface="PingFang SC"/>
                        </a:rPr>
                        <a:t>记录系统</a:t>
                      </a: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10–15%</a:t>
                      </a: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15–20%</a:t>
                      </a:r>
                    </a:p>
                  </a:txBody>
                  <a:tcPr marR="73152" marT="36576" marB="36576" anchor="ctr">
                    <a:solidFill>
                      <a:srgbClr val="FAEEE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lang="en-US"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同样的内核</a:t>
                      </a:r>
                      <a:r>
                        <a:rPr lang="zh-CN" altLang="en-US"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，更高的要求</a:t>
                      </a:r>
                      <a:endParaRPr sz="1150" b="0" i="0">
                        <a:solidFill>
                          <a:srgbClr val="333E4F"/>
                        </a:solidFill>
                        <a:latin typeface="Helvetica Neue"/>
                        <a:ea typeface="PingFang SC"/>
                      </a:endParaRP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111A27"/>
                          </a:solidFill>
                          <a:latin typeface="Helvetica Neue"/>
                          <a:ea typeface="PingFang SC"/>
                        </a:rPr>
                        <a:t>工具层（带类型的动作）</a:t>
                      </a:r>
                    </a:p>
                  </a:txBody>
                  <a:tcPr marR="73152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—</a:t>
                      </a:r>
                    </a:p>
                  </a:txBody>
                  <a:tcPr marR="73152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15–20%</a:t>
                      </a:r>
                    </a:p>
                  </a:txBody>
                  <a:tcPr marR="73152" marT="36576" marB="36576" anchor="ctr">
                    <a:solidFill>
                      <a:srgbClr val="FAEEE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全新，而且不等于</a:t>
                      </a:r>
                      <a:r>
                        <a:rPr lang="en-US"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传统的</a:t>
                      </a:r>
                      <a:r>
                        <a:rPr lang="zh-CN" altLang="en-US"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 </a:t>
                      </a: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API</a:t>
                      </a:r>
                    </a:p>
                  </a:txBody>
                  <a:tcPr marR="73152" marT="36576" marB="36576" anchor="ctr">
                    <a:solidFill>
                      <a:srgbClr val="F3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111A27"/>
                          </a:solidFill>
                          <a:latin typeface="Helvetica Neue"/>
                          <a:ea typeface="PingFang SC"/>
                        </a:rPr>
                        <a:t>校验与护栏</a:t>
                      </a: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—</a:t>
                      </a: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约 15%</a:t>
                      </a:r>
                    </a:p>
                  </a:txBody>
                  <a:tcPr marR="73152" marT="36576" marB="36576" anchor="ctr">
                    <a:solidFill>
                      <a:srgbClr val="FAEEE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全新，现有软件里没有对应的东西</a:t>
                      </a: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111A27"/>
                          </a:solidFill>
                          <a:latin typeface="Helvetica Neue"/>
                          <a:ea typeface="PingFang SC"/>
                        </a:rPr>
                        <a:t>评测与真值语料</a:t>
                      </a:r>
                    </a:p>
                  </a:txBody>
                  <a:tcPr marR="73152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—</a:t>
                      </a:r>
                    </a:p>
                  </a:txBody>
                  <a:tcPr marR="73152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10–15%</a:t>
                      </a:r>
                    </a:p>
                  </a:txBody>
                  <a:tcPr marR="73152" marT="36576" marB="36576" anchor="ctr">
                    <a:solidFill>
                      <a:srgbClr val="FAEEE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全新，同时当测试、也当需求</a:t>
                      </a:r>
                    </a:p>
                  </a:txBody>
                  <a:tcPr marR="73152" marT="36576" marB="36576" anchor="ctr">
                    <a:solidFill>
                      <a:srgbClr val="F3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111A27"/>
                          </a:solidFill>
                          <a:latin typeface="Helvetica Neue"/>
                          <a:ea typeface="PingFang SC"/>
                        </a:rPr>
                        <a:t>持久化编排</a:t>
                      </a: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约 2%</a:t>
                      </a: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约 </a:t>
                      </a:r>
                      <a:r>
                        <a:rPr lang="en-US" altLang="zh-CN"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5</a:t>
                      </a:r>
                      <a:r>
                        <a:rPr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%</a:t>
                      </a:r>
                    </a:p>
                  </a:txBody>
                  <a:tcPr marR="73152" marT="36576" marB="36576" anchor="ctr">
                    <a:solidFill>
                      <a:srgbClr val="FAEEE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跟定时任务、队列不是一回事</a:t>
                      </a: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111A27"/>
                          </a:solidFill>
                          <a:latin typeface="Helvetica Neue"/>
                          <a:ea typeface="PingFang SC"/>
                        </a:rPr>
                        <a:t>智能体层（提示词、记忆）</a:t>
                      </a:r>
                    </a:p>
                  </a:txBody>
                  <a:tcPr marR="73152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—</a:t>
                      </a:r>
                    </a:p>
                  </a:txBody>
                  <a:tcPr marR="73152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约 </a:t>
                      </a:r>
                      <a:r>
                        <a:rPr lang="en-US" altLang="zh-CN"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5</a:t>
                      </a:r>
                      <a:r>
                        <a:rPr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%</a:t>
                      </a:r>
                    </a:p>
                  </a:txBody>
                  <a:tcPr marR="73152" marT="36576" marB="36576" anchor="ctr">
                    <a:solidFill>
                      <a:srgbClr val="FAEEE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全新，</a:t>
                      </a:r>
                      <a:r>
                        <a:rPr lang="en-US"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但</a:t>
                      </a: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比大家想的小</a:t>
                      </a:r>
                    </a:p>
                  </a:txBody>
                  <a:tcPr marR="73152" marT="36576" marB="36576" anchor="ctr">
                    <a:solidFill>
                      <a:srgbClr val="F3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111A27"/>
                          </a:solidFill>
                          <a:latin typeface="Helvetica Neue"/>
                          <a:ea typeface="PingFang SC"/>
                        </a:rPr>
                        <a:t>界面</a:t>
                      </a: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30–40%</a:t>
                      </a: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1</a:t>
                      </a:r>
                      <a:r>
                        <a:rPr lang="en-US" altLang="zh-CN"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0</a:t>
                      </a:r>
                      <a:r>
                        <a:rPr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–</a:t>
                      </a:r>
                      <a:r>
                        <a:rPr lang="en-US" altLang="zh-CN"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15</a:t>
                      </a:r>
                      <a:r>
                        <a:rPr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%</a:t>
                      </a:r>
                    </a:p>
                  </a:txBody>
                  <a:tcPr marR="73152" marT="36576" marB="36576" anchor="ctr">
                    <a:solidFill>
                      <a:srgbClr val="FAEEE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占比降一半，性质也变了</a:t>
                      </a: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111A27"/>
                          </a:solidFill>
                          <a:latin typeface="Helvetica Neue"/>
                          <a:ea typeface="PingFang SC"/>
                        </a:rPr>
                        <a:t>数据集成</a:t>
                      </a:r>
                    </a:p>
                  </a:txBody>
                  <a:tcPr marR="73152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10–15%</a:t>
                      </a:r>
                    </a:p>
                  </a:txBody>
                  <a:tcPr marR="73152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约 10%</a:t>
                      </a:r>
                    </a:p>
                  </a:txBody>
                  <a:tcPr marR="73152" marT="36576" marB="36576" anchor="ctr">
                    <a:solidFill>
                      <a:srgbClr val="FAEEE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lang="en-US"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类似</a:t>
                      </a: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，多一层智能体兜底</a:t>
                      </a:r>
                    </a:p>
                  </a:txBody>
                  <a:tcPr marR="73152" marT="36576" marB="36576" anchor="ctr">
                    <a:solidFill>
                      <a:srgbClr val="F3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111A27"/>
                          </a:solidFill>
                          <a:latin typeface="Helvetica Neue"/>
                          <a:ea typeface="PingFang SC"/>
                        </a:rPr>
                        <a:t>平台</a:t>
                      </a: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约 15%</a:t>
                      </a: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约 15%</a:t>
                      </a:r>
                    </a:p>
                  </a:txBody>
                  <a:tcPr marR="73152" marT="36576" marB="36576" anchor="ctr">
                    <a:solidFill>
                      <a:srgbClr val="FAEEE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多了智能体身份和成本遥测</a:t>
                      </a: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595251"/>
            <a:ext cx="10874959" cy="694944"/>
          </a:xfrm>
          <a:prstGeom prst="roundRect">
            <a:avLst>
              <a:gd name="adj" fmla="val 4000"/>
            </a:avLst>
          </a:prstGeom>
          <a:solidFill>
            <a:srgbClr val="111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50976" y="5759843"/>
            <a:ext cx="1028974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Helvetica Neue"/>
                <a:ea typeface="PingFang SC"/>
              </a:rPr>
              <a:t>传统软件把工程预算花在“让人在界面上更快”。我们花在“让机器的输出在底座上站得住”。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</TotalTime>
  <Words>1865</Words>
  <Application>Microsoft Macintosh PowerPoint</Application>
  <PresentationFormat>Widescreen</PresentationFormat>
  <Paragraphs>264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Helvetica Neue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Chunliang Lyu</cp:lastModifiedBy>
  <cp:revision>14</cp:revision>
  <dcterms:created xsi:type="dcterms:W3CDTF">2013-01-27T09:14:16Z</dcterms:created>
  <dcterms:modified xsi:type="dcterms:W3CDTF">2026-08-17T01:32:04Z</dcterms:modified>
  <cp:category/>
</cp:coreProperties>
</file>