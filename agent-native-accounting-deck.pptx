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sentence before slide 2: "There are two ways to pitch AI in accounting. One is</a:t>
            </a:r>
          </a:p>
          <a:p>
            <a:r>
              <a:t>'we added a copilot to bookkeeping software.' The other is 'we replaced the bookkeeper.'</a:t>
            </a:r>
          </a:p>
          <a:p>
            <a:r>
              <a:t>Only the second one is a venture-scale business, and it requires a different architecture</a:t>
            </a:r>
          </a:p>
          <a:p>
            <a:r>
              <a:t>from the ground up. That's what this deck is about."</a:t>
            </a:r>
          </a:p>
          <a:p/>
          <a:p>
            <a:r>
              <a:t>Set expectations on structure: 5 minutes of why-this-is-structurally-different, then the</a:t>
            </a:r>
          </a:p>
          <a:p>
            <a:r>
              <a:t>technical core, then roadmap and resourcing. Tell them the technical section is the real</a:t>
            </a:r>
          </a:p>
          <a:p>
            <a:r>
              <a:t>content and to interrupt there.</a:t>
            </a:r>
          </a:p>
          <a:p/>
          <a:p>
            <a:r>
              <a:t>[FILL BEFORE USE] round, date, presenter, contact.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pitch in one slide. Deliver it, pause, then say you'll spend the rest</a:t>
            </a:r>
          </a:p>
          <a:p>
            <a:r>
              <a:t>of the time defending the third box and the bottom line.</a:t>
            </a:r>
          </a:p>
          <a:p/>
          <a:p>
            <a:r>
              <a:t>The historical framing does real work with investors: it positions this as the next step in</a:t>
            </a:r>
          </a:p>
          <a:p>
            <a:r>
              <a:t>a pattern they already believe in, rather than as AI hype. Each prior unbundling created</a:t>
            </a:r>
          </a:p>
          <a:p>
            <a:r>
              <a:t>larger companies than the one before, because each moved closer to the customer's actual</a:t>
            </a:r>
          </a:p>
          <a:p>
            <a:r>
              <a:t>spend.</a:t>
            </a:r>
          </a:p>
          <a:p/>
          <a:p>
            <a:r>
              <a:t>The bottom line is the slide's most important sentence and the one that separates us from</a:t>
            </a:r>
          </a:p>
          <a:p>
            <a:r>
              <a:t>every other "AI for X" company. Most agent startups operate in domains where you cannot</a:t>
            </a:r>
          </a:p>
          <a:p>
            <a:r>
              <a:t>tell whether the output is right — so they cap out at "assistive." Accounting has</a:t>
            </a:r>
          </a:p>
          <a:p>
            <a:r>
              <a:t>double-entry, trial-balance ties, and bank reconciliation: a machine-checkable definition</a:t>
            </a:r>
          </a:p>
          <a:p>
            <a:r>
              <a:t>of correct. That is what makes autonomy shippable here first.</a:t>
            </a:r>
          </a:p>
          <a:p/>
          <a:p>
            <a:r>
              <a:t>Likely question: "Isn't this just what Intuit will ship?" Answer on slide 8 and 16 — hold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of this slide: establish that you understand SaaS as an economic machine, not just</a:t>
            </a:r>
          </a:p>
          <a:p>
            <a:r>
              <a:t>as "the thing before AI." Investors with technical backgrounds have usually never heard the</a:t>
            </a:r>
          </a:p>
          <a:p>
            <a:r>
              <a:t>seat described as a proxy metric, and it reframes the rest of the conversation.</a:t>
            </a:r>
          </a:p>
          <a:p/>
          <a:p>
            <a:r>
              <a:t>Say out loud: "SaaS didn't win because it was in the cloud. It won because multi-tenancy</a:t>
            </a:r>
          </a:p>
          <a:p>
            <a:r>
              <a:t>made marginal cost near zero and the seat made revenue predictable. Both of those are</a:t>
            </a:r>
          </a:p>
          <a:p>
            <a:r>
              <a:t>about metering and distribution — not about the software being better."</a:t>
            </a:r>
          </a:p>
          <a:p/>
          <a:p>
            <a:r>
              <a:t>Land the last box hard. It's the pivot for the whole deck: we are not claiming SaaS was</a:t>
            </a:r>
          </a:p>
          <a:p>
            <a:r>
              <a:t>badly built. We're claiming its meter was calibrated to an assumption that no longer holds.</a:t>
            </a:r>
          </a:p>
          <a:p/>
          <a:p>
            <a:r>
              <a:t>If someone asks why history matters: because the failure mode of this category is companies</a:t>
            </a:r>
          </a:p>
          <a:p>
            <a:r>
              <a:t>that build agent features and keep seat pricing. That combination is structurally</a:t>
            </a:r>
          </a:p>
          <a:p>
            <a:r>
              <a:t>unprofitable and we want to explain why we avoided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background slide. The "human was the error-handling layer" point</a:t>
            </a:r>
          </a:p>
          <a:p>
            <a:r>
              <a:t>is the one technical investors respond to, because it reframes 25 years of software as</a:t>
            </a:r>
          </a:p>
          <a:p>
            <a:r>
              <a:t>having a much cheaper correctness contract than people realise: prevent invalid states and</a:t>
            </a:r>
          </a:p>
          <a:p>
            <a:r>
              <a:t>show a clear error. Not: produce the right answer.</a:t>
            </a:r>
          </a:p>
          <a:p/>
          <a:p>
            <a:r>
              <a:t>Say it plainly: "Every form you have ever filled in is a device for converting fuzzy human</a:t>
            </a:r>
          </a:p>
          <a:p>
            <a:r>
              <a:t>intent into a structure a program can execute. Forms are the scar tissue of software's</a:t>
            </a:r>
          </a:p>
          <a:p>
            <a:r>
              <a:t>inability to handle ambiguity."</a:t>
            </a:r>
          </a:p>
          <a:p/>
          <a:p>
            <a:r>
              <a:t>The right-hand panel sets up the TAM slide. Do NOT overclaim the number here — put the</a:t>
            </a:r>
          </a:p>
          <a:p>
            <a:r>
              <a:t>sourced figure in and cite it. If you assert a ratio you can't defend, a sharp investor</a:t>
            </a:r>
          </a:p>
          <a:p>
            <a:r>
              <a:t>will spend the rest of the meeting on it and you lose the technical section.</a:t>
            </a:r>
          </a:p>
          <a:p/>
          <a:p>
            <a:r>
              <a:t>ACTION: replace the red placeholder line before this deck leaves the room.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earns credibility with a technical audience because it refuses the hype framing.</a:t>
            </a:r>
          </a:p>
          <a:p>
            <a:r>
              <a:t>Any investor who has sat through forty AI pitches has heard "AI changes everything." Almost</a:t>
            </a:r>
          </a:p>
          <a:p>
            <a:r>
              <a:t>none have heard a precise statement of which constraints lifted.</a:t>
            </a:r>
          </a:p>
          <a:p/>
          <a:p>
            <a:r>
              <a:t>Walk the rows left to right, one sentence each. Then deliver the bottom box verbatim — it's</a:t>
            </a:r>
          </a:p>
          <a:p>
            <a:r>
              <a:t>the most quotable line in the deck and it's what they'll repeat to their partnership.</a:t>
            </a:r>
          </a:p>
          <a:p/>
          <a:p>
            <a:r>
              <a:t>Anticipated pushback: "the long tail claim is doing a lot of work." Concede partially — the</a:t>
            </a:r>
          </a:p>
          <a:p>
            <a:r>
              <a:t>marginal cost of the tail falls a lot but not to zero, and reliability on tail cases is</a:t>
            </a:r>
          </a:p>
          <a:p>
            <a:r>
              <a:t>worse than on the mode. That's precisely why the architecture has a verification layer and</a:t>
            </a:r>
          </a:p>
          <a:p>
            <a:r>
              <a:t>a human review queue rather than assumed autonomy. Point forward to slide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this one over rather than reading it. Say: "read the last four rows first." Then be</a:t>
            </a:r>
          </a:p>
          <a:p>
            <a:r>
              <a:t>quiet for five seconds — technical investors want to scan a table like this themselves.</a:t>
            </a:r>
          </a:p>
          <a:p/>
          <a:p>
            <a:r>
              <a:t>The two rows to speak to:</a:t>
            </a:r>
          </a:p>
          <a:p/>
          <a:p>
            <a:r>
              <a:t>GROSS MARGIN. This is the row that will generate the hardest question, so pre-empt it.</a:t>
            </a:r>
          </a:p>
          <a:p>
            <a:r>
              <a:t>Classic SaaS had 80% margins on day one because marginal cost was hosting. We start at</a:t>
            </a:r>
          </a:p>
          <a:p>
            <a:r>
              <a:t>services-like margins because inference and human review are real COGS, and we climb as</a:t>
            </a:r>
          </a:p>
          <a:p>
            <a:r>
              <a:t>automation rate rises and token prices fall. Our financial story is not "we have SaaS</a:t>
            </a:r>
          </a:p>
          <a:p>
            <a:r>
              <a:t>margins" — it is "we have a margin slope." Anyone who claims 80% gross margin in year one</a:t>
            </a:r>
          </a:p>
          <a:p>
            <a:r>
              <a:t>in this category is either subsidising with venture money or not measuring properly.</a:t>
            </a:r>
          </a:p>
          <a:p/>
          <a:p>
            <a:r>
              <a:t>BENCHMARKED AGAINST. Our competitor is not Xero. It's the decision to hire a bookkeeper.</a:t>
            </a:r>
          </a:p>
          <a:p>
            <a:r>
              <a:t>That changes the price ceiling by an order of magnitude, and it changes the sale: it's</a:t>
            </a:r>
          </a:p>
          <a:p>
            <a:r>
              <a:t>bought from a labour budget by a P&amp;L owner, so the scrutiny is on reliability and liability</a:t>
            </a:r>
          </a:p>
          <a:p>
            <a:r>
              <a:t>rather than on features.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Pace: 30 seconds per left-hand item, then hand the right side over.</a:t>
            </a:r>
          </a:p>
          <a:p/>
          <a:p>
            <a:r>
              <a:t>The "what does not change" box is deliberate and it does more for credibility than anything</a:t>
            </a:r>
          </a:p>
          <a:p>
            <a:r>
              <a:t>else on the slide. Every investor in this category has heard someone claim agents make</a:t>
            </a:r>
          </a:p>
          <a:p>
            <a:r>
              <a:t>databases or SaaS obsolete. Saying plainly that the system of record becomes MORE important</a:t>
            </a:r>
          </a:p>
          <a:p>
            <a:r>
              <a:t>signals that we've actually built something.</a:t>
            </a:r>
          </a:p>
          <a:p/>
          <a:p>
            <a:r>
              <a:t>On the moat: draw out permission specifically. UI habit is a preference, and preferences</a:t>
            </a:r>
          </a:p>
          <a:p>
            <a:r>
              <a:t>get overridden. Write access to a company's ledger and its bank is a governance decision</a:t>
            </a:r>
          </a:p>
          <a:p>
            <a:r>
              <a:t>with a liability trail — reversing it requires a board-level conversation, not a</a:t>
            </a:r>
          </a:p>
          <a:p>
            <a:r>
              <a:t>preference change. That is a materially stronger switching cost than anything SaaS had.</a:t>
            </a:r>
          </a:p>
          <a:p/>
          <a:p>
            <a:r>
              <a:t>If asked "which of the four moats do you have today?" — be honest. Verification is built,</a:t>
            </a:r>
          </a:p>
          <a:p>
            <a:r>
              <a:t>evals are in progress, context accrues per customer per month, permission comes with</a:t>
            </a:r>
          </a:p>
          <a:p>
            <a:r>
              <a:t>each deployment. Don't claim all four are mature.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"why won't you get killed by a horizontal agent platform"</a:t>
            </a:r>
          </a:p>
          <a:p>
            <a:r>
              <a:t>and "why this vertical." Both answers are the same: the oracle.</a:t>
            </a:r>
          </a:p>
          <a:p/>
          <a:p>
            <a:r>
              <a:t>Make the general point first — in law, in consulting, in most knowledge work, you cannot</a:t>
            </a:r>
          </a:p>
          <a:p>
            <a:r>
              <a:t>mechanically check the answer, so the product ceiling is assistive and the human never</a:t>
            </a:r>
          </a:p>
          <a:p>
            <a:r>
              <a:t>leaves the loop. In accounting the invariants are the check. We didn't choose this market</a:t>
            </a:r>
          </a:p>
          <a:p>
            <a:r>
              <a:t>because accounting is exciting. We chose it because it is verifiable.</a:t>
            </a:r>
          </a:p>
          <a:p/>
          <a:p>
            <a:r>
              <a:t>Then the consequence, which is the commercially important half: verification lets us</a:t>
            </a:r>
          </a:p>
          <a:p>
            <a:r>
              <a:t>auto-post with a provable error bound. That is what makes autonomy sellable to a CFO and</a:t>
            </a:r>
          </a:p>
          <a:p>
            <a:r>
              <a:t>defensible to an auditor.</a:t>
            </a:r>
          </a:p>
          <a:p/>
          <a:p>
            <a:r>
              <a:t>Have the design-partner margin data ready as a backup slide if asked. If we don't have it</a:t>
            </a:r>
          </a:p>
          <a:p>
            <a:r>
              <a:t>yet, say so and give the theoretical basis — don't invent a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the most time here. Read the title as a sentence — it is the design philosophy in</a:t>
            </a:r>
          </a:p>
          <a:p>
            <a:r>
              <a:t>nine words.</a:t>
            </a:r>
          </a:p>
          <a:p/>
          <a:p>
            <a:r>
              <a:t>Walk it bottom-up, not top-down: ingestion, ledger, tools, orchestration, agents,</a:t>
            </a:r>
          </a:p>
          <a:p>
            <a:r>
              <a:t>verification, UI. Bottom-up is the build order and it makes the dependency structure</a:t>
            </a:r>
          </a:p>
          <a:p>
            <a:r>
              <a:t>obvious.</a:t>
            </a:r>
          </a:p>
          <a:p/>
          <a:p>
            <a:r>
              <a:t>The point to hammer: the three diamonds are where the value is, and the agent layer is not</a:t>
            </a:r>
          </a:p>
          <a:p>
            <a:r>
              <a:t>one of them. Prompts are the cheapest and most replaceable component in the system. Teams</a:t>
            </a:r>
          </a:p>
          <a:p>
            <a:r>
              <a:t>in this category consistently over-invest in the agent layer because it is the visible,</a:t>
            </a:r>
          </a:p>
          <a:p>
            <a:r>
              <a:t>fun part, then discover they have no verification and no evals and cannot tell whether</a:t>
            </a:r>
          </a:p>
          <a:p>
            <a:r>
              <a:t>they are improving. We inverted that.</a:t>
            </a:r>
          </a:p>
          <a:p/>
          <a:p>
            <a:r>
              <a:t>Second point: note that verification sits ABOVE the agent and BELOW the customer. Nothing</a:t>
            </a:r>
          </a:p>
          <a:p>
            <a:r>
              <a:t>the agent produces reaches the books without passing deterministic checks first. That is</a:t>
            </a:r>
          </a:p>
          <a:p>
            <a:r>
              <a:t>an architectural guarantee, not a policy.</a:t>
            </a:r>
          </a:p>
          <a:p/>
          <a:p>
            <a:r>
              <a:t>Expect: "why durable orchestration rather than letting the agent plan?" Answer: a month-end</a:t>
            </a:r>
          </a:p>
          <a:p>
            <a:r>
              <a:t>close is a known checklist, spanning days, waiting on a client's email, needing compensation</a:t>
            </a:r>
          </a:p>
          <a:p>
            <a:r>
              <a:t>logic on failure. We model the known process deterministically and use agents only inside</a:t>
            </a:r>
          </a:p>
          <a:p>
            <a:r>
              <a:t>the judgment-bearing steps. Free-roaming agency over a general ledger is how you get an</a:t>
            </a:r>
          </a:p>
          <a:p>
            <a:r>
              <a:t>unexplainable restatement.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land: "this is the layer a competitor cannot copy by copying our prompts."</a:t>
            </a:r>
          </a:p>
          <a:p/>
          <a:p>
            <a:r>
              <a:t>Bitemporality usually needs an example. Use this one: a customer's March books were closed</a:t>
            </a:r>
          </a:p>
          <a:p>
            <a:r>
              <a:t>in April. In June, an auditor asks what we believed on 31 March and why. A normal SaaS</a:t>
            </a:r>
          </a:p>
          <a:p>
            <a:r>
              <a:t>database cannot answer that — it only holds current state. We can, because we store both</a:t>
            </a:r>
          </a:p>
          <a:p>
            <a:r>
              <a:t>when a fact became true and when we learned it. The same mechanism is what lets us take</a:t>
            </a:r>
          </a:p>
          <a:p>
            <a:r>
              <a:t>last year's real closed books and replay our agents against them to measure accuracy —</a:t>
            </a:r>
          </a:p>
          <a:p>
            <a:r>
              <a:t>which is our entire eval strategy, and it is only possible because of this schema choice.</a:t>
            </a:r>
          </a:p>
          <a:p/>
          <a:p>
            <a:r>
              <a:t>If a technical investor pushes on cost: yes, append-only bitemporal ledgers are more</a:t>
            </a:r>
          </a:p>
          <a:p>
            <a:r>
              <a:t>expensive to build and query than mutable tables, and we accepted that deliberately in</a:t>
            </a:r>
          </a:p>
          <a:p>
            <a:r>
              <a:t>month one because it is unrecoverable later.</a:t>
            </a:r>
          </a:p>
          <a:p/>
          <a:p>
            <a:r>
              <a:t>Note the last line — this layer is 15-20% of effort and almost none of the demo. That</a:t>
            </a:r>
          </a:p>
          <a:p>
            <a:r>
              <a:t>asymmetry is worth stating; it tells them where our engineering judgment 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error-message point is the one that convinces engineers we've actually shipped this.</a:t>
            </a:r>
          </a:p>
          <a:p>
            <a:r>
              <a:t>Nobody who hasn't built an agent system thinks about error strings as a functional</a:t>
            </a:r>
          </a:p>
          <a:p>
            <a:r>
              <a:t>requirement. Give the concrete example verbatim — the unbalanced-entry one.</a:t>
            </a:r>
          </a:p>
          <a:p/>
          <a:p>
            <a:r>
              <a:t>The inverted trust relationship is the second thing to emphasise. Every SaaS engineer has</a:t>
            </a:r>
          </a:p>
          <a:p>
            <a:r>
              <a:t>written validation in the frontend and trusted it. You cannot do that when the caller is a</a:t>
            </a:r>
          </a:p>
          <a:p>
            <a:r>
              <a:t>model, so the invariant has to live in the tool. It's a small idea with large consequences</a:t>
            </a:r>
          </a:p>
          <a:p>
            <a:r>
              <a:t>for how the codebase is organised.</a:t>
            </a:r>
          </a:p>
          <a:p/>
          <a:p>
            <a:r>
              <a:t>The right-hand rule box is the thing to repeat if you only get one point across: the model</a:t>
            </a:r>
          </a:p>
          <a:p>
            <a:r>
              <a:t>never does arithmetic. Every wrong number a competitor's demo produces comes from letting</a:t>
            </a:r>
          </a:p>
          <a:p>
            <a:r>
              <a:t>the model compute instead of calling a tool that computes.</a:t>
            </a:r>
          </a:p>
          <a:p/>
          <a:p>
            <a:r>
              <a:t>If asked about MCP or protocol standardisation: we're compatible with it but it's an</a:t>
            </a:r>
          </a:p>
          <a:p>
            <a:r>
              <a:t>integration detail, not the hard part. The hard part is designing the right ~30 tools at</a:t>
            </a:r>
          </a:p>
          <a:p>
            <a:r>
              <a:t>the right granularity with the right invariants, and that took domain experts, not</a:t>
            </a:r>
          </a:p>
          <a:p>
            <a:r>
              <a:t>protocol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technical heart of the deck. If they remember one architecture slide, it should</a:t>
            </a:r>
          </a:p>
          <a:p>
            <a:r>
              <a:t>be this one.</a:t>
            </a:r>
          </a:p>
          <a:p/>
          <a:p>
            <a:r>
              <a:t>Open with the syntactic-to-semantic line. Then the three tiers, briefly. Then spend your</a:t>
            </a:r>
          </a:p>
          <a:p>
            <a:r>
              <a:t>remaining time on the bottom-left box, because it is the most common failure in the</a:t>
            </a:r>
          </a:p>
          <a:p>
            <a:r>
              <a:t>category and stating it clearly is a credibility signal: models are overconfident, so</a:t>
            </a:r>
          </a:p>
          <a:p>
            <a:r>
              <a:t>self-reported confidence is not a control. We derive confidence from verification signals</a:t>
            </a:r>
          </a:p>
          <a:p>
            <a:r>
              <a:t>and from agreement between independent passes.</a:t>
            </a:r>
          </a:p>
          <a:p/>
          <a:p>
            <a:r>
              <a:t>Then the commercial translation: the routing threshold IS the business model. Move it up</a:t>
            </a:r>
          </a:p>
          <a:p>
            <a:r>
              <a:t>and margin improves but error rate rises; move it down and we're a services company. The</a:t>
            </a:r>
          </a:p>
          <a:p>
            <a:r>
              <a:t>whole engineering programme is about raising the threshold safely, and that is measurable</a:t>
            </a:r>
          </a:p>
          <a:p>
            <a:r>
              <a:t>week over week.</a:t>
            </a:r>
          </a:p>
          <a:p/>
          <a:p>
            <a:r>
              <a:t>Say explicitly: this is why our margin slope is a forecast rather than a hope. We can see</a:t>
            </a:r>
          </a:p>
          <a:p>
            <a:r>
              <a:t>the auto-post rate per transaction category and we know what each point is worth.</a:t>
            </a:r>
          </a:p>
          <a:p/>
          <a:p>
            <a:r>
              <a:t>Likely question: "what's your current auto-post rate?" Have the real number by category,</a:t>
            </a:r>
          </a:p>
          <a:p>
            <a:r>
              <a:t>with the denominator defined. If it's early, give the number and the trend. Never give a</a:t>
            </a:r>
          </a:p>
          <a:p>
            <a:r>
              <a:t>blended number without the denominator — a technical investor will assume you're hiding</a:t>
            </a:r>
          </a:p>
          <a:p>
            <a:r>
              <a:t>the mix.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get across.</a:t>
            </a:r>
          </a:p>
          <a:p/>
          <a:p>
            <a:r>
              <a:t>First, that evals are harder than the product and we know it. Teams underinvest here, lose</a:t>
            </a:r>
          </a:p>
          <a:p>
            <a:r>
              <a:t>the ability to tell whether they're improving, and then optimise on vibes. Our eval corpus</a:t>
            </a:r>
          </a:p>
          <a:p>
            <a:r>
              <a:t>is the most valuable engineering artefact we will build, and it needs a data pipeline plus</a:t>
            </a:r>
          </a:p>
          <a:p>
            <a:r>
              <a:t>domain experts — not a prompt engineer.</a:t>
            </a:r>
          </a:p>
          <a:p/>
          <a:p>
            <a:r>
              <a:t>Second, the roadmap-unit change on the right. This is genuinely useful to an investor</a:t>
            </a:r>
          </a:p>
          <a:p>
            <a:r>
              <a:t>because it tells them what our board reporting will look like. We will not come to you with</a:t>
            </a:r>
          </a:p>
          <a:p>
            <a:r>
              <a:t>"we shipped feature X." We will come with "auto-post rate on this category moved from 71 to</a:t>
            </a:r>
          </a:p>
          <a:p>
            <a:r>
              <a:t>88, here is what that is worth in gross margin." That's a much better governance</a:t>
            </a:r>
          </a:p>
          <a:p>
            <a:r>
              <a:t>relationship and you should say so.</a:t>
            </a:r>
          </a:p>
          <a:p/>
          <a:p>
            <a:r>
              <a:t>The competitive point: prompts are copyable in an afternoon. A corpus of thousands of</a:t>
            </a:r>
          </a:p>
          <a:p>
            <a:r>
              <a:t>verified closes, with the reviewer corrections attached, is years of accumulated work tied</a:t>
            </a:r>
          </a:p>
          <a:p>
            <a:r>
              <a:t>to customer relationships. When someone asks what stops a well-funded competitor, this is</a:t>
            </a:r>
          </a:p>
          <a:p>
            <a:r>
              <a:t>the honest answer — this and permission.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this slide and do not soften it. Volunteering the hard problems, with the</a:t>
            </a:r>
          </a:p>
          <a:p>
            <a:r>
              <a:t>mitigations already built, is the strongest credibility move available in an AI pitch —</a:t>
            </a:r>
          </a:p>
          <a:p>
            <a:r>
              <a:t>because every sophisticated investor already knows about compounding error rates and is</a:t>
            </a:r>
          </a:p>
          <a:p>
            <a:r>
              <a:t>waiting to see whether you do.</a:t>
            </a:r>
          </a:p>
          <a:p/>
          <a:p>
            <a:r>
              <a:t>On reliability: the arithmetic is the argument. 0.95^20 = 0.36. Say the number. Then make</a:t>
            </a:r>
          </a:p>
          <a:p>
            <a:r>
              <a:t>clear the fix is architectural, not a better prompt, and that our architecture (slide 9)</a:t>
            </a:r>
          </a:p>
          <a:p>
            <a:r>
              <a:t>was designed around exactly this — short spans, verification between them, deterministic</a:t>
            </a:r>
          </a:p>
          <a:p>
            <a:r>
              <a:t>orchestration.</a:t>
            </a:r>
          </a:p>
          <a:p/>
          <a:p>
            <a:r>
              <a:t>Offer the filter explicitly: "when you evaluate others in this space, ask how long their</a:t>
            </a:r>
          </a:p>
          <a:p>
            <a:r>
              <a:t>autonomous chains are and what verifies each step. It's a fast way to tell who has shipped."</a:t>
            </a:r>
          </a:p>
          <a:p/>
          <a:p>
            <a:r>
              <a:t>On security: prompt injection into an agent with ledger write access and bank access is the</a:t>
            </a:r>
          </a:p>
          <a:p>
            <a:r>
              <a:t>scenario that should worry a CFO, and we should be the ones to raise it. Walk the four</a:t>
            </a:r>
          </a:p>
          <a:p>
            <a:r>
              <a:t>mitigations. The separation-of-duties-in-code point resonates with anyone who knows</a:t>
            </a:r>
          </a:p>
          <a:p>
            <a:r>
              <a:t>financial controls — we applied a human control framework to a software actor.</a:t>
            </a:r>
          </a:p>
          <a:p/>
          <a:p>
            <a:r>
              <a:t>The 60/40 trap: this is why we measure hours, not transaction counts. A competitor</a:t>
            </a:r>
          </a:p>
          <a:p>
            <a:r>
              <a:t>reporting "we automate 80% of transactions" may have automated 30% of the cost.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Percentages are directional — the shape of such codebases rather than measured data. Say</a:t>
            </a:r>
          </a:p>
          <a:p>
            <a:r>
              <a:t>that out loud; a technical investor will respect the caveat and stop probing the digits.</a:t>
            </a:r>
          </a:p>
          <a:p/>
          <a:p>
            <a:r>
              <a:t>Two observations to draw out:</a:t>
            </a:r>
          </a:p>
          <a:p/>
          <a:p>
            <a:r>
              <a:t>The interface absorbed all the heterogeneity in SaaS. Every new segment, edge case and</a:t>
            </a:r>
          </a:p>
          <a:p>
            <a:r>
              <a:t>regulatory variation arrived as a new screen, field or report, while the domain model</a:t>
            </a:r>
          </a:p>
          <a:p>
            <a:r>
              <a:t>absorbed almost none of it. Interface complexity is customer diversity projected onto</a:t>
            </a:r>
          </a:p>
          <a:p>
            <a:r>
              <a:t>deterministic code. Agents absorb that diversity in the model instead, which is why the UI</a:t>
            </a:r>
          </a:p>
          <a:p>
            <a:r>
              <a:t>share roughly halves.</a:t>
            </a:r>
          </a:p>
          <a:p/>
          <a:p>
            <a:r>
              <a:t>The agent layer is one of the smallest lines. Repeat it here — it's the second time they'll</a:t>
            </a:r>
          </a:p>
          <a:p>
            <a:r>
              <a:t>hear it and it's the most counterintuitive thing in the deck.</a:t>
            </a:r>
          </a:p>
          <a:p/>
          <a:p>
            <a:r>
              <a:t>The closing line in the dark box is the one-sentence summary of the entire technical</a:t>
            </a:r>
          </a:p>
          <a:p>
            <a:r>
              <a:t>section. Deliver it and stop; it is a good place to take questions before the roadmap.</a:t>
            </a:r>
          </a:p>
          <a:p/>
          <a:p>
            <a:r>
              <a:t>If asked "so is your headcount lower than a comparable SaaS company?" — no, it's differently</a:t>
            </a:r>
          </a:p>
          <a:p>
            <a:r>
              <a:t>shaped: fewer frontend engineers, more data and infra engineers, plus domain experts inside</a:t>
            </a:r>
          </a:p>
          <a:p>
            <a:r>
              <a:t>the loop. Slide 17.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sequencing logic at the bottom is the point of the slide; the bullets are supporting</a:t>
            </a:r>
          </a:p>
          <a:p>
            <a:r>
              <a:t>detail. Two reasons to wrap first: distribution and trust are easier, and — the real reason</a:t>
            </a:r>
          </a:p>
          <a:p>
            <a:r>
              <a:t>— wrapping generates the labelled ground truth we need before we can justify owning the</a:t>
            </a:r>
          </a:p>
          <a:p>
            <a:r>
              <a:t>record.</a:t>
            </a:r>
          </a:p>
          <a:p/>
          <a:p>
            <a:r>
              <a:t>Be explicit about what we do NOT defer: the substrate. The ledger, provenance and tool</a:t>
            </a:r>
          </a:p>
          <a:p>
            <a:r>
              <a:t>layer are built from month one even while we're wrapping, because they are schema decisions</a:t>
            </a:r>
          </a:p>
          <a:p>
            <a:r>
              <a:t>that cannot be retrofitted. A competitor who ships a QBO wrapper without a substrate looks</a:t>
            </a:r>
          </a:p>
          <a:p>
            <a:r>
              <a:t>faster for a year and then cannot make phase 2 at all. That is the strategic bet in one</a:t>
            </a:r>
          </a:p>
          <a:p>
            <a:r>
              <a:t>sentence.</a:t>
            </a:r>
          </a:p>
          <a:p/>
          <a:p>
            <a:r>
              <a:t>Flag migration honestly as the most underestimated line item in phase 2. Bringing a</a:t>
            </a:r>
          </a:p>
          <a:p>
            <a:r>
              <a:t>customer's historical books onto our substrate is large, correctness-critical and the first</a:t>
            </a:r>
          </a:p>
          <a:p>
            <a:r>
              <a:t>thing every single customer asks for.</a:t>
            </a:r>
          </a:p>
          <a:p/>
          <a:p>
            <a:r>
              <a:t>[FILL BEFORE USE] the bracketed durations and the phase-2 hours-per-close target. Use your</a:t>
            </a:r>
          </a:p>
          <a:p>
            <a:r>
              <a:t>real design-partner data; do not present illustrative timings as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Headcount figures are illustrative shape, not a hiring plan — say so, then talk about the</a:t>
            </a:r>
          </a:p>
          <a:p>
            <a:r>
              <a:t>shape rather than the digits, because the shape is the insight.</a:t>
            </a:r>
          </a:p>
          <a:p/>
          <a:p>
            <a:r>
              <a:t>Three things to draw out:</a:t>
            </a:r>
          </a:p>
          <a:p/>
          <a:p>
            <a:r>
              <a:t>"Accountants in the loop" is the largest single line in phase 2 and it is deliberate. They</a:t>
            </a:r>
          </a:p>
          <a:p>
            <a:r>
              <a:t>are simultaneously service delivery, our labelling function, and our spec authors. An</a:t>
            </a:r>
          </a:p>
          <a:p>
            <a:r>
              <a:t>investor may read this as services-y headcount that hurts the multiple. The answer: it</a:t>
            </a:r>
          </a:p>
          <a:p>
            <a:r>
              <a:t>grows sublinearly with revenue and it is what produces the eval corpus, which is the moat.</a:t>
            </a:r>
          </a:p>
          <a:p>
            <a:r>
              <a:t>Show the ratio of entities-per-reviewer improving over cohorts — that ratio is the whole</a:t>
            </a:r>
          </a:p>
          <a:p>
            <a:r>
              <a:t>argument, and it's the number to put on a board slide every month.</a:t>
            </a:r>
          </a:p>
          <a:p/>
          <a:p>
            <a:r>
              <a:t>Evals and data engineering is larger than applied ML. That is intentional and it is the</a:t>
            </a:r>
          </a:p>
          <a:p>
            <a:r>
              <a:t>opposite of how most AI startups staff. Prompts are cheap; ground truth is not.</a:t>
            </a:r>
          </a:p>
          <a:p/>
          <a:p>
            <a:r>
              <a:t>Inference sits in COGS, not R&amp;D. Most decks in this category get this wrong. Putting it in</a:t>
            </a:r>
          </a:p>
          <a:p>
            <a:r>
              <a:t>COGS is what makes the gross-margin slope on slide 6 honest.</a:t>
            </a:r>
          </a:p>
          <a:p/>
          <a:p>
            <a:r>
              <a:t>[FILL BEFORE USE] the capital ask, the milestone it buys, and the non-headcount figures.</a:t>
            </a:r>
          </a:p>
          <a:p>
            <a:r>
              <a:t>Never present the bracketed placeholders live.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handing them the scorecard. Offering the metrics you can be judged on — including</a:t>
            </a:r>
          </a:p>
          <a:p>
            <a:r>
              <a:t>the one that can kill the company — is a stronger close than a projection, and it sets up</a:t>
            </a:r>
          </a:p>
          <a:p>
            <a:r>
              <a:t>the board relationship you actually want.</a:t>
            </a:r>
          </a:p>
          <a:p/>
          <a:p>
            <a:r>
              <a:t>On auto-post rate: always with the denominator and the category mix. A blended number</a:t>
            </a:r>
          </a:p>
          <a:p>
            <a:r>
              <a:t>without a denominator is the standard way companies in this category flatter themselves,</a:t>
            </a:r>
          </a:p>
          <a:p>
            <a:r>
              <a:t>and a technical investor will assume that's what's happening unless you pre-empt it.</a:t>
            </a:r>
          </a:p>
          <a:p/>
          <a:p>
            <a:r>
              <a:t>On restatement rate: note deliberately that this one is governed against an absolute</a:t>
            </a:r>
          </a:p>
          <a:p>
            <a:r>
              <a:t>ceiling, not a trend. Everything else we optimise; this one we bound. That distinction is</a:t>
            </a:r>
          </a:p>
          <a:p>
            <a:r>
              <a:t>what a CFO needs to hear before granting write access, and it's what an investor needs to</a:t>
            </a:r>
          </a:p>
          <a:p>
            <a:r>
              <a:t>hear to believe we understand the liability.</a:t>
            </a:r>
          </a:p>
          <a:p/>
          <a:p>
            <a:r>
              <a:t>Final line is the positioning statement. Say it, stop, and take questions.</a:t>
            </a:r>
          </a:p>
          <a:p/>
          <a:p>
            <a:r>
              <a:t>Backup slides worth having ready: unit economics / cost-per-close model, the</a:t>
            </a:r>
          </a:p>
          <a:p>
            <a:r>
              <a:t>software-spend-vs-labour-spend sourcing, design-partner results, competitive landscape</a:t>
            </a:r>
          </a:p>
          <a:p>
            <a:r>
              <a:t>(incumbents vs. agent-native), and the liability and attestation structure.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1695" cy="76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371600"/>
            <a:ext cx="10874959" cy="274320"/>
          </a:xfrm>
          <a:prstGeom prst="rect">
            <a:avLst/>
          </a:prstGeom>
          <a:noFill/>
        </p:spPr>
        <p:txBody>
          <a:bodyPr wrap="square" anchor="t" lIns="0" rIns="0" tIns="0" bIns="0">
            <a:spAutoFit/>
          </a:bodyPr>
          <a:lstStyle/>
          <a:p>
            <a:pPr algn="l">
              <a:lnSpc>
                <a:spcPct val="125000"/>
              </a:lnSpc>
              <a:spcAft>
                <a:spcPts val="600"/>
              </a:spcAft>
            </a:pPr>
            <a:r>
              <a:rPr sz="1150" b="1">
                <a:solidFill>
                  <a:srgbClr val="7AB8C8"/>
                </a:solidFill>
                <a:latin typeface="Helvetica Neue"/>
              </a:rPr>
              <a:t>COMPANY STRATEGY · SERIES [X] · [MONTH] 2026</a:t>
            </a:r>
          </a:p>
        </p:txBody>
      </p:sp>
      <p:sp>
        <p:nvSpPr>
          <p:cNvPr id="5" name="TextBox 4"/>
          <p:cNvSpPr txBox="1"/>
          <p:nvPr/>
        </p:nvSpPr>
        <p:spPr>
          <a:xfrm>
            <a:off x="658368" y="1874519"/>
            <a:ext cx="9692640" cy="1920240"/>
          </a:xfrm>
          <a:prstGeom prst="rect">
            <a:avLst/>
          </a:prstGeom>
          <a:noFill/>
        </p:spPr>
        <p:txBody>
          <a:bodyPr wrap="square" anchor="t" lIns="0" rIns="0" tIns="0" bIns="0">
            <a:spAutoFit/>
          </a:bodyPr>
          <a:lstStyle/>
          <a:p>
            <a:pPr algn="l">
              <a:lnSpc>
                <a:spcPct val="108000"/>
              </a:lnSpc>
              <a:spcAft>
                <a:spcPts val="600"/>
              </a:spcAft>
            </a:pPr>
            <a:r>
              <a:rPr sz="4200" b="1">
                <a:solidFill>
                  <a:srgbClr val="FFFFFF"/>
                </a:solidFill>
                <a:latin typeface="Helvetica Neue"/>
              </a:rPr>
              <a:t>The Accounting Department,
Delivered as Software</a:t>
            </a:r>
          </a:p>
        </p:txBody>
      </p:sp>
      <p:sp>
        <p:nvSpPr>
          <p:cNvPr id="6" name="TextBox 5"/>
          <p:cNvSpPr txBox="1"/>
          <p:nvPr/>
        </p:nvSpPr>
        <p:spPr>
          <a:xfrm>
            <a:off x="658368" y="3977639"/>
            <a:ext cx="8778240" cy="1097280"/>
          </a:xfrm>
          <a:prstGeom prst="rect">
            <a:avLst/>
          </a:prstGeom>
          <a:noFill/>
        </p:spPr>
        <p:txBody>
          <a:bodyPr wrap="square" anchor="t" lIns="0" rIns="0" tIns="0" bIns="0">
            <a:spAutoFit/>
          </a:bodyPr>
          <a:lstStyle/>
          <a:p>
            <a:pPr algn="l">
              <a:lnSpc>
                <a:spcPct val="140000"/>
              </a:lnSpc>
              <a:spcAft>
                <a:spcPts val="600"/>
              </a:spcAft>
            </a:pPr>
            <a:r>
              <a:rPr sz="1650" b="0">
                <a:solidFill>
                  <a:srgbClr val="B9C4D2"/>
                </a:solidFill>
                <a:latin typeface="Helvetica Neue"/>
              </a:rPr>
              <a:t>Traditional SaaS sold accountants a better tool. We sell the finished work — on a substrate built so a machine's output can be proven correct.</a:t>
            </a:r>
          </a:p>
        </p:txBody>
      </p:sp>
      <p:sp>
        <p:nvSpPr>
          <p:cNvPr id="7" name="Rectangle 6"/>
          <p:cNvSpPr/>
          <p:nvPr/>
        </p:nvSpPr>
        <p:spPr>
          <a:xfrm>
            <a:off x="658368" y="5349240"/>
            <a:ext cx="2011680" cy="3175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623560"/>
            <a:ext cx="10874959" cy="365760"/>
          </a:xfrm>
          <a:prstGeom prst="rect">
            <a:avLst/>
          </a:prstGeom>
          <a:noFill/>
        </p:spPr>
        <p:txBody>
          <a:bodyPr wrap="square" anchor="t" lIns="0" rIns="0" tIns="0" bIns="0">
            <a:spAutoFit/>
          </a:bodyPr>
          <a:lstStyle/>
          <a:p>
            <a:pPr algn="l">
              <a:lnSpc>
                <a:spcPct val="125000"/>
              </a:lnSpc>
              <a:spcAft>
                <a:spcPts val="600"/>
              </a:spcAft>
            </a:pPr>
            <a:r>
              <a:rPr sz="1200" b="0">
                <a:solidFill>
                  <a:srgbClr val="6E7C8E"/>
                </a:solidFill>
                <a:latin typeface="Helvetica Neue"/>
              </a:rPr>
              <a:t>[Company]  ·  [presenter, title]  ·  [contact]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THE THESIS</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Software has always stopped at the edge of the work.
That edge just moved.</a:t>
            </a:r>
          </a:p>
        </p:txBody>
      </p:sp>
      <p:sp>
        <p:nvSpPr>
          <p:cNvPr id="5" name="Rounded Rectangle 4"/>
          <p:cNvSpPr/>
          <p:nvPr/>
        </p:nvSpPr>
        <p:spPr>
          <a:xfrm>
            <a:off x="658368" y="2148840"/>
            <a:ext cx="3401568" cy="320040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395728"/>
            <a:ext cx="2926080" cy="365760"/>
          </a:xfrm>
          <a:prstGeom prst="rect">
            <a:avLst/>
          </a:prstGeom>
          <a:noFill/>
        </p:spPr>
        <p:txBody>
          <a:bodyPr wrap="square" anchor="t" lIns="0" rIns="0" tIns="0" bIns="0">
            <a:spAutoFit/>
          </a:bodyPr>
          <a:lstStyle/>
          <a:p>
            <a:pPr algn="l">
              <a:lnSpc>
                <a:spcPct val="125000"/>
              </a:lnSpc>
              <a:spcAft>
                <a:spcPts val="600"/>
              </a:spcAft>
            </a:pPr>
            <a:r>
              <a:rPr sz="1300" b="1">
                <a:solidFill>
                  <a:srgbClr val="6B7688"/>
                </a:solidFill>
                <a:latin typeface="Helvetica Neue"/>
              </a:rPr>
              <a:t>1969</a:t>
            </a:r>
          </a:p>
        </p:txBody>
      </p:sp>
      <p:sp>
        <p:nvSpPr>
          <p:cNvPr id="7" name="TextBox 6"/>
          <p:cNvSpPr txBox="1"/>
          <p:nvPr/>
        </p:nvSpPr>
        <p:spPr>
          <a:xfrm>
            <a:off x="914400" y="2761488"/>
            <a:ext cx="2926080" cy="822960"/>
          </a:xfrm>
          <a:prstGeom prst="rect">
            <a:avLst/>
          </a:prstGeom>
          <a:noFill/>
        </p:spPr>
        <p:txBody>
          <a:bodyPr wrap="square" anchor="t" lIns="0" rIns="0" tIns="0" bIns="0">
            <a:spAutoFit/>
          </a:bodyPr>
          <a:lstStyle/>
          <a:p>
            <a:pPr algn="l">
              <a:lnSpc>
                <a:spcPct val="120000"/>
              </a:lnSpc>
              <a:spcAft>
                <a:spcPts val="600"/>
              </a:spcAft>
            </a:pPr>
            <a:r>
              <a:rPr sz="1700" b="1">
                <a:solidFill>
                  <a:srgbClr val="111A27"/>
                </a:solidFill>
                <a:latin typeface="Helvetica Neue"/>
              </a:rPr>
              <a:t>Software unbundles
from hardware</a:t>
            </a:r>
          </a:p>
        </p:txBody>
      </p:sp>
      <p:sp>
        <p:nvSpPr>
          <p:cNvPr id="8" name="TextBox 7"/>
          <p:cNvSpPr txBox="1"/>
          <p:nvPr/>
        </p:nvSpPr>
        <p:spPr>
          <a:xfrm>
            <a:off x="914400" y="3886200"/>
            <a:ext cx="2926080" cy="1188720"/>
          </a:xfrm>
          <a:prstGeom prst="rect">
            <a:avLst/>
          </a:prstGeom>
          <a:noFill/>
        </p:spPr>
        <p:txBody>
          <a:bodyPr wrap="square" anchor="t" lIns="0" rIns="0" tIns="0" bIns="0">
            <a:spAutoFit/>
          </a:bodyPr>
          <a:lstStyle/>
          <a:p>
            <a:pPr algn="l">
              <a:lnSpc>
                <a:spcPct val="135000"/>
              </a:lnSpc>
              <a:spcAft>
                <a:spcPts val="600"/>
              </a:spcAft>
            </a:pPr>
            <a:r>
              <a:rPr sz="1250" b="0">
                <a:solidFill>
                  <a:srgbClr val="333E4F"/>
                </a:solidFill>
                <a:latin typeface="Helvetica Neue"/>
              </a:rPr>
              <a:t>IBM separates the program from the machine. A software industry becomes possible.</a:t>
            </a:r>
          </a:p>
        </p:txBody>
      </p:sp>
      <p:sp>
        <p:nvSpPr>
          <p:cNvPr id="9" name="Rounded Rectangle 8"/>
          <p:cNvSpPr/>
          <p:nvPr/>
        </p:nvSpPr>
        <p:spPr>
          <a:xfrm>
            <a:off x="4389120" y="2148840"/>
            <a:ext cx="3401568" cy="320040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45152" y="2395728"/>
            <a:ext cx="2926080" cy="365760"/>
          </a:xfrm>
          <a:prstGeom prst="rect">
            <a:avLst/>
          </a:prstGeom>
          <a:noFill/>
        </p:spPr>
        <p:txBody>
          <a:bodyPr wrap="square" anchor="t" lIns="0" rIns="0" tIns="0" bIns="0">
            <a:spAutoFit/>
          </a:bodyPr>
          <a:lstStyle/>
          <a:p>
            <a:pPr algn="l">
              <a:lnSpc>
                <a:spcPct val="125000"/>
              </a:lnSpc>
              <a:spcAft>
                <a:spcPts val="600"/>
              </a:spcAft>
            </a:pPr>
            <a:r>
              <a:rPr sz="1300" b="1">
                <a:solidFill>
                  <a:srgbClr val="6B7688"/>
                </a:solidFill>
                <a:latin typeface="Helvetica Neue"/>
              </a:rPr>
              <a:t>1999</a:t>
            </a:r>
          </a:p>
        </p:txBody>
      </p:sp>
      <p:sp>
        <p:nvSpPr>
          <p:cNvPr id="11" name="TextBox 10"/>
          <p:cNvSpPr txBox="1"/>
          <p:nvPr/>
        </p:nvSpPr>
        <p:spPr>
          <a:xfrm>
            <a:off x="4645152" y="2761488"/>
            <a:ext cx="2926080" cy="822960"/>
          </a:xfrm>
          <a:prstGeom prst="rect">
            <a:avLst/>
          </a:prstGeom>
          <a:noFill/>
        </p:spPr>
        <p:txBody>
          <a:bodyPr wrap="square" anchor="t" lIns="0" rIns="0" tIns="0" bIns="0">
            <a:spAutoFit/>
          </a:bodyPr>
          <a:lstStyle/>
          <a:p>
            <a:pPr algn="l">
              <a:lnSpc>
                <a:spcPct val="120000"/>
              </a:lnSpc>
              <a:spcAft>
                <a:spcPts val="600"/>
              </a:spcAft>
            </a:pPr>
            <a:r>
              <a:rPr sz="1700" b="1">
                <a:solidFill>
                  <a:srgbClr val="111A27"/>
                </a:solidFill>
                <a:latin typeface="Helvetica Neue"/>
              </a:rPr>
              <a:t>Software unbundles
from ownership</a:t>
            </a:r>
          </a:p>
        </p:txBody>
      </p:sp>
      <p:sp>
        <p:nvSpPr>
          <p:cNvPr id="12" name="TextBox 11"/>
          <p:cNvSpPr txBox="1"/>
          <p:nvPr/>
        </p:nvSpPr>
        <p:spPr>
          <a:xfrm>
            <a:off x="4645152" y="3886200"/>
            <a:ext cx="2926080" cy="1188720"/>
          </a:xfrm>
          <a:prstGeom prst="rect">
            <a:avLst/>
          </a:prstGeom>
          <a:noFill/>
        </p:spPr>
        <p:txBody>
          <a:bodyPr wrap="square" anchor="t" lIns="0" rIns="0" tIns="0" bIns="0">
            <a:spAutoFit/>
          </a:bodyPr>
          <a:lstStyle/>
          <a:p>
            <a:pPr algn="l">
              <a:lnSpc>
                <a:spcPct val="135000"/>
              </a:lnSpc>
              <a:spcAft>
                <a:spcPts val="600"/>
              </a:spcAft>
            </a:pPr>
            <a:r>
              <a:rPr sz="1250" b="0">
                <a:solidFill>
                  <a:srgbClr val="333E4F"/>
                </a:solidFill>
                <a:latin typeface="Helvetica Neue"/>
              </a:rPr>
              <a:t>Browser, broadband and multi-tenancy solve distribution. The seat becomes the meter.</a:t>
            </a:r>
          </a:p>
        </p:txBody>
      </p:sp>
      <p:sp>
        <p:nvSpPr>
          <p:cNvPr id="13" name="Rounded Rectangle 12"/>
          <p:cNvSpPr/>
          <p:nvPr/>
        </p:nvSpPr>
        <p:spPr>
          <a:xfrm>
            <a:off x="8119872" y="2148840"/>
            <a:ext cx="3401568" cy="3200400"/>
          </a:xfrm>
          <a:prstGeom prst="roundRect">
            <a:avLst>
              <a:gd name="adj" fmla="val 4000"/>
            </a:avLst>
          </a:prstGeom>
          <a:solidFill>
            <a:srgbClr val="FA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75904" y="2395728"/>
            <a:ext cx="2926080" cy="365760"/>
          </a:xfrm>
          <a:prstGeom prst="rect">
            <a:avLst/>
          </a:prstGeom>
          <a:noFill/>
        </p:spPr>
        <p:txBody>
          <a:bodyPr wrap="square" anchor="t" lIns="0" rIns="0" tIns="0" bIns="0">
            <a:spAutoFit/>
          </a:bodyPr>
          <a:lstStyle/>
          <a:p>
            <a:pPr algn="l">
              <a:lnSpc>
                <a:spcPct val="125000"/>
              </a:lnSpc>
              <a:spcAft>
                <a:spcPts val="600"/>
              </a:spcAft>
            </a:pPr>
            <a:r>
              <a:rPr sz="1300" b="1">
                <a:solidFill>
                  <a:srgbClr val="B45309"/>
                </a:solidFill>
                <a:latin typeface="Helvetica Neue"/>
              </a:rPr>
              <a:t>NOW</a:t>
            </a:r>
          </a:p>
        </p:txBody>
      </p:sp>
      <p:sp>
        <p:nvSpPr>
          <p:cNvPr id="15" name="TextBox 14"/>
          <p:cNvSpPr txBox="1"/>
          <p:nvPr/>
        </p:nvSpPr>
        <p:spPr>
          <a:xfrm>
            <a:off x="8375904" y="2761488"/>
            <a:ext cx="2926080" cy="822960"/>
          </a:xfrm>
          <a:prstGeom prst="rect">
            <a:avLst/>
          </a:prstGeom>
          <a:noFill/>
        </p:spPr>
        <p:txBody>
          <a:bodyPr wrap="square" anchor="t" lIns="0" rIns="0" tIns="0" bIns="0">
            <a:spAutoFit/>
          </a:bodyPr>
          <a:lstStyle/>
          <a:p>
            <a:pPr algn="l">
              <a:lnSpc>
                <a:spcPct val="120000"/>
              </a:lnSpc>
              <a:spcAft>
                <a:spcPts val="600"/>
              </a:spcAft>
            </a:pPr>
            <a:r>
              <a:rPr sz="1700" b="1">
                <a:solidFill>
                  <a:srgbClr val="111A27"/>
                </a:solidFill>
                <a:latin typeface="Helvetica Neue"/>
              </a:rPr>
              <a:t>The outcome unbundles
from the operator</a:t>
            </a:r>
          </a:p>
        </p:txBody>
      </p:sp>
      <p:sp>
        <p:nvSpPr>
          <p:cNvPr id="16" name="TextBox 15"/>
          <p:cNvSpPr txBox="1"/>
          <p:nvPr/>
        </p:nvSpPr>
        <p:spPr>
          <a:xfrm>
            <a:off x="8375904" y="3886200"/>
            <a:ext cx="2926080" cy="1188720"/>
          </a:xfrm>
          <a:prstGeom prst="rect">
            <a:avLst/>
          </a:prstGeom>
          <a:noFill/>
        </p:spPr>
        <p:txBody>
          <a:bodyPr wrap="square" anchor="t" lIns="0" rIns="0" tIns="0" bIns="0">
            <a:spAutoFit/>
          </a:bodyPr>
          <a:lstStyle/>
          <a:p>
            <a:pPr algn="l">
              <a:lnSpc>
                <a:spcPct val="135000"/>
              </a:lnSpc>
              <a:spcAft>
                <a:spcPts val="600"/>
              </a:spcAft>
            </a:pPr>
            <a:r>
              <a:rPr sz="1250" b="0">
                <a:solidFill>
                  <a:srgbClr val="7A3B08"/>
                </a:solidFill>
                <a:latin typeface="Helvetica Neue"/>
              </a:rPr>
              <a:t>The vendor can do the work, not just host the place where a human does it. The meter has to change with it.</a:t>
            </a:r>
          </a:p>
        </p:txBody>
      </p:sp>
      <p:sp>
        <p:nvSpPr>
          <p:cNvPr id="17" name="TextBox 16"/>
          <p:cNvSpPr txBox="1"/>
          <p:nvPr/>
        </p:nvSpPr>
        <p:spPr>
          <a:xfrm>
            <a:off x="658368" y="5715000"/>
            <a:ext cx="10874959" cy="548640"/>
          </a:xfrm>
          <a:prstGeom prst="rect">
            <a:avLst/>
          </a:prstGeom>
          <a:noFill/>
        </p:spPr>
        <p:txBody>
          <a:bodyPr wrap="square" anchor="t" lIns="0" rIns="0" tIns="0" bIns="0">
            <a:spAutoFit/>
          </a:bodyPr>
          <a:lstStyle/>
          <a:p>
            <a:pPr algn="l">
              <a:lnSpc>
                <a:spcPct val="130000"/>
              </a:lnSpc>
              <a:spcAft>
                <a:spcPts val="600"/>
              </a:spcAft>
            </a:pPr>
            <a:r>
              <a:rPr sz="1550" b="1">
                <a:solidFill>
                  <a:srgbClr val="111A27"/>
                </a:solidFill>
                <a:latin typeface="Helvetica Neue"/>
              </a:rPr>
              <a:t>Accounting is the best first market for this, for one technical reason: it is a domain where correctness is machine-checkable.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2</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BACKGROUND · 1 OF 3</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Why SaaS exists: software's problem was never production</a:t>
            </a:r>
          </a:p>
        </p:txBody>
      </p:sp>
      <p:sp>
        <p:nvSpPr>
          <p:cNvPr id="5" name="TextBox 4"/>
          <p:cNvSpPr txBox="1"/>
          <p:nvPr/>
        </p:nvSpPr>
        <p:spPr>
          <a:xfrm>
            <a:off x="658368" y="1755648"/>
            <a:ext cx="10058400" cy="640080"/>
          </a:xfrm>
          <a:prstGeom prst="rect">
            <a:avLst/>
          </a:prstGeom>
          <a:noFill/>
        </p:spPr>
        <p:txBody>
          <a:bodyPr wrap="square" anchor="t" lIns="0" rIns="0" tIns="0" bIns="0">
            <a:spAutoFit/>
          </a:bodyPr>
          <a:lstStyle/>
          <a:p>
            <a:pPr algn="l">
              <a:lnSpc>
                <a:spcPct val="135000"/>
              </a:lnSpc>
              <a:spcAft>
                <a:spcPts val="600"/>
              </a:spcAft>
            </a:pPr>
            <a:r>
              <a:rPr sz="1500" b="0">
                <a:solidFill>
                  <a:srgbClr val="333E4F"/>
                </a:solidFill>
                <a:latin typeface="Helvetica Neue"/>
              </a:rPr>
              <a:t>Zero marginal cost to copy, high fixed cost to create. So the business problem of software is only ever distribution and metering. Every era is an answer to those two.</a:t>
            </a:r>
          </a:p>
        </p:txBody>
      </p:sp>
      <p:sp>
        <p:nvSpPr>
          <p:cNvPr id="6" name="Rectangle 5"/>
          <p:cNvSpPr/>
          <p:nvPr/>
        </p:nvSpPr>
        <p:spPr>
          <a:xfrm>
            <a:off x="658368" y="2578608"/>
            <a:ext cx="10874959" cy="12700"/>
          </a:xfrm>
          <a:prstGeom prst="rect">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788920"/>
            <a:ext cx="2551176" cy="365760"/>
          </a:xfrm>
          <a:prstGeom prst="rect">
            <a:avLst/>
          </a:prstGeom>
          <a:noFill/>
        </p:spPr>
        <p:txBody>
          <a:bodyPr wrap="square" anchor="t" lIns="0" rIns="0" tIns="0" bIns="0">
            <a:spAutoFit/>
          </a:bodyPr>
          <a:lstStyle/>
          <a:p>
            <a:pPr algn="l">
              <a:lnSpc>
                <a:spcPct val="125000"/>
              </a:lnSpc>
              <a:spcAft>
                <a:spcPts val="600"/>
              </a:spcAft>
            </a:pPr>
            <a:r>
              <a:rPr sz="1700" b="1">
                <a:solidFill>
                  <a:srgbClr val="0E7490"/>
                </a:solidFill>
                <a:latin typeface="Helvetica Neue"/>
              </a:rPr>
              <a:t>Distribution</a:t>
            </a:r>
          </a:p>
        </p:txBody>
      </p:sp>
      <p:sp>
        <p:nvSpPr>
          <p:cNvPr id="8" name="TextBox 7"/>
          <p:cNvSpPr txBox="1"/>
          <p:nvPr/>
        </p:nvSpPr>
        <p:spPr>
          <a:xfrm>
            <a:off x="658368" y="3273552"/>
            <a:ext cx="2551176" cy="2011680"/>
          </a:xfrm>
          <a:prstGeom prst="rect">
            <a:avLst/>
          </a:prstGeom>
          <a:noFill/>
        </p:spPr>
        <p:txBody>
          <a:bodyPr wrap="square" anchor="t" lIns="0" rIns="0" tIns="0" bIns="0">
            <a:spAutoFit/>
          </a:bodyPr>
          <a:lstStyle/>
          <a:p>
            <a:pPr algn="l">
              <a:lnSpc>
                <a:spcPct val="140000"/>
              </a:lnSpc>
              <a:spcAft>
                <a:spcPts val="600"/>
              </a:spcAft>
            </a:pPr>
            <a:r>
              <a:rPr sz="1300" b="0">
                <a:solidFill>
                  <a:srgbClr val="333E4F"/>
                </a:solidFill>
                <a:latin typeface="Helvetica Neue"/>
              </a:rPr>
              <a:t>No install, no procurement, self-serve trial, land-and-expand. Recurring revenue made CAC financeable — which made the entire GTM machine possible.</a:t>
            </a:r>
          </a:p>
        </p:txBody>
      </p:sp>
      <p:sp>
        <p:nvSpPr>
          <p:cNvPr id="9" name="TextBox 8"/>
          <p:cNvSpPr txBox="1"/>
          <p:nvPr/>
        </p:nvSpPr>
        <p:spPr>
          <a:xfrm>
            <a:off x="3438144" y="2788920"/>
            <a:ext cx="2551176" cy="365760"/>
          </a:xfrm>
          <a:prstGeom prst="rect">
            <a:avLst/>
          </a:prstGeom>
          <a:noFill/>
        </p:spPr>
        <p:txBody>
          <a:bodyPr wrap="square" anchor="t" lIns="0" rIns="0" tIns="0" bIns="0">
            <a:spAutoFit/>
          </a:bodyPr>
          <a:lstStyle/>
          <a:p>
            <a:pPr algn="l">
              <a:lnSpc>
                <a:spcPct val="125000"/>
              </a:lnSpc>
              <a:spcAft>
                <a:spcPts val="600"/>
              </a:spcAft>
            </a:pPr>
            <a:r>
              <a:rPr sz="1700" b="1">
                <a:solidFill>
                  <a:srgbClr val="0E7490"/>
                </a:solidFill>
                <a:latin typeface="Helvetica Neue"/>
              </a:rPr>
              <a:t>Marginal cost</a:t>
            </a:r>
          </a:p>
        </p:txBody>
      </p:sp>
      <p:sp>
        <p:nvSpPr>
          <p:cNvPr id="10" name="TextBox 9"/>
          <p:cNvSpPr txBox="1"/>
          <p:nvPr/>
        </p:nvSpPr>
        <p:spPr>
          <a:xfrm>
            <a:off x="3438144" y="3273552"/>
            <a:ext cx="2551176" cy="2011680"/>
          </a:xfrm>
          <a:prstGeom prst="rect">
            <a:avLst/>
          </a:prstGeom>
          <a:noFill/>
        </p:spPr>
        <p:txBody>
          <a:bodyPr wrap="square" anchor="t" lIns="0" rIns="0" tIns="0" bIns="0">
            <a:spAutoFit/>
          </a:bodyPr>
          <a:lstStyle/>
          <a:p>
            <a:pPr algn="l">
              <a:lnSpc>
                <a:spcPct val="140000"/>
              </a:lnSpc>
              <a:spcAft>
                <a:spcPts val="600"/>
              </a:spcAft>
            </a:pPr>
            <a:r>
              <a:rPr sz="1300" b="0">
                <a:solidFill>
                  <a:srgbClr val="333E4F"/>
                </a:solidFill>
                <a:latin typeface="Helvetica Neue"/>
              </a:rPr>
              <a:t>Multi-tenancy: one codebase, one deployment, N customers. This single fact — not anything else — is why SaaS gross margins are 75–85%.</a:t>
            </a:r>
          </a:p>
        </p:txBody>
      </p:sp>
      <p:sp>
        <p:nvSpPr>
          <p:cNvPr id="11" name="TextBox 10"/>
          <p:cNvSpPr txBox="1"/>
          <p:nvPr/>
        </p:nvSpPr>
        <p:spPr>
          <a:xfrm>
            <a:off x="6217920" y="2788920"/>
            <a:ext cx="2551176" cy="365760"/>
          </a:xfrm>
          <a:prstGeom prst="rect">
            <a:avLst/>
          </a:prstGeom>
          <a:noFill/>
        </p:spPr>
        <p:txBody>
          <a:bodyPr wrap="square" anchor="t" lIns="0" rIns="0" tIns="0" bIns="0">
            <a:spAutoFit/>
          </a:bodyPr>
          <a:lstStyle/>
          <a:p>
            <a:pPr algn="l">
              <a:lnSpc>
                <a:spcPct val="125000"/>
              </a:lnSpc>
              <a:spcAft>
                <a:spcPts val="600"/>
              </a:spcAft>
            </a:pPr>
            <a:r>
              <a:rPr sz="1700" b="1">
                <a:solidFill>
                  <a:srgbClr val="0E7490"/>
                </a:solidFill>
                <a:latin typeface="Helvetica Neue"/>
              </a:rPr>
              <a:t>Metering</a:t>
            </a:r>
          </a:p>
        </p:txBody>
      </p:sp>
      <p:sp>
        <p:nvSpPr>
          <p:cNvPr id="12" name="TextBox 11"/>
          <p:cNvSpPr txBox="1"/>
          <p:nvPr/>
        </p:nvSpPr>
        <p:spPr>
          <a:xfrm>
            <a:off x="6217920" y="3273552"/>
            <a:ext cx="2551176" cy="2011680"/>
          </a:xfrm>
          <a:prstGeom prst="rect">
            <a:avLst/>
          </a:prstGeom>
          <a:noFill/>
        </p:spPr>
        <p:txBody>
          <a:bodyPr wrap="square" anchor="t" lIns="0" rIns="0" tIns="0" bIns="0">
            <a:spAutoFit/>
          </a:bodyPr>
          <a:lstStyle/>
          <a:p>
            <a:pPr algn="l">
              <a:lnSpc>
                <a:spcPct val="140000"/>
              </a:lnSpc>
              <a:spcAft>
                <a:spcPts val="600"/>
              </a:spcAft>
            </a:pPr>
            <a:r>
              <a:rPr sz="1300" b="0">
                <a:solidFill>
                  <a:srgbClr val="333E4F"/>
                </a:solidFill>
                <a:latin typeface="Helvetica Neue"/>
              </a:rPr>
              <a:t>The seat. Nobody ever wanted a login. The seat was chosen because it was cheap to count, hard to game, and correlated with usage. It was a proxy.</a:t>
            </a:r>
          </a:p>
        </p:txBody>
      </p:sp>
      <p:sp>
        <p:nvSpPr>
          <p:cNvPr id="13" name="TextBox 12"/>
          <p:cNvSpPr txBox="1"/>
          <p:nvPr/>
        </p:nvSpPr>
        <p:spPr>
          <a:xfrm>
            <a:off x="8997696" y="2788920"/>
            <a:ext cx="2551176" cy="365760"/>
          </a:xfrm>
          <a:prstGeom prst="rect">
            <a:avLst/>
          </a:prstGeom>
          <a:noFill/>
        </p:spPr>
        <p:txBody>
          <a:bodyPr wrap="square" anchor="t" lIns="0" rIns="0" tIns="0" bIns="0">
            <a:spAutoFit/>
          </a:bodyPr>
          <a:lstStyle/>
          <a:p>
            <a:pPr algn="l">
              <a:lnSpc>
                <a:spcPct val="125000"/>
              </a:lnSpc>
              <a:spcAft>
                <a:spcPts val="600"/>
              </a:spcAft>
            </a:pPr>
            <a:r>
              <a:rPr sz="1700" b="1">
                <a:solidFill>
                  <a:srgbClr val="0E7490"/>
                </a:solidFill>
                <a:latin typeface="Helvetica Neue"/>
              </a:rPr>
              <a:t>Alignment</a:t>
            </a:r>
          </a:p>
        </p:txBody>
      </p:sp>
      <p:sp>
        <p:nvSpPr>
          <p:cNvPr id="14" name="TextBox 13"/>
          <p:cNvSpPr txBox="1"/>
          <p:nvPr/>
        </p:nvSpPr>
        <p:spPr>
          <a:xfrm>
            <a:off x="8997696" y="3273552"/>
            <a:ext cx="2551176" cy="2011680"/>
          </a:xfrm>
          <a:prstGeom prst="rect">
            <a:avLst/>
          </a:prstGeom>
          <a:noFill/>
        </p:spPr>
        <p:txBody>
          <a:bodyPr wrap="square" anchor="t" lIns="0" rIns="0" tIns="0" bIns="0">
            <a:spAutoFit/>
          </a:bodyPr>
          <a:lstStyle/>
          <a:p>
            <a:pPr algn="l">
              <a:lnSpc>
                <a:spcPct val="140000"/>
              </a:lnSpc>
              <a:spcAft>
                <a:spcPts val="600"/>
              </a:spcAft>
            </a:pPr>
            <a:r>
              <a:rPr sz="1300" b="0">
                <a:solidFill>
                  <a:srgbClr val="333E4F"/>
                </a:solidFill>
                <a:latin typeface="Helvetica Neue"/>
              </a:rPr>
              <a:t>Renewal disciplines the vendor; continuous delivery replaces the big-bang upgrade. Risk for infra, uptime and upgrades transfers to the vendor.</a:t>
            </a:r>
          </a:p>
        </p:txBody>
      </p:sp>
      <p:sp>
        <p:nvSpPr>
          <p:cNvPr id="15" name="Rounded Rectangle 14"/>
          <p:cNvSpPr/>
          <p:nvPr/>
        </p:nvSpPr>
        <p:spPr>
          <a:xfrm>
            <a:off x="658368" y="5440680"/>
            <a:ext cx="10874959" cy="868680"/>
          </a:xfrm>
          <a:prstGeom prst="roundRect">
            <a:avLst>
              <a:gd name="adj" fmla="val 4000"/>
            </a:avLst>
          </a:prstGeom>
          <a:solidFill>
            <a:srgbClr val="FA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5632704"/>
            <a:ext cx="10326319" cy="548640"/>
          </a:xfrm>
          <a:prstGeom prst="rect">
            <a:avLst/>
          </a:prstGeom>
          <a:noFill/>
        </p:spPr>
        <p:txBody>
          <a:bodyPr wrap="square" anchor="t" lIns="0" rIns="0" tIns="0" bIns="0">
            <a:spAutoFit/>
          </a:bodyPr>
          <a:lstStyle/>
          <a:p>
            <a:pPr algn="l">
              <a:lnSpc>
                <a:spcPct val="130000"/>
              </a:lnSpc>
              <a:spcAft>
                <a:spcPts val="600"/>
              </a:spcAft>
            </a:pPr>
            <a:r>
              <a:rPr sz="1450" b="1">
                <a:solidFill>
                  <a:srgbClr val="7A3B08"/>
                </a:solidFill>
                <a:latin typeface="Helvetica Neue"/>
              </a:rPr>
              <a:t>Hold on to the third column. The seat was a measurement convenience that assumed a human doing work per seat. Everything in the next section follows from that assumption breaking.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3</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BACKGROUND · 2 OF 3</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What SaaS deliberately did not solve</a:t>
            </a:r>
          </a:p>
        </p:txBody>
      </p:sp>
      <p:sp>
        <p:nvSpPr>
          <p:cNvPr id="5" name="TextBox 4"/>
          <p:cNvSpPr txBox="1"/>
          <p:nvPr/>
        </p:nvSpPr>
        <p:spPr>
          <a:xfrm>
            <a:off x="658368" y="1737360"/>
            <a:ext cx="10058400" cy="365760"/>
          </a:xfrm>
          <a:prstGeom prst="rect">
            <a:avLst/>
          </a:prstGeom>
          <a:noFill/>
        </p:spPr>
        <p:txBody>
          <a:bodyPr wrap="square" anchor="t" lIns="0" rIns="0" tIns="0" bIns="0">
            <a:spAutoFit/>
          </a:bodyPr>
          <a:lstStyle/>
          <a:p>
            <a:pPr algn="l">
              <a:lnSpc>
                <a:spcPct val="125000"/>
              </a:lnSpc>
              <a:spcAft>
                <a:spcPts val="600"/>
              </a:spcAft>
            </a:pPr>
            <a:r>
              <a:rPr sz="1550" b="1">
                <a:solidFill>
                  <a:srgbClr val="111A27"/>
                </a:solidFill>
                <a:latin typeface="Helvetica Neue"/>
              </a:rPr>
              <a:t>SaaS sells the arena, not the win. The customer still supplies intent, judgment, attention and keystrokes.</a:t>
            </a:r>
          </a:p>
        </p:txBody>
      </p:sp>
      <p:sp>
        <p:nvSpPr>
          <p:cNvPr id="6" name="TextBox 5"/>
          <p:cNvSpPr txBox="1"/>
          <p:nvPr/>
        </p:nvSpPr>
        <p:spPr>
          <a:xfrm>
            <a:off x="658368" y="2286000"/>
            <a:ext cx="6675120" cy="3657600"/>
          </a:xfrm>
          <a:prstGeom prst="rect">
            <a:avLst/>
          </a:prstGeom>
          <a:noFill/>
        </p:spPr>
        <p:txBody>
          <a:bodyPr wrap="square" lIns="0" rIns="0" tIns="0" bIns="0">
            <a:spAutoFit/>
          </a:bodyPr>
          <a:lstStyle/>
          <a:p>
            <a:pPr>
              <a:lnSpc>
                <a:spcPct val="128000"/>
              </a:lnSpc>
              <a:spcBef>
                <a:spcPts val="1400"/>
              </a:spcBef>
              <a:spcAft>
                <a:spcPts val="200"/>
              </a:spcAft>
            </a:pPr>
            <a:r>
              <a:rPr sz="1400" b="1">
                <a:solidFill>
                  <a:srgbClr val="111A27"/>
                </a:solidFill>
                <a:latin typeface="Helvetica Neue"/>
              </a:rPr>
              <a:t>Value delivered is capped by the customer's own labor capacity.</a:t>
            </a:r>
          </a:p>
          <a:p>
            <a:pPr>
              <a:lnSpc>
                <a:spcPct val="128000"/>
              </a:lnSpc>
              <a:spcAft>
                <a:spcPts val="900"/>
              </a:spcAft>
            </a:pPr>
            <a:r>
              <a:rPr sz="1400">
                <a:solidFill>
                  <a:srgbClr val="333E4F"/>
                </a:solidFill>
                <a:latin typeface="Helvetica Neue"/>
              </a:rPr>
              <a:t>— A CRM doesn't sell you pipeline; it sells a place to put pipeline. This is why implementation, adoption, change management and shelfware are permanent features of the industry rather than execution failures.</a:t>
            </a:r>
          </a:p>
          <a:p>
            <a:pPr>
              <a:lnSpc>
                <a:spcPct val="128000"/>
              </a:lnSpc>
              <a:spcBef>
                <a:spcPts val="1400"/>
              </a:spcBef>
              <a:spcAft>
                <a:spcPts val="200"/>
              </a:spcAft>
            </a:pPr>
            <a:r>
              <a:rPr sz="1400" b="1">
                <a:solidFill>
                  <a:srgbClr val="111A27"/>
                </a:solidFill>
                <a:latin typeface="Helvetica Neue"/>
              </a:rPr>
              <a:t>The interface became the moat — and the cost centre.</a:t>
            </a:r>
          </a:p>
          <a:p>
            <a:pPr>
              <a:lnSpc>
                <a:spcPct val="128000"/>
              </a:lnSpc>
              <a:spcAft>
                <a:spcPts val="900"/>
              </a:spcAft>
            </a:pPr>
            <a:r>
              <a:rPr sz="1400">
                <a:solidFill>
                  <a:srgbClr val="333E4F"/>
                </a:solidFill>
                <a:latin typeface="Helvetica Neue"/>
              </a:rPr>
              <a:t>— Because humans do the work, switching cost is muscle memory, admin config and integrations. Feature bloat isn't incompetence: it is customer heterogeneity projected onto deterministic code.</a:t>
            </a:r>
          </a:p>
          <a:p>
            <a:pPr>
              <a:lnSpc>
                <a:spcPct val="128000"/>
              </a:lnSpc>
              <a:spcBef>
                <a:spcPts val="1400"/>
              </a:spcBef>
              <a:spcAft>
                <a:spcPts val="200"/>
              </a:spcAft>
            </a:pPr>
            <a:r>
              <a:rPr sz="1400" b="1">
                <a:solidFill>
                  <a:srgbClr val="111A27"/>
                </a:solidFill>
                <a:latin typeface="Helvetica Neue"/>
              </a:rPr>
              <a:t>The human was the error-handling layer.</a:t>
            </a:r>
          </a:p>
          <a:p>
            <a:pPr>
              <a:lnSpc>
                <a:spcPct val="128000"/>
              </a:lnSpc>
              <a:spcAft>
                <a:spcPts val="900"/>
              </a:spcAft>
            </a:pPr>
            <a:r>
              <a:rPr sz="1400">
                <a:solidFill>
                  <a:srgbClr val="333E4F"/>
                </a:solidFill>
                <a:latin typeface="Helvetica Neue"/>
              </a:rPr>
              <a:t>— SaaS validation is syntactic — is the date a date, do debits equal credits. It is almost never semantic — does this expense belong in that account. Semantic correctness was silently outsourced to the user.</a:t>
            </a:r>
          </a:p>
        </p:txBody>
      </p:sp>
      <p:sp>
        <p:nvSpPr>
          <p:cNvPr id="7" name="Rounded Rectangle 6"/>
          <p:cNvSpPr/>
          <p:nvPr/>
        </p:nvSpPr>
        <p:spPr>
          <a:xfrm>
            <a:off x="7744968" y="2286000"/>
            <a:ext cx="3767328" cy="3310128"/>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19288" y="2514600"/>
            <a:ext cx="3200400" cy="274320"/>
          </a:xfrm>
          <a:prstGeom prst="rect">
            <a:avLst/>
          </a:prstGeom>
          <a:noFill/>
        </p:spPr>
        <p:txBody>
          <a:bodyPr wrap="square" anchor="t" lIns="0" rIns="0" tIns="0" bIns="0">
            <a:spAutoFit/>
          </a:bodyPr>
          <a:lstStyle/>
          <a:p>
            <a:pPr algn="l">
              <a:lnSpc>
                <a:spcPct val="125000"/>
              </a:lnSpc>
              <a:spcAft>
                <a:spcPts val="600"/>
              </a:spcAft>
            </a:pPr>
            <a:r>
              <a:rPr sz="1100" b="1">
                <a:solidFill>
                  <a:srgbClr val="6B7688"/>
                </a:solidFill>
                <a:latin typeface="Helvetica Neue"/>
              </a:rPr>
              <a:t>CONSEQUENCE</a:t>
            </a:r>
          </a:p>
        </p:txBody>
      </p:sp>
      <p:sp>
        <p:nvSpPr>
          <p:cNvPr id="9" name="TextBox 8"/>
          <p:cNvSpPr txBox="1"/>
          <p:nvPr/>
        </p:nvSpPr>
        <p:spPr>
          <a:xfrm>
            <a:off x="8019288" y="2834640"/>
            <a:ext cx="3200400" cy="731520"/>
          </a:xfrm>
          <a:prstGeom prst="rect">
            <a:avLst/>
          </a:prstGeom>
          <a:noFill/>
        </p:spPr>
        <p:txBody>
          <a:bodyPr wrap="square" anchor="t" lIns="0" rIns="0" tIns="0" bIns="0">
            <a:spAutoFit/>
          </a:bodyPr>
          <a:lstStyle/>
          <a:p>
            <a:pPr algn="l">
              <a:lnSpc>
                <a:spcPct val="115000"/>
              </a:lnSpc>
              <a:spcAft>
                <a:spcPts val="600"/>
              </a:spcAft>
            </a:pPr>
            <a:r>
              <a:rPr sz="1800" b="1">
                <a:solidFill>
                  <a:srgbClr val="111A27"/>
                </a:solidFill>
                <a:latin typeface="Helvetica Neue"/>
              </a:rPr>
              <a:t>Software self-selected
into the small slice.</a:t>
            </a:r>
          </a:p>
        </p:txBody>
      </p:sp>
      <p:sp>
        <p:nvSpPr>
          <p:cNvPr id="10" name="TextBox 9"/>
          <p:cNvSpPr txBox="1"/>
          <p:nvPr/>
        </p:nvSpPr>
        <p:spPr>
          <a:xfrm>
            <a:off x="8019288" y="3703320"/>
            <a:ext cx="3200400" cy="1828800"/>
          </a:xfrm>
          <a:prstGeom prst="rect">
            <a:avLst/>
          </a:prstGeom>
          <a:noFill/>
        </p:spPr>
        <p:txBody>
          <a:bodyPr wrap="square" anchor="t" lIns="0" rIns="0" tIns="0" bIns="0">
            <a:spAutoFit/>
          </a:bodyPr>
          <a:lstStyle/>
          <a:p>
            <a:pPr algn="l">
              <a:lnSpc>
                <a:spcPct val="140000"/>
              </a:lnSpc>
              <a:spcAft>
                <a:spcPts val="600"/>
              </a:spcAft>
            </a:pPr>
            <a:r>
              <a:rPr sz="1250" b="0">
                <a:solidFill>
                  <a:srgbClr val="333E4F"/>
                </a:solidFill>
                <a:latin typeface="Helvetica Neue"/>
              </a:rPr>
              <a:t>For any business function, software captures single-digit percentages of that function's total cost.
Payroll software vs. the payroll team. Legal tech vs. legal spend. Accounting software vs. accountants.
Not an oversight — software could not do the other part.</a:t>
            </a:r>
          </a:p>
        </p:txBody>
      </p:sp>
      <p:sp>
        <p:nvSpPr>
          <p:cNvPr id="11" name="TextBox 10"/>
          <p:cNvSpPr txBox="1"/>
          <p:nvPr/>
        </p:nvSpPr>
        <p:spPr>
          <a:xfrm>
            <a:off x="658368" y="5897880"/>
            <a:ext cx="10874959" cy="457200"/>
          </a:xfrm>
          <a:prstGeom prst="rect">
            <a:avLst/>
          </a:prstGeom>
          <a:noFill/>
        </p:spPr>
        <p:txBody>
          <a:bodyPr wrap="square" anchor="t" lIns="0" rIns="0" tIns="0" bIns="0">
            <a:spAutoFit/>
          </a:bodyPr>
          <a:lstStyle/>
          <a:p>
            <a:pPr algn="l">
              <a:lnSpc>
                <a:spcPct val="125000"/>
              </a:lnSpc>
              <a:spcAft>
                <a:spcPts val="600"/>
              </a:spcAft>
            </a:pPr>
            <a:r>
              <a:rPr sz="1150" b="1">
                <a:solidFill>
                  <a:srgbClr val="B45309"/>
                </a:solidFill>
                <a:latin typeface="Helvetica Neue"/>
              </a:rPr>
              <a:t>[SOURCE NEEDED — put the accounting-specific software-spend vs. labour-spend ratio here; it carries the entire TAM argument]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4</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BACKGROUND · 3 OF 3</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Three constraints forced that design. All three just lifted.</a:t>
            </a:r>
          </a:p>
        </p:txBody>
      </p:sp>
      <p:graphicFrame>
        <p:nvGraphicFramePr>
          <p:cNvPr id="5" name="Table 4"/>
          <p:cNvGraphicFramePr>
            <a:graphicFrameLocks noGrp="1"/>
          </p:cNvGraphicFramePr>
          <p:nvPr/>
        </p:nvGraphicFramePr>
        <p:xfrm>
          <a:off x="658368" y="1874519"/>
          <a:ext cx="10872216" cy="3712464"/>
        </p:xfrm>
        <a:graphic>
          <a:graphicData uri="http://schemas.openxmlformats.org/drawingml/2006/table">
            <a:tbl>
              <a:tblPr>
                <a:tableStyleId>{5C22544A-7EE6-4342-B048-85BDC9FD1C3A}</a:tableStyleId>
              </a:tblPr>
              <a:tblGrid>
                <a:gridCol w="3017520"/>
                <a:gridCol w="3922776"/>
                <a:gridCol w="3931920"/>
              </a:tblGrid>
              <a:tr h="420624">
                <a:tc>
                  <a:txBody>
                    <a:bodyPr wrap="square"/>
                    <a:lstStyle/>
                    <a:p>
                      <a:pPr algn="l"/>
                      <a:r>
                        <a:rPr sz="1250" b="1">
                          <a:solidFill>
                            <a:srgbClr val="FFFFFF"/>
                          </a:solidFill>
                          <a:latin typeface="Helvetica Neue"/>
                        </a:rPr>
                        <a:t>The constraint that made forms necessary</a:t>
                      </a:r>
                    </a:p>
                  </a:txBody>
                  <a:tcPr marL="91440" marR="73152" marT="36576" marB="36576" anchor="ctr">
                    <a:solidFill>
                      <a:srgbClr val="111A27"/>
                    </a:solidFill>
                  </a:tcPr>
                </a:tc>
                <a:tc>
                  <a:txBody>
                    <a:bodyPr wrap="square"/>
                    <a:lstStyle/>
                    <a:p>
                      <a:pPr algn="l"/>
                      <a:r>
                        <a:rPr sz="1250" b="1">
                          <a:solidFill>
                            <a:srgbClr val="FFFFFF"/>
                          </a:solidFill>
                          <a:latin typeface="Helvetica Neue"/>
                        </a:rPr>
                        <a:t>What it forced</a:t>
                      </a:r>
                    </a:p>
                  </a:txBody>
                  <a:tcPr marL="91440" marR="73152" marT="36576" marB="36576" anchor="ctr">
                    <a:solidFill>
                      <a:srgbClr val="111A27"/>
                    </a:solidFill>
                  </a:tcPr>
                </a:tc>
                <a:tc>
                  <a:txBody>
                    <a:bodyPr wrap="square"/>
                    <a:lstStyle/>
                    <a:p>
                      <a:pPr algn="l"/>
                      <a:r>
                        <a:rPr sz="1250" b="1">
                          <a:solidFill>
                            <a:srgbClr val="FFFFFF"/>
                          </a:solidFill>
                          <a:latin typeface="Helvetica Neue"/>
                        </a:rPr>
                        <a:t>What changes now</a:t>
                      </a:r>
                    </a:p>
                  </a:txBody>
                  <a:tcPr marL="91440" marR="73152" marT="36576" marB="36576" anchor="ctr">
                    <a:solidFill>
                      <a:srgbClr val="111A27"/>
                    </a:solidFill>
                  </a:tcPr>
                </a:tc>
              </a:tr>
              <a:tr h="1097280">
                <a:tc>
                  <a:txBody>
                    <a:bodyPr wrap="square"/>
                    <a:lstStyle/>
                    <a:p>
                      <a:pPr algn="l"/>
                      <a:r>
                        <a:rPr sz="1250" b="1">
                          <a:solidFill>
                            <a:srgbClr val="111A27"/>
                          </a:solidFill>
                          <a:latin typeface="Helvetica Neue"/>
                        </a:rPr>
                        <a:t>No tolerance for ambiguity</a:t>
                      </a:r>
                    </a:p>
                  </a:txBody>
                  <a:tcPr marL="91440" marR="73152" marT="36576" marB="36576" anchor="ctr">
                    <a:solidFill>
                      <a:srgbClr val="FFFFFF"/>
                    </a:solidFill>
                  </a:tcPr>
                </a:tc>
                <a:tc>
                  <a:txBody>
                    <a:bodyPr wrap="square"/>
                    <a:lstStyle/>
                    <a:p>
                      <a:pPr algn="l"/>
                      <a:r>
                        <a:rPr sz="1250">
                          <a:solidFill>
                            <a:srgbClr val="333E4F"/>
                          </a:solidFill>
                          <a:latin typeface="Helvetica Neue"/>
                        </a:rPr>
                        <a:t>Every path pre-specified. Anything needing interpretation of unstructured input was handed to a human behind a form.</a:t>
                      </a:r>
                    </a:p>
                  </a:txBody>
                  <a:tcPr marL="91440" marR="73152" marT="36576" marB="36576" anchor="ctr">
                    <a:solidFill>
                      <a:srgbClr val="FFFFFF"/>
                    </a:solidFill>
                  </a:tcPr>
                </a:tc>
                <a:tc>
                  <a:txBody>
                    <a:bodyPr wrap="square"/>
                    <a:lstStyle/>
                    <a:p>
                      <a:pPr algn="l"/>
                      <a:r>
                        <a:rPr sz="1250">
                          <a:solidFill>
                            <a:srgbClr val="8A3F07"/>
                          </a:solidFill>
                          <a:latin typeface="Helvetica Neue"/>
                        </a:rPr>
                        <a:t>Models absorb messy documents, bank memos, contracts, email threads — the exact inputs SaaS pushed onto people.</a:t>
                      </a:r>
                    </a:p>
                  </a:txBody>
                  <a:tcPr marL="91440" marR="73152" marT="36576" marB="36576" anchor="ctr">
                    <a:solidFill>
                      <a:srgbClr val="FAEEE3"/>
                    </a:solidFill>
                  </a:tcPr>
                </a:tc>
              </a:tr>
              <a:tr h="1097280">
                <a:tc>
                  <a:txBody>
                    <a:bodyPr wrap="square"/>
                    <a:lstStyle/>
                    <a:p>
                      <a:pPr algn="l"/>
                      <a:r>
                        <a:rPr sz="1250" b="1">
                          <a:solidFill>
                            <a:srgbClr val="111A27"/>
                          </a:solidFill>
                          <a:latin typeface="Helvetica Neue"/>
                        </a:rPr>
                        <a:t>No economics for the long tail</a:t>
                      </a:r>
                    </a:p>
                  </a:txBody>
                  <a:tcPr marL="91440" marR="73152" marT="36576" marB="36576" anchor="ctr">
                    <a:solidFill>
                      <a:srgbClr val="F3F6F8"/>
                    </a:solidFill>
                  </a:tcPr>
                </a:tc>
                <a:tc>
                  <a:txBody>
                    <a:bodyPr wrap="square"/>
                    <a:lstStyle/>
                    <a:p>
                      <a:pPr algn="l"/>
                      <a:r>
                        <a:rPr sz="1250">
                          <a:solidFill>
                            <a:srgbClr val="333E4F"/>
                          </a:solidFill>
                          <a:latin typeface="Helvetica Neue"/>
                        </a:rPr>
                        <a:t>The 1,000th edge case costs as much as the first. Vendors served the mode and left the tail to consultants and spreadsheets.</a:t>
                      </a:r>
                    </a:p>
                  </a:txBody>
                  <a:tcPr marL="91440" marR="73152" marT="36576" marB="36576" anchor="ctr">
                    <a:solidFill>
                      <a:srgbClr val="F3F6F8"/>
                    </a:solidFill>
                  </a:tcPr>
                </a:tc>
                <a:tc>
                  <a:txBody>
                    <a:bodyPr wrap="square"/>
                    <a:lstStyle/>
                    <a:p>
                      <a:pPr algn="l"/>
                      <a:r>
                        <a:rPr sz="1250">
                          <a:solidFill>
                            <a:srgbClr val="8A3F07"/>
                          </a:solidFill>
                          <a:latin typeface="Helvetica Neue"/>
                        </a:rPr>
                        <a:t>Marginal cost of covering an edge case approaches the cost of describing it. The tail becomes addressable.</a:t>
                      </a:r>
                    </a:p>
                  </a:txBody>
                  <a:tcPr marL="91440" marR="73152" marT="36576" marB="36576" anchor="ctr">
                    <a:solidFill>
                      <a:srgbClr val="FAEEE3"/>
                    </a:solidFill>
                  </a:tcPr>
                </a:tc>
              </a:tr>
              <a:tr h="1097280">
                <a:tc>
                  <a:txBody>
                    <a:bodyPr wrap="square"/>
                    <a:lstStyle/>
                    <a:p>
                      <a:pPr algn="l"/>
                      <a:r>
                        <a:rPr sz="1250" b="1">
                          <a:solidFill>
                            <a:srgbClr val="111A27"/>
                          </a:solidFill>
                          <a:latin typeface="Helvetica Neue"/>
                        </a:rPr>
                        <a:t>Every capability needed a pre-built interface</a:t>
                      </a:r>
                    </a:p>
                  </a:txBody>
                  <a:tcPr marL="91440" marR="73152" marT="36576" marB="36576" anchor="ctr">
                    <a:solidFill>
                      <a:srgbClr val="FFFFFF"/>
                    </a:solidFill>
                  </a:tcPr>
                </a:tc>
                <a:tc>
                  <a:txBody>
                    <a:bodyPr wrap="square"/>
                    <a:lstStyle/>
                    <a:p>
                      <a:pPr algn="l"/>
                      <a:r>
                        <a:rPr sz="1250">
                          <a:solidFill>
                            <a:srgbClr val="333E4F"/>
                          </a:solidFill>
                          <a:latin typeface="Helvetica Neue"/>
                        </a:rPr>
                        <a:t>Customers could only direct software through affordances a PM imagined and a roadmap funded.</a:t>
                      </a:r>
                    </a:p>
                  </a:txBody>
                  <a:tcPr marL="91440" marR="73152" marT="36576" marB="36576" anchor="ctr">
                    <a:solidFill>
                      <a:srgbClr val="FFFFFF"/>
                    </a:solidFill>
                  </a:tcPr>
                </a:tc>
                <a:tc>
                  <a:txBody>
                    <a:bodyPr wrap="square"/>
                    <a:lstStyle/>
                    <a:p>
                      <a:pPr algn="l"/>
                      <a:r>
                        <a:rPr sz="1250">
                          <a:solidFill>
                            <a:srgbClr val="8A3F07"/>
                          </a:solidFill>
                          <a:latin typeface="Helvetica Neue"/>
                        </a:rPr>
                        <a:t>Natural language is a universal interface. No vendor has to anticipate the request in advance.</a:t>
                      </a:r>
                    </a:p>
                  </a:txBody>
                  <a:tcPr marL="91440" marR="73152" marT="36576" marB="36576" anchor="ctr">
                    <a:solidFill>
                      <a:srgbClr val="FAEEE3"/>
                    </a:solidFill>
                  </a:tcPr>
                </a:tc>
              </a:tr>
            </a:tbl>
          </a:graphicData>
        </a:graphic>
      </p:graphicFrame>
      <p:sp>
        <p:nvSpPr>
          <p:cNvPr id="6" name="Rounded Rectangle 5"/>
          <p:cNvSpPr/>
          <p:nvPr/>
        </p:nvSpPr>
        <p:spPr>
          <a:xfrm>
            <a:off x="658368" y="5742432"/>
            <a:ext cx="10874959" cy="749808"/>
          </a:xfrm>
          <a:prstGeom prst="roundRect">
            <a:avLst>
              <a:gd name="adj" fmla="val 4000"/>
            </a:avLst>
          </a:prstGeom>
          <a:solidFill>
            <a:srgbClr val="E4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5925312"/>
            <a:ext cx="10326319" cy="457200"/>
          </a:xfrm>
          <a:prstGeom prst="rect">
            <a:avLst/>
          </a:prstGeom>
          <a:noFill/>
        </p:spPr>
        <p:txBody>
          <a:bodyPr wrap="square" anchor="t" lIns="0" rIns="0" tIns="0" bIns="0">
            <a:spAutoFit/>
          </a:bodyPr>
          <a:lstStyle/>
          <a:p>
            <a:pPr algn="l">
              <a:lnSpc>
                <a:spcPct val="130000"/>
              </a:lnSpc>
              <a:spcAft>
                <a:spcPts val="600"/>
              </a:spcAft>
            </a:pPr>
            <a:r>
              <a:rPr sz="1400" b="1">
                <a:solidFill>
                  <a:srgbClr val="0A5366"/>
                </a:solidFill>
                <a:latin typeface="Helvetica Neue"/>
              </a:rPr>
              <a:t>The claim under this deck is not "AI is smart." It is three specific engineering properties: ambiguity tolerance, near-zero marginal cost on the long tail, and an interface nobody has to build in advance.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5</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THE SHIFT</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Three eras, side by side</a:t>
            </a:r>
          </a:p>
        </p:txBody>
      </p:sp>
      <p:graphicFrame>
        <p:nvGraphicFramePr>
          <p:cNvPr id="5" name="Table 4"/>
          <p:cNvGraphicFramePr>
            <a:graphicFrameLocks noGrp="1"/>
          </p:cNvGraphicFramePr>
          <p:nvPr/>
        </p:nvGraphicFramePr>
        <p:xfrm>
          <a:off x="658368" y="1783080"/>
          <a:ext cx="10908792" cy="4242816"/>
        </p:xfrm>
        <a:graphic>
          <a:graphicData uri="http://schemas.openxmlformats.org/drawingml/2006/table">
            <a:tbl>
              <a:tblPr>
                <a:tableStyleId>{5C22544A-7EE6-4342-B048-85BDC9FD1C3A}</a:tableStyleId>
              </a:tblPr>
              <a:tblGrid>
                <a:gridCol w="2103120"/>
                <a:gridCol w="2514600"/>
                <a:gridCol w="2926080"/>
                <a:gridCol w="3364992"/>
              </a:tblGrid>
              <a:tr h="402336">
                <a:tc>
                  <a:txBody>
                    <a:bodyPr wrap="square"/>
                    <a:lstStyle/>
                    <a:p>
                      <a:pPr algn="l"/>
                      <a:r>
                        <a:rPr sz="1150" b="1">
                          <a:solidFill>
                            <a:srgbClr val="FFFFFF"/>
                          </a:solidFill>
                          <a:latin typeface="Helvetica Neue"/>
                        </a:rPr>
                        <a:t/>
                      </a:r>
                    </a:p>
                  </a:txBody>
                  <a:tcPr marL="91440" marR="73152" marT="36576" marB="36576" anchor="ctr">
                    <a:solidFill>
                      <a:srgbClr val="111A27"/>
                    </a:solidFill>
                  </a:tcPr>
                </a:tc>
                <a:tc>
                  <a:txBody>
                    <a:bodyPr wrap="square"/>
                    <a:lstStyle/>
                    <a:p>
                      <a:pPr algn="l"/>
                      <a:r>
                        <a:rPr sz="1150" b="1">
                          <a:solidFill>
                            <a:srgbClr val="FFFFFF"/>
                          </a:solidFill>
                          <a:latin typeface="Helvetica Neue"/>
                        </a:rPr>
                        <a:t>Perpetual licence</a:t>
                      </a:r>
                    </a:p>
                  </a:txBody>
                  <a:tcPr marL="91440" marR="73152" marT="36576" marB="36576" anchor="ctr">
                    <a:solidFill>
                      <a:srgbClr val="111A27"/>
                    </a:solidFill>
                  </a:tcPr>
                </a:tc>
                <a:tc>
                  <a:txBody>
                    <a:bodyPr wrap="square"/>
                    <a:lstStyle/>
                    <a:p>
                      <a:pPr algn="l"/>
                      <a:r>
                        <a:rPr sz="1150" b="1">
                          <a:solidFill>
                            <a:srgbClr val="FFFFFF"/>
                          </a:solidFill>
                          <a:latin typeface="Helvetica Neue"/>
                        </a:rPr>
                        <a:t>SaaS</a:t>
                      </a:r>
                    </a:p>
                  </a:txBody>
                  <a:tcPr marL="91440" marR="73152" marT="36576" marB="36576" anchor="ctr">
                    <a:solidFill>
                      <a:srgbClr val="111A27"/>
                    </a:solidFill>
                  </a:tcPr>
                </a:tc>
                <a:tc>
                  <a:txBody>
                    <a:bodyPr wrap="square"/>
                    <a:lstStyle/>
                    <a:p>
                      <a:pPr algn="l"/>
                      <a:r>
                        <a:rPr sz="1150" b="1">
                          <a:solidFill>
                            <a:srgbClr val="FFFFFF"/>
                          </a:solidFill>
                          <a:latin typeface="Helvetica Neue"/>
                        </a:rPr>
                        <a:t>Agent-native</a:t>
                      </a:r>
                    </a:p>
                  </a:txBody>
                  <a:tcPr marL="91440" marR="73152" marT="36576" marB="36576" anchor="ctr">
                    <a:solidFill>
                      <a:srgbClr val="111A27"/>
                    </a:solidFill>
                  </a:tcPr>
                </a:tc>
              </a:tr>
              <a:tr h="384048">
                <a:tc>
                  <a:txBody>
                    <a:bodyPr wrap="square"/>
                    <a:lstStyle/>
                    <a:p>
                      <a:pPr algn="l"/>
                      <a:r>
                        <a:rPr sz="1150" b="1">
                          <a:solidFill>
                            <a:srgbClr val="111A27"/>
                          </a:solidFill>
                          <a:latin typeface="Helvetica Neue"/>
                        </a:rPr>
                        <a:t>Unit of sale</a:t>
                      </a:r>
                    </a:p>
                  </a:txBody>
                  <a:tcPr marL="91440" marR="73152" marT="36576" marB="36576" anchor="ctr">
                    <a:solidFill>
                      <a:srgbClr val="FFFFFF"/>
                    </a:solidFill>
                  </a:tcPr>
                </a:tc>
                <a:tc>
                  <a:txBody>
                    <a:bodyPr wrap="square"/>
                    <a:lstStyle/>
                    <a:p>
                      <a:pPr algn="l"/>
                      <a:r>
                        <a:rPr sz="1150">
                          <a:solidFill>
                            <a:srgbClr val="333E4F"/>
                          </a:solidFill>
                          <a:latin typeface="Helvetica Neue"/>
                        </a:rPr>
                        <a:t>a copy</a:t>
                      </a:r>
                    </a:p>
                  </a:txBody>
                  <a:tcPr marL="91440" marR="73152" marT="36576" marB="36576" anchor="ctr">
                    <a:solidFill>
                      <a:srgbClr val="FFFFFF"/>
                    </a:solidFill>
                  </a:tcPr>
                </a:tc>
                <a:tc>
                  <a:txBody>
                    <a:bodyPr wrap="square"/>
                    <a:lstStyle/>
                    <a:p>
                      <a:pPr algn="l"/>
                      <a:r>
                        <a:rPr sz="1150">
                          <a:solidFill>
                            <a:srgbClr val="333E4F"/>
                          </a:solidFill>
                          <a:latin typeface="Helvetica Neue"/>
                        </a:rPr>
                        <a:t>access</a:t>
                      </a:r>
                    </a:p>
                  </a:txBody>
                  <a:tcPr marL="91440" marR="73152" marT="36576" marB="36576" anchor="ctr">
                    <a:solidFill>
                      <a:srgbClr val="FFFFFF"/>
                    </a:solidFill>
                  </a:tcPr>
                </a:tc>
                <a:tc>
                  <a:txBody>
                    <a:bodyPr wrap="square"/>
                    <a:lstStyle/>
                    <a:p>
                      <a:pPr algn="l"/>
                      <a:r>
                        <a:rPr sz="1150">
                          <a:solidFill>
                            <a:srgbClr val="8A3F07"/>
                          </a:solidFill>
                          <a:latin typeface="Helvetica Neue"/>
                        </a:rPr>
                        <a:t>completed work</a:t>
                      </a:r>
                    </a:p>
                  </a:txBody>
                  <a:tcPr marL="91440" marR="73152" marT="36576" marB="36576" anchor="ctr">
                    <a:solidFill>
                      <a:srgbClr val="FAEEE3"/>
                    </a:solidFill>
                  </a:tcPr>
                </a:tc>
              </a:tr>
              <a:tr h="384048">
                <a:tc>
                  <a:txBody>
                    <a:bodyPr wrap="square"/>
                    <a:lstStyle/>
                    <a:p>
                      <a:pPr algn="l"/>
                      <a:r>
                        <a:rPr sz="1150" b="1">
                          <a:solidFill>
                            <a:srgbClr val="111A27"/>
                          </a:solidFill>
                          <a:latin typeface="Helvetica Neue"/>
                        </a:rPr>
                        <a:t>Meter</a:t>
                      </a:r>
                    </a:p>
                  </a:txBody>
                  <a:tcPr marL="91440" marR="73152" marT="36576" marB="36576" anchor="ctr">
                    <a:solidFill>
                      <a:srgbClr val="F3F6F8"/>
                    </a:solidFill>
                  </a:tcPr>
                </a:tc>
                <a:tc>
                  <a:txBody>
                    <a:bodyPr wrap="square"/>
                    <a:lstStyle/>
                    <a:p>
                      <a:pPr algn="l"/>
                      <a:r>
                        <a:rPr sz="1150">
                          <a:solidFill>
                            <a:srgbClr val="333E4F"/>
                          </a:solidFill>
                          <a:latin typeface="Helvetica Neue"/>
                        </a:rPr>
                        <a:t>licence + maintenance</a:t>
                      </a:r>
                    </a:p>
                  </a:txBody>
                  <a:tcPr marL="91440" marR="73152" marT="36576" marB="36576" anchor="ctr">
                    <a:solidFill>
                      <a:srgbClr val="F3F6F8"/>
                    </a:solidFill>
                  </a:tcPr>
                </a:tc>
                <a:tc>
                  <a:txBody>
                    <a:bodyPr wrap="square"/>
                    <a:lstStyle/>
                    <a:p>
                      <a:pPr algn="l"/>
                      <a:r>
                        <a:rPr sz="1150">
                          <a:solidFill>
                            <a:srgbClr val="333E4F"/>
                          </a:solidFill>
                          <a:latin typeface="Helvetica Neue"/>
                        </a:rPr>
                        <a:t>seat / month</a:t>
                      </a:r>
                    </a:p>
                  </a:txBody>
                  <a:tcPr marL="91440" marR="73152" marT="36576" marB="36576" anchor="ctr">
                    <a:solidFill>
                      <a:srgbClr val="F3F6F8"/>
                    </a:solidFill>
                  </a:tcPr>
                </a:tc>
                <a:tc>
                  <a:txBody>
                    <a:bodyPr wrap="square"/>
                    <a:lstStyle/>
                    <a:p>
                      <a:pPr algn="l"/>
                      <a:r>
                        <a:rPr sz="1150">
                          <a:solidFill>
                            <a:srgbClr val="8A3F07"/>
                          </a:solidFill>
                          <a:latin typeface="Helvetica Neue"/>
                        </a:rPr>
                        <a:t>unit of output</a:t>
                      </a:r>
                    </a:p>
                  </a:txBody>
                  <a:tcPr marL="91440" marR="73152" marT="36576" marB="36576" anchor="ctr">
                    <a:solidFill>
                      <a:srgbClr val="FAEEE3"/>
                    </a:solidFill>
                  </a:tcPr>
                </a:tc>
              </a:tr>
              <a:tr h="384048">
                <a:tc>
                  <a:txBody>
                    <a:bodyPr wrap="square"/>
                    <a:lstStyle/>
                    <a:p>
                      <a:pPr algn="l"/>
                      <a:r>
                        <a:rPr sz="1150" b="1">
                          <a:solidFill>
                            <a:srgbClr val="111A27"/>
                          </a:solidFill>
                          <a:latin typeface="Helvetica Neue"/>
                        </a:rPr>
                        <a:t>Who does the work</a:t>
                      </a:r>
                    </a:p>
                  </a:txBody>
                  <a:tcPr marL="91440" marR="73152" marT="36576" marB="36576" anchor="ctr">
                    <a:solidFill>
                      <a:srgbClr val="FFFFFF"/>
                    </a:solidFill>
                  </a:tcPr>
                </a:tc>
                <a:tc>
                  <a:txBody>
                    <a:bodyPr wrap="square"/>
                    <a:lstStyle/>
                    <a:p>
                      <a:pPr algn="l"/>
                      <a:r>
                        <a:rPr sz="1150">
                          <a:solidFill>
                            <a:srgbClr val="333E4F"/>
                          </a:solidFill>
                          <a:latin typeface="Helvetica Neue"/>
                        </a:rPr>
                        <a:t>customer</a:t>
                      </a:r>
                    </a:p>
                  </a:txBody>
                  <a:tcPr marL="91440" marR="73152" marT="36576" marB="36576" anchor="ctr">
                    <a:solidFill>
                      <a:srgbClr val="FFFFFF"/>
                    </a:solidFill>
                  </a:tcPr>
                </a:tc>
                <a:tc>
                  <a:txBody>
                    <a:bodyPr wrap="square"/>
                    <a:lstStyle/>
                    <a:p>
                      <a:pPr algn="l"/>
                      <a:r>
                        <a:rPr sz="1150">
                          <a:solidFill>
                            <a:srgbClr val="333E4F"/>
                          </a:solidFill>
                          <a:latin typeface="Helvetica Neue"/>
                        </a:rPr>
                        <a:t>customer</a:t>
                      </a:r>
                    </a:p>
                  </a:txBody>
                  <a:tcPr marL="91440" marR="73152" marT="36576" marB="36576" anchor="ctr">
                    <a:solidFill>
                      <a:srgbClr val="FFFFFF"/>
                    </a:solidFill>
                  </a:tcPr>
                </a:tc>
                <a:tc>
                  <a:txBody>
                    <a:bodyPr wrap="square"/>
                    <a:lstStyle/>
                    <a:p>
                      <a:pPr algn="l"/>
                      <a:r>
                        <a:rPr sz="1150">
                          <a:solidFill>
                            <a:srgbClr val="8A3F07"/>
                          </a:solidFill>
                          <a:latin typeface="Helvetica Neue"/>
                        </a:rPr>
                        <a:t>vendor</a:t>
                      </a:r>
                    </a:p>
                  </a:txBody>
                  <a:tcPr marL="91440" marR="73152" marT="36576" marB="36576" anchor="ctr">
                    <a:solidFill>
                      <a:srgbClr val="FAEEE3"/>
                    </a:solidFill>
                  </a:tcPr>
                </a:tc>
              </a:tr>
              <a:tr h="384048">
                <a:tc>
                  <a:txBody>
                    <a:bodyPr wrap="square"/>
                    <a:lstStyle/>
                    <a:p>
                      <a:pPr algn="l"/>
                      <a:r>
                        <a:rPr sz="1150" b="1">
                          <a:solidFill>
                            <a:srgbClr val="111A27"/>
                          </a:solidFill>
                          <a:latin typeface="Helvetica Neue"/>
                        </a:rPr>
                        <a:t>Marginal cost</a:t>
                      </a:r>
                    </a:p>
                  </a:txBody>
                  <a:tcPr marL="91440" marR="73152" marT="36576" marB="36576" anchor="ctr">
                    <a:solidFill>
                      <a:srgbClr val="F3F6F8"/>
                    </a:solidFill>
                  </a:tcPr>
                </a:tc>
                <a:tc>
                  <a:txBody>
                    <a:bodyPr wrap="square"/>
                    <a:lstStyle/>
                    <a:p>
                      <a:pPr algn="l"/>
                      <a:r>
                        <a:rPr sz="1150">
                          <a:solidFill>
                            <a:srgbClr val="333E4F"/>
                          </a:solidFill>
                          <a:latin typeface="Helvetica Neue"/>
                        </a:rPr>
                        <a:t>media, channel</a:t>
                      </a:r>
                    </a:p>
                  </a:txBody>
                  <a:tcPr marL="91440" marR="73152" marT="36576" marB="36576" anchor="ctr">
                    <a:solidFill>
                      <a:srgbClr val="F3F6F8"/>
                    </a:solidFill>
                  </a:tcPr>
                </a:tc>
                <a:tc>
                  <a:txBody>
                    <a:bodyPr wrap="square"/>
                    <a:lstStyle/>
                    <a:p>
                      <a:pPr algn="l"/>
                      <a:r>
                        <a:rPr sz="1150">
                          <a:solidFill>
                            <a:srgbClr val="333E4F"/>
                          </a:solidFill>
                          <a:latin typeface="Helvetica Neue"/>
                        </a:rPr>
                        <a:t>hosting — low, fixed</a:t>
                      </a:r>
                    </a:p>
                  </a:txBody>
                  <a:tcPr marL="91440" marR="73152" marT="36576" marB="36576" anchor="ctr">
                    <a:solidFill>
                      <a:srgbClr val="F3F6F8"/>
                    </a:solidFill>
                  </a:tcPr>
                </a:tc>
                <a:tc>
                  <a:txBody>
                    <a:bodyPr wrap="square"/>
                    <a:lstStyle/>
                    <a:p>
                      <a:pPr algn="l"/>
                      <a:r>
                        <a:rPr sz="1150">
                          <a:solidFill>
                            <a:srgbClr val="8A3F07"/>
                          </a:solidFill>
                          <a:latin typeface="Helvetica Neue"/>
                        </a:rPr>
                        <a:t>inference + review — variable, falling</a:t>
                      </a:r>
                    </a:p>
                  </a:txBody>
                  <a:tcPr marL="91440" marR="73152" marT="36576" marB="36576" anchor="ctr">
                    <a:solidFill>
                      <a:srgbClr val="FAEEE3"/>
                    </a:solidFill>
                  </a:tcPr>
                </a:tc>
              </a:tr>
              <a:tr h="384048">
                <a:tc>
                  <a:txBody>
                    <a:bodyPr wrap="square"/>
                    <a:lstStyle/>
                    <a:p>
                      <a:pPr algn="l"/>
                      <a:r>
                        <a:rPr sz="1150" b="1">
                          <a:solidFill>
                            <a:srgbClr val="111A27"/>
                          </a:solidFill>
                          <a:latin typeface="Helvetica Neue"/>
                        </a:rPr>
                        <a:t>Gross margin</a:t>
                      </a:r>
                    </a:p>
                  </a:txBody>
                  <a:tcPr marL="91440" marR="73152" marT="36576" marB="36576" anchor="ctr">
                    <a:solidFill>
                      <a:srgbClr val="FFFFFF"/>
                    </a:solidFill>
                  </a:tcPr>
                </a:tc>
                <a:tc>
                  <a:txBody>
                    <a:bodyPr wrap="square"/>
                    <a:lstStyle/>
                    <a:p>
                      <a:pPr algn="l"/>
                      <a:r>
                        <a:rPr sz="1150">
                          <a:solidFill>
                            <a:srgbClr val="333E4F"/>
                          </a:solidFill>
                          <a:latin typeface="Helvetica Neue"/>
                        </a:rPr>
                        <a:t>high</a:t>
                      </a:r>
                    </a:p>
                  </a:txBody>
                  <a:tcPr marL="91440" marR="73152" marT="36576" marB="36576" anchor="ctr">
                    <a:solidFill>
                      <a:srgbClr val="FFFFFF"/>
                    </a:solidFill>
                  </a:tcPr>
                </a:tc>
                <a:tc>
                  <a:txBody>
                    <a:bodyPr wrap="square"/>
                    <a:lstStyle/>
                    <a:p>
                      <a:pPr algn="l"/>
                      <a:r>
                        <a:rPr sz="1150">
                          <a:solidFill>
                            <a:srgbClr val="333E4F"/>
                          </a:solidFill>
                          <a:latin typeface="Helvetica Neue"/>
                        </a:rPr>
                        <a:t>75–85%, flat from day one</a:t>
                      </a:r>
                    </a:p>
                  </a:txBody>
                  <a:tcPr marL="91440" marR="73152" marT="36576" marB="36576" anchor="ctr">
                    <a:solidFill>
                      <a:srgbClr val="FFFFFF"/>
                    </a:solidFill>
                  </a:tcPr>
                </a:tc>
                <a:tc>
                  <a:txBody>
                    <a:bodyPr wrap="square"/>
                    <a:lstStyle/>
                    <a:p>
                      <a:pPr algn="l"/>
                      <a:r>
                        <a:rPr sz="1150">
                          <a:solidFill>
                            <a:srgbClr val="8A3F07"/>
                          </a:solidFill>
                          <a:latin typeface="Helvetica Neue"/>
                        </a:rPr>
                        <a:t>40–60% rising toward 70–80%</a:t>
                      </a:r>
                    </a:p>
                  </a:txBody>
                  <a:tcPr marL="91440" marR="73152" marT="36576" marB="36576" anchor="ctr">
                    <a:solidFill>
                      <a:srgbClr val="FAEEE3"/>
                    </a:solidFill>
                  </a:tcPr>
                </a:tc>
              </a:tr>
              <a:tr h="384048">
                <a:tc>
                  <a:txBody>
                    <a:bodyPr wrap="square"/>
                    <a:lstStyle/>
                    <a:p>
                      <a:pPr algn="l"/>
                      <a:r>
                        <a:rPr sz="1150" b="1">
                          <a:solidFill>
                            <a:srgbClr val="111A27"/>
                          </a:solidFill>
                          <a:latin typeface="Helvetica Neue"/>
                        </a:rPr>
                        <a:t>Value ceiling</a:t>
                      </a:r>
                    </a:p>
                  </a:txBody>
                  <a:tcPr marL="91440" marR="73152" marT="36576" marB="36576" anchor="ctr">
                    <a:solidFill>
                      <a:srgbClr val="F3F6F8"/>
                    </a:solidFill>
                  </a:tcPr>
                </a:tc>
                <a:tc>
                  <a:txBody>
                    <a:bodyPr wrap="square"/>
                    <a:lstStyle/>
                    <a:p>
                      <a:pPr algn="l"/>
                      <a:r>
                        <a:rPr sz="1150">
                          <a:solidFill>
                            <a:srgbClr val="333E4F"/>
                          </a:solidFill>
                          <a:latin typeface="Helvetica Neue"/>
                        </a:rPr>
                        <a:t>customer's labour capacity</a:t>
                      </a:r>
                    </a:p>
                  </a:txBody>
                  <a:tcPr marL="91440" marR="73152" marT="36576" marB="36576" anchor="ctr">
                    <a:solidFill>
                      <a:srgbClr val="F3F6F8"/>
                    </a:solidFill>
                  </a:tcPr>
                </a:tc>
                <a:tc>
                  <a:txBody>
                    <a:bodyPr wrap="square"/>
                    <a:lstStyle/>
                    <a:p>
                      <a:pPr algn="l"/>
                      <a:r>
                        <a:rPr sz="1150">
                          <a:solidFill>
                            <a:srgbClr val="333E4F"/>
                          </a:solidFill>
                          <a:latin typeface="Helvetica Neue"/>
                        </a:rPr>
                        <a:t>customer's labour capacity</a:t>
                      </a:r>
                    </a:p>
                  </a:txBody>
                  <a:tcPr marL="91440" marR="73152" marT="36576" marB="36576" anchor="ctr">
                    <a:solidFill>
                      <a:srgbClr val="F3F6F8"/>
                    </a:solidFill>
                  </a:tcPr>
                </a:tc>
                <a:tc>
                  <a:txBody>
                    <a:bodyPr wrap="square"/>
                    <a:lstStyle/>
                    <a:p>
                      <a:pPr algn="l"/>
                      <a:r>
                        <a:rPr sz="1150">
                          <a:solidFill>
                            <a:srgbClr val="8A3F07"/>
                          </a:solidFill>
                          <a:latin typeface="Helvetica Neue"/>
                        </a:rPr>
                        <a:t>the work itself</a:t>
                      </a:r>
                    </a:p>
                  </a:txBody>
                  <a:tcPr marL="91440" marR="73152" marT="36576" marB="36576" anchor="ctr">
                    <a:solidFill>
                      <a:srgbClr val="FAEEE3"/>
                    </a:solidFill>
                  </a:tcPr>
                </a:tc>
              </a:tr>
              <a:tr h="384048">
                <a:tc>
                  <a:txBody>
                    <a:bodyPr wrap="square"/>
                    <a:lstStyle/>
                    <a:p>
                      <a:pPr algn="l"/>
                      <a:r>
                        <a:rPr sz="1150" b="1">
                          <a:solidFill>
                            <a:srgbClr val="111A27"/>
                          </a:solidFill>
                          <a:latin typeface="Helvetica Neue"/>
                        </a:rPr>
                        <a:t>Moat</a:t>
                      </a:r>
                    </a:p>
                  </a:txBody>
                  <a:tcPr marL="91440" marR="73152" marT="36576" marB="36576" anchor="ctr">
                    <a:solidFill>
                      <a:srgbClr val="FFFFFF"/>
                    </a:solidFill>
                  </a:tcPr>
                </a:tc>
                <a:tc>
                  <a:txBody>
                    <a:bodyPr wrap="square"/>
                    <a:lstStyle/>
                    <a:p>
                      <a:pPr algn="l"/>
                      <a:r>
                        <a:rPr sz="1150">
                          <a:solidFill>
                            <a:srgbClr val="333E4F"/>
                          </a:solidFill>
                          <a:latin typeface="Helvetica Neue"/>
                        </a:rPr>
                        <a:t>install base, data gravity</a:t>
                      </a:r>
                    </a:p>
                  </a:txBody>
                  <a:tcPr marL="91440" marR="73152" marT="36576" marB="36576" anchor="ctr">
                    <a:solidFill>
                      <a:srgbClr val="FFFFFF"/>
                    </a:solidFill>
                  </a:tcPr>
                </a:tc>
                <a:tc>
                  <a:txBody>
                    <a:bodyPr wrap="square"/>
                    <a:lstStyle/>
                    <a:p>
                      <a:pPr algn="l"/>
                      <a:r>
                        <a:rPr sz="1150">
                          <a:solidFill>
                            <a:srgbClr val="333E4F"/>
                          </a:solidFill>
                          <a:latin typeface="Helvetica Neue"/>
                        </a:rPr>
                        <a:t>UI habit, integrations, config</a:t>
                      </a:r>
                    </a:p>
                  </a:txBody>
                  <a:tcPr marL="91440" marR="73152" marT="36576" marB="36576" anchor="ctr">
                    <a:solidFill>
                      <a:srgbClr val="FFFFFF"/>
                    </a:solidFill>
                  </a:tcPr>
                </a:tc>
                <a:tc>
                  <a:txBody>
                    <a:bodyPr wrap="square"/>
                    <a:lstStyle/>
                    <a:p>
                      <a:pPr algn="l"/>
                      <a:r>
                        <a:rPr sz="1150">
                          <a:solidFill>
                            <a:srgbClr val="8A3F07"/>
                          </a:solidFill>
                          <a:latin typeface="Helvetica Neue"/>
                        </a:rPr>
                        <a:t>verification, context, write permission, evals</a:t>
                      </a:r>
                    </a:p>
                  </a:txBody>
                  <a:tcPr marL="91440" marR="73152" marT="36576" marB="36576" anchor="ctr">
                    <a:solidFill>
                      <a:srgbClr val="FAEEE3"/>
                    </a:solidFill>
                  </a:tcPr>
                </a:tc>
              </a:tr>
              <a:tr h="384048">
                <a:tc>
                  <a:txBody>
                    <a:bodyPr wrap="square"/>
                    <a:lstStyle/>
                    <a:p>
                      <a:pPr algn="l"/>
                      <a:r>
                        <a:rPr sz="1150" b="1">
                          <a:solidFill>
                            <a:srgbClr val="111A27"/>
                          </a:solidFill>
                          <a:latin typeface="Helvetica Neue"/>
                        </a:rPr>
                        <a:t>Buyer / budget</a:t>
                      </a:r>
                    </a:p>
                  </a:txBody>
                  <a:tcPr marL="91440" marR="73152" marT="36576" marB="36576" anchor="ctr">
                    <a:solidFill>
                      <a:srgbClr val="F3F6F8"/>
                    </a:solidFill>
                  </a:tcPr>
                </a:tc>
                <a:tc>
                  <a:txBody>
                    <a:bodyPr wrap="square"/>
                    <a:lstStyle/>
                    <a:p>
                      <a:pPr algn="l"/>
                      <a:r>
                        <a:rPr sz="1150">
                          <a:solidFill>
                            <a:srgbClr val="333E4F"/>
                          </a:solidFill>
                          <a:latin typeface="Helvetica Neue"/>
                        </a:rPr>
                        <a:t>IT · capex</a:t>
                      </a:r>
                    </a:p>
                  </a:txBody>
                  <a:tcPr marL="91440" marR="73152" marT="36576" marB="36576" anchor="ctr">
                    <a:solidFill>
                      <a:srgbClr val="F3F6F8"/>
                    </a:solidFill>
                  </a:tcPr>
                </a:tc>
                <a:tc>
                  <a:txBody>
                    <a:bodyPr wrap="square"/>
                    <a:lstStyle/>
                    <a:p>
                      <a:pPr algn="l"/>
                      <a:r>
                        <a:rPr sz="1150">
                          <a:solidFill>
                            <a:srgbClr val="333E4F"/>
                          </a:solidFill>
                          <a:latin typeface="Helvetica Neue"/>
                        </a:rPr>
                        <a:t>function owner · software opex</a:t>
                      </a:r>
                    </a:p>
                  </a:txBody>
                  <a:tcPr marL="91440" marR="73152" marT="36576" marB="36576" anchor="ctr">
                    <a:solidFill>
                      <a:srgbClr val="F3F6F8"/>
                    </a:solidFill>
                  </a:tcPr>
                </a:tc>
                <a:tc>
                  <a:txBody>
                    <a:bodyPr wrap="square"/>
                    <a:lstStyle/>
                    <a:p>
                      <a:pPr algn="l"/>
                      <a:r>
                        <a:rPr sz="1150">
                          <a:solidFill>
                            <a:srgbClr val="8A3F07"/>
                          </a:solidFill>
                          <a:latin typeface="Helvetica Neue"/>
                        </a:rPr>
                        <a:t>P&amp;L owner · labour opex</a:t>
                      </a:r>
                    </a:p>
                  </a:txBody>
                  <a:tcPr marL="91440" marR="73152" marT="36576" marB="36576" anchor="ctr">
                    <a:solidFill>
                      <a:srgbClr val="FAEEE3"/>
                    </a:solidFill>
                  </a:tcPr>
                </a:tc>
              </a:tr>
              <a:tr h="384048">
                <a:tc>
                  <a:txBody>
                    <a:bodyPr wrap="square"/>
                    <a:lstStyle/>
                    <a:p>
                      <a:pPr algn="l"/>
                      <a:r>
                        <a:rPr sz="1150" b="1">
                          <a:solidFill>
                            <a:srgbClr val="111A27"/>
                          </a:solidFill>
                          <a:latin typeface="Helvetica Neue"/>
                        </a:rPr>
                        <a:t>Benchmarked against</a:t>
                      </a:r>
                    </a:p>
                  </a:txBody>
                  <a:tcPr marL="91440" marR="73152" marT="36576" marB="36576" anchor="ctr">
                    <a:solidFill>
                      <a:srgbClr val="FFFFFF"/>
                    </a:solidFill>
                  </a:tcPr>
                </a:tc>
                <a:tc>
                  <a:txBody>
                    <a:bodyPr wrap="square"/>
                    <a:lstStyle/>
                    <a:p>
                      <a:pPr algn="l"/>
                      <a:r>
                        <a:rPr sz="1150">
                          <a:solidFill>
                            <a:srgbClr val="333E4F"/>
                          </a:solidFill>
                          <a:latin typeface="Helvetica Neue"/>
                        </a:rPr>
                        <a:t>other licences</a:t>
                      </a:r>
                    </a:p>
                  </a:txBody>
                  <a:tcPr marL="91440" marR="73152" marT="36576" marB="36576" anchor="ctr">
                    <a:solidFill>
                      <a:srgbClr val="FFFFFF"/>
                    </a:solidFill>
                  </a:tcPr>
                </a:tc>
                <a:tc>
                  <a:txBody>
                    <a:bodyPr wrap="square"/>
                    <a:lstStyle/>
                    <a:p>
                      <a:pPr algn="l"/>
                      <a:r>
                        <a:rPr sz="1150">
                          <a:solidFill>
                            <a:srgbClr val="333E4F"/>
                          </a:solidFill>
                          <a:latin typeface="Helvetica Neue"/>
                        </a:rPr>
                        <a:t>other software</a:t>
                      </a:r>
                    </a:p>
                  </a:txBody>
                  <a:tcPr marL="91440" marR="73152" marT="36576" marB="36576" anchor="ctr">
                    <a:solidFill>
                      <a:srgbClr val="FFFFFF"/>
                    </a:solidFill>
                  </a:tcPr>
                </a:tc>
                <a:tc>
                  <a:txBody>
                    <a:bodyPr wrap="square"/>
                    <a:lstStyle/>
                    <a:p>
                      <a:pPr algn="l"/>
                      <a:r>
                        <a:rPr sz="1150">
                          <a:solidFill>
                            <a:srgbClr val="8A3F07"/>
                          </a:solidFill>
                          <a:latin typeface="Helvetica Neue"/>
                        </a:rPr>
                        <a:t>a salary</a:t>
                      </a:r>
                    </a:p>
                  </a:txBody>
                  <a:tcPr marL="91440" marR="73152" marT="36576" marB="36576" anchor="ctr">
                    <a:solidFill>
                      <a:srgbClr val="FAEEE3"/>
                    </a:solidFill>
                  </a:tcPr>
                </a:tc>
              </a:tr>
              <a:tr h="384048">
                <a:tc>
                  <a:txBody>
                    <a:bodyPr wrap="square"/>
                    <a:lstStyle/>
                    <a:p>
                      <a:pPr algn="l"/>
                      <a:r>
                        <a:rPr sz="1150" b="1">
                          <a:solidFill>
                            <a:srgbClr val="111A27"/>
                          </a:solidFill>
                          <a:latin typeface="Helvetica Neue"/>
                        </a:rPr>
                        <a:t>Interface</a:t>
                      </a:r>
                    </a:p>
                  </a:txBody>
                  <a:tcPr marL="91440" marR="73152" marT="36576" marB="36576" anchor="ctr">
                    <a:solidFill>
                      <a:srgbClr val="F3F6F8"/>
                    </a:solidFill>
                  </a:tcPr>
                </a:tc>
                <a:tc>
                  <a:txBody>
                    <a:bodyPr wrap="square"/>
                    <a:lstStyle/>
                    <a:p>
                      <a:pPr algn="l"/>
                      <a:r>
                        <a:rPr sz="1150">
                          <a:solidFill>
                            <a:srgbClr val="333E4F"/>
                          </a:solidFill>
                          <a:latin typeface="Helvetica Neue"/>
                        </a:rPr>
                        <a:t>GUI</a:t>
                      </a:r>
                    </a:p>
                  </a:txBody>
                  <a:tcPr marL="91440" marR="73152" marT="36576" marB="36576" anchor="ctr">
                    <a:solidFill>
                      <a:srgbClr val="F3F6F8"/>
                    </a:solidFill>
                  </a:tcPr>
                </a:tc>
                <a:tc>
                  <a:txBody>
                    <a:bodyPr wrap="square"/>
                    <a:lstStyle/>
                    <a:p>
                      <a:pPr algn="l"/>
                      <a:r>
                        <a:rPr sz="1150">
                          <a:solidFill>
                            <a:srgbClr val="333E4F"/>
                          </a:solidFill>
                          <a:latin typeface="Helvetica Neue"/>
                        </a:rPr>
                        <a:t>web GUI</a:t>
                      </a:r>
                    </a:p>
                  </a:txBody>
                  <a:tcPr marL="91440" marR="73152" marT="36576" marB="36576" anchor="ctr">
                    <a:solidFill>
                      <a:srgbClr val="F3F6F8"/>
                    </a:solidFill>
                  </a:tcPr>
                </a:tc>
                <a:tc>
                  <a:txBody>
                    <a:bodyPr wrap="square"/>
                    <a:lstStyle/>
                    <a:p>
                      <a:pPr algn="l"/>
                      <a:r>
                        <a:rPr sz="1150">
                          <a:solidFill>
                            <a:srgbClr val="8A3F07"/>
                          </a:solidFill>
                          <a:latin typeface="Helvetica Neue"/>
                        </a:rPr>
                        <a:t>conversation + exception queue</a:t>
                      </a:r>
                    </a:p>
                  </a:txBody>
                  <a:tcPr marL="91440" marR="73152" marT="36576" marB="36576" anchor="ctr">
                    <a:solidFill>
                      <a:srgbClr val="FAEEE3"/>
                    </a:solidFill>
                  </a:tcPr>
                </a:tc>
              </a:tr>
            </a:tbl>
          </a:graphicData>
        </a:graphic>
      </p:graphicFrame>
      <p:sp>
        <p:nvSpPr>
          <p:cNvPr id="6" name="TextBox 5"/>
          <p:cNvSpPr txBox="1"/>
          <p:nvPr/>
        </p:nvSpPr>
        <p:spPr>
          <a:xfrm>
            <a:off x="658368" y="6053328"/>
            <a:ext cx="10874959" cy="457200"/>
          </a:xfrm>
          <a:prstGeom prst="rect">
            <a:avLst/>
          </a:prstGeom>
          <a:noFill/>
        </p:spPr>
        <p:txBody>
          <a:bodyPr wrap="square" anchor="t" lIns="0" rIns="0" tIns="0" bIns="0">
            <a:spAutoFit/>
          </a:bodyPr>
          <a:lstStyle/>
          <a:p>
            <a:pPr algn="l">
              <a:lnSpc>
                <a:spcPct val="130000"/>
              </a:lnSpc>
              <a:spcAft>
                <a:spcPts val="600"/>
              </a:spcAft>
            </a:pPr>
            <a:r>
              <a:rPr sz="1200" b="1">
                <a:solidFill>
                  <a:srgbClr val="B45309"/>
                </a:solidFill>
                <a:latin typeface="Helvetica Neue"/>
              </a:rPr>
              <a:t>Read the last four rows first — they are the investment case: the value ceiling lifts, the price benchmark moves from a software budget to a salary, and the moat relocates to things that compound.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6</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THE SHIFT</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Five shifts, and one thing that does not change</a:t>
            </a:r>
          </a:p>
        </p:txBody>
      </p:sp>
      <p:sp>
        <p:nvSpPr>
          <p:cNvPr id="5" name="TextBox 4"/>
          <p:cNvSpPr txBox="1"/>
          <p:nvPr/>
        </p:nvSpPr>
        <p:spPr>
          <a:xfrm>
            <a:off x="658368" y="1828800"/>
            <a:ext cx="5120640" cy="3108960"/>
          </a:xfrm>
          <a:prstGeom prst="rect">
            <a:avLst/>
          </a:prstGeom>
          <a:noFill/>
        </p:spPr>
        <p:txBody>
          <a:bodyPr wrap="square" lIns="0" rIns="0" tIns="0" bIns="0">
            <a:spAutoFit/>
          </a:bodyPr>
          <a:lstStyle/>
          <a:p>
            <a:pPr>
              <a:lnSpc>
                <a:spcPct val="128000"/>
              </a:lnSpc>
              <a:spcBef>
                <a:spcPts val="1400"/>
              </a:spcBef>
              <a:spcAft>
                <a:spcPts val="200"/>
              </a:spcAft>
            </a:pPr>
            <a:r>
              <a:rPr sz="1350" b="1">
                <a:solidFill>
                  <a:srgbClr val="111A27"/>
                </a:solidFill>
                <a:latin typeface="Helvetica Neue"/>
              </a:rPr>
              <a:t>The unit of sale becomes completed work.</a:t>
            </a:r>
          </a:p>
          <a:p>
            <a:pPr>
              <a:lnSpc>
                <a:spcPct val="128000"/>
              </a:lnSpc>
              <a:spcAft>
                <a:spcPts val="900"/>
              </a:spcAft>
            </a:pPr>
            <a:r>
              <a:rPr sz="1350">
                <a:solidFill>
                  <a:srgbClr val="333E4F"/>
                </a:solidFill>
                <a:latin typeface="Helvetica Neue"/>
              </a:rPr>
              <a:t>— SaaS ate services firms' margin by selling them better tools. Agents take services firms' revenue by doing the work.</a:t>
            </a:r>
          </a:p>
          <a:p>
            <a:pPr>
              <a:lnSpc>
                <a:spcPct val="128000"/>
              </a:lnSpc>
              <a:spcBef>
                <a:spcPts val="1400"/>
              </a:spcBef>
              <a:spcAft>
                <a:spcPts val="200"/>
              </a:spcAft>
            </a:pPr>
            <a:r>
              <a:rPr sz="1350" b="1">
                <a:solidFill>
                  <a:srgbClr val="111A27"/>
                </a:solidFill>
                <a:latin typeface="Helvetica Neue"/>
              </a:rPr>
              <a:t>The meter breaks and must be rebuilt.</a:t>
            </a:r>
          </a:p>
          <a:p>
            <a:pPr>
              <a:lnSpc>
                <a:spcPct val="128000"/>
              </a:lnSpc>
              <a:spcAft>
                <a:spcPts val="900"/>
              </a:spcAft>
            </a:pPr>
            <a:r>
              <a:rPr sz="1350">
                <a:solidFill>
                  <a:srgbClr val="333E4F"/>
                </a:solidFill>
                <a:latin typeface="Helvetica Neue"/>
              </a:rPr>
              <a:t>— Price on a unit the customer already counts in their own P&amp;L: entities, transactions, closes. Not seats.</a:t>
            </a:r>
          </a:p>
          <a:p>
            <a:pPr>
              <a:lnSpc>
                <a:spcPct val="128000"/>
              </a:lnSpc>
              <a:spcBef>
                <a:spcPts val="1400"/>
              </a:spcBef>
              <a:spcAft>
                <a:spcPts val="200"/>
              </a:spcAft>
            </a:pPr>
            <a:r>
              <a:rPr sz="1350" b="1">
                <a:solidFill>
                  <a:srgbClr val="111A27"/>
                </a:solidFill>
                <a:latin typeface="Helvetica Neue"/>
              </a:rPr>
              <a:t>Gross margin becomes earned, not structural.</a:t>
            </a:r>
          </a:p>
          <a:p>
            <a:pPr>
              <a:lnSpc>
                <a:spcPct val="128000"/>
              </a:lnSpc>
              <a:spcAft>
                <a:spcPts val="900"/>
              </a:spcAft>
            </a:pPr>
            <a:r>
              <a:rPr sz="1350">
                <a:solidFill>
                  <a:srgbClr val="333E4F"/>
                </a:solidFill>
                <a:latin typeface="Helvetica Neue"/>
              </a:rPr>
              <a:t>— Automation rate is simultaneously product quality, the GM driver, and the moat. It is our single north-star metric.</a:t>
            </a:r>
          </a:p>
        </p:txBody>
      </p:sp>
      <p:sp>
        <p:nvSpPr>
          <p:cNvPr id="6" name="TextBox 5"/>
          <p:cNvSpPr txBox="1"/>
          <p:nvPr/>
        </p:nvSpPr>
        <p:spPr>
          <a:xfrm>
            <a:off x="6190488" y="1828800"/>
            <a:ext cx="5349240" cy="2377440"/>
          </a:xfrm>
          <a:prstGeom prst="rect">
            <a:avLst/>
          </a:prstGeom>
          <a:noFill/>
        </p:spPr>
        <p:txBody>
          <a:bodyPr wrap="square" lIns="0" rIns="0" tIns="0" bIns="0">
            <a:spAutoFit/>
          </a:bodyPr>
          <a:lstStyle/>
          <a:p>
            <a:pPr>
              <a:lnSpc>
                <a:spcPct val="128000"/>
              </a:lnSpc>
              <a:spcBef>
                <a:spcPts val="1400"/>
              </a:spcBef>
              <a:spcAft>
                <a:spcPts val="200"/>
              </a:spcAft>
            </a:pPr>
            <a:r>
              <a:rPr sz="1350" b="1">
                <a:solidFill>
                  <a:srgbClr val="111A27"/>
                </a:solidFill>
                <a:latin typeface="Helvetica Neue"/>
              </a:rPr>
              <a:t>The moat relocates — to four things that compound.</a:t>
            </a:r>
          </a:p>
          <a:p>
            <a:pPr>
              <a:lnSpc>
                <a:spcPct val="128000"/>
              </a:lnSpc>
              <a:spcAft>
                <a:spcPts val="900"/>
              </a:spcAft>
            </a:pPr>
            <a:r>
              <a:rPr sz="1350">
                <a:solidFill>
                  <a:srgbClr val="333E4F"/>
                </a:solidFill>
                <a:latin typeface="Helvetica Neue"/>
              </a:rPr>
              <a:t>— Verification (anyone can prompt a model; almost nobody can prove the output). Context (client-specific policy and history). Permission (write access to the ledger, the bank, the filing). Evals (a corpus of verified outcomes).</a:t>
            </a:r>
          </a:p>
          <a:p>
            <a:pPr>
              <a:lnSpc>
                <a:spcPct val="128000"/>
              </a:lnSpc>
              <a:spcBef>
                <a:spcPts val="1400"/>
              </a:spcBef>
              <a:spcAft>
                <a:spcPts val="200"/>
              </a:spcAft>
            </a:pPr>
            <a:r>
              <a:rPr sz="1350" b="1">
                <a:solidFill>
                  <a:srgbClr val="111A27"/>
                </a:solidFill>
                <a:latin typeface="Helvetica Neue"/>
              </a:rPr>
              <a:t>Buyer, budget and benchmark all move.</a:t>
            </a:r>
          </a:p>
          <a:p>
            <a:pPr>
              <a:lnSpc>
                <a:spcPct val="128000"/>
              </a:lnSpc>
              <a:spcAft>
                <a:spcPts val="900"/>
              </a:spcAft>
            </a:pPr>
            <a:r>
              <a:rPr sz="1350">
                <a:solidFill>
                  <a:srgbClr val="333E4F"/>
                </a:solidFill>
                <a:latin typeface="Helvetica Neue"/>
              </a:rPr>
              <a:t>— From software budget vs. other software, to labour budget vs. a salary. Higher ceiling, longer trust cycle, different scrutiny.</a:t>
            </a:r>
          </a:p>
        </p:txBody>
      </p:sp>
      <p:sp>
        <p:nvSpPr>
          <p:cNvPr id="7" name="Rounded Rectangle 6"/>
          <p:cNvSpPr/>
          <p:nvPr/>
        </p:nvSpPr>
        <p:spPr>
          <a:xfrm>
            <a:off x="6190488" y="4315968"/>
            <a:ext cx="5349240" cy="1874519"/>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64807" y="4517136"/>
            <a:ext cx="4846320" cy="274320"/>
          </a:xfrm>
          <a:prstGeom prst="rect">
            <a:avLst/>
          </a:prstGeom>
          <a:noFill/>
        </p:spPr>
        <p:txBody>
          <a:bodyPr wrap="square" anchor="t" lIns="0" rIns="0" tIns="0" bIns="0">
            <a:spAutoFit/>
          </a:bodyPr>
          <a:lstStyle/>
          <a:p>
            <a:pPr algn="l">
              <a:lnSpc>
                <a:spcPct val="125000"/>
              </a:lnSpc>
              <a:spcAft>
                <a:spcPts val="600"/>
              </a:spcAft>
            </a:pPr>
            <a:r>
              <a:rPr sz="1100" b="1">
                <a:solidFill>
                  <a:srgbClr val="6B7688"/>
                </a:solidFill>
                <a:latin typeface="Helvetica Neue"/>
              </a:rPr>
              <a:t>WHAT DOES NOT CHANGE</a:t>
            </a:r>
          </a:p>
        </p:txBody>
      </p:sp>
      <p:sp>
        <p:nvSpPr>
          <p:cNvPr id="9" name="TextBox 8"/>
          <p:cNvSpPr txBox="1"/>
          <p:nvPr/>
        </p:nvSpPr>
        <p:spPr>
          <a:xfrm>
            <a:off x="6464807" y="4828032"/>
            <a:ext cx="4846320" cy="1280160"/>
          </a:xfrm>
          <a:prstGeom prst="rect">
            <a:avLst/>
          </a:prstGeom>
          <a:noFill/>
        </p:spPr>
        <p:txBody>
          <a:bodyPr wrap="square" anchor="t" lIns="0" rIns="0" tIns="0" bIns="0">
            <a:spAutoFit/>
          </a:bodyPr>
          <a:lstStyle/>
          <a:p>
            <a:pPr algn="l">
              <a:lnSpc>
                <a:spcPct val="140000"/>
              </a:lnSpc>
              <a:spcAft>
                <a:spcPts val="600"/>
              </a:spcAft>
            </a:pPr>
            <a:r>
              <a:rPr sz="1250" b="0">
                <a:solidFill>
                  <a:srgbClr val="333E4F"/>
                </a:solidFill>
                <a:latin typeface="Helvetica Neue"/>
              </a:rPr>
              <a:t>Systems of record matter more, not less — agents need a substrate with truth, permissions and history. Agents make interfaces obsolete, not databases. Trust, security and compliance still gate enterprise adoption. And distribution still decides who wins: better technology has never once been sufficient.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7</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MARKET SELECTION</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Why accounting first: the domain hands us an oracle</a:t>
            </a:r>
          </a:p>
        </p:txBody>
      </p:sp>
      <p:sp>
        <p:nvSpPr>
          <p:cNvPr id="5" name="TextBox 4"/>
          <p:cNvSpPr txBox="1"/>
          <p:nvPr/>
        </p:nvSpPr>
        <p:spPr>
          <a:xfrm>
            <a:off x="658368" y="1737360"/>
            <a:ext cx="10241280" cy="640080"/>
          </a:xfrm>
          <a:prstGeom prst="rect">
            <a:avLst/>
          </a:prstGeom>
          <a:noFill/>
        </p:spPr>
        <p:txBody>
          <a:bodyPr wrap="square" anchor="t" lIns="0" rIns="0" tIns="0" bIns="0">
            <a:spAutoFit/>
          </a:bodyPr>
          <a:lstStyle/>
          <a:p>
            <a:pPr algn="l">
              <a:lnSpc>
                <a:spcPct val="135000"/>
              </a:lnSpc>
              <a:spcAft>
                <a:spcPts val="600"/>
              </a:spcAft>
            </a:pPr>
            <a:r>
              <a:rPr sz="1500" b="0">
                <a:solidFill>
                  <a:srgbClr val="333E4F"/>
                </a:solidFill>
                <a:latin typeface="Helvetica Neue"/>
              </a:rPr>
              <a:t>Most agent products fail because nobody can tell whether the output is right — so they cap out at "assistive". Accounting is one of very few domains with a machine-checkable definition of correct.</a:t>
            </a:r>
          </a:p>
        </p:txBody>
      </p:sp>
      <p:sp>
        <p:nvSpPr>
          <p:cNvPr id="6" name="Rounded Rectangle 5"/>
          <p:cNvSpPr/>
          <p:nvPr/>
        </p:nvSpPr>
        <p:spPr>
          <a:xfrm>
            <a:off x="658368" y="2487168"/>
            <a:ext cx="5257800" cy="2788920"/>
          </a:xfrm>
          <a:prstGeom prst="roundRect">
            <a:avLst>
              <a:gd name="adj" fmla="val 4000"/>
            </a:avLst>
          </a:prstGeom>
          <a:solidFill>
            <a:srgbClr val="E4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2697480"/>
            <a:ext cx="4709160" cy="274320"/>
          </a:xfrm>
          <a:prstGeom prst="rect">
            <a:avLst/>
          </a:prstGeom>
          <a:noFill/>
        </p:spPr>
        <p:txBody>
          <a:bodyPr wrap="square" anchor="t" lIns="0" rIns="0" tIns="0" bIns="0">
            <a:spAutoFit/>
          </a:bodyPr>
          <a:lstStyle/>
          <a:p>
            <a:pPr algn="l">
              <a:lnSpc>
                <a:spcPct val="125000"/>
              </a:lnSpc>
              <a:spcAft>
                <a:spcPts val="600"/>
              </a:spcAft>
            </a:pPr>
            <a:r>
              <a:rPr sz="1100" b="1">
                <a:solidFill>
                  <a:srgbClr val="0A5366"/>
                </a:solidFill>
                <a:latin typeface="Helvetica Neue"/>
              </a:rPr>
              <a:t>DETERMINISTIC CHECKS WE GET FOR FREE</a:t>
            </a:r>
          </a:p>
        </p:txBody>
      </p:sp>
      <p:sp>
        <p:nvSpPr>
          <p:cNvPr id="8" name="TextBox 7"/>
          <p:cNvSpPr txBox="1"/>
          <p:nvPr/>
        </p:nvSpPr>
        <p:spPr>
          <a:xfrm>
            <a:off x="932688" y="3063240"/>
            <a:ext cx="4709160" cy="2011680"/>
          </a:xfrm>
          <a:prstGeom prst="rect">
            <a:avLst/>
          </a:prstGeom>
          <a:noFill/>
        </p:spPr>
        <p:txBody>
          <a:bodyPr wrap="square" lIns="0" rIns="0" tIns="0" bIns="0">
            <a:spAutoFit/>
          </a:bodyPr>
          <a:lstStyle/>
          <a:p>
            <a:pPr>
              <a:lnSpc>
                <a:spcPct val="128000"/>
              </a:lnSpc>
              <a:spcAft>
                <a:spcPts val="700"/>
              </a:spcAft>
            </a:pPr>
            <a:r>
              <a:rPr sz="1300">
                <a:solidFill>
                  <a:srgbClr val="333E4F"/>
                </a:solidFill>
                <a:latin typeface="Helvetica Neue"/>
              </a:rPr>
              <a:t>— Debits must equal credits on every entry</a:t>
            </a:r>
          </a:p>
          <a:p>
            <a:pPr>
              <a:lnSpc>
                <a:spcPct val="128000"/>
              </a:lnSpc>
              <a:spcAft>
                <a:spcPts val="700"/>
              </a:spcAft>
            </a:pPr>
            <a:r>
              <a:rPr sz="1300">
                <a:solidFill>
                  <a:srgbClr val="333E4F"/>
                </a:solidFill>
                <a:latin typeface="Helvetica Neue"/>
              </a:rPr>
              <a:t>— Trial balance must tie</a:t>
            </a:r>
          </a:p>
          <a:p>
            <a:pPr>
              <a:lnSpc>
                <a:spcPct val="128000"/>
              </a:lnSpc>
              <a:spcAft>
                <a:spcPts val="700"/>
              </a:spcAft>
            </a:pPr>
            <a:r>
              <a:rPr sz="1300">
                <a:solidFill>
                  <a:srgbClr val="333E4F"/>
                </a:solidFill>
                <a:latin typeface="Helvetica Neue"/>
              </a:rPr>
              <a:t>— Subledgers must tie to control accounts</a:t>
            </a:r>
          </a:p>
          <a:p>
            <a:pPr>
              <a:lnSpc>
                <a:spcPct val="128000"/>
              </a:lnSpc>
              <a:spcAft>
                <a:spcPts val="700"/>
              </a:spcAft>
            </a:pPr>
            <a:r>
              <a:rPr sz="1300">
                <a:solidFill>
                  <a:srgbClr val="333E4F"/>
                </a:solidFill>
                <a:latin typeface="Helvetica Neue"/>
              </a:rPr>
              <a:t>— Bank reconciliation must net to zero</a:t>
            </a:r>
          </a:p>
          <a:p>
            <a:pPr>
              <a:lnSpc>
                <a:spcPct val="128000"/>
              </a:lnSpc>
              <a:spcAft>
                <a:spcPts val="700"/>
              </a:spcAft>
            </a:pPr>
            <a:r>
              <a:rPr sz="1300">
                <a:solidFill>
                  <a:srgbClr val="333E4F"/>
                </a:solidFill>
                <a:latin typeface="Helvetica Neue"/>
              </a:rPr>
              <a:t>— Tax and filing rules are codified, not inferred</a:t>
            </a:r>
          </a:p>
        </p:txBody>
      </p:sp>
      <p:sp>
        <p:nvSpPr>
          <p:cNvPr id="9" name="Rounded Rectangle 8"/>
          <p:cNvSpPr/>
          <p:nvPr/>
        </p:nvSpPr>
        <p:spPr>
          <a:xfrm>
            <a:off x="6263640" y="2487168"/>
            <a:ext cx="5257800" cy="27889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59" y="2697480"/>
            <a:ext cx="4709160" cy="274320"/>
          </a:xfrm>
          <a:prstGeom prst="rect">
            <a:avLst/>
          </a:prstGeom>
          <a:noFill/>
        </p:spPr>
        <p:txBody>
          <a:bodyPr wrap="square" anchor="t" lIns="0" rIns="0" tIns="0" bIns="0">
            <a:spAutoFit/>
          </a:bodyPr>
          <a:lstStyle/>
          <a:p>
            <a:pPr algn="l">
              <a:lnSpc>
                <a:spcPct val="125000"/>
              </a:lnSpc>
              <a:spcAft>
                <a:spcPts val="600"/>
              </a:spcAft>
            </a:pPr>
            <a:r>
              <a:rPr sz="1100" b="1">
                <a:solidFill>
                  <a:srgbClr val="6B7688"/>
                </a:solidFill>
                <a:latin typeface="Helvetica Neue"/>
              </a:rPr>
              <a:t>WHAT THAT BUYS US ARCHITECTURALLY</a:t>
            </a:r>
          </a:p>
        </p:txBody>
      </p:sp>
      <p:sp>
        <p:nvSpPr>
          <p:cNvPr id="11" name="TextBox 10"/>
          <p:cNvSpPr txBox="1"/>
          <p:nvPr/>
        </p:nvSpPr>
        <p:spPr>
          <a:xfrm>
            <a:off x="6537959" y="3063240"/>
            <a:ext cx="4709160" cy="2103120"/>
          </a:xfrm>
          <a:prstGeom prst="rect">
            <a:avLst/>
          </a:prstGeom>
          <a:noFill/>
        </p:spPr>
        <p:txBody>
          <a:bodyPr wrap="square" anchor="t" lIns="0" rIns="0" tIns="0" bIns="0">
            <a:spAutoFit/>
          </a:bodyPr>
          <a:lstStyle/>
          <a:p>
            <a:pPr algn="l">
              <a:lnSpc>
                <a:spcPct val="142000"/>
              </a:lnSpc>
              <a:spcAft>
                <a:spcPts val="600"/>
              </a:spcAft>
            </a:pPr>
            <a:r>
              <a:rPr sz="1300" b="0">
                <a:solidFill>
                  <a:srgbClr val="333E4F"/>
                </a:solidFill>
                <a:latin typeface="Helvetica Neue"/>
              </a:rPr>
              <a:t>We can verify before we commit.
That single capability is the difference between a demo and a product. It lets us auto-post with a provable error bound, route only genuine ambiguity to a human, and put a number on our own accuracy that a customer's auditor will accept.
It is also why our margin slope is credible: the review queue shrinks against a measurable ceiling, not a hoped-for one.</a:t>
            </a:r>
          </a:p>
        </p:txBody>
      </p:sp>
      <p:sp>
        <p:nvSpPr>
          <p:cNvPr id="12" name="TextBox 11"/>
          <p:cNvSpPr txBox="1"/>
          <p:nvPr/>
        </p:nvSpPr>
        <p:spPr>
          <a:xfrm>
            <a:off x="658368" y="5577840"/>
            <a:ext cx="10874959" cy="548640"/>
          </a:xfrm>
          <a:prstGeom prst="rect">
            <a:avLst/>
          </a:prstGeom>
          <a:noFill/>
        </p:spPr>
        <p:txBody>
          <a:bodyPr wrap="square" anchor="t" lIns="0" rIns="0" tIns="0" bIns="0">
            <a:spAutoFit/>
          </a:bodyPr>
          <a:lstStyle/>
          <a:p>
            <a:pPr algn="l">
              <a:lnSpc>
                <a:spcPct val="135000"/>
              </a:lnSpc>
              <a:spcAft>
                <a:spcPts val="600"/>
              </a:spcAft>
            </a:pPr>
            <a:r>
              <a:rPr sz="1350" b="0">
                <a:solidFill>
                  <a:srgbClr val="111A27"/>
                </a:solidFill>
                <a:latin typeface="Helvetica Neue"/>
              </a:rPr>
              <a:t>Secondary reasons: high-volume repetitive work, messy unstructured inputs where classic software loses, and a buyer (the firm) whose gross margin we roughly double.</a:t>
            </a:r>
          </a:p>
        </p:txBody>
      </p:sp>
      <p:sp>
        <p:nvSpPr>
          <p:cNvPr id="13" name="TextBox 12"/>
          <p:cNvSpPr txBox="1"/>
          <p:nvPr/>
        </p:nvSpPr>
        <p:spPr>
          <a:xfrm>
            <a:off x="658368" y="6144768"/>
            <a:ext cx="10874959" cy="365760"/>
          </a:xfrm>
          <a:prstGeom prst="rect">
            <a:avLst/>
          </a:prstGeom>
          <a:noFill/>
        </p:spPr>
        <p:txBody>
          <a:bodyPr wrap="square" anchor="t" lIns="0" rIns="0" tIns="0" bIns="0">
            <a:spAutoFit/>
          </a:bodyPr>
          <a:lstStyle/>
          <a:p>
            <a:pPr algn="l">
              <a:lnSpc>
                <a:spcPct val="125000"/>
              </a:lnSpc>
              <a:spcAft>
                <a:spcPts val="600"/>
              </a:spcAft>
            </a:pPr>
            <a:r>
              <a:rPr sz="1150" b="1">
                <a:solidFill>
                  <a:srgbClr val="B45309"/>
                </a:solidFill>
                <a:latin typeface="Helvetica Neue"/>
              </a:rPr>
              <a:t>[SOURCE NEEDED — firm gross-margin benchmark before/after, from design-partner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8</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TECHNICAL ARCHITECTURE</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400" b="1">
                <a:solidFill>
                  <a:srgbClr val="111A27"/>
                </a:solidFill>
                <a:latin typeface="Helvetica Neue"/>
              </a:rPr>
              <a:t>The agent decides. Deterministic code executes.
Nothing commits unverified.</a:t>
            </a:r>
          </a:p>
        </p:txBody>
      </p:sp>
      <p:sp>
        <p:nvSpPr>
          <p:cNvPr id="5" name="Rounded Rectangle 4"/>
          <p:cNvSpPr/>
          <p:nvPr/>
        </p:nvSpPr>
        <p:spPr>
          <a:xfrm>
            <a:off x="658368" y="2212848"/>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59536" y="2290572"/>
            <a:ext cx="2743200" cy="329184"/>
          </a:xfrm>
          <a:prstGeom prst="rect">
            <a:avLst/>
          </a:prstGeom>
          <a:noFill/>
        </p:spPr>
        <p:txBody>
          <a:bodyPr wrap="square" anchor="t" lIns="0" rIns="0" tIns="0" bIns="0">
            <a:spAutoFit/>
          </a:bodyPr>
          <a:lstStyle/>
          <a:p>
            <a:pPr algn="l">
              <a:lnSpc>
                <a:spcPct val="125000"/>
              </a:lnSpc>
              <a:spcAft>
                <a:spcPts val="600"/>
              </a:spcAft>
            </a:pPr>
            <a:r>
              <a:rPr sz="1350" b="1">
                <a:solidFill>
                  <a:srgbClr val="111A27"/>
                </a:solidFill>
                <a:latin typeface="Helvetica Neue"/>
              </a:rPr>
              <a:t>Client surfaces</a:t>
            </a:r>
          </a:p>
        </p:txBody>
      </p:sp>
      <p:sp>
        <p:nvSpPr>
          <p:cNvPr id="7" name="TextBox 6"/>
          <p:cNvSpPr txBox="1"/>
          <p:nvPr/>
        </p:nvSpPr>
        <p:spPr>
          <a:xfrm>
            <a:off x="3675887" y="2308860"/>
            <a:ext cx="5760720" cy="329184"/>
          </a:xfrm>
          <a:prstGeom prst="rect">
            <a:avLst/>
          </a:prstGeom>
          <a:noFill/>
        </p:spPr>
        <p:txBody>
          <a:bodyPr wrap="square" anchor="t" lIns="0" rIns="0" tIns="0" bIns="0">
            <a:spAutoFit/>
          </a:bodyPr>
          <a:lstStyle/>
          <a:p>
            <a:pPr algn="l">
              <a:lnSpc>
                <a:spcPct val="125000"/>
              </a:lnSpc>
              <a:spcAft>
                <a:spcPts val="600"/>
              </a:spcAft>
            </a:pPr>
            <a:r>
              <a:rPr sz="1150" b="0">
                <a:solidFill>
                  <a:srgbClr val="333E4F"/>
                </a:solidFill>
                <a:latin typeface="Helvetica Neue"/>
              </a:rPr>
              <a:t>exception queue (the real UI) · chat &amp; email · reports</a:t>
            </a:r>
          </a:p>
        </p:txBody>
      </p:sp>
      <p:sp>
        <p:nvSpPr>
          <p:cNvPr id="8" name="Rounded Rectangle 7"/>
          <p:cNvSpPr/>
          <p:nvPr/>
        </p:nvSpPr>
        <p:spPr>
          <a:xfrm>
            <a:off x="658368" y="2752344"/>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536" y="2830068"/>
            <a:ext cx="2743200" cy="329184"/>
          </a:xfrm>
          <a:prstGeom prst="rect">
            <a:avLst/>
          </a:prstGeom>
          <a:noFill/>
        </p:spPr>
        <p:txBody>
          <a:bodyPr wrap="square" anchor="t" lIns="0" rIns="0" tIns="0" bIns="0">
            <a:spAutoFit/>
          </a:bodyPr>
          <a:lstStyle/>
          <a:p>
            <a:pPr algn="l">
              <a:lnSpc>
                <a:spcPct val="125000"/>
              </a:lnSpc>
              <a:spcAft>
                <a:spcPts val="600"/>
              </a:spcAft>
            </a:pPr>
            <a:r>
              <a:rPr sz="1350" b="1">
                <a:solidFill>
                  <a:srgbClr val="111A27"/>
                </a:solidFill>
                <a:latin typeface="Helvetica Neue"/>
              </a:rPr>
              <a:t>Verification &amp; guardrails</a:t>
            </a:r>
          </a:p>
        </p:txBody>
      </p:sp>
      <p:sp>
        <p:nvSpPr>
          <p:cNvPr id="10" name="TextBox 9"/>
          <p:cNvSpPr txBox="1"/>
          <p:nvPr/>
        </p:nvSpPr>
        <p:spPr>
          <a:xfrm>
            <a:off x="3675887" y="2848356"/>
            <a:ext cx="5760720" cy="329184"/>
          </a:xfrm>
          <a:prstGeom prst="rect">
            <a:avLst/>
          </a:prstGeom>
          <a:noFill/>
        </p:spPr>
        <p:txBody>
          <a:bodyPr wrap="square" anchor="t" lIns="0" rIns="0" tIns="0" bIns="0">
            <a:spAutoFit/>
          </a:bodyPr>
          <a:lstStyle/>
          <a:p>
            <a:pPr algn="l">
              <a:lnSpc>
                <a:spcPct val="125000"/>
              </a:lnSpc>
              <a:spcAft>
                <a:spcPts val="600"/>
              </a:spcAft>
            </a:pPr>
            <a:r>
              <a:rPr sz="1150" b="0">
                <a:solidFill>
                  <a:srgbClr val="333E4F"/>
                </a:solidFill>
                <a:latin typeface="Helvetica Neue"/>
              </a:rPr>
              <a:t>hard invariants · anomaly and variance · confidence routing</a:t>
            </a:r>
          </a:p>
        </p:txBody>
      </p:sp>
      <p:sp>
        <p:nvSpPr>
          <p:cNvPr id="11" name="TextBox 10"/>
          <p:cNvSpPr txBox="1"/>
          <p:nvPr/>
        </p:nvSpPr>
        <p:spPr>
          <a:xfrm>
            <a:off x="9354312" y="2843784"/>
            <a:ext cx="274320" cy="274320"/>
          </a:xfrm>
          <a:prstGeom prst="rect">
            <a:avLst/>
          </a:prstGeom>
          <a:noFill/>
        </p:spPr>
        <p:txBody>
          <a:bodyPr wrap="square" anchor="t" lIns="0" rIns="0" tIns="0" bIns="0">
            <a:spAutoFit/>
          </a:bodyPr>
          <a:lstStyle/>
          <a:p>
            <a:pPr algn="l">
              <a:lnSpc>
                <a:spcPct val="125000"/>
              </a:lnSpc>
              <a:spcAft>
                <a:spcPts val="600"/>
              </a:spcAft>
            </a:pPr>
            <a:r>
              <a:rPr sz="1200" b="1">
                <a:solidFill>
                  <a:srgbClr val="B45309"/>
                </a:solidFill>
                <a:latin typeface="Helvetica Neue"/>
              </a:rPr>
              <a:t>◆</a:t>
            </a:r>
          </a:p>
        </p:txBody>
      </p:sp>
      <p:sp>
        <p:nvSpPr>
          <p:cNvPr id="12" name="Rounded Rectangle 11"/>
          <p:cNvSpPr/>
          <p:nvPr/>
        </p:nvSpPr>
        <p:spPr>
          <a:xfrm>
            <a:off x="658368" y="3291839"/>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59536" y="3369563"/>
            <a:ext cx="2743200" cy="329184"/>
          </a:xfrm>
          <a:prstGeom prst="rect">
            <a:avLst/>
          </a:prstGeom>
          <a:noFill/>
        </p:spPr>
        <p:txBody>
          <a:bodyPr wrap="square" anchor="t" lIns="0" rIns="0" tIns="0" bIns="0">
            <a:spAutoFit/>
          </a:bodyPr>
          <a:lstStyle/>
          <a:p>
            <a:pPr algn="l">
              <a:lnSpc>
                <a:spcPct val="125000"/>
              </a:lnSpc>
              <a:spcAft>
                <a:spcPts val="600"/>
              </a:spcAft>
            </a:pPr>
            <a:r>
              <a:rPr sz="1350" b="1">
                <a:solidFill>
                  <a:srgbClr val="111A27"/>
                </a:solidFill>
                <a:latin typeface="Helvetica Neue"/>
              </a:rPr>
              <a:t>Agent layer</a:t>
            </a:r>
          </a:p>
        </p:txBody>
      </p:sp>
      <p:sp>
        <p:nvSpPr>
          <p:cNvPr id="14" name="TextBox 13"/>
          <p:cNvSpPr txBox="1"/>
          <p:nvPr/>
        </p:nvSpPr>
        <p:spPr>
          <a:xfrm>
            <a:off x="3675887" y="3387851"/>
            <a:ext cx="5760720" cy="329184"/>
          </a:xfrm>
          <a:prstGeom prst="rect">
            <a:avLst/>
          </a:prstGeom>
          <a:noFill/>
        </p:spPr>
        <p:txBody>
          <a:bodyPr wrap="square" anchor="t" lIns="0" rIns="0" tIns="0" bIns="0">
            <a:spAutoFit/>
          </a:bodyPr>
          <a:lstStyle/>
          <a:p>
            <a:pPr algn="l">
              <a:lnSpc>
                <a:spcPct val="125000"/>
              </a:lnSpc>
              <a:spcAft>
                <a:spcPts val="600"/>
              </a:spcAft>
            </a:pPr>
            <a:r>
              <a:rPr sz="1150" b="0">
                <a:solidFill>
                  <a:srgbClr val="333E4F"/>
                </a:solidFill>
                <a:latin typeface="Helvetica Neue"/>
              </a:rPr>
              <a:t>workflow supervisors · extract · categorise · match · chase · analyse</a:t>
            </a:r>
          </a:p>
        </p:txBody>
      </p:sp>
      <p:sp>
        <p:nvSpPr>
          <p:cNvPr id="15" name="Rounded Rectangle 14"/>
          <p:cNvSpPr/>
          <p:nvPr/>
        </p:nvSpPr>
        <p:spPr>
          <a:xfrm>
            <a:off x="658368" y="3831335"/>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59536" y="3909059"/>
            <a:ext cx="2743200" cy="329184"/>
          </a:xfrm>
          <a:prstGeom prst="rect">
            <a:avLst/>
          </a:prstGeom>
          <a:noFill/>
        </p:spPr>
        <p:txBody>
          <a:bodyPr wrap="square" anchor="t" lIns="0" rIns="0" tIns="0" bIns="0">
            <a:spAutoFit/>
          </a:bodyPr>
          <a:lstStyle/>
          <a:p>
            <a:pPr algn="l">
              <a:lnSpc>
                <a:spcPct val="125000"/>
              </a:lnSpc>
              <a:spcAft>
                <a:spcPts val="600"/>
              </a:spcAft>
            </a:pPr>
            <a:r>
              <a:rPr sz="1350" b="1">
                <a:solidFill>
                  <a:srgbClr val="111A27"/>
                </a:solidFill>
                <a:latin typeface="Helvetica Neue"/>
              </a:rPr>
              <a:t>Durable orchestration</a:t>
            </a:r>
          </a:p>
        </p:txBody>
      </p:sp>
      <p:sp>
        <p:nvSpPr>
          <p:cNvPr id="17" name="TextBox 16"/>
          <p:cNvSpPr txBox="1"/>
          <p:nvPr/>
        </p:nvSpPr>
        <p:spPr>
          <a:xfrm>
            <a:off x="3675887" y="3927348"/>
            <a:ext cx="5760720" cy="329184"/>
          </a:xfrm>
          <a:prstGeom prst="rect">
            <a:avLst/>
          </a:prstGeom>
          <a:noFill/>
        </p:spPr>
        <p:txBody>
          <a:bodyPr wrap="square" anchor="t" lIns="0" rIns="0" tIns="0" bIns="0">
            <a:spAutoFit/>
          </a:bodyPr>
          <a:lstStyle/>
          <a:p>
            <a:pPr algn="l">
              <a:lnSpc>
                <a:spcPct val="125000"/>
              </a:lnSpc>
              <a:spcAft>
                <a:spcPts val="600"/>
              </a:spcAft>
            </a:pPr>
            <a:r>
              <a:rPr sz="1150" b="0">
                <a:solidFill>
                  <a:srgbClr val="333E4F"/>
                </a:solidFill>
                <a:latin typeface="Helvetica Neue"/>
              </a:rPr>
              <a:t>the close checklist as a resumable state machine, not free-form agency</a:t>
            </a:r>
          </a:p>
        </p:txBody>
      </p:sp>
      <p:sp>
        <p:nvSpPr>
          <p:cNvPr id="18" name="Rounded Rectangle 17"/>
          <p:cNvSpPr/>
          <p:nvPr/>
        </p:nvSpPr>
        <p:spPr>
          <a:xfrm>
            <a:off x="658368" y="4370831"/>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59536" y="4448555"/>
            <a:ext cx="2743200" cy="329184"/>
          </a:xfrm>
          <a:prstGeom prst="rect">
            <a:avLst/>
          </a:prstGeom>
          <a:noFill/>
        </p:spPr>
        <p:txBody>
          <a:bodyPr wrap="square" anchor="t" lIns="0" rIns="0" tIns="0" bIns="0">
            <a:spAutoFit/>
          </a:bodyPr>
          <a:lstStyle/>
          <a:p>
            <a:pPr algn="l">
              <a:lnSpc>
                <a:spcPct val="125000"/>
              </a:lnSpc>
              <a:spcAft>
                <a:spcPts val="600"/>
              </a:spcAft>
            </a:pPr>
            <a:r>
              <a:rPr sz="1350" b="1">
                <a:solidFill>
                  <a:srgbClr val="111A27"/>
                </a:solidFill>
                <a:latin typeface="Helvetica Neue"/>
              </a:rPr>
              <a:t>Deterministic tool layer</a:t>
            </a:r>
          </a:p>
        </p:txBody>
      </p:sp>
      <p:sp>
        <p:nvSpPr>
          <p:cNvPr id="20" name="TextBox 19"/>
          <p:cNvSpPr txBox="1"/>
          <p:nvPr/>
        </p:nvSpPr>
        <p:spPr>
          <a:xfrm>
            <a:off x="3675887" y="4466844"/>
            <a:ext cx="5760720" cy="329184"/>
          </a:xfrm>
          <a:prstGeom prst="rect">
            <a:avLst/>
          </a:prstGeom>
          <a:noFill/>
        </p:spPr>
        <p:txBody>
          <a:bodyPr wrap="square" anchor="t" lIns="0" rIns="0" tIns="0" bIns="0">
            <a:spAutoFit/>
          </a:bodyPr>
          <a:lstStyle/>
          <a:p>
            <a:pPr algn="l">
              <a:lnSpc>
                <a:spcPct val="125000"/>
              </a:lnSpc>
              <a:spcAft>
                <a:spcPts val="600"/>
              </a:spcAft>
            </a:pPr>
            <a:r>
              <a:rPr sz="1150" b="0">
                <a:solidFill>
                  <a:srgbClr val="333E4F"/>
                </a:solidFill>
                <a:latin typeface="Helvetica Neue"/>
              </a:rPr>
              <a:t>typed, invariant-enforcing actions: post_entry · reconcile · close_period</a:t>
            </a:r>
          </a:p>
        </p:txBody>
      </p:sp>
      <p:sp>
        <p:nvSpPr>
          <p:cNvPr id="21" name="TextBox 20"/>
          <p:cNvSpPr txBox="1"/>
          <p:nvPr/>
        </p:nvSpPr>
        <p:spPr>
          <a:xfrm>
            <a:off x="9354312" y="4462271"/>
            <a:ext cx="274320" cy="274320"/>
          </a:xfrm>
          <a:prstGeom prst="rect">
            <a:avLst/>
          </a:prstGeom>
          <a:noFill/>
        </p:spPr>
        <p:txBody>
          <a:bodyPr wrap="square" anchor="t" lIns="0" rIns="0" tIns="0" bIns="0">
            <a:spAutoFit/>
          </a:bodyPr>
          <a:lstStyle/>
          <a:p>
            <a:pPr algn="l">
              <a:lnSpc>
                <a:spcPct val="125000"/>
              </a:lnSpc>
              <a:spcAft>
                <a:spcPts val="600"/>
              </a:spcAft>
            </a:pPr>
            <a:r>
              <a:rPr sz="1200" b="1">
                <a:solidFill>
                  <a:srgbClr val="B45309"/>
                </a:solidFill>
                <a:latin typeface="Helvetica Neue"/>
              </a:rPr>
              <a:t>◆</a:t>
            </a:r>
          </a:p>
        </p:txBody>
      </p:sp>
      <p:sp>
        <p:nvSpPr>
          <p:cNvPr id="22" name="Rounded Rectangle 21"/>
          <p:cNvSpPr/>
          <p:nvPr/>
        </p:nvSpPr>
        <p:spPr>
          <a:xfrm>
            <a:off x="658368" y="4910327"/>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9536" y="4988051"/>
            <a:ext cx="2743200" cy="329184"/>
          </a:xfrm>
          <a:prstGeom prst="rect">
            <a:avLst/>
          </a:prstGeom>
          <a:noFill/>
        </p:spPr>
        <p:txBody>
          <a:bodyPr wrap="square" anchor="t" lIns="0" rIns="0" tIns="0" bIns="0">
            <a:spAutoFit/>
          </a:bodyPr>
          <a:lstStyle/>
          <a:p>
            <a:pPr algn="l">
              <a:lnSpc>
                <a:spcPct val="125000"/>
              </a:lnSpc>
              <a:spcAft>
                <a:spcPts val="600"/>
              </a:spcAft>
            </a:pPr>
            <a:r>
              <a:rPr sz="1350" b="1">
                <a:solidFill>
                  <a:srgbClr val="111A27"/>
                </a:solidFill>
                <a:latin typeface="Helvetica Neue"/>
              </a:rPr>
              <a:t>Ledger core</a:t>
            </a:r>
          </a:p>
        </p:txBody>
      </p:sp>
      <p:sp>
        <p:nvSpPr>
          <p:cNvPr id="24" name="TextBox 23"/>
          <p:cNvSpPr txBox="1"/>
          <p:nvPr/>
        </p:nvSpPr>
        <p:spPr>
          <a:xfrm>
            <a:off x="3675887" y="5006340"/>
            <a:ext cx="5760720" cy="329184"/>
          </a:xfrm>
          <a:prstGeom prst="rect">
            <a:avLst/>
          </a:prstGeom>
          <a:noFill/>
        </p:spPr>
        <p:txBody>
          <a:bodyPr wrap="square" anchor="t" lIns="0" rIns="0" tIns="0" bIns="0">
            <a:spAutoFit/>
          </a:bodyPr>
          <a:lstStyle/>
          <a:p>
            <a:pPr algn="l">
              <a:lnSpc>
                <a:spcPct val="125000"/>
              </a:lnSpc>
              <a:spcAft>
                <a:spcPts val="600"/>
              </a:spcAft>
            </a:pPr>
            <a:r>
              <a:rPr sz="1150" b="0">
                <a:solidFill>
                  <a:srgbClr val="333E4F"/>
                </a:solidFill>
                <a:latin typeface="Helvetica Neue"/>
              </a:rPr>
              <a:t>append-only · bitemporal · double-entry · full provenance</a:t>
            </a:r>
          </a:p>
        </p:txBody>
      </p:sp>
      <p:sp>
        <p:nvSpPr>
          <p:cNvPr id="25" name="TextBox 24"/>
          <p:cNvSpPr txBox="1"/>
          <p:nvPr/>
        </p:nvSpPr>
        <p:spPr>
          <a:xfrm>
            <a:off x="9354312" y="5001767"/>
            <a:ext cx="274320" cy="274320"/>
          </a:xfrm>
          <a:prstGeom prst="rect">
            <a:avLst/>
          </a:prstGeom>
          <a:noFill/>
        </p:spPr>
        <p:txBody>
          <a:bodyPr wrap="square" anchor="t" lIns="0" rIns="0" tIns="0" bIns="0">
            <a:spAutoFit/>
          </a:bodyPr>
          <a:lstStyle/>
          <a:p>
            <a:pPr algn="l">
              <a:lnSpc>
                <a:spcPct val="125000"/>
              </a:lnSpc>
              <a:spcAft>
                <a:spcPts val="600"/>
              </a:spcAft>
            </a:pPr>
            <a:r>
              <a:rPr sz="1200" b="1">
                <a:solidFill>
                  <a:srgbClr val="B45309"/>
                </a:solidFill>
                <a:latin typeface="Helvetica Neue"/>
              </a:rPr>
              <a:t>◆</a:t>
            </a:r>
          </a:p>
        </p:txBody>
      </p:sp>
      <p:sp>
        <p:nvSpPr>
          <p:cNvPr id="26" name="Rounded Rectangle 25"/>
          <p:cNvSpPr/>
          <p:nvPr/>
        </p:nvSpPr>
        <p:spPr>
          <a:xfrm>
            <a:off x="658368" y="5449823"/>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59536" y="5527547"/>
            <a:ext cx="2743200" cy="329184"/>
          </a:xfrm>
          <a:prstGeom prst="rect">
            <a:avLst/>
          </a:prstGeom>
          <a:noFill/>
        </p:spPr>
        <p:txBody>
          <a:bodyPr wrap="square" anchor="t" lIns="0" rIns="0" tIns="0" bIns="0">
            <a:spAutoFit/>
          </a:bodyPr>
          <a:lstStyle/>
          <a:p>
            <a:pPr algn="l">
              <a:lnSpc>
                <a:spcPct val="125000"/>
              </a:lnSpc>
              <a:spcAft>
                <a:spcPts val="600"/>
              </a:spcAft>
            </a:pPr>
            <a:r>
              <a:rPr sz="1350" b="1">
                <a:solidFill>
                  <a:srgbClr val="111A27"/>
                </a:solidFill>
                <a:latin typeface="Helvetica Neue"/>
              </a:rPr>
              <a:t>Ingestion</a:t>
            </a:r>
          </a:p>
        </p:txBody>
      </p:sp>
      <p:sp>
        <p:nvSpPr>
          <p:cNvPr id="28" name="TextBox 27"/>
          <p:cNvSpPr txBox="1"/>
          <p:nvPr/>
        </p:nvSpPr>
        <p:spPr>
          <a:xfrm>
            <a:off x="3675887" y="5545836"/>
            <a:ext cx="5760720" cy="329184"/>
          </a:xfrm>
          <a:prstGeom prst="rect">
            <a:avLst/>
          </a:prstGeom>
          <a:noFill/>
        </p:spPr>
        <p:txBody>
          <a:bodyPr wrap="square" anchor="t" lIns="0" rIns="0" tIns="0" bIns="0">
            <a:spAutoFit/>
          </a:bodyPr>
          <a:lstStyle/>
          <a:p>
            <a:pPr algn="l">
              <a:lnSpc>
                <a:spcPct val="125000"/>
              </a:lnSpc>
              <a:spcAft>
                <a:spcPts val="600"/>
              </a:spcAft>
            </a:pPr>
            <a:r>
              <a:rPr sz="1150" b="0">
                <a:solidFill>
                  <a:srgbClr val="333E4F"/>
                </a:solidFill>
                <a:latin typeface="Helvetica Neue"/>
              </a:rPr>
              <a:t>banks · cards · payroll · POS · AP inbox · documents · prior-year books</a:t>
            </a:r>
          </a:p>
        </p:txBody>
      </p:sp>
      <p:sp>
        <p:nvSpPr>
          <p:cNvPr id="29" name="Rounded Rectangle 28"/>
          <p:cNvSpPr/>
          <p:nvPr/>
        </p:nvSpPr>
        <p:spPr>
          <a:xfrm>
            <a:off x="9848088" y="2212848"/>
            <a:ext cx="1673352" cy="3707891"/>
          </a:xfrm>
          <a:prstGeom prst="roundRect">
            <a:avLst>
              <a:gd name="adj" fmla="val 4000"/>
            </a:avLst>
          </a:prstGeom>
          <a:solidFill>
            <a:srgbClr val="E8EEF2"/>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994392" y="2340864"/>
            <a:ext cx="1380744" cy="274320"/>
          </a:xfrm>
          <a:prstGeom prst="rect">
            <a:avLst/>
          </a:prstGeom>
          <a:noFill/>
        </p:spPr>
        <p:txBody>
          <a:bodyPr wrap="square" anchor="t" lIns="0" rIns="0" tIns="0" bIns="0">
            <a:spAutoFit/>
          </a:bodyPr>
          <a:lstStyle/>
          <a:p>
            <a:pPr algn="l">
              <a:lnSpc>
                <a:spcPct val="125000"/>
              </a:lnSpc>
              <a:spcAft>
                <a:spcPts val="600"/>
              </a:spcAft>
            </a:pPr>
            <a:r>
              <a:rPr sz="1000" b="1">
                <a:solidFill>
                  <a:srgbClr val="6B7688"/>
                </a:solidFill>
                <a:latin typeface="Helvetica Neue"/>
              </a:rPr>
              <a:t>CROSS-CUTTING</a:t>
            </a:r>
          </a:p>
        </p:txBody>
      </p:sp>
      <p:sp>
        <p:nvSpPr>
          <p:cNvPr id="31" name="TextBox 30"/>
          <p:cNvSpPr txBox="1"/>
          <p:nvPr/>
        </p:nvSpPr>
        <p:spPr>
          <a:xfrm>
            <a:off x="9994392" y="2779776"/>
            <a:ext cx="1380744" cy="548640"/>
          </a:xfrm>
          <a:prstGeom prst="rect">
            <a:avLst/>
          </a:prstGeom>
          <a:noFill/>
        </p:spPr>
        <p:txBody>
          <a:bodyPr wrap="square" anchor="t" lIns="0" rIns="0" tIns="0" bIns="0">
            <a:spAutoFit/>
          </a:bodyPr>
          <a:lstStyle/>
          <a:p>
            <a:pPr algn="l">
              <a:lnSpc>
                <a:spcPct val="125000"/>
              </a:lnSpc>
              <a:spcAft>
                <a:spcPts val="600"/>
              </a:spcAft>
            </a:pPr>
            <a:r>
              <a:rPr sz="1100" b="0">
                <a:solidFill>
                  <a:srgbClr val="333E4F"/>
                </a:solidFill>
                <a:latin typeface="Helvetica Neue"/>
              </a:rPr>
              <a:t>Audit trail
&amp; lineage</a:t>
            </a:r>
          </a:p>
        </p:txBody>
      </p:sp>
      <p:sp>
        <p:nvSpPr>
          <p:cNvPr id="32" name="TextBox 31"/>
          <p:cNvSpPr txBox="1"/>
          <p:nvPr/>
        </p:nvSpPr>
        <p:spPr>
          <a:xfrm>
            <a:off x="9994392" y="3447288"/>
            <a:ext cx="1380744" cy="548640"/>
          </a:xfrm>
          <a:prstGeom prst="rect">
            <a:avLst/>
          </a:prstGeom>
          <a:noFill/>
        </p:spPr>
        <p:txBody>
          <a:bodyPr wrap="square" anchor="t" lIns="0" rIns="0" tIns="0" bIns="0">
            <a:spAutoFit/>
          </a:bodyPr>
          <a:lstStyle/>
          <a:p>
            <a:pPr algn="l">
              <a:lnSpc>
                <a:spcPct val="125000"/>
              </a:lnSpc>
              <a:spcAft>
                <a:spcPts val="600"/>
              </a:spcAft>
            </a:pPr>
            <a:r>
              <a:rPr sz="1100" b="0">
                <a:solidFill>
                  <a:srgbClr val="333E4F"/>
                </a:solidFill>
                <a:latin typeface="Helvetica Neue"/>
              </a:rPr>
              <a:t>Evals &amp;
replay harness</a:t>
            </a:r>
          </a:p>
        </p:txBody>
      </p:sp>
      <p:sp>
        <p:nvSpPr>
          <p:cNvPr id="33" name="TextBox 32"/>
          <p:cNvSpPr txBox="1"/>
          <p:nvPr/>
        </p:nvSpPr>
        <p:spPr>
          <a:xfrm>
            <a:off x="9994392" y="4114800"/>
            <a:ext cx="1380744" cy="548640"/>
          </a:xfrm>
          <a:prstGeom prst="rect">
            <a:avLst/>
          </a:prstGeom>
          <a:noFill/>
        </p:spPr>
        <p:txBody>
          <a:bodyPr wrap="square" anchor="t" lIns="0" rIns="0" tIns="0" bIns="0">
            <a:spAutoFit/>
          </a:bodyPr>
          <a:lstStyle/>
          <a:p>
            <a:pPr algn="l">
              <a:lnSpc>
                <a:spcPct val="125000"/>
              </a:lnSpc>
              <a:spcAft>
                <a:spcPts val="600"/>
              </a:spcAft>
            </a:pPr>
            <a:r>
              <a:rPr sz="1100" b="0">
                <a:solidFill>
                  <a:srgbClr val="333E4F"/>
                </a:solidFill>
                <a:latin typeface="Helvetica Neue"/>
              </a:rPr>
              <a:t>Cost &amp; token
telemetry</a:t>
            </a:r>
          </a:p>
        </p:txBody>
      </p:sp>
      <p:sp>
        <p:nvSpPr>
          <p:cNvPr id="34" name="TextBox 33"/>
          <p:cNvSpPr txBox="1"/>
          <p:nvPr/>
        </p:nvSpPr>
        <p:spPr>
          <a:xfrm>
            <a:off x="9994392" y="4782312"/>
            <a:ext cx="1380744" cy="548640"/>
          </a:xfrm>
          <a:prstGeom prst="rect">
            <a:avLst/>
          </a:prstGeom>
          <a:noFill/>
        </p:spPr>
        <p:txBody>
          <a:bodyPr wrap="square" anchor="t" lIns="0" rIns="0" tIns="0" bIns="0">
            <a:spAutoFit/>
          </a:bodyPr>
          <a:lstStyle/>
          <a:p>
            <a:pPr algn="l">
              <a:lnSpc>
                <a:spcPct val="125000"/>
              </a:lnSpc>
              <a:spcAft>
                <a:spcPts val="600"/>
              </a:spcAft>
            </a:pPr>
            <a:r>
              <a:rPr sz="1100" b="0">
                <a:solidFill>
                  <a:srgbClr val="333E4F"/>
                </a:solidFill>
                <a:latin typeface="Helvetica Neue"/>
              </a:rPr>
              <a:t>Agent identity,
least privilege</a:t>
            </a:r>
          </a:p>
        </p:txBody>
      </p:sp>
      <p:sp>
        <p:nvSpPr>
          <p:cNvPr id="35" name="TextBox 34"/>
          <p:cNvSpPr txBox="1"/>
          <p:nvPr/>
        </p:nvSpPr>
        <p:spPr>
          <a:xfrm>
            <a:off x="658368" y="6099047"/>
            <a:ext cx="10874959" cy="365760"/>
          </a:xfrm>
          <a:prstGeom prst="rect">
            <a:avLst/>
          </a:prstGeom>
          <a:noFill/>
        </p:spPr>
        <p:txBody>
          <a:bodyPr wrap="square" anchor="t" lIns="0" rIns="0" tIns="0" bIns="0">
            <a:spAutoFit/>
          </a:bodyPr>
          <a:lstStyle/>
          <a:p>
            <a:pPr algn="l">
              <a:lnSpc>
                <a:spcPct val="125000"/>
              </a:lnSpc>
              <a:spcAft>
                <a:spcPts val="600"/>
              </a:spcAft>
            </a:pPr>
            <a:r>
              <a:rPr sz="1250" b="1">
                <a:solidFill>
                  <a:srgbClr val="B45309"/>
                </a:solidFill>
                <a:latin typeface="Helvetica Neue"/>
              </a:rPr>
              <a:t>◆  Proprietary and defensible. The agent layer is the part we will rewrite most often and the part we depend on least.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9</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KEY COMPONENT · 1 OF 4</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Ledger substrate: append-only, bitemporal, fully attributed</a:t>
            </a:r>
          </a:p>
        </p:txBody>
      </p:sp>
      <p:sp>
        <p:nvSpPr>
          <p:cNvPr id="5" name="TextBox 4"/>
          <p:cNvSpPr txBox="1"/>
          <p:nvPr/>
        </p:nvSpPr>
        <p:spPr>
          <a:xfrm>
            <a:off x="658368" y="1737360"/>
            <a:ext cx="10332720" cy="640080"/>
          </a:xfrm>
          <a:prstGeom prst="rect">
            <a:avLst/>
          </a:prstGeom>
          <a:noFill/>
        </p:spPr>
        <p:txBody>
          <a:bodyPr wrap="square" anchor="t" lIns="0" rIns="0" tIns="0" bIns="0">
            <a:spAutoFit/>
          </a:bodyPr>
          <a:lstStyle/>
          <a:p>
            <a:pPr algn="l">
              <a:lnSpc>
                <a:spcPct val="135000"/>
              </a:lnSpc>
              <a:spcAft>
                <a:spcPts val="600"/>
              </a:spcAft>
            </a:pPr>
            <a:r>
              <a:rPr sz="1450" b="0">
                <a:solidFill>
                  <a:srgbClr val="333E4F"/>
                </a:solidFill>
                <a:latin typeface="Helvetica Neue"/>
              </a:rPr>
              <a:t>SaaS updates a row and moves on. Three requirements SaaS never had make that impossible for us — and all three are schema decisions, so all three are day-one decisions. Retrofitting them is close to impossible.</a:t>
            </a:r>
          </a:p>
        </p:txBody>
      </p:sp>
      <p:sp>
        <p:nvSpPr>
          <p:cNvPr id="6" name="TextBox 5"/>
          <p:cNvSpPr txBox="1"/>
          <p:nvPr/>
        </p:nvSpPr>
        <p:spPr>
          <a:xfrm>
            <a:off x="658368" y="2468880"/>
            <a:ext cx="6766560" cy="3657600"/>
          </a:xfrm>
          <a:prstGeom prst="rect">
            <a:avLst/>
          </a:prstGeom>
          <a:noFill/>
        </p:spPr>
        <p:txBody>
          <a:bodyPr wrap="square" lIns="0" rIns="0" tIns="0" bIns="0">
            <a:spAutoFit/>
          </a:bodyPr>
          <a:lstStyle/>
          <a:p>
            <a:pPr>
              <a:lnSpc>
                <a:spcPct val="128000"/>
              </a:lnSpc>
              <a:spcBef>
                <a:spcPts val="1400"/>
              </a:spcBef>
              <a:spcAft>
                <a:spcPts val="200"/>
              </a:spcAft>
            </a:pPr>
            <a:r>
              <a:rPr sz="1350" b="1">
                <a:solidFill>
                  <a:srgbClr val="111A27"/>
                </a:solidFill>
                <a:latin typeface="Helvetica Neue"/>
              </a:rPr>
              <a:t>Bitemporality — booking date vs. effective date</a:t>
            </a:r>
          </a:p>
          <a:p>
            <a:pPr>
              <a:lnSpc>
                <a:spcPct val="128000"/>
              </a:lnSpc>
              <a:spcAft>
                <a:spcPts val="900"/>
              </a:spcAft>
            </a:pPr>
            <a:r>
              <a:rPr sz="1350">
                <a:solidFill>
                  <a:srgbClr val="333E4F"/>
                </a:solidFill>
                <a:latin typeface="Helvetica Neue"/>
              </a:rPr>
              <a:t>— We must answer "what did the books say as of 31 March?" for audit, and — critically — to replay an agent against history and score it. Our eval capability only exists because the ledger was built this way.</a:t>
            </a:r>
          </a:p>
          <a:p>
            <a:pPr>
              <a:lnSpc>
                <a:spcPct val="128000"/>
              </a:lnSpc>
              <a:spcBef>
                <a:spcPts val="1400"/>
              </a:spcBef>
              <a:spcAft>
                <a:spcPts val="200"/>
              </a:spcAft>
            </a:pPr>
            <a:r>
              <a:rPr sz="1350" b="1">
                <a:solidFill>
                  <a:srgbClr val="111A27"/>
                </a:solidFill>
                <a:latin typeface="Helvetica Neue"/>
              </a:rPr>
              <a:t>Immutability — corrections are reversing entries, never updates</a:t>
            </a:r>
          </a:p>
          <a:p>
            <a:pPr>
              <a:lnSpc>
                <a:spcPct val="128000"/>
              </a:lnSpc>
              <a:spcAft>
                <a:spcPts val="900"/>
              </a:spcAft>
            </a:pPr>
            <a:r>
              <a:rPr sz="1350">
                <a:solidFill>
                  <a:srgbClr val="333E4F"/>
                </a:solidFill>
                <a:latin typeface="Helvetica Neue"/>
              </a:rPr>
              <a:t>— A mutable ledger cannot be explained after the fact, and an agent that can silently overwrite is not auditable at any price.</a:t>
            </a:r>
          </a:p>
          <a:p>
            <a:pPr>
              <a:lnSpc>
                <a:spcPct val="128000"/>
              </a:lnSpc>
              <a:spcBef>
                <a:spcPts val="1400"/>
              </a:spcBef>
              <a:spcAft>
                <a:spcPts val="200"/>
              </a:spcAft>
            </a:pPr>
            <a:r>
              <a:rPr sz="1350" b="1">
                <a:solidFill>
                  <a:srgbClr val="111A27"/>
                </a:solidFill>
                <a:latin typeface="Helvetica Neue"/>
              </a:rPr>
              <a:t>Provenance as a first-class, queryable chain</a:t>
            </a:r>
          </a:p>
          <a:p>
            <a:pPr>
              <a:lnSpc>
                <a:spcPct val="128000"/>
              </a:lnSpc>
              <a:spcAft>
                <a:spcPts val="900"/>
              </a:spcAft>
            </a:pPr>
            <a:r>
              <a:rPr sz="1350">
                <a:solidFill>
                  <a:srgbClr val="333E4F"/>
                </a:solidFill>
                <a:latin typeface="Helvetica Neue"/>
              </a:rPr>
              <a:t>— source document → extraction → reasoning trace → tool call → policy applied → approver → posting. In SaaS an audit log was a compliance checkbox bolted on the side. For us it is load-bearing product: it is how the output gets trusted and sold.</a:t>
            </a:r>
          </a:p>
          <a:p>
            <a:pPr>
              <a:lnSpc>
                <a:spcPct val="128000"/>
              </a:lnSpc>
              <a:spcBef>
                <a:spcPts val="900"/>
              </a:spcBef>
              <a:spcAft>
                <a:spcPts val="200"/>
              </a:spcAft>
            </a:pPr>
            <a:r>
              <a:rPr sz="1150" i="1">
                <a:solidFill>
                  <a:srgbClr val="B45309"/>
                </a:solidFill>
                <a:latin typeface="Helvetica Neue"/>
              </a:rPr>
              <a:t>Every actor is typed: human, agent, or system — with the agent's identity, model version and prompt revision recorded on the entry.</a:t>
            </a:r>
          </a:p>
        </p:txBody>
      </p:sp>
      <p:sp>
        <p:nvSpPr>
          <p:cNvPr id="7" name="Rounded Rectangle 6"/>
          <p:cNvSpPr/>
          <p:nvPr/>
        </p:nvSpPr>
        <p:spPr>
          <a:xfrm>
            <a:off x="7836408" y="2468880"/>
            <a:ext cx="3675887" cy="329184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92440" y="2688336"/>
            <a:ext cx="3154680" cy="274320"/>
          </a:xfrm>
          <a:prstGeom prst="rect">
            <a:avLst/>
          </a:prstGeom>
          <a:noFill/>
        </p:spPr>
        <p:txBody>
          <a:bodyPr wrap="square" anchor="t" lIns="0" rIns="0" tIns="0" bIns="0">
            <a:spAutoFit/>
          </a:bodyPr>
          <a:lstStyle/>
          <a:p>
            <a:pPr algn="l">
              <a:lnSpc>
                <a:spcPct val="125000"/>
              </a:lnSpc>
              <a:spcAft>
                <a:spcPts val="600"/>
              </a:spcAft>
            </a:pPr>
            <a:r>
              <a:rPr sz="1100" b="1">
                <a:solidFill>
                  <a:srgbClr val="6B7688"/>
                </a:solidFill>
                <a:latin typeface="Helvetica Neue"/>
              </a:rPr>
              <a:t>WHY AN INVESTOR SHOULD CARE</a:t>
            </a:r>
          </a:p>
        </p:txBody>
      </p:sp>
      <p:sp>
        <p:nvSpPr>
          <p:cNvPr id="9" name="TextBox 8"/>
          <p:cNvSpPr txBox="1"/>
          <p:nvPr/>
        </p:nvSpPr>
        <p:spPr>
          <a:xfrm>
            <a:off x="8092440" y="3035808"/>
            <a:ext cx="3154680" cy="2560320"/>
          </a:xfrm>
          <a:prstGeom prst="rect">
            <a:avLst/>
          </a:prstGeom>
          <a:noFill/>
        </p:spPr>
        <p:txBody>
          <a:bodyPr wrap="square" anchor="t" lIns="0" rIns="0" tIns="0" bIns="0">
            <a:spAutoFit/>
          </a:bodyPr>
          <a:lstStyle/>
          <a:p>
            <a:pPr algn="l">
              <a:lnSpc>
                <a:spcPct val="142000"/>
              </a:lnSpc>
              <a:spcAft>
                <a:spcPts val="600"/>
              </a:spcAft>
            </a:pPr>
            <a:r>
              <a:rPr sz="1250" b="0">
                <a:solidFill>
                  <a:srgbClr val="333E4F"/>
                </a:solidFill>
                <a:latin typeface="Helvetica Neue"/>
              </a:rPr>
              <a:t>This is the layer a competitor cannot copy by copying our prompts.
It is also the layer that decides whether we can ever sell to a regulated or audited customer. Deals in this market die on "show me how this entry was produced," and that question is answerable only if it was designed for at the schema level.
It is roughly [15–20]% of engineering effort and almost none of the demo.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10</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KEY COMPONENT · 2 OF 4</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Tool layer: an interface for an unknown reasoner, not a known client</a:t>
            </a:r>
          </a:p>
        </p:txBody>
      </p:sp>
      <p:sp>
        <p:nvSpPr>
          <p:cNvPr id="5" name="TextBox 4"/>
          <p:cNvSpPr txBox="1"/>
          <p:nvPr/>
        </p:nvSpPr>
        <p:spPr>
          <a:xfrm>
            <a:off x="658368" y="1737360"/>
            <a:ext cx="10332720" cy="640080"/>
          </a:xfrm>
          <a:prstGeom prst="rect">
            <a:avLst/>
          </a:prstGeom>
          <a:noFill/>
        </p:spPr>
        <p:txBody>
          <a:bodyPr wrap="square" anchor="t" lIns="0" rIns="0" tIns="0" bIns="0">
            <a:spAutoFit/>
          </a:bodyPr>
          <a:lstStyle/>
          <a:p>
            <a:pPr algn="l">
              <a:lnSpc>
                <a:spcPct val="135000"/>
              </a:lnSpc>
              <a:spcAft>
                <a:spcPts val="600"/>
              </a:spcAft>
            </a:pPr>
            <a:r>
              <a:rPr sz="1450" b="0">
                <a:solidFill>
                  <a:srgbClr val="333E4F"/>
                </a:solidFill>
                <a:latin typeface="Helvetica Neue"/>
              </a:rPr>
              <a:t>This is not our REST API with a different name. A REST API assumes a client that already knows what it wants. A tool interface assumes a capable, confident, occasionally wrong caller. Five things differ:</a:t>
            </a:r>
          </a:p>
        </p:txBody>
      </p:sp>
      <p:sp>
        <p:nvSpPr>
          <p:cNvPr id="6" name="TextBox 5"/>
          <p:cNvSpPr txBox="1"/>
          <p:nvPr/>
        </p:nvSpPr>
        <p:spPr>
          <a:xfrm>
            <a:off x="658368" y="2468880"/>
            <a:ext cx="6766560" cy="3749039"/>
          </a:xfrm>
          <a:prstGeom prst="rect">
            <a:avLst/>
          </a:prstGeom>
          <a:noFill/>
        </p:spPr>
        <p:txBody>
          <a:bodyPr wrap="square" lIns="0" rIns="0" tIns="0" bIns="0">
            <a:spAutoFit/>
          </a:bodyPr>
          <a:lstStyle/>
          <a:p>
            <a:pPr>
              <a:lnSpc>
                <a:spcPct val="128000"/>
              </a:lnSpc>
              <a:spcBef>
                <a:spcPts val="1200"/>
              </a:spcBef>
              <a:spcAft>
                <a:spcPts val="200"/>
              </a:spcAft>
            </a:pPr>
            <a:r>
              <a:rPr sz="1350" b="1">
                <a:solidFill>
                  <a:srgbClr val="111A27"/>
                </a:solidFill>
                <a:latin typeface="Helvetica Neue"/>
              </a:rPr>
              <a:t>Errors must be instructive, because the agent reads them and retries.</a:t>
            </a:r>
          </a:p>
          <a:p>
            <a:pPr>
              <a:lnSpc>
                <a:spcPct val="128000"/>
              </a:lnSpc>
              <a:spcAft>
                <a:spcPts val="700"/>
              </a:spcAft>
            </a:pPr>
            <a:r>
              <a:rPr sz="1350">
                <a:solidFill>
                  <a:srgbClr val="333E4F"/>
                </a:solidFill>
                <a:latin typeface="Helvetica Neue"/>
              </a:rPr>
              <a:t>— "400 invalid" is worthless. "Entry unbalanced: debits 1,200.00, credits 1,150.00, difference 50.00" produces a retry that succeeds. Error-message quality is a functional requirement here, not a nicety.</a:t>
            </a:r>
          </a:p>
          <a:p>
            <a:pPr>
              <a:lnSpc>
                <a:spcPct val="128000"/>
              </a:lnSpc>
              <a:spcBef>
                <a:spcPts val="1200"/>
              </a:spcBef>
              <a:spcAft>
                <a:spcPts val="200"/>
              </a:spcAft>
            </a:pPr>
            <a:r>
              <a:rPr sz="1350" b="1">
                <a:solidFill>
                  <a:srgbClr val="111A27"/>
                </a:solidFill>
                <a:latin typeface="Helvetica Neue"/>
              </a:rPr>
              <a:t>The tool owns the invariant — not the caller.</a:t>
            </a:r>
          </a:p>
          <a:p>
            <a:pPr>
              <a:lnSpc>
                <a:spcPct val="128000"/>
              </a:lnSpc>
              <a:spcAft>
                <a:spcPts val="700"/>
              </a:spcAft>
            </a:pPr>
            <a:r>
              <a:rPr sz="1350">
                <a:solidFill>
                  <a:srgbClr val="333E4F"/>
                </a:solidFill>
                <a:latin typeface="Helvetica Neue"/>
              </a:rPr>
              <a:t>— In SaaS you trusted your own frontend to send sane data. We invert that: every tool assumes a wrong caller and enforces balance, period locks and permissions itself.</a:t>
            </a:r>
          </a:p>
          <a:p>
            <a:pPr>
              <a:lnSpc>
                <a:spcPct val="128000"/>
              </a:lnSpc>
              <a:spcBef>
                <a:spcPts val="1200"/>
              </a:spcBef>
              <a:spcAft>
                <a:spcPts val="200"/>
              </a:spcAft>
            </a:pPr>
            <a:r>
              <a:rPr sz="1350" b="1">
                <a:solidFill>
                  <a:srgbClr val="111A27"/>
                </a:solidFill>
                <a:latin typeface="Helvetica Neue"/>
              </a:rPr>
              <a:t>Idempotency is mandatory, because agents retry.</a:t>
            </a:r>
          </a:p>
          <a:p>
            <a:pPr>
              <a:lnSpc>
                <a:spcPct val="128000"/>
              </a:lnSpc>
              <a:spcBef>
                <a:spcPts val="1200"/>
              </a:spcBef>
              <a:spcAft>
                <a:spcPts val="200"/>
              </a:spcAft>
            </a:pPr>
            <a:r>
              <a:rPr sz="1350" b="1">
                <a:solidFill>
                  <a:srgbClr val="111A27"/>
                </a:solidFill>
                <a:latin typeface="Helvetica Neue"/>
              </a:rPr>
              <a:t>Granularity is a real tradeoff.</a:t>
            </a:r>
          </a:p>
          <a:p>
            <a:pPr>
              <a:lnSpc>
                <a:spcPct val="128000"/>
              </a:lnSpc>
              <a:spcAft>
                <a:spcPts val="700"/>
              </a:spcAft>
            </a:pPr>
            <a:r>
              <a:rPr sz="1350">
                <a:solidFill>
                  <a:srgbClr val="333E4F"/>
                </a:solidFill>
                <a:latin typeface="Helvetica Neue"/>
              </a:rPr>
              <a:t>— Too fine and the agent burns forty calls and loses the thread; too coarse and it cannot express intent. Expect to iterate — we have.</a:t>
            </a:r>
          </a:p>
          <a:p>
            <a:pPr>
              <a:lnSpc>
                <a:spcPct val="128000"/>
              </a:lnSpc>
              <a:spcBef>
                <a:spcPts val="1200"/>
              </a:spcBef>
              <a:spcAft>
                <a:spcPts val="200"/>
              </a:spcAft>
            </a:pPr>
            <a:r>
              <a:rPr sz="1350" b="1">
                <a:solidFill>
                  <a:srgbClr val="111A27"/>
                </a:solidFill>
                <a:latin typeface="Helvetica Neue"/>
              </a:rPr>
              <a:t>The surface must stay small and discoverable. Context is a scarce resource; you cannot expose four hundred endpoints.</a:t>
            </a:r>
          </a:p>
        </p:txBody>
      </p:sp>
      <p:sp>
        <p:nvSpPr>
          <p:cNvPr id="7" name="Rounded Rectangle 6"/>
          <p:cNvSpPr/>
          <p:nvPr/>
        </p:nvSpPr>
        <p:spPr>
          <a:xfrm>
            <a:off x="7836408" y="2468880"/>
            <a:ext cx="3675887" cy="2148840"/>
          </a:xfrm>
          <a:prstGeom prst="roundRect">
            <a:avLst>
              <a:gd name="adj" fmla="val 4000"/>
            </a:avLst>
          </a:prstGeom>
          <a:solidFill>
            <a:srgbClr val="E4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92440" y="2670048"/>
            <a:ext cx="3154680" cy="274320"/>
          </a:xfrm>
          <a:prstGeom prst="rect">
            <a:avLst/>
          </a:prstGeom>
          <a:noFill/>
        </p:spPr>
        <p:txBody>
          <a:bodyPr wrap="square" anchor="t" lIns="0" rIns="0" tIns="0" bIns="0">
            <a:spAutoFit/>
          </a:bodyPr>
          <a:lstStyle/>
          <a:p>
            <a:pPr algn="l">
              <a:lnSpc>
                <a:spcPct val="125000"/>
              </a:lnSpc>
              <a:spcAft>
                <a:spcPts val="600"/>
              </a:spcAft>
            </a:pPr>
            <a:r>
              <a:rPr sz="1100" b="1">
                <a:solidFill>
                  <a:srgbClr val="0A5366"/>
                </a:solidFill>
                <a:latin typeface="Helvetica Neue"/>
              </a:rPr>
              <a:t>THE RULE</a:t>
            </a:r>
          </a:p>
        </p:txBody>
      </p:sp>
      <p:sp>
        <p:nvSpPr>
          <p:cNvPr id="9" name="TextBox 8"/>
          <p:cNvSpPr txBox="1"/>
          <p:nvPr/>
        </p:nvSpPr>
        <p:spPr>
          <a:xfrm>
            <a:off x="8092440" y="3017520"/>
            <a:ext cx="3154680" cy="1463040"/>
          </a:xfrm>
          <a:prstGeom prst="rect">
            <a:avLst/>
          </a:prstGeom>
          <a:noFill/>
        </p:spPr>
        <p:txBody>
          <a:bodyPr wrap="square" anchor="t" lIns="0" rIns="0" tIns="0" bIns="0">
            <a:spAutoFit/>
          </a:bodyPr>
          <a:lstStyle/>
          <a:p>
            <a:pPr algn="l">
              <a:lnSpc>
                <a:spcPct val="142000"/>
              </a:lnSpc>
              <a:spcAft>
                <a:spcPts val="600"/>
              </a:spcAft>
            </a:pPr>
            <a:r>
              <a:rPr sz="1250" b="0">
                <a:solidFill>
                  <a:srgbClr val="333E4F"/>
                </a:solidFill>
                <a:latin typeface="Helvetica Neue"/>
              </a:rPr>
              <a:t>The model never does arithmetic or applies a rule in its head.
Every state change is a typed tool call that validates itself and rejects bad input. The agent's job is choosing which tool with which arguments. The tool's job is being correct.</a:t>
            </a:r>
          </a:p>
        </p:txBody>
      </p:sp>
      <p:sp>
        <p:nvSpPr>
          <p:cNvPr id="10" name="Rounded Rectangle 9"/>
          <p:cNvSpPr/>
          <p:nvPr/>
        </p:nvSpPr>
        <p:spPr>
          <a:xfrm>
            <a:off x="7836408" y="4754880"/>
            <a:ext cx="3675887" cy="100584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92440" y="4983480"/>
            <a:ext cx="3154680" cy="640080"/>
          </a:xfrm>
          <a:prstGeom prst="rect">
            <a:avLst/>
          </a:prstGeom>
          <a:noFill/>
        </p:spPr>
        <p:txBody>
          <a:bodyPr wrap="square" anchor="t" lIns="0" rIns="0" tIns="0" bIns="0">
            <a:spAutoFit/>
          </a:bodyPr>
          <a:lstStyle/>
          <a:p>
            <a:pPr algn="l">
              <a:lnSpc>
                <a:spcPct val="130000"/>
              </a:lnSpc>
              <a:spcAft>
                <a:spcPts val="600"/>
              </a:spcAft>
            </a:pPr>
            <a:r>
              <a:rPr sz="1300" b="1">
                <a:solidFill>
                  <a:srgbClr val="111A27"/>
                </a:solidFill>
                <a:latin typeface="Helvetica Neue"/>
              </a:rPr>
              <a:t>This is the single highest-leverage design decision in the system.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11</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KEY COMPONENT · 3 OF 4</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Verification and confidence routing: where the business model lives</a:t>
            </a:r>
          </a:p>
        </p:txBody>
      </p:sp>
      <p:sp>
        <p:nvSpPr>
          <p:cNvPr id="5" name="TextBox 4"/>
          <p:cNvSpPr txBox="1"/>
          <p:nvPr/>
        </p:nvSpPr>
        <p:spPr>
          <a:xfrm>
            <a:off x="658368" y="1719072"/>
            <a:ext cx="10332720" cy="457200"/>
          </a:xfrm>
          <a:prstGeom prst="rect">
            <a:avLst/>
          </a:prstGeom>
          <a:noFill/>
        </p:spPr>
        <p:txBody>
          <a:bodyPr wrap="square" anchor="t" lIns="0" rIns="0" tIns="0" bIns="0">
            <a:spAutoFit/>
          </a:bodyPr>
          <a:lstStyle/>
          <a:p>
            <a:pPr algn="l">
              <a:lnSpc>
                <a:spcPct val="135000"/>
              </a:lnSpc>
              <a:spcAft>
                <a:spcPts val="600"/>
              </a:spcAft>
            </a:pPr>
            <a:r>
              <a:rPr sz="1450" b="0">
                <a:solidFill>
                  <a:srgbClr val="333E4F"/>
                </a:solidFill>
                <a:latin typeface="Helvetica Neue"/>
              </a:rPr>
              <a:t>The single biggest change from SaaS: we move from syntactic validation (is this well-formed?) to semantic verification (is this well-formed answer correct?).</a:t>
            </a:r>
          </a:p>
        </p:txBody>
      </p:sp>
      <p:sp>
        <p:nvSpPr>
          <p:cNvPr id="6" name="Rounded Rectangle 5"/>
          <p:cNvSpPr/>
          <p:nvPr/>
        </p:nvSpPr>
        <p:spPr>
          <a:xfrm>
            <a:off x="658368" y="2331720"/>
            <a:ext cx="3465576" cy="242316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6112" y="2542032"/>
            <a:ext cx="3008376" cy="292608"/>
          </a:xfrm>
          <a:prstGeom prst="rect">
            <a:avLst/>
          </a:prstGeom>
          <a:noFill/>
        </p:spPr>
        <p:txBody>
          <a:bodyPr wrap="square" anchor="t" lIns="0" rIns="0" tIns="0" bIns="0">
            <a:spAutoFit/>
          </a:bodyPr>
          <a:lstStyle/>
          <a:p>
            <a:pPr algn="l">
              <a:lnSpc>
                <a:spcPct val="125000"/>
              </a:lnSpc>
              <a:spcAft>
                <a:spcPts val="600"/>
              </a:spcAft>
            </a:pPr>
            <a:r>
              <a:rPr sz="1350" b="1">
                <a:solidFill>
                  <a:srgbClr val="111A27"/>
                </a:solidFill>
                <a:latin typeface="Helvetica Neue"/>
              </a:rPr>
              <a:t>Tier 1 · Hard invariants</a:t>
            </a:r>
          </a:p>
        </p:txBody>
      </p:sp>
      <p:sp>
        <p:nvSpPr>
          <p:cNvPr id="8" name="TextBox 7"/>
          <p:cNvSpPr txBox="1"/>
          <p:nvPr/>
        </p:nvSpPr>
        <p:spPr>
          <a:xfrm>
            <a:off x="896112" y="2926080"/>
            <a:ext cx="3008376" cy="1737360"/>
          </a:xfrm>
          <a:prstGeom prst="rect">
            <a:avLst/>
          </a:prstGeom>
          <a:noFill/>
        </p:spPr>
        <p:txBody>
          <a:bodyPr wrap="square" anchor="t" lIns="0" rIns="0" tIns="0" bIns="0">
            <a:spAutoFit/>
          </a:bodyPr>
          <a:lstStyle/>
          <a:p>
            <a:pPr algn="l">
              <a:lnSpc>
                <a:spcPct val="140000"/>
              </a:lnSpc>
              <a:spcAft>
                <a:spcPts val="600"/>
              </a:spcAft>
            </a:pPr>
            <a:r>
              <a:rPr sz="1250" b="0">
                <a:solidFill>
                  <a:srgbClr val="333E4F"/>
                </a:solidFill>
                <a:latin typeface="Helvetica Neue"/>
              </a:rPr>
              <a:t>Deterministic, non-negotiable, run before anything commits. Balance, trial-balance ties, subledger-to-control ties, reconciliation delta, duplicate detection, period locks. A failure here is a hard block, never a warning.</a:t>
            </a:r>
          </a:p>
        </p:txBody>
      </p:sp>
      <p:sp>
        <p:nvSpPr>
          <p:cNvPr id="9" name="Rounded Rectangle 8"/>
          <p:cNvSpPr/>
          <p:nvPr/>
        </p:nvSpPr>
        <p:spPr>
          <a:xfrm>
            <a:off x="4379976" y="2331720"/>
            <a:ext cx="3465576" cy="242316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17720" y="2542032"/>
            <a:ext cx="3008376" cy="292608"/>
          </a:xfrm>
          <a:prstGeom prst="rect">
            <a:avLst/>
          </a:prstGeom>
          <a:noFill/>
        </p:spPr>
        <p:txBody>
          <a:bodyPr wrap="square" anchor="t" lIns="0" rIns="0" tIns="0" bIns="0">
            <a:spAutoFit/>
          </a:bodyPr>
          <a:lstStyle/>
          <a:p>
            <a:pPr algn="l">
              <a:lnSpc>
                <a:spcPct val="125000"/>
              </a:lnSpc>
              <a:spcAft>
                <a:spcPts val="600"/>
              </a:spcAft>
            </a:pPr>
            <a:r>
              <a:rPr sz="1350" b="1">
                <a:solidFill>
                  <a:srgbClr val="111A27"/>
                </a:solidFill>
                <a:latin typeface="Helvetica Neue"/>
              </a:rPr>
              <a:t>Tier 2 · Statistical checks</a:t>
            </a:r>
          </a:p>
        </p:txBody>
      </p:sp>
      <p:sp>
        <p:nvSpPr>
          <p:cNvPr id="11" name="TextBox 10"/>
          <p:cNvSpPr txBox="1"/>
          <p:nvPr/>
        </p:nvSpPr>
        <p:spPr>
          <a:xfrm>
            <a:off x="4617720" y="2926080"/>
            <a:ext cx="3008376" cy="1737360"/>
          </a:xfrm>
          <a:prstGeom prst="rect">
            <a:avLst/>
          </a:prstGeom>
          <a:noFill/>
        </p:spPr>
        <p:txBody>
          <a:bodyPr wrap="square" anchor="t" lIns="0" rIns="0" tIns="0" bIns="0">
            <a:spAutoFit/>
          </a:bodyPr>
          <a:lstStyle/>
          <a:p>
            <a:pPr algn="l">
              <a:lnSpc>
                <a:spcPct val="140000"/>
              </a:lnSpc>
              <a:spcAft>
                <a:spcPts val="600"/>
              </a:spcAft>
            </a:pPr>
            <a:r>
              <a:rPr sz="1250" b="0">
                <a:solidFill>
                  <a:srgbClr val="333E4F"/>
                </a:solidFill>
                <a:latin typeface="Helvetica Neue"/>
              </a:rPr>
              <a:t>Variance against prior period, unusual vendor/account pairings, distributional anomalies. Catches the well-formed-but-wrong class that invariants pass. Produces a score, not a verdict.</a:t>
            </a:r>
          </a:p>
        </p:txBody>
      </p:sp>
      <p:sp>
        <p:nvSpPr>
          <p:cNvPr id="12" name="Rounded Rectangle 11"/>
          <p:cNvSpPr/>
          <p:nvPr/>
        </p:nvSpPr>
        <p:spPr>
          <a:xfrm>
            <a:off x="8101583" y="2331720"/>
            <a:ext cx="3465576" cy="242316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39327" y="2542032"/>
            <a:ext cx="3008376" cy="292608"/>
          </a:xfrm>
          <a:prstGeom prst="rect">
            <a:avLst/>
          </a:prstGeom>
          <a:noFill/>
        </p:spPr>
        <p:txBody>
          <a:bodyPr wrap="square" anchor="t" lIns="0" rIns="0" tIns="0" bIns="0">
            <a:spAutoFit/>
          </a:bodyPr>
          <a:lstStyle/>
          <a:p>
            <a:pPr algn="l">
              <a:lnSpc>
                <a:spcPct val="125000"/>
              </a:lnSpc>
              <a:spcAft>
                <a:spcPts val="600"/>
              </a:spcAft>
            </a:pPr>
            <a:r>
              <a:rPr sz="1350" b="1">
                <a:solidFill>
                  <a:srgbClr val="111A27"/>
                </a:solidFill>
                <a:latin typeface="Helvetica Neue"/>
              </a:rPr>
              <a:t>Tier 3 · Routing</a:t>
            </a:r>
          </a:p>
        </p:txBody>
      </p:sp>
      <p:sp>
        <p:nvSpPr>
          <p:cNvPr id="14" name="TextBox 13"/>
          <p:cNvSpPr txBox="1"/>
          <p:nvPr/>
        </p:nvSpPr>
        <p:spPr>
          <a:xfrm>
            <a:off x="8339327" y="2926080"/>
            <a:ext cx="3008376" cy="1737360"/>
          </a:xfrm>
          <a:prstGeom prst="rect">
            <a:avLst/>
          </a:prstGeom>
          <a:noFill/>
        </p:spPr>
        <p:txBody>
          <a:bodyPr wrap="square" anchor="t" lIns="0" rIns="0" tIns="0" bIns="0">
            <a:spAutoFit/>
          </a:bodyPr>
          <a:lstStyle/>
          <a:p>
            <a:pPr algn="l">
              <a:lnSpc>
                <a:spcPct val="140000"/>
              </a:lnSpc>
              <a:spcAft>
                <a:spcPts val="600"/>
              </a:spcAft>
            </a:pPr>
            <a:r>
              <a:rPr sz="1250" b="0">
                <a:solidFill>
                  <a:srgbClr val="333E4F"/>
                </a:solidFill>
                <a:latin typeface="Helvetica Neue"/>
              </a:rPr>
              <a:t>Above threshold: auto-post. Below: into the review queue with full context. Confidence is derived from verification signals and agreement between independent passes — never from asking the model how sure it is.</a:t>
            </a:r>
          </a:p>
        </p:txBody>
      </p:sp>
      <p:sp>
        <p:nvSpPr>
          <p:cNvPr id="15" name="Rounded Rectangle 14"/>
          <p:cNvSpPr/>
          <p:nvPr/>
        </p:nvSpPr>
        <p:spPr>
          <a:xfrm>
            <a:off x="658368" y="4956048"/>
            <a:ext cx="10874959" cy="1234440"/>
          </a:xfrm>
          <a:prstGeom prst="roundRect">
            <a:avLst>
              <a:gd name="adj" fmla="val 4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50976" y="5138928"/>
            <a:ext cx="6035040" cy="548640"/>
          </a:xfrm>
          <a:prstGeom prst="rect">
            <a:avLst/>
          </a:prstGeom>
          <a:noFill/>
        </p:spPr>
        <p:txBody>
          <a:bodyPr wrap="square" anchor="t" lIns="0" rIns="0" tIns="0" bIns="0">
            <a:spAutoFit/>
          </a:bodyPr>
          <a:lstStyle/>
          <a:p>
            <a:pPr algn="l">
              <a:lnSpc>
                <a:spcPct val="130000"/>
              </a:lnSpc>
              <a:spcAft>
                <a:spcPts val="600"/>
              </a:spcAft>
            </a:pPr>
            <a:r>
              <a:rPr sz="1350" b="1">
                <a:solidFill>
                  <a:srgbClr val="111A27"/>
                </a:solidFill>
                <a:latin typeface="Helvetica Neue"/>
              </a:rPr>
              <a:t>Models are badly calibrated and reliably overconfident. Asking one for a confidence score is not a control.</a:t>
            </a:r>
          </a:p>
        </p:txBody>
      </p:sp>
      <p:sp>
        <p:nvSpPr>
          <p:cNvPr id="17" name="TextBox 16"/>
          <p:cNvSpPr txBox="1"/>
          <p:nvPr/>
        </p:nvSpPr>
        <p:spPr>
          <a:xfrm>
            <a:off x="7242048" y="5138928"/>
            <a:ext cx="4023360" cy="914400"/>
          </a:xfrm>
          <a:prstGeom prst="rect">
            <a:avLst/>
          </a:prstGeom>
          <a:noFill/>
        </p:spPr>
        <p:txBody>
          <a:bodyPr wrap="square" anchor="t" lIns="0" rIns="0" tIns="0" bIns="0">
            <a:spAutoFit/>
          </a:bodyPr>
          <a:lstStyle/>
          <a:p>
            <a:pPr algn="l">
              <a:lnSpc>
                <a:spcPct val="138000"/>
              </a:lnSpc>
              <a:spcAft>
                <a:spcPts val="600"/>
              </a:spcAft>
            </a:pPr>
            <a:r>
              <a:rPr sz="1200" b="0">
                <a:solidFill>
                  <a:srgbClr val="333E4F"/>
                </a:solidFill>
                <a:latin typeface="Helvetica Neue"/>
              </a:rPr>
              <a:t>Every correction a reviewer makes becomes an explicit, auditable rule first and a retrieval example second — because rules can be shown to an auditor and embeddings cannot. The queue is our service delivery, our data pipeline and our product spec at the same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12</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KEY COMPONENT · 4 OF 4</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Evals and replay: the artefact competitors cannot copy</a:t>
            </a:r>
          </a:p>
        </p:txBody>
      </p:sp>
      <p:sp>
        <p:nvSpPr>
          <p:cNvPr id="5" name="TextBox 4"/>
          <p:cNvSpPr txBox="1"/>
          <p:nvPr/>
        </p:nvSpPr>
        <p:spPr>
          <a:xfrm>
            <a:off x="658368" y="1737360"/>
            <a:ext cx="10332720" cy="685800"/>
          </a:xfrm>
          <a:prstGeom prst="rect">
            <a:avLst/>
          </a:prstGeom>
          <a:noFill/>
        </p:spPr>
        <p:txBody>
          <a:bodyPr wrap="square" anchor="t" lIns="0" rIns="0" tIns="0" bIns="0">
            <a:spAutoFit/>
          </a:bodyPr>
          <a:lstStyle/>
          <a:p>
            <a:pPr algn="l">
              <a:lnSpc>
                <a:spcPct val="135000"/>
              </a:lnSpc>
              <a:spcAft>
                <a:spcPts val="600"/>
              </a:spcAft>
            </a:pPr>
            <a:r>
              <a:rPr sz="1450" b="0">
                <a:solidFill>
                  <a:srgbClr val="333E4F"/>
                </a:solidFill>
                <a:latin typeface="Helvetica Neue"/>
              </a:rPr>
              <a:t>A SaaS feature is correct or it is a bug. An agent capability has a distribution. You stop asking "does it work" and start asking "at what rate, on what input distribution, with what failure modes." That changes engineering practice more than any other single thing.</a:t>
            </a:r>
          </a:p>
        </p:txBody>
      </p:sp>
      <p:sp>
        <p:nvSpPr>
          <p:cNvPr id="6" name="TextBox 5"/>
          <p:cNvSpPr txBox="1"/>
          <p:nvPr/>
        </p:nvSpPr>
        <p:spPr>
          <a:xfrm>
            <a:off x="658368" y="2542032"/>
            <a:ext cx="6766560" cy="3657600"/>
          </a:xfrm>
          <a:prstGeom prst="rect">
            <a:avLst/>
          </a:prstGeom>
          <a:noFill/>
        </p:spPr>
        <p:txBody>
          <a:bodyPr wrap="square" lIns="0" rIns="0" tIns="0" bIns="0">
            <a:spAutoFit/>
          </a:bodyPr>
          <a:lstStyle/>
          <a:p>
            <a:pPr>
              <a:lnSpc>
                <a:spcPct val="128000"/>
              </a:lnSpc>
              <a:spcBef>
                <a:spcPts val="1200"/>
              </a:spcBef>
              <a:spcAft>
                <a:spcPts val="200"/>
              </a:spcAft>
            </a:pPr>
            <a:r>
              <a:rPr sz="1350" b="1">
                <a:solidFill>
                  <a:srgbClr val="111A27"/>
                </a:solidFill>
                <a:latin typeface="Helvetica Neue"/>
              </a:rPr>
              <a:t>CI now contains statistical tests.</a:t>
            </a:r>
          </a:p>
          <a:p>
            <a:pPr>
              <a:lnSpc>
                <a:spcPct val="128000"/>
              </a:lnSpc>
              <a:spcAft>
                <a:spcPts val="700"/>
              </a:spcAft>
            </a:pPr>
            <a:r>
              <a:rPr sz="1350">
                <a:solidFill>
                  <a:srgbClr val="333E4F"/>
                </a:solidFill>
                <a:latin typeface="Helvetica Neue"/>
              </a:rPr>
              <a:t>— A 2% regression may be noise or a catastrophe, and only eval volume tells you which.</a:t>
            </a:r>
          </a:p>
          <a:p>
            <a:pPr>
              <a:lnSpc>
                <a:spcPct val="128000"/>
              </a:lnSpc>
              <a:spcBef>
                <a:spcPts val="1200"/>
              </a:spcBef>
              <a:spcAft>
                <a:spcPts val="200"/>
              </a:spcAft>
            </a:pPr>
            <a:r>
              <a:rPr sz="1350" b="1">
                <a:solidFill>
                  <a:srgbClr val="111A27"/>
                </a:solidFill>
                <a:latin typeface="Helvetica Neue"/>
              </a:rPr>
              <a:t>Bug reports are not reproducible.</a:t>
            </a:r>
          </a:p>
          <a:p>
            <a:pPr>
              <a:lnSpc>
                <a:spcPct val="128000"/>
              </a:lnSpc>
              <a:spcAft>
                <a:spcPts val="700"/>
              </a:spcAft>
            </a:pPr>
            <a:r>
              <a:rPr sz="1350">
                <a:solidFill>
                  <a:srgbClr val="333E4F"/>
                </a:solidFill>
                <a:latin typeface="Helvetica Neue"/>
              </a:rPr>
              <a:t>— Full trace capture on every run — prompt, context, tool calls, model version — or we are blind in production.</a:t>
            </a:r>
          </a:p>
          <a:p>
            <a:pPr>
              <a:lnSpc>
                <a:spcPct val="128000"/>
              </a:lnSpc>
              <a:spcBef>
                <a:spcPts val="1200"/>
              </a:spcBef>
              <a:spcAft>
                <a:spcPts val="200"/>
              </a:spcAft>
            </a:pPr>
            <a:r>
              <a:rPr sz="1350" b="1">
                <a:solidFill>
                  <a:srgbClr val="111A27"/>
                </a:solidFill>
                <a:latin typeface="Helvetica Neue"/>
              </a:rPr>
              <a:t>Model upgrades are breaking changes to behaviour we never specified.</a:t>
            </a:r>
          </a:p>
          <a:p>
            <a:pPr>
              <a:lnSpc>
                <a:spcPct val="128000"/>
              </a:lnSpc>
              <a:spcAft>
                <a:spcPts val="700"/>
              </a:spcAft>
            </a:pPr>
            <a:r>
              <a:rPr sz="1350">
                <a:solidFill>
                  <a:srgbClr val="333E4F"/>
                </a:solidFill>
                <a:latin typeface="Helvetica Neue"/>
              </a:rPr>
              <a:t>— Version-pin, shadow-eval every candidate model against the corpus before any swap, keep a fallback. This is a standing pipeline, not a project.</a:t>
            </a:r>
          </a:p>
          <a:p>
            <a:pPr>
              <a:lnSpc>
                <a:spcPct val="128000"/>
              </a:lnSpc>
              <a:spcBef>
                <a:spcPts val="1200"/>
              </a:spcBef>
              <a:spcAft>
                <a:spcPts val="200"/>
              </a:spcAft>
            </a:pPr>
            <a:r>
              <a:rPr sz="1350" b="1">
                <a:solidFill>
                  <a:srgbClr val="111A27"/>
                </a:solidFill>
                <a:latin typeface="Helvetica Neue"/>
              </a:rPr>
              <a:t>Ground truth comes from real closed books.</a:t>
            </a:r>
          </a:p>
          <a:p>
            <a:pPr>
              <a:lnSpc>
                <a:spcPct val="128000"/>
              </a:lnSpc>
              <a:spcAft>
                <a:spcPts val="700"/>
              </a:spcAft>
            </a:pPr>
            <a:r>
              <a:rPr sz="1350">
                <a:solidFill>
                  <a:srgbClr val="333E4F"/>
                </a:solidFill>
                <a:latin typeface="Helvetica Neue"/>
              </a:rPr>
              <a:t>— We replay agents against historical months and score against what the accountant actually did. Slow, unglamorous, requires domain experts — which is exactly why it is defensible.</a:t>
            </a:r>
          </a:p>
        </p:txBody>
      </p:sp>
      <p:sp>
        <p:nvSpPr>
          <p:cNvPr id="7" name="Rounded Rectangle 6"/>
          <p:cNvSpPr/>
          <p:nvPr/>
        </p:nvSpPr>
        <p:spPr>
          <a:xfrm>
            <a:off x="7836408" y="2542032"/>
            <a:ext cx="3675887" cy="324612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92440" y="2743200"/>
            <a:ext cx="3154680" cy="274320"/>
          </a:xfrm>
          <a:prstGeom prst="rect">
            <a:avLst/>
          </a:prstGeom>
          <a:noFill/>
        </p:spPr>
        <p:txBody>
          <a:bodyPr wrap="square" anchor="t" lIns="0" rIns="0" tIns="0" bIns="0">
            <a:spAutoFit/>
          </a:bodyPr>
          <a:lstStyle/>
          <a:p>
            <a:pPr algn="l">
              <a:lnSpc>
                <a:spcPct val="125000"/>
              </a:lnSpc>
              <a:spcAft>
                <a:spcPts val="600"/>
              </a:spcAft>
            </a:pPr>
            <a:r>
              <a:rPr sz="1100" b="1">
                <a:solidFill>
                  <a:srgbClr val="B45309"/>
                </a:solidFill>
                <a:latin typeface="Helvetica Neue"/>
              </a:rPr>
              <a:t>THE ROADMAP UNIT CHANGES</a:t>
            </a:r>
          </a:p>
        </p:txBody>
      </p:sp>
      <p:sp>
        <p:nvSpPr>
          <p:cNvPr id="9" name="TextBox 8"/>
          <p:cNvSpPr txBox="1"/>
          <p:nvPr/>
        </p:nvSpPr>
        <p:spPr>
          <a:xfrm>
            <a:off x="8092440" y="3108960"/>
            <a:ext cx="3154680" cy="2560320"/>
          </a:xfrm>
          <a:prstGeom prst="rect">
            <a:avLst/>
          </a:prstGeom>
          <a:noFill/>
        </p:spPr>
        <p:txBody>
          <a:bodyPr wrap="square" anchor="t" lIns="0" rIns="0" tIns="0" bIns="0">
            <a:spAutoFit/>
          </a:bodyPr>
          <a:lstStyle/>
          <a:p>
            <a:pPr algn="l">
              <a:lnSpc>
                <a:spcPct val="142000"/>
              </a:lnSpc>
              <a:spcAft>
                <a:spcPts val="600"/>
              </a:spcAft>
            </a:pPr>
            <a:r>
              <a:rPr sz="1250" b="0">
                <a:solidFill>
                  <a:srgbClr val="333E4F"/>
                </a:solidFill>
                <a:latin typeface="Helvetica Neue"/>
              </a:rPr>
              <a:t>SaaS roadmaps listed features.
Ours lists accuracy on a category:
"raise auto-post rate on the ambiguous-vendor bucket from 71% to 88%."
Different planning, different staffing, different definition of done — and a roadmap whose progress is measured rather than asserted.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13</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TECHNICAL RISK</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The two hard problems, stated plainly</a:t>
            </a:r>
          </a:p>
        </p:txBody>
      </p:sp>
      <p:sp>
        <p:nvSpPr>
          <p:cNvPr id="5" name="Rounded Rectangle 4"/>
          <p:cNvSpPr/>
          <p:nvPr/>
        </p:nvSpPr>
        <p:spPr>
          <a:xfrm>
            <a:off x="658368" y="1828800"/>
            <a:ext cx="5294376" cy="397763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048256"/>
            <a:ext cx="4754880" cy="320040"/>
          </a:xfrm>
          <a:prstGeom prst="rect">
            <a:avLst/>
          </a:prstGeom>
          <a:noFill/>
        </p:spPr>
        <p:txBody>
          <a:bodyPr wrap="square" anchor="t" lIns="0" rIns="0" tIns="0" bIns="0">
            <a:spAutoFit/>
          </a:bodyPr>
          <a:lstStyle/>
          <a:p>
            <a:pPr algn="l">
              <a:lnSpc>
                <a:spcPct val="125000"/>
              </a:lnSpc>
              <a:spcAft>
                <a:spcPts val="600"/>
              </a:spcAft>
            </a:pPr>
            <a:r>
              <a:rPr sz="1700" b="1">
                <a:solidFill>
                  <a:srgbClr val="111A27"/>
                </a:solidFill>
                <a:latin typeface="Helvetica Neue"/>
              </a:rPr>
              <a:t>1 · Reliability compounds badly</a:t>
            </a:r>
          </a:p>
        </p:txBody>
      </p:sp>
      <p:sp>
        <p:nvSpPr>
          <p:cNvPr id="7" name="TextBox 6"/>
          <p:cNvSpPr txBox="1"/>
          <p:nvPr/>
        </p:nvSpPr>
        <p:spPr>
          <a:xfrm>
            <a:off x="932688" y="2450592"/>
            <a:ext cx="4754880" cy="502920"/>
          </a:xfrm>
          <a:prstGeom prst="rect">
            <a:avLst/>
          </a:prstGeom>
          <a:noFill/>
        </p:spPr>
        <p:txBody>
          <a:bodyPr wrap="square" anchor="t" lIns="0" rIns="0" tIns="0" bIns="0">
            <a:spAutoFit/>
          </a:bodyPr>
          <a:lstStyle/>
          <a:p>
            <a:pPr algn="l">
              <a:lnSpc>
                <a:spcPct val="125000"/>
              </a:lnSpc>
              <a:spcAft>
                <a:spcPts val="600"/>
              </a:spcAft>
            </a:pPr>
            <a:r>
              <a:rPr sz="1500" b="1">
                <a:solidFill>
                  <a:srgbClr val="B45309"/>
                </a:solidFill>
                <a:latin typeface="Helvetica Neue"/>
              </a:rPr>
              <a:t>95% per step across 20 steps is 36% end-to-end.</a:t>
            </a:r>
          </a:p>
        </p:txBody>
      </p:sp>
      <p:sp>
        <p:nvSpPr>
          <p:cNvPr id="8" name="TextBox 7"/>
          <p:cNvSpPr txBox="1"/>
          <p:nvPr/>
        </p:nvSpPr>
        <p:spPr>
          <a:xfrm>
            <a:off x="932688" y="2999232"/>
            <a:ext cx="4754880" cy="566928"/>
          </a:xfrm>
          <a:prstGeom prst="rect">
            <a:avLst/>
          </a:prstGeom>
          <a:noFill/>
        </p:spPr>
        <p:txBody>
          <a:bodyPr wrap="square" anchor="t" lIns="0" rIns="0" tIns="0" bIns="0">
            <a:spAutoFit/>
          </a:bodyPr>
          <a:lstStyle/>
          <a:p>
            <a:pPr algn="l">
              <a:lnSpc>
                <a:spcPct val="135000"/>
              </a:lnSpc>
              <a:spcAft>
                <a:spcPts val="600"/>
              </a:spcAft>
            </a:pPr>
            <a:r>
              <a:rPr sz="1300" b="0">
                <a:solidFill>
                  <a:srgbClr val="333E4F"/>
                </a:solidFill>
                <a:latin typeface="Helvetica Neue"/>
              </a:rPr>
              <a:t>This is the central engineering problem of the category, and there is no prompt that fixes it. The only real answer is architectural:</a:t>
            </a:r>
          </a:p>
        </p:txBody>
      </p:sp>
      <p:sp>
        <p:nvSpPr>
          <p:cNvPr id="9" name="TextBox 8"/>
          <p:cNvSpPr txBox="1"/>
          <p:nvPr/>
        </p:nvSpPr>
        <p:spPr>
          <a:xfrm>
            <a:off x="932688" y="3675887"/>
            <a:ext cx="4754880" cy="1737360"/>
          </a:xfrm>
          <a:prstGeom prst="rect">
            <a:avLst/>
          </a:prstGeom>
          <a:noFill/>
        </p:spPr>
        <p:txBody>
          <a:bodyPr wrap="square" lIns="0" rIns="0" tIns="0" bIns="0">
            <a:spAutoFit/>
          </a:bodyPr>
          <a:lstStyle/>
          <a:p>
            <a:pPr>
              <a:lnSpc>
                <a:spcPct val="128000"/>
              </a:lnSpc>
              <a:spcAft>
                <a:spcPts val="600"/>
              </a:spcAft>
            </a:pPr>
            <a:r>
              <a:rPr sz="1250">
                <a:solidFill>
                  <a:srgbClr val="333E4F"/>
                </a:solidFill>
                <a:latin typeface="Helvetica Neue"/>
              </a:rPr>
              <a:t>— Shorten agentic spans; keep deterministic orchestration between them</a:t>
            </a:r>
          </a:p>
          <a:p>
            <a:pPr>
              <a:lnSpc>
                <a:spcPct val="128000"/>
              </a:lnSpc>
              <a:spcAft>
                <a:spcPts val="600"/>
              </a:spcAft>
            </a:pPr>
            <a:r>
              <a:rPr sz="1250">
                <a:solidFill>
                  <a:srgbClr val="333E4F"/>
                </a:solidFill>
                <a:latin typeface="Helvetica Neue"/>
              </a:rPr>
              <a:t>— Make every step independently verifiable</a:t>
            </a:r>
          </a:p>
          <a:p>
            <a:pPr>
              <a:lnSpc>
                <a:spcPct val="128000"/>
              </a:lnSpc>
              <a:spcAft>
                <a:spcPts val="600"/>
              </a:spcAft>
            </a:pPr>
            <a:r>
              <a:rPr sz="1250">
                <a:solidFill>
                  <a:srgbClr val="333E4F"/>
                </a:solidFill>
                <a:latin typeface="Helvetica Neue"/>
              </a:rPr>
              <a:t>— Gate before commit, always</a:t>
            </a:r>
          </a:p>
          <a:p>
            <a:pPr>
              <a:lnSpc>
                <a:spcPct val="128000"/>
              </a:lnSpc>
              <a:spcAft>
                <a:spcPts val="600"/>
              </a:spcAft>
            </a:pPr>
            <a:r>
              <a:rPr sz="1250">
                <a:solidFill>
                  <a:srgbClr val="333E4F"/>
                </a:solidFill>
                <a:latin typeface="Helvetica Neue"/>
              </a:rPr>
              <a:t>— Prefer many short verified hops to one long autonomous chain</a:t>
            </a:r>
          </a:p>
        </p:txBody>
      </p:sp>
      <p:sp>
        <p:nvSpPr>
          <p:cNvPr id="10" name="TextBox 9"/>
          <p:cNvSpPr txBox="1"/>
          <p:nvPr/>
        </p:nvSpPr>
        <p:spPr>
          <a:xfrm>
            <a:off x="932688" y="5138928"/>
            <a:ext cx="4754880" cy="548640"/>
          </a:xfrm>
          <a:prstGeom prst="rect">
            <a:avLst/>
          </a:prstGeom>
          <a:noFill/>
        </p:spPr>
        <p:txBody>
          <a:bodyPr wrap="square" anchor="t" lIns="0" rIns="0" tIns="0" bIns="0">
            <a:spAutoFit/>
          </a:bodyPr>
          <a:lstStyle/>
          <a:p>
            <a:pPr algn="l">
              <a:lnSpc>
                <a:spcPct val="135000"/>
              </a:lnSpc>
              <a:spcAft>
                <a:spcPts val="600"/>
              </a:spcAft>
            </a:pPr>
            <a:r>
              <a:rPr sz="1200" b="1">
                <a:solidFill>
                  <a:srgbClr val="B45309"/>
                </a:solidFill>
                <a:latin typeface="Helvetica Neue"/>
              </a:rPr>
              <a:t>Any plan that assumes long autonomous chains without this will fail in production. Treat it as a filter when you look at our competitors.</a:t>
            </a:r>
          </a:p>
        </p:txBody>
      </p:sp>
      <p:sp>
        <p:nvSpPr>
          <p:cNvPr id="11" name="Rounded Rectangle 10"/>
          <p:cNvSpPr/>
          <p:nvPr/>
        </p:nvSpPr>
        <p:spPr>
          <a:xfrm>
            <a:off x="6245352" y="1828800"/>
            <a:ext cx="5294376" cy="397763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19672" y="2048256"/>
            <a:ext cx="4754880" cy="320040"/>
          </a:xfrm>
          <a:prstGeom prst="rect">
            <a:avLst/>
          </a:prstGeom>
          <a:noFill/>
        </p:spPr>
        <p:txBody>
          <a:bodyPr wrap="square" anchor="t" lIns="0" rIns="0" tIns="0" bIns="0">
            <a:spAutoFit/>
          </a:bodyPr>
          <a:lstStyle/>
          <a:p>
            <a:pPr algn="l">
              <a:lnSpc>
                <a:spcPct val="125000"/>
              </a:lnSpc>
              <a:spcAft>
                <a:spcPts val="600"/>
              </a:spcAft>
            </a:pPr>
            <a:r>
              <a:rPr sz="1700" b="1">
                <a:solidFill>
                  <a:srgbClr val="111A27"/>
                </a:solidFill>
                <a:latin typeface="Helvetica Neue"/>
              </a:rPr>
              <a:t>2 · The security model inverts</a:t>
            </a:r>
          </a:p>
        </p:txBody>
      </p:sp>
      <p:sp>
        <p:nvSpPr>
          <p:cNvPr id="13" name="TextBox 12"/>
          <p:cNvSpPr txBox="1"/>
          <p:nvPr/>
        </p:nvSpPr>
        <p:spPr>
          <a:xfrm>
            <a:off x="6519672" y="2450592"/>
            <a:ext cx="4754880" cy="502920"/>
          </a:xfrm>
          <a:prstGeom prst="rect">
            <a:avLst/>
          </a:prstGeom>
          <a:noFill/>
        </p:spPr>
        <p:txBody>
          <a:bodyPr wrap="square" anchor="t" lIns="0" rIns="0" tIns="0" bIns="0">
            <a:spAutoFit/>
          </a:bodyPr>
          <a:lstStyle/>
          <a:p>
            <a:pPr algn="l">
              <a:lnSpc>
                <a:spcPct val="125000"/>
              </a:lnSpc>
              <a:spcAft>
                <a:spcPts val="600"/>
              </a:spcAft>
            </a:pPr>
            <a:r>
              <a:rPr sz="1500" b="1">
                <a:solidFill>
                  <a:srgbClr val="B45309"/>
                </a:solidFill>
                <a:latin typeface="Helvetica Neue"/>
              </a:rPr>
              <a:t>An actor with authority, taking instructions from untrusted content.</a:t>
            </a:r>
          </a:p>
        </p:txBody>
      </p:sp>
      <p:sp>
        <p:nvSpPr>
          <p:cNvPr id="14" name="TextBox 13"/>
          <p:cNvSpPr txBox="1"/>
          <p:nvPr/>
        </p:nvSpPr>
        <p:spPr>
          <a:xfrm>
            <a:off x="6519672" y="2999232"/>
            <a:ext cx="4754880" cy="822960"/>
          </a:xfrm>
          <a:prstGeom prst="rect">
            <a:avLst/>
          </a:prstGeom>
          <a:noFill/>
        </p:spPr>
        <p:txBody>
          <a:bodyPr wrap="square" anchor="t" lIns="0" rIns="0" tIns="0" bIns="0">
            <a:spAutoFit/>
          </a:bodyPr>
          <a:lstStyle/>
          <a:p>
            <a:pPr algn="l">
              <a:lnSpc>
                <a:spcPct val="135000"/>
              </a:lnSpc>
              <a:spcAft>
                <a:spcPts val="600"/>
              </a:spcAft>
            </a:pPr>
            <a:r>
              <a:rPr sz="1300" b="0">
                <a:solidFill>
                  <a:srgbClr val="333E4F"/>
                </a:solidFill>
                <a:latin typeface="Helvetica Neue"/>
              </a:rPr>
              <a:t>In SaaS, code was trusted and users were untrusted. Our agent is neither — it acts with write authority while reading a vendor's PDF or an inbound email. That is a genuinely new vulnerability class.</a:t>
            </a:r>
          </a:p>
        </p:txBody>
      </p:sp>
      <p:sp>
        <p:nvSpPr>
          <p:cNvPr id="15" name="TextBox 14"/>
          <p:cNvSpPr txBox="1"/>
          <p:nvPr/>
        </p:nvSpPr>
        <p:spPr>
          <a:xfrm>
            <a:off x="6519672" y="3950208"/>
            <a:ext cx="4754880" cy="1737360"/>
          </a:xfrm>
          <a:prstGeom prst="rect">
            <a:avLst/>
          </a:prstGeom>
          <a:noFill/>
        </p:spPr>
        <p:txBody>
          <a:bodyPr wrap="square" lIns="0" rIns="0" tIns="0" bIns="0">
            <a:spAutoFit/>
          </a:bodyPr>
          <a:lstStyle/>
          <a:p>
            <a:pPr>
              <a:lnSpc>
                <a:spcPct val="128000"/>
              </a:lnSpc>
              <a:spcAft>
                <a:spcPts val="600"/>
              </a:spcAft>
            </a:pPr>
            <a:r>
              <a:rPr sz="1250">
                <a:solidFill>
                  <a:srgbClr val="333E4F"/>
                </a:solidFill>
                <a:latin typeface="Helvetica Neue"/>
              </a:rPr>
              <a:t>— Scoped, least-privilege credentials per task</a:t>
            </a:r>
          </a:p>
          <a:p>
            <a:pPr>
              <a:lnSpc>
                <a:spcPct val="128000"/>
              </a:lnSpc>
              <a:spcAft>
                <a:spcPts val="600"/>
              </a:spcAft>
            </a:pPr>
            <a:r>
              <a:rPr sz="1250">
                <a:solidFill>
                  <a:srgbClr val="333E4F"/>
                </a:solidFill>
                <a:latin typeface="Helvetica Neue"/>
              </a:rPr>
              <a:t>— No single tool both reads untrusted content and takes irreversible action</a:t>
            </a:r>
          </a:p>
          <a:p>
            <a:pPr>
              <a:lnSpc>
                <a:spcPct val="128000"/>
              </a:lnSpc>
              <a:spcAft>
                <a:spcPts val="600"/>
              </a:spcAft>
            </a:pPr>
            <a:r>
              <a:rPr sz="1250">
                <a:solidFill>
                  <a:srgbClr val="333E4F"/>
                </a:solidFill>
                <a:latin typeface="Helvetica Neue"/>
              </a:rPr>
              <a:t>— Separation of duties in code: an agent cannot approve its own entry</a:t>
            </a:r>
          </a:p>
          <a:p>
            <a:pPr>
              <a:lnSpc>
                <a:spcPct val="128000"/>
              </a:lnSpc>
              <a:spcAft>
                <a:spcPts val="600"/>
              </a:spcAft>
            </a:pPr>
            <a:r>
              <a:rPr sz="1250">
                <a:solidFill>
                  <a:srgbClr val="333E4F"/>
                </a:solidFill>
                <a:latin typeface="Helvetica Neue"/>
              </a:rPr>
              <a:t>— Hard period locks; all document-derived text treated as tainted</a:t>
            </a:r>
          </a:p>
        </p:txBody>
      </p:sp>
      <p:sp>
        <p:nvSpPr>
          <p:cNvPr id="16" name="TextBox 15"/>
          <p:cNvSpPr txBox="1"/>
          <p:nvPr/>
        </p:nvSpPr>
        <p:spPr>
          <a:xfrm>
            <a:off x="658368" y="5925312"/>
            <a:ext cx="10874959" cy="548640"/>
          </a:xfrm>
          <a:prstGeom prst="rect">
            <a:avLst/>
          </a:prstGeom>
          <a:noFill/>
        </p:spPr>
        <p:txBody>
          <a:bodyPr wrap="square" anchor="t" lIns="0" rIns="0" tIns="0" bIns="0">
            <a:spAutoFit/>
          </a:bodyPr>
          <a:lstStyle/>
          <a:p>
            <a:pPr algn="l">
              <a:lnSpc>
                <a:spcPct val="132000"/>
              </a:lnSpc>
              <a:spcAft>
                <a:spcPts val="600"/>
              </a:spcAft>
            </a:pPr>
            <a:r>
              <a:rPr sz="1200" b="0">
                <a:solidFill>
                  <a:srgbClr val="333E4F"/>
                </a:solidFill>
                <a:latin typeface="Helvetica Neue"/>
              </a:rPr>
              <a:t>Two more we track and do not minimise. The 60/40 trap: the easy majority of transactions automates fast and creates false confidence, while the residual holds most of the labour cost — so we instrument where hours go, not where transactions are. And migration onto our substrate: large, correctness-critical, and the first thing every customer needs.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14</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WHERE THE WORK GOES</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Building this is a different engineering shape</a:t>
            </a:r>
          </a:p>
        </p:txBody>
      </p:sp>
      <p:sp>
        <p:nvSpPr>
          <p:cNvPr id="5" name="TextBox 4"/>
          <p:cNvSpPr txBox="1"/>
          <p:nvPr/>
        </p:nvSpPr>
        <p:spPr>
          <a:xfrm>
            <a:off x="658368" y="1719072"/>
            <a:ext cx="10424160" cy="685800"/>
          </a:xfrm>
          <a:prstGeom prst="rect">
            <a:avLst/>
          </a:prstGeom>
          <a:noFill/>
        </p:spPr>
        <p:txBody>
          <a:bodyPr wrap="square" anchor="t" lIns="0" rIns="0" tIns="0" bIns="0">
            <a:spAutoFit/>
          </a:bodyPr>
          <a:lstStyle/>
          <a:p>
            <a:pPr algn="l">
              <a:lnSpc>
                <a:spcPct val="135000"/>
              </a:lnSpc>
              <a:spcAft>
                <a:spcPts val="600"/>
              </a:spcAft>
            </a:pPr>
            <a:r>
              <a:rPr sz="1400" b="0">
                <a:solidFill>
                  <a:srgbClr val="333E4F"/>
                </a:solidFill>
                <a:latin typeface="Helvetica Neue"/>
              </a:rPr>
              <a:t>In SaaS the system of record was the smallest, most stable, most valuable part of the codebase, and the interface was the largest and most churn-prone. The ledger under a major accounting product is a few thousand lines that barely changed in a decade; the UI around it is hundreds of thousands that changed every sprint.</a:t>
            </a:r>
          </a:p>
        </p:txBody>
      </p:sp>
      <p:graphicFrame>
        <p:nvGraphicFramePr>
          <p:cNvPr id="6" name="Table 5"/>
          <p:cNvGraphicFramePr>
            <a:graphicFrameLocks noGrp="1"/>
          </p:cNvGraphicFramePr>
          <p:nvPr/>
        </p:nvGraphicFramePr>
        <p:xfrm>
          <a:off x="658368" y="2542032"/>
          <a:ext cx="10872216" cy="3264408"/>
        </p:xfrm>
        <a:graphic>
          <a:graphicData uri="http://schemas.openxmlformats.org/drawingml/2006/table">
            <a:tbl>
              <a:tblPr>
                <a:tableStyleId>{5C22544A-7EE6-4342-B048-85BDC9FD1C3A}</a:tableStyleId>
              </a:tblPr>
              <a:tblGrid>
                <a:gridCol w="3017520"/>
                <a:gridCol w="1371600"/>
                <a:gridCol w="1691640"/>
                <a:gridCol w="4791456"/>
              </a:tblGrid>
              <a:tr h="384048">
                <a:tc>
                  <a:txBody>
                    <a:bodyPr wrap="square"/>
                    <a:lstStyle/>
                    <a:p>
                      <a:pPr algn="l"/>
                      <a:r>
                        <a:rPr sz="1150" b="1">
                          <a:solidFill>
                            <a:srgbClr val="FFFFFF"/>
                          </a:solidFill>
                          <a:latin typeface="Helvetica Neue"/>
                        </a:rPr>
                        <a:t>Layer</a:t>
                      </a:r>
                    </a:p>
                  </a:txBody>
                  <a:tcPr marL="91440" marR="73152" marT="36576" marB="36576" anchor="ctr">
                    <a:solidFill>
                      <a:srgbClr val="111A27"/>
                    </a:solidFill>
                  </a:tcPr>
                </a:tc>
                <a:tc>
                  <a:txBody>
                    <a:bodyPr wrap="square"/>
                    <a:lstStyle/>
                    <a:p>
                      <a:pPr algn="l"/>
                      <a:r>
                        <a:rPr sz="1150" b="1">
                          <a:solidFill>
                            <a:srgbClr val="FFFFFF"/>
                          </a:solidFill>
                          <a:latin typeface="Helvetica Neue"/>
                        </a:rPr>
                        <a:t>SaaS</a:t>
                      </a:r>
                    </a:p>
                  </a:txBody>
                  <a:tcPr marL="91440" marR="73152" marT="36576" marB="36576" anchor="ctr">
                    <a:solidFill>
                      <a:srgbClr val="111A27"/>
                    </a:solidFill>
                  </a:tcPr>
                </a:tc>
                <a:tc>
                  <a:txBody>
                    <a:bodyPr wrap="square"/>
                    <a:lstStyle/>
                    <a:p>
                      <a:pPr algn="l"/>
                      <a:r>
                        <a:rPr sz="1150" b="1">
                          <a:solidFill>
                            <a:srgbClr val="FFFFFF"/>
                          </a:solidFill>
                          <a:latin typeface="Helvetica Neue"/>
                        </a:rPr>
                        <a:t>Agent-native</a:t>
                      </a:r>
                    </a:p>
                  </a:txBody>
                  <a:tcPr marL="91440" marR="73152" marT="36576" marB="36576" anchor="ctr">
                    <a:solidFill>
                      <a:srgbClr val="111A27"/>
                    </a:solidFill>
                  </a:tcPr>
                </a:tc>
                <a:tc>
                  <a:txBody>
                    <a:bodyPr wrap="square"/>
                    <a:lstStyle/>
                    <a:p>
                      <a:pPr algn="l"/>
                      <a:r>
                        <a:rPr sz="1150" b="1">
                          <a:solidFill>
                            <a:srgbClr val="FFFFFF"/>
                          </a:solidFill>
                          <a:latin typeface="Helvetica Neue"/>
                        </a:rPr>
                        <a:t>Nature of the change</a:t>
                      </a:r>
                    </a:p>
                  </a:txBody>
                  <a:tcPr marL="91440" marR="73152" marT="36576" marB="36576" anchor="ctr">
                    <a:solidFill>
                      <a:srgbClr val="111A27"/>
                    </a:solidFill>
                  </a:tcPr>
                </a:tc>
              </a:tr>
              <a:tr h="320040">
                <a:tc>
                  <a:txBody>
                    <a:bodyPr wrap="square"/>
                    <a:lstStyle/>
                    <a:p>
                      <a:pPr algn="l"/>
                      <a:r>
                        <a:rPr sz="1150" b="1">
                          <a:solidFill>
                            <a:srgbClr val="111A27"/>
                          </a:solidFill>
                          <a:latin typeface="Helvetica Neue"/>
                        </a:rPr>
                        <a:t>System of record</a:t>
                      </a:r>
                    </a:p>
                  </a:txBody>
                  <a:tcPr marL="91440" marR="73152" marT="36576" marB="36576" anchor="ctr">
                    <a:solidFill>
                      <a:srgbClr val="FFFFFF"/>
                    </a:solidFill>
                  </a:tcPr>
                </a:tc>
                <a:tc>
                  <a:txBody>
                    <a:bodyPr wrap="square"/>
                    <a:lstStyle/>
                    <a:p>
                      <a:pPr algn="l"/>
                      <a:r>
                        <a:rPr sz="1150">
                          <a:solidFill>
                            <a:srgbClr val="333E4F"/>
                          </a:solidFill>
                          <a:latin typeface="Helvetica Neue"/>
                        </a:rPr>
                        <a:t>10–15%</a:t>
                      </a:r>
                    </a:p>
                  </a:txBody>
                  <a:tcPr marL="91440" marR="73152" marT="36576" marB="36576" anchor="ctr">
                    <a:solidFill>
                      <a:srgbClr val="FFFFFF"/>
                    </a:solidFill>
                  </a:tcPr>
                </a:tc>
                <a:tc>
                  <a:txBody>
                    <a:bodyPr wrap="square"/>
                    <a:lstStyle/>
                    <a:p>
                      <a:pPr algn="l"/>
                      <a:r>
                        <a:rPr sz="1150">
                          <a:solidFill>
                            <a:srgbClr val="8A3F07"/>
                          </a:solidFill>
                          <a:latin typeface="Helvetica Neue"/>
                        </a:rPr>
                        <a:t>15–20%</a:t>
                      </a:r>
                    </a:p>
                  </a:txBody>
                  <a:tcPr marL="91440" marR="73152" marT="36576" marB="36576" anchor="ctr">
                    <a:solidFill>
                      <a:srgbClr val="FAEEE3"/>
                    </a:solidFill>
                  </a:tcPr>
                </a:tc>
                <a:tc>
                  <a:txBody>
                    <a:bodyPr wrap="square"/>
                    <a:lstStyle/>
                    <a:p>
                      <a:pPr algn="l"/>
                      <a:r>
                        <a:rPr sz="1150">
                          <a:solidFill>
                            <a:srgbClr val="333E4F"/>
                          </a:solidFill>
                          <a:latin typeface="Helvetica Neue"/>
                        </a:rPr>
                        <a:t>Same concept, far harder requirements</a:t>
                      </a:r>
                    </a:p>
                  </a:txBody>
                  <a:tcPr marL="91440" marR="73152" marT="36576" marB="36576" anchor="ctr">
                    <a:solidFill>
                      <a:srgbClr val="FFFFFF"/>
                    </a:solidFill>
                  </a:tcPr>
                </a:tc>
              </a:tr>
              <a:tr h="320040">
                <a:tc>
                  <a:txBody>
                    <a:bodyPr wrap="square"/>
                    <a:lstStyle/>
                    <a:p>
                      <a:pPr algn="l"/>
                      <a:r>
                        <a:rPr sz="1150" b="1">
                          <a:solidFill>
                            <a:srgbClr val="111A27"/>
                          </a:solidFill>
                          <a:latin typeface="Helvetica Neue"/>
                        </a:rPr>
                        <a:t>Tool layer (typed actions)</a:t>
                      </a:r>
                    </a:p>
                  </a:txBody>
                  <a:tcPr marL="91440" marR="73152" marT="36576" marB="36576" anchor="ctr">
                    <a:solidFill>
                      <a:srgbClr val="F3F6F8"/>
                    </a:solidFill>
                  </a:tcPr>
                </a:tc>
                <a:tc>
                  <a:txBody>
                    <a:bodyPr wrap="square"/>
                    <a:lstStyle/>
                    <a:p>
                      <a:pPr algn="l"/>
                      <a:r>
                        <a:rPr sz="1150">
                          <a:solidFill>
                            <a:srgbClr val="333E4F"/>
                          </a:solidFill>
                          <a:latin typeface="Helvetica Neue"/>
                        </a:rPr>
                        <a:t>—</a:t>
                      </a:r>
                    </a:p>
                  </a:txBody>
                  <a:tcPr marL="91440" marR="73152" marT="36576" marB="36576" anchor="ctr">
                    <a:solidFill>
                      <a:srgbClr val="F3F6F8"/>
                    </a:solidFill>
                  </a:tcPr>
                </a:tc>
                <a:tc>
                  <a:txBody>
                    <a:bodyPr wrap="square"/>
                    <a:lstStyle/>
                    <a:p>
                      <a:pPr algn="l"/>
                      <a:r>
                        <a:rPr sz="1150">
                          <a:solidFill>
                            <a:srgbClr val="8A3F07"/>
                          </a:solidFill>
                          <a:latin typeface="Helvetica Neue"/>
                        </a:rPr>
                        <a:t>15–20%</a:t>
                      </a:r>
                    </a:p>
                  </a:txBody>
                  <a:tcPr marL="91440" marR="73152" marT="36576" marB="36576" anchor="ctr">
                    <a:solidFill>
                      <a:srgbClr val="FAEEE3"/>
                    </a:solidFill>
                  </a:tcPr>
                </a:tc>
                <a:tc>
                  <a:txBody>
                    <a:bodyPr wrap="square"/>
                    <a:lstStyle/>
                    <a:p>
                      <a:pPr algn="l"/>
                      <a:r>
                        <a:rPr sz="1150">
                          <a:solidFill>
                            <a:srgbClr val="333E4F"/>
                          </a:solidFill>
                          <a:latin typeface="Helvetica Neue"/>
                        </a:rPr>
                        <a:t>New — and not the same as a REST API</a:t>
                      </a:r>
                    </a:p>
                  </a:txBody>
                  <a:tcPr marL="91440" marR="73152" marT="36576" marB="36576" anchor="ctr">
                    <a:solidFill>
                      <a:srgbClr val="F3F6F8"/>
                    </a:solidFill>
                  </a:tcPr>
                </a:tc>
              </a:tr>
              <a:tr h="320040">
                <a:tc>
                  <a:txBody>
                    <a:bodyPr wrap="square"/>
                    <a:lstStyle/>
                    <a:p>
                      <a:pPr algn="l"/>
                      <a:r>
                        <a:rPr sz="1150" b="1">
                          <a:solidFill>
                            <a:srgbClr val="111A27"/>
                          </a:solidFill>
                          <a:latin typeface="Helvetica Neue"/>
                        </a:rPr>
                        <a:t>Verification &amp; guardrails</a:t>
                      </a:r>
                    </a:p>
                  </a:txBody>
                  <a:tcPr marL="91440" marR="73152" marT="36576" marB="36576" anchor="ctr">
                    <a:solidFill>
                      <a:srgbClr val="FFFFFF"/>
                    </a:solidFill>
                  </a:tcPr>
                </a:tc>
                <a:tc>
                  <a:txBody>
                    <a:bodyPr wrap="square"/>
                    <a:lstStyle/>
                    <a:p>
                      <a:pPr algn="l"/>
                      <a:r>
                        <a:rPr sz="1150">
                          <a:solidFill>
                            <a:srgbClr val="333E4F"/>
                          </a:solidFill>
                          <a:latin typeface="Helvetica Neue"/>
                        </a:rPr>
                        <a:t>—</a:t>
                      </a:r>
                    </a:p>
                  </a:txBody>
                  <a:tcPr marL="91440" marR="73152" marT="36576" marB="36576" anchor="ctr">
                    <a:solidFill>
                      <a:srgbClr val="FFFFFF"/>
                    </a:solidFill>
                  </a:tcPr>
                </a:tc>
                <a:tc>
                  <a:txBody>
                    <a:bodyPr wrap="square"/>
                    <a:lstStyle/>
                    <a:p>
                      <a:pPr algn="l"/>
                      <a:r>
                        <a:rPr sz="1150">
                          <a:solidFill>
                            <a:srgbClr val="8A3F07"/>
                          </a:solidFill>
                          <a:latin typeface="Helvetica Neue"/>
                        </a:rPr>
                        <a:t>~15%</a:t>
                      </a:r>
                    </a:p>
                  </a:txBody>
                  <a:tcPr marL="91440" marR="73152" marT="36576" marB="36576" anchor="ctr">
                    <a:solidFill>
                      <a:srgbClr val="FAEEE3"/>
                    </a:solidFill>
                  </a:tcPr>
                </a:tc>
                <a:tc>
                  <a:txBody>
                    <a:bodyPr wrap="square"/>
                    <a:lstStyle/>
                    <a:p>
                      <a:pPr algn="l"/>
                      <a:r>
                        <a:rPr sz="1150">
                          <a:solidFill>
                            <a:srgbClr val="333E4F"/>
                          </a:solidFill>
                          <a:latin typeface="Helvetica Neue"/>
                        </a:rPr>
                        <a:t>New — no SaaS analogue at all</a:t>
                      </a:r>
                    </a:p>
                  </a:txBody>
                  <a:tcPr marL="91440" marR="73152" marT="36576" marB="36576" anchor="ctr">
                    <a:solidFill>
                      <a:srgbClr val="FFFFFF"/>
                    </a:solidFill>
                  </a:tcPr>
                </a:tc>
              </a:tr>
              <a:tr h="320040">
                <a:tc>
                  <a:txBody>
                    <a:bodyPr wrap="square"/>
                    <a:lstStyle/>
                    <a:p>
                      <a:pPr algn="l"/>
                      <a:r>
                        <a:rPr sz="1150" b="1">
                          <a:solidFill>
                            <a:srgbClr val="111A27"/>
                          </a:solidFill>
                          <a:latin typeface="Helvetica Neue"/>
                        </a:rPr>
                        <a:t>Evals &amp; ground-truth corpus</a:t>
                      </a:r>
                    </a:p>
                  </a:txBody>
                  <a:tcPr marL="91440" marR="73152" marT="36576" marB="36576" anchor="ctr">
                    <a:solidFill>
                      <a:srgbClr val="F3F6F8"/>
                    </a:solidFill>
                  </a:tcPr>
                </a:tc>
                <a:tc>
                  <a:txBody>
                    <a:bodyPr wrap="square"/>
                    <a:lstStyle/>
                    <a:p>
                      <a:pPr algn="l"/>
                      <a:r>
                        <a:rPr sz="1150">
                          <a:solidFill>
                            <a:srgbClr val="333E4F"/>
                          </a:solidFill>
                          <a:latin typeface="Helvetica Neue"/>
                        </a:rPr>
                        <a:t>—</a:t>
                      </a:r>
                    </a:p>
                  </a:txBody>
                  <a:tcPr marL="91440" marR="73152" marT="36576" marB="36576" anchor="ctr">
                    <a:solidFill>
                      <a:srgbClr val="F3F6F8"/>
                    </a:solidFill>
                  </a:tcPr>
                </a:tc>
                <a:tc>
                  <a:txBody>
                    <a:bodyPr wrap="square"/>
                    <a:lstStyle/>
                    <a:p>
                      <a:pPr algn="l"/>
                      <a:r>
                        <a:rPr sz="1150">
                          <a:solidFill>
                            <a:srgbClr val="8A3F07"/>
                          </a:solidFill>
                          <a:latin typeface="Helvetica Neue"/>
                        </a:rPr>
                        <a:t>10–15%</a:t>
                      </a:r>
                    </a:p>
                  </a:txBody>
                  <a:tcPr marL="91440" marR="73152" marT="36576" marB="36576" anchor="ctr">
                    <a:solidFill>
                      <a:srgbClr val="FAEEE3"/>
                    </a:solidFill>
                  </a:tcPr>
                </a:tc>
                <a:tc>
                  <a:txBody>
                    <a:bodyPr wrap="square"/>
                    <a:lstStyle/>
                    <a:p>
                      <a:pPr algn="l"/>
                      <a:r>
                        <a:rPr sz="1150">
                          <a:solidFill>
                            <a:srgbClr val="333E4F"/>
                          </a:solidFill>
                          <a:latin typeface="Helvetica Neue"/>
                        </a:rPr>
                        <a:t>New — is our test suite and our spec</a:t>
                      </a:r>
                    </a:p>
                  </a:txBody>
                  <a:tcPr marL="91440" marR="73152" marT="36576" marB="36576" anchor="ctr">
                    <a:solidFill>
                      <a:srgbClr val="F3F6F8"/>
                    </a:solidFill>
                  </a:tcPr>
                </a:tc>
              </a:tr>
              <a:tr h="320040">
                <a:tc>
                  <a:txBody>
                    <a:bodyPr wrap="square"/>
                    <a:lstStyle/>
                    <a:p>
                      <a:pPr algn="l"/>
                      <a:r>
                        <a:rPr sz="1150" b="1">
                          <a:solidFill>
                            <a:srgbClr val="111A27"/>
                          </a:solidFill>
                          <a:latin typeface="Helvetica Neue"/>
                        </a:rPr>
                        <a:t>Durable orchestration</a:t>
                      </a:r>
                    </a:p>
                  </a:txBody>
                  <a:tcPr marL="91440" marR="73152" marT="36576" marB="36576" anchor="ctr">
                    <a:solidFill>
                      <a:srgbClr val="FFFFFF"/>
                    </a:solidFill>
                  </a:tcPr>
                </a:tc>
                <a:tc>
                  <a:txBody>
                    <a:bodyPr wrap="square"/>
                    <a:lstStyle/>
                    <a:p>
                      <a:pPr algn="l"/>
                      <a:r>
                        <a:rPr sz="1150">
                          <a:solidFill>
                            <a:srgbClr val="333E4F"/>
                          </a:solidFill>
                          <a:latin typeface="Helvetica Neue"/>
                        </a:rPr>
                        <a:t>~2%</a:t>
                      </a:r>
                    </a:p>
                  </a:txBody>
                  <a:tcPr marL="91440" marR="73152" marT="36576" marB="36576" anchor="ctr">
                    <a:solidFill>
                      <a:srgbClr val="FFFFFF"/>
                    </a:solidFill>
                  </a:tcPr>
                </a:tc>
                <a:tc>
                  <a:txBody>
                    <a:bodyPr wrap="square"/>
                    <a:lstStyle/>
                    <a:p>
                      <a:pPr algn="l"/>
                      <a:r>
                        <a:rPr sz="1150">
                          <a:solidFill>
                            <a:srgbClr val="8A3F07"/>
                          </a:solidFill>
                          <a:latin typeface="Helvetica Neue"/>
                        </a:rPr>
                        <a:t>~10%</a:t>
                      </a:r>
                    </a:p>
                  </a:txBody>
                  <a:tcPr marL="91440" marR="73152" marT="36576" marB="36576" anchor="ctr">
                    <a:solidFill>
                      <a:srgbClr val="FAEEE3"/>
                    </a:solidFill>
                  </a:tcPr>
                </a:tc>
                <a:tc>
                  <a:txBody>
                    <a:bodyPr wrap="square"/>
                    <a:lstStyle/>
                    <a:p>
                      <a:pPr algn="l"/>
                      <a:r>
                        <a:rPr sz="1150">
                          <a:solidFill>
                            <a:srgbClr val="333E4F"/>
                          </a:solidFill>
                          <a:latin typeface="Helvetica Neue"/>
                        </a:rPr>
                        <a:t>Qualitatively different from cron and queues</a:t>
                      </a:r>
                    </a:p>
                  </a:txBody>
                  <a:tcPr marL="91440" marR="73152" marT="36576" marB="36576" anchor="ctr">
                    <a:solidFill>
                      <a:srgbClr val="FFFFFF"/>
                    </a:solidFill>
                  </a:tcPr>
                </a:tc>
              </a:tr>
              <a:tr h="320040">
                <a:tc>
                  <a:txBody>
                    <a:bodyPr wrap="square"/>
                    <a:lstStyle/>
                    <a:p>
                      <a:pPr algn="l"/>
                      <a:r>
                        <a:rPr sz="1150" b="1">
                          <a:solidFill>
                            <a:srgbClr val="111A27"/>
                          </a:solidFill>
                          <a:latin typeface="Helvetica Neue"/>
                        </a:rPr>
                        <a:t>Agent layer (prompts, memory)</a:t>
                      </a:r>
                    </a:p>
                  </a:txBody>
                  <a:tcPr marL="91440" marR="73152" marT="36576" marB="36576" anchor="ctr">
                    <a:solidFill>
                      <a:srgbClr val="F3F6F8"/>
                    </a:solidFill>
                  </a:tcPr>
                </a:tc>
                <a:tc>
                  <a:txBody>
                    <a:bodyPr wrap="square"/>
                    <a:lstStyle/>
                    <a:p>
                      <a:pPr algn="l"/>
                      <a:r>
                        <a:rPr sz="1150">
                          <a:solidFill>
                            <a:srgbClr val="333E4F"/>
                          </a:solidFill>
                          <a:latin typeface="Helvetica Neue"/>
                        </a:rPr>
                        <a:t>—</a:t>
                      </a:r>
                    </a:p>
                  </a:txBody>
                  <a:tcPr marL="91440" marR="73152" marT="36576" marB="36576" anchor="ctr">
                    <a:solidFill>
                      <a:srgbClr val="F3F6F8"/>
                    </a:solidFill>
                  </a:tcPr>
                </a:tc>
                <a:tc>
                  <a:txBody>
                    <a:bodyPr wrap="square"/>
                    <a:lstStyle/>
                    <a:p>
                      <a:pPr algn="l"/>
                      <a:r>
                        <a:rPr sz="1150">
                          <a:solidFill>
                            <a:srgbClr val="8A3F07"/>
                          </a:solidFill>
                          <a:latin typeface="Helvetica Neue"/>
                        </a:rPr>
                        <a:t>~10%</a:t>
                      </a:r>
                    </a:p>
                  </a:txBody>
                  <a:tcPr marL="91440" marR="73152" marT="36576" marB="36576" anchor="ctr">
                    <a:solidFill>
                      <a:srgbClr val="FAEEE3"/>
                    </a:solidFill>
                  </a:tcPr>
                </a:tc>
                <a:tc>
                  <a:txBody>
                    <a:bodyPr wrap="square"/>
                    <a:lstStyle/>
                    <a:p>
                      <a:pPr algn="l"/>
                      <a:r>
                        <a:rPr sz="1150">
                          <a:solidFill>
                            <a:srgbClr val="333E4F"/>
                          </a:solidFill>
                          <a:latin typeface="Helvetica Neue"/>
                        </a:rPr>
                        <a:t>New, and smaller than people expect</a:t>
                      </a:r>
                    </a:p>
                  </a:txBody>
                  <a:tcPr marL="91440" marR="73152" marT="36576" marB="36576" anchor="ctr">
                    <a:solidFill>
                      <a:srgbClr val="F3F6F8"/>
                    </a:solidFill>
                  </a:tcPr>
                </a:tc>
              </a:tr>
              <a:tr h="320040">
                <a:tc>
                  <a:txBody>
                    <a:bodyPr wrap="square"/>
                    <a:lstStyle/>
                    <a:p>
                      <a:pPr algn="l"/>
                      <a:r>
                        <a:rPr sz="1150" b="1">
                          <a:solidFill>
                            <a:srgbClr val="111A27"/>
                          </a:solidFill>
                          <a:latin typeface="Helvetica Neue"/>
                        </a:rPr>
                        <a:t>UI</a:t>
                      </a:r>
                    </a:p>
                  </a:txBody>
                  <a:tcPr marL="91440" marR="73152" marT="36576" marB="36576" anchor="ctr">
                    <a:solidFill>
                      <a:srgbClr val="FFFFFF"/>
                    </a:solidFill>
                  </a:tcPr>
                </a:tc>
                <a:tc>
                  <a:txBody>
                    <a:bodyPr wrap="square"/>
                    <a:lstStyle/>
                    <a:p>
                      <a:pPr algn="l"/>
                      <a:r>
                        <a:rPr sz="1150">
                          <a:solidFill>
                            <a:srgbClr val="333E4F"/>
                          </a:solidFill>
                          <a:latin typeface="Helvetica Neue"/>
                        </a:rPr>
                        <a:t>30–40%</a:t>
                      </a:r>
                    </a:p>
                  </a:txBody>
                  <a:tcPr marL="91440" marR="73152" marT="36576" marB="36576" anchor="ctr">
                    <a:solidFill>
                      <a:srgbClr val="FFFFFF"/>
                    </a:solidFill>
                  </a:tcPr>
                </a:tc>
                <a:tc>
                  <a:txBody>
                    <a:bodyPr wrap="square"/>
                    <a:lstStyle/>
                    <a:p>
                      <a:pPr algn="l"/>
                      <a:r>
                        <a:rPr sz="1150">
                          <a:solidFill>
                            <a:srgbClr val="8A3F07"/>
                          </a:solidFill>
                          <a:latin typeface="Helvetica Neue"/>
                        </a:rPr>
                        <a:t>15–20%</a:t>
                      </a:r>
                    </a:p>
                  </a:txBody>
                  <a:tcPr marL="91440" marR="73152" marT="36576" marB="36576" anchor="ctr">
                    <a:solidFill>
                      <a:srgbClr val="FAEEE3"/>
                    </a:solidFill>
                  </a:tcPr>
                </a:tc>
                <a:tc>
                  <a:txBody>
                    <a:bodyPr wrap="square"/>
                    <a:lstStyle/>
                    <a:p>
                      <a:pPr algn="l"/>
                      <a:r>
                        <a:rPr sz="1150">
                          <a:solidFill>
                            <a:srgbClr val="333E4F"/>
                          </a:solidFill>
                          <a:latin typeface="Helvetica Neue"/>
                        </a:rPr>
                        <a:t>Shrinks, and changes character entirely</a:t>
                      </a:r>
                    </a:p>
                  </a:txBody>
                  <a:tcPr marL="91440" marR="73152" marT="36576" marB="36576" anchor="ctr">
                    <a:solidFill>
                      <a:srgbClr val="FFFFFF"/>
                    </a:solidFill>
                  </a:tcPr>
                </a:tc>
              </a:tr>
              <a:tr h="320040">
                <a:tc>
                  <a:txBody>
                    <a:bodyPr wrap="square"/>
                    <a:lstStyle/>
                    <a:p>
                      <a:pPr algn="l"/>
                      <a:r>
                        <a:rPr sz="1150" b="1">
                          <a:solidFill>
                            <a:srgbClr val="111A27"/>
                          </a:solidFill>
                          <a:latin typeface="Helvetica Neue"/>
                        </a:rPr>
                        <a:t>Integrations</a:t>
                      </a:r>
                    </a:p>
                  </a:txBody>
                  <a:tcPr marL="91440" marR="73152" marT="36576" marB="36576" anchor="ctr">
                    <a:solidFill>
                      <a:srgbClr val="F3F6F8"/>
                    </a:solidFill>
                  </a:tcPr>
                </a:tc>
                <a:tc>
                  <a:txBody>
                    <a:bodyPr wrap="square"/>
                    <a:lstStyle/>
                    <a:p>
                      <a:pPr algn="l"/>
                      <a:r>
                        <a:rPr sz="1150">
                          <a:solidFill>
                            <a:srgbClr val="333E4F"/>
                          </a:solidFill>
                          <a:latin typeface="Helvetica Neue"/>
                        </a:rPr>
                        <a:t>10–15%</a:t>
                      </a:r>
                    </a:p>
                  </a:txBody>
                  <a:tcPr marL="91440" marR="73152" marT="36576" marB="36576" anchor="ctr">
                    <a:solidFill>
                      <a:srgbClr val="F3F6F8"/>
                    </a:solidFill>
                  </a:tcPr>
                </a:tc>
                <a:tc>
                  <a:txBody>
                    <a:bodyPr wrap="square"/>
                    <a:lstStyle/>
                    <a:p>
                      <a:pPr algn="l"/>
                      <a:r>
                        <a:rPr sz="1150">
                          <a:solidFill>
                            <a:srgbClr val="8A3F07"/>
                          </a:solidFill>
                          <a:latin typeface="Helvetica Neue"/>
                        </a:rPr>
                        <a:t>~10%</a:t>
                      </a:r>
                    </a:p>
                  </a:txBody>
                  <a:tcPr marL="91440" marR="73152" marT="36576" marB="36576" anchor="ctr">
                    <a:solidFill>
                      <a:srgbClr val="FAEEE3"/>
                    </a:solidFill>
                  </a:tcPr>
                </a:tc>
                <a:tc>
                  <a:txBody>
                    <a:bodyPr wrap="square"/>
                    <a:lstStyle/>
                    <a:p>
                      <a:pPr algn="l"/>
                      <a:r>
                        <a:rPr sz="1150">
                          <a:solidFill>
                            <a:srgbClr val="333E4F"/>
                          </a:solidFill>
                          <a:latin typeface="Helvetica Neue"/>
                        </a:rPr>
                        <a:t>Similar, plus agent-driven fallback</a:t>
                      </a:r>
                    </a:p>
                  </a:txBody>
                  <a:tcPr marL="91440" marR="73152" marT="36576" marB="36576" anchor="ctr">
                    <a:solidFill>
                      <a:srgbClr val="F3F6F8"/>
                    </a:solidFill>
                  </a:tcPr>
                </a:tc>
              </a:tr>
              <a:tr h="320040">
                <a:tc>
                  <a:txBody>
                    <a:bodyPr wrap="square"/>
                    <a:lstStyle/>
                    <a:p>
                      <a:pPr algn="l"/>
                      <a:r>
                        <a:rPr sz="1150" b="1">
                          <a:solidFill>
                            <a:srgbClr val="111A27"/>
                          </a:solidFill>
                          <a:latin typeface="Helvetica Neue"/>
                        </a:rPr>
                        <a:t>Platform</a:t>
                      </a:r>
                    </a:p>
                  </a:txBody>
                  <a:tcPr marL="91440" marR="73152" marT="36576" marB="36576" anchor="ctr">
                    <a:solidFill>
                      <a:srgbClr val="FFFFFF"/>
                    </a:solidFill>
                  </a:tcPr>
                </a:tc>
                <a:tc>
                  <a:txBody>
                    <a:bodyPr wrap="square"/>
                    <a:lstStyle/>
                    <a:p>
                      <a:pPr algn="l"/>
                      <a:r>
                        <a:rPr sz="1150">
                          <a:solidFill>
                            <a:srgbClr val="333E4F"/>
                          </a:solidFill>
                          <a:latin typeface="Helvetica Neue"/>
                        </a:rPr>
                        <a:t>~15%</a:t>
                      </a:r>
                    </a:p>
                  </a:txBody>
                  <a:tcPr marL="91440" marR="73152" marT="36576" marB="36576" anchor="ctr">
                    <a:solidFill>
                      <a:srgbClr val="FFFFFF"/>
                    </a:solidFill>
                  </a:tcPr>
                </a:tc>
                <a:tc>
                  <a:txBody>
                    <a:bodyPr wrap="square"/>
                    <a:lstStyle/>
                    <a:p>
                      <a:pPr algn="l"/>
                      <a:r>
                        <a:rPr sz="1150">
                          <a:solidFill>
                            <a:srgbClr val="8A3F07"/>
                          </a:solidFill>
                          <a:latin typeface="Helvetica Neue"/>
                        </a:rPr>
                        <a:t>~15%</a:t>
                      </a:r>
                    </a:p>
                  </a:txBody>
                  <a:tcPr marL="91440" marR="73152" marT="36576" marB="36576" anchor="ctr">
                    <a:solidFill>
                      <a:srgbClr val="FAEEE3"/>
                    </a:solidFill>
                  </a:tcPr>
                </a:tc>
                <a:tc>
                  <a:txBody>
                    <a:bodyPr wrap="square"/>
                    <a:lstStyle/>
                    <a:p>
                      <a:pPr algn="l"/>
                      <a:r>
                        <a:rPr sz="1150">
                          <a:solidFill>
                            <a:srgbClr val="333E4F"/>
                          </a:solidFill>
                          <a:latin typeface="Helvetica Neue"/>
                        </a:rPr>
                        <a:t>Plus agent identity and cost telemetry</a:t>
                      </a:r>
                    </a:p>
                  </a:txBody>
                  <a:tcPr marL="91440" marR="73152" marT="36576" marB="36576" anchor="ctr">
                    <a:solidFill>
                      <a:srgbClr val="FFFFFF"/>
                    </a:solidFill>
                  </a:tcPr>
                </a:tc>
              </a:tr>
            </a:tbl>
          </a:graphicData>
        </a:graphic>
      </p:graphicFrame>
      <p:sp>
        <p:nvSpPr>
          <p:cNvPr id="7" name="Rounded Rectangle 6"/>
          <p:cNvSpPr/>
          <p:nvPr/>
        </p:nvSpPr>
        <p:spPr>
          <a:xfrm>
            <a:off x="658368" y="5870448"/>
            <a:ext cx="10874959" cy="77724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0976" y="6053328"/>
            <a:ext cx="10289743" cy="457200"/>
          </a:xfrm>
          <a:prstGeom prst="rect">
            <a:avLst/>
          </a:prstGeom>
          <a:noFill/>
        </p:spPr>
        <p:txBody>
          <a:bodyPr wrap="square" anchor="t" lIns="0" rIns="0" tIns="0" bIns="0">
            <a:spAutoFit/>
          </a:bodyPr>
          <a:lstStyle/>
          <a:p>
            <a:pPr algn="l">
              <a:lnSpc>
                <a:spcPct val="130000"/>
              </a:lnSpc>
              <a:spcAft>
                <a:spcPts val="600"/>
              </a:spcAft>
            </a:pPr>
            <a:r>
              <a:rPr sz="1450" b="1">
                <a:solidFill>
                  <a:srgbClr val="FFFFFF"/>
                </a:solidFill>
                <a:latin typeface="Helvetica Neue"/>
              </a:rPr>
              <a:t>SaaS spent its engineering budget making a human effective at the interface. We spend ours making a machine's output provable at the substrate.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15</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ROADMAP</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Wrap, then own the record, then own the filing</a:t>
            </a:r>
          </a:p>
        </p:txBody>
      </p:sp>
      <p:sp>
        <p:nvSpPr>
          <p:cNvPr id="5" name="Rounded Rectangle 4"/>
          <p:cNvSpPr/>
          <p:nvPr/>
        </p:nvSpPr>
        <p:spPr>
          <a:xfrm>
            <a:off x="658368" y="1783080"/>
            <a:ext cx="3465576" cy="3977639"/>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1993392"/>
            <a:ext cx="3008376" cy="274320"/>
          </a:xfrm>
          <a:prstGeom prst="rect">
            <a:avLst/>
          </a:prstGeom>
          <a:noFill/>
        </p:spPr>
        <p:txBody>
          <a:bodyPr wrap="square" anchor="t" lIns="0" rIns="0" tIns="0" bIns="0">
            <a:spAutoFit/>
          </a:bodyPr>
          <a:lstStyle/>
          <a:p>
            <a:pPr algn="l">
              <a:lnSpc>
                <a:spcPct val="125000"/>
              </a:lnSpc>
              <a:spcAft>
                <a:spcPts val="600"/>
              </a:spcAft>
            </a:pPr>
            <a:r>
              <a:rPr sz="1100" b="1">
                <a:solidFill>
                  <a:srgbClr val="0A5366"/>
                </a:solidFill>
                <a:latin typeface="Helvetica Neue"/>
              </a:rPr>
              <a:t>PHASE 1 · [0–9 MO]</a:t>
            </a:r>
          </a:p>
        </p:txBody>
      </p:sp>
      <p:sp>
        <p:nvSpPr>
          <p:cNvPr id="7" name="TextBox 6"/>
          <p:cNvSpPr txBox="1"/>
          <p:nvPr/>
        </p:nvSpPr>
        <p:spPr>
          <a:xfrm>
            <a:off x="896112" y="2304288"/>
            <a:ext cx="3008376" cy="365760"/>
          </a:xfrm>
          <a:prstGeom prst="rect">
            <a:avLst/>
          </a:prstGeom>
          <a:noFill/>
        </p:spPr>
        <p:txBody>
          <a:bodyPr wrap="square" anchor="t" lIns="0" rIns="0" tIns="0" bIns="0">
            <a:spAutoFit/>
          </a:bodyPr>
          <a:lstStyle/>
          <a:p>
            <a:pPr algn="l">
              <a:lnSpc>
                <a:spcPct val="125000"/>
              </a:lnSpc>
              <a:spcAft>
                <a:spcPts val="600"/>
              </a:spcAft>
            </a:pPr>
            <a:r>
              <a:rPr sz="1650" b="1">
                <a:solidFill>
                  <a:srgbClr val="111A27"/>
                </a:solidFill>
                <a:latin typeface="Helvetica Neue"/>
              </a:rPr>
              <a:t>Wrap the incumbent</a:t>
            </a:r>
          </a:p>
        </p:txBody>
      </p:sp>
      <p:sp>
        <p:nvSpPr>
          <p:cNvPr id="8" name="TextBox 7"/>
          <p:cNvSpPr txBox="1"/>
          <p:nvPr/>
        </p:nvSpPr>
        <p:spPr>
          <a:xfrm>
            <a:off x="896112" y="2798064"/>
            <a:ext cx="3008376" cy="2834640"/>
          </a:xfrm>
          <a:prstGeom prst="rect">
            <a:avLst/>
          </a:prstGeom>
          <a:noFill/>
        </p:spPr>
        <p:txBody>
          <a:bodyPr wrap="square" lIns="0" rIns="0" tIns="0" bIns="0">
            <a:spAutoFit/>
          </a:bodyPr>
          <a:lstStyle/>
          <a:p>
            <a:pPr>
              <a:lnSpc>
                <a:spcPct val="128000"/>
              </a:lnSpc>
              <a:spcAft>
                <a:spcPts val="800"/>
              </a:spcAft>
            </a:pPr>
            <a:r>
              <a:rPr sz="1200">
                <a:solidFill>
                  <a:srgbClr val="333E4F"/>
                </a:solidFill>
                <a:latin typeface="Helvetica Neue"/>
              </a:rPr>
              <a:t>— Agent layer over QBO / Xero via API — low trust barrier, fast distribution</a:t>
            </a:r>
          </a:p>
          <a:p>
            <a:pPr>
              <a:lnSpc>
                <a:spcPct val="128000"/>
              </a:lnSpc>
              <a:spcAft>
                <a:spcPts val="800"/>
              </a:spcAft>
            </a:pPr>
            <a:r>
              <a:rPr sz="1200">
                <a:solidFill>
                  <a:srgbClr val="333E4F"/>
                </a:solidFill>
                <a:latin typeface="Helvetica Neue"/>
              </a:rPr>
              <a:t>— Build the substrate in parallel, shadow-mode: our ledger mirrors theirs</a:t>
            </a:r>
          </a:p>
          <a:p>
            <a:pPr>
              <a:lnSpc>
                <a:spcPct val="128000"/>
              </a:lnSpc>
              <a:spcAft>
                <a:spcPts val="800"/>
              </a:spcAft>
            </a:pPr>
            <a:r>
              <a:rPr sz="1200">
                <a:solidFill>
                  <a:srgbClr val="333E4F"/>
                </a:solidFill>
                <a:latin typeface="Helvetica Neue"/>
              </a:rPr>
              <a:t>— Ingestion, tool layer, tier-1 invariants, exception console</a:t>
            </a:r>
          </a:p>
          <a:p>
            <a:pPr>
              <a:lnSpc>
                <a:spcPct val="128000"/>
              </a:lnSpc>
              <a:spcAft>
                <a:spcPts val="800"/>
              </a:spcAft>
            </a:pPr>
            <a:r>
              <a:rPr sz="1200">
                <a:solidFill>
                  <a:srgbClr val="333E4F"/>
                </a:solidFill>
                <a:latin typeface="Helvetica Neue"/>
              </a:rPr>
              <a:t>— 5–10 design-partner firms; every close manually reviewed</a:t>
            </a:r>
          </a:p>
          <a:p>
            <a:pPr>
              <a:lnSpc>
                <a:spcPct val="128000"/>
              </a:lnSpc>
              <a:spcAft>
                <a:spcPts val="800"/>
              </a:spcAft>
            </a:pPr>
            <a:r>
              <a:rPr sz="1200">
                <a:solidFill>
                  <a:srgbClr val="333E4F"/>
                </a:solidFill>
                <a:latin typeface="Helvetica Neue"/>
              </a:rPr>
              <a:t>— Goal: eval corpus exists and auto-post rate is measurable by category</a:t>
            </a:r>
          </a:p>
        </p:txBody>
      </p:sp>
      <p:sp>
        <p:nvSpPr>
          <p:cNvPr id="9" name="Rounded Rectangle 8"/>
          <p:cNvSpPr/>
          <p:nvPr/>
        </p:nvSpPr>
        <p:spPr>
          <a:xfrm>
            <a:off x="4379976" y="1783080"/>
            <a:ext cx="3465576" cy="397763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17720" y="1993392"/>
            <a:ext cx="3008376" cy="274320"/>
          </a:xfrm>
          <a:prstGeom prst="rect">
            <a:avLst/>
          </a:prstGeom>
          <a:noFill/>
        </p:spPr>
        <p:txBody>
          <a:bodyPr wrap="square" anchor="t" lIns="0" rIns="0" tIns="0" bIns="0">
            <a:spAutoFit/>
          </a:bodyPr>
          <a:lstStyle/>
          <a:p>
            <a:pPr algn="l">
              <a:lnSpc>
                <a:spcPct val="125000"/>
              </a:lnSpc>
              <a:spcAft>
                <a:spcPts val="600"/>
              </a:spcAft>
            </a:pPr>
            <a:r>
              <a:rPr sz="1100" b="1">
                <a:solidFill>
                  <a:srgbClr val="111A27"/>
                </a:solidFill>
                <a:latin typeface="Helvetica Neue"/>
              </a:rPr>
              <a:t>PHASE 2 · [9–24 MO]</a:t>
            </a:r>
          </a:p>
        </p:txBody>
      </p:sp>
      <p:sp>
        <p:nvSpPr>
          <p:cNvPr id="11" name="TextBox 10"/>
          <p:cNvSpPr txBox="1"/>
          <p:nvPr/>
        </p:nvSpPr>
        <p:spPr>
          <a:xfrm>
            <a:off x="4617720" y="2304288"/>
            <a:ext cx="3008376" cy="365760"/>
          </a:xfrm>
          <a:prstGeom prst="rect">
            <a:avLst/>
          </a:prstGeom>
          <a:noFill/>
        </p:spPr>
        <p:txBody>
          <a:bodyPr wrap="square" anchor="t" lIns="0" rIns="0" tIns="0" bIns="0">
            <a:spAutoFit/>
          </a:bodyPr>
          <a:lstStyle/>
          <a:p>
            <a:pPr algn="l">
              <a:lnSpc>
                <a:spcPct val="125000"/>
              </a:lnSpc>
              <a:spcAft>
                <a:spcPts val="600"/>
              </a:spcAft>
            </a:pPr>
            <a:r>
              <a:rPr sz="1650" b="1">
                <a:solidFill>
                  <a:srgbClr val="111A27"/>
                </a:solidFill>
                <a:latin typeface="Helvetica Neue"/>
              </a:rPr>
              <a:t>Own the system of record</a:t>
            </a:r>
          </a:p>
        </p:txBody>
      </p:sp>
      <p:sp>
        <p:nvSpPr>
          <p:cNvPr id="12" name="TextBox 11"/>
          <p:cNvSpPr txBox="1"/>
          <p:nvPr/>
        </p:nvSpPr>
        <p:spPr>
          <a:xfrm>
            <a:off x="4617720" y="2798064"/>
            <a:ext cx="3008376" cy="2834640"/>
          </a:xfrm>
          <a:prstGeom prst="rect">
            <a:avLst/>
          </a:prstGeom>
          <a:noFill/>
        </p:spPr>
        <p:txBody>
          <a:bodyPr wrap="square" lIns="0" rIns="0" tIns="0" bIns="0">
            <a:spAutoFit/>
          </a:bodyPr>
          <a:lstStyle/>
          <a:p>
            <a:pPr>
              <a:lnSpc>
                <a:spcPct val="128000"/>
              </a:lnSpc>
              <a:spcAft>
                <a:spcPts val="800"/>
              </a:spcAft>
            </a:pPr>
            <a:r>
              <a:rPr sz="1200">
                <a:solidFill>
                  <a:srgbClr val="333E4F"/>
                </a:solidFill>
                <a:latin typeface="Helvetica Neue"/>
              </a:rPr>
              <a:t>— Our bitemporal ledger becomes primary; we write out to QBO for the accountant's comfort</a:t>
            </a:r>
          </a:p>
          <a:p>
            <a:pPr>
              <a:lnSpc>
                <a:spcPct val="128000"/>
              </a:lnSpc>
              <a:spcAft>
                <a:spcPts val="800"/>
              </a:spcAft>
            </a:pPr>
            <a:r>
              <a:rPr sz="1200">
                <a:solidFill>
                  <a:srgbClr val="333E4F"/>
                </a:solidFill>
                <a:latin typeface="Helvetica Neue"/>
              </a:rPr>
              <a:t>— Migration and backfill tooling — correctness-critical, needed by every customer</a:t>
            </a:r>
          </a:p>
          <a:p>
            <a:pPr>
              <a:lnSpc>
                <a:spcPct val="128000"/>
              </a:lnSpc>
              <a:spcAft>
                <a:spcPts val="800"/>
              </a:spcAft>
            </a:pPr>
            <a:r>
              <a:rPr sz="1200">
                <a:solidFill>
                  <a:srgbClr val="333E4F"/>
                </a:solidFill>
                <a:latin typeface="Helvetica Neue"/>
              </a:rPr>
              <a:t>— Tier-2 statistical checks; confidence routing live; the threshold starts moving</a:t>
            </a:r>
          </a:p>
          <a:p>
            <a:pPr>
              <a:lnSpc>
                <a:spcPct val="128000"/>
              </a:lnSpc>
              <a:spcAft>
                <a:spcPts val="800"/>
              </a:spcAft>
            </a:pPr>
            <a:r>
              <a:rPr sz="1200">
                <a:solidFill>
                  <a:srgbClr val="333E4F"/>
                </a:solidFill>
                <a:latin typeface="Helvetica Neue"/>
              </a:rPr>
              <a:t>— Durable orchestration of the full close checklist</a:t>
            </a:r>
          </a:p>
          <a:p>
            <a:pPr>
              <a:lnSpc>
                <a:spcPct val="128000"/>
              </a:lnSpc>
              <a:spcAft>
                <a:spcPts val="800"/>
              </a:spcAft>
            </a:pPr>
            <a:r>
              <a:rPr sz="1200">
                <a:solidFill>
                  <a:srgbClr val="333E4F"/>
                </a:solidFill>
                <a:latin typeface="Helvetica Neue"/>
              </a:rPr>
              <a:t>— Goal: hours per close down [X]%, gross margin slope visible per cohort</a:t>
            </a:r>
          </a:p>
        </p:txBody>
      </p:sp>
      <p:sp>
        <p:nvSpPr>
          <p:cNvPr id="13" name="Rounded Rectangle 12"/>
          <p:cNvSpPr/>
          <p:nvPr/>
        </p:nvSpPr>
        <p:spPr>
          <a:xfrm>
            <a:off x="8101583" y="1783080"/>
            <a:ext cx="3465576" cy="397763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39327" y="1993392"/>
            <a:ext cx="3008376" cy="274320"/>
          </a:xfrm>
          <a:prstGeom prst="rect">
            <a:avLst/>
          </a:prstGeom>
          <a:noFill/>
        </p:spPr>
        <p:txBody>
          <a:bodyPr wrap="square" anchor="t" lIns="0" rIns="0" tIns="0" bIns="0">
            <a:spAutoFit/>
          </a:bodyPr>
          <a:lstStyle/>
          <a:p>
            <a:pPr algn="l">
              <a:lnSpc>
                <a:spcPct val="125000"/>
              </a:lnSpc>
              <a:spcAft>
                <a:spcPts val="600"/>
              </a:spcAft>
            </a:pPr>
            <a:r>
              <a:rPr sz="1100" b="1">
                <a:solidFill>
                  <a:srgbClr val="111A27"/>
                </a:solidFill>
                <a:latin typeface="Helvetica Neue"/>
              </a:rPr>
              <a:t>PHASE 3 · [24 MO +]</a:t>
            </a:r>
          </a:p>
        </p:txBody>
      </p:sp>
      <p:sp>
        <p:nvSpPr>
          <p:cNvPr id="15" name="TextBox 14"/>
          <p:cNvSpPr txBox="1"/>
          <p:nvPr/>
        </p:nvSpPr>
        <p:spPr>
          <a:xfrm>
            <a:off x="8339327" y="2304288"/>
            <a:ext cx="3008376" cy="365760"/>
          </a:xfrm>
          <a:prstGeom prst="rect">
            <a:avLst/>
          </a:prstGeom>
          <a:noFill/>
        </p:spPr>
        <p:txBody>
          <a:bodyPr wrap="square" anchor="t" lIns="0" rIns="0" tIns="0" bIns="0">
            <a:spAutoFit/>
          </a:bodyPr>
          <a:lstStyle/>
          <a:p>
            <a:pPr algn="l">
              <a:lnSpc>
                <a:spcPct val="125000"/>
              </a:lnSpc>
              <a:spcAft>
                <a:spcPts val="600"/>
              </a:spcAft>
            </a:pPr>
            <a:r>
              <a:rPr sz="1650" b="1">
                <a:solidFill>
                  <a:srgbClr val="111A27"/>
                </a:solidFill>
                <a:latin typeface="Helvetica Neue"/>
              </a:rPr>
              <a:t>Own the output</a:t>
            </a:r>
          </a:p>
        </p:txBody>
      </p:sp>
      <p:sp>
        <p:nvSpPr>
          <p:cNvPr id="16" name="TextBox 15"/>
          <p:cNvSpPr txBox="1"/>
          <p:nvPr/>
        </p:nvSpPr>
        <p:spPr>
          <a:xfrm>
            <a:off x="8339327" y="2798064"/>
            <a:ext cx="3008376" cy="2834640"/>
          </a:xfrm>
          <a:prstGeom prst="rect">
            <a:avLst/>
          </a:prstGeom>
          <a:noFill/>
        </p:spPr>
        <p:txBody>
          <a:bodyPr wrap="square" lIns="0" rIns="0" tIns="0" bIns="0">
            <a:spAutoFit/>
          </a:bodyPr>
          <a:lstStyle/>
          <a:p>
            <a:pPr>
              <a:lnSpc>
                <a:spcPct val="128000"/>
              </a:lnSpc>
              <a:spcAft>
                <a:spcPts val="800"/>
              </a:spcAft>
            </a:pPr>
            <a:r>
              <a:rPr sz="1200">
                <a:solidFill>
                  <a:srgbClr val="333E4F"/>
                </a:solidFill>
                <a:latin typeface="Helvetica Neue"/>
              </a:rPr>
              <a:t>— Filings, sales tax, advisory and reporting on top of the same substrate</a:t>
            </a:r>
          </a:p>
          <a:p>
            <a:pPr>
              <a:lnSpc>
                <a:spcPct val="128000"/>
              </a:lnSpc>
              <a:spcAft>
                <a:spcPts val="800"/>
              </a:spcAft>
            </a:pPr>
            <a:r>
              <a:rPr sz="1200">
                <a:solidFill>
                  <a:srgbClr val="333E4F"/>
                </a:solidFill>
                <a:latin typeface="Helvetica Neue"/>
              </a:rPr>
              <a:t>— Outcome-based pricing at scale; per-entity economics proven</a:t>
            </a:r>
          </a:p>
          <a:p>
            <a:pPr>
              <a:lnSpc>
                <a:spcPct val="128000"/>
              </a:lnSpc>
              <a:spcAft>
                <a:spcPts val="800"/>
              </a:spcAft>
            </a:pPr>
            <a:r>
              <a:rPr sz="1200">
                <a:solidFill>
                  <a:srgbClr val="333E4F"/>
                </a:solidFill>
                <a:latin typeface="Helvetica Neue"/>
              </a:rPr>
              <a:t>— Audit-package export as a product; attestation partnerships</a:t>
            </a:r>
          </a:p>
          <a:p>
            <a:pPr>
              <a:lnSpc>
                <a:spcPct val="128000"/>
              </a:lnSpc>
              <a:spcAft>
                <a:spcPts val="800"/>
              </a:spcAft>
            </a:pPr>
            <a:r>
              <a:rPr sz="1200">
                <a:solidFill>
                  <a:srgbClr val="333E4F"/>
                </a:solidFill>
                <a:latin typeface="Helvetica Neue"/>
              </a:rPr>
              <a:t>— Self-serve for the long-tail SMB once auto-post rate clears the bar</a:t>
            </a:r>
          </a:p>
          <a:p>
            <a:pPr>
              <a:lnSpc>
                <a:spcPct val="128000"/>
              </a:lnSpc>
              <a:spcAft>
                <a:spcPts val="800"/>
              </a:spcAft>
            </a:pPr>
            <a:r>
              <a:rPr sz="1200">
                <a:solidFill>
                  <a:srgbClr val="333E4F"/>
                </a:solidFill>
                <a:latin typeface="Helvetica Neue"/>
              </a:rPr>
              <a:t>— Goal: margin profile converging on software, not services</a:t>
            </a:r>
          </a:p>
        </p:txBody>
      </p:sp>
      <p:sp>
        <p:nvSpPr>
          <p:cNvPr id="17" name="TextBox 16"/>
          <p:cNvSpPr txBox="1"/>
          <p:nvPr/>
        </p:nvSpPr>
        <p:spPr>
          <a:xfrm>
            <a:off x="658368" y="5943600"/>
            <a:ext cx="10874959" cy="640080"/>
          </a:xfrm>
          <a:prstGeom prst="rect">
            <a:avLst/>
          </a:prstGeom>
          <a:noFill/>
        </p:spPr>
        <p:txBody>
          <a:bodyPr wrap="square" anchor="t" lIns="0" rIns="0" tIns="0" bIns="0">
            <a:spAutoFit/>
          </a:bodyPr>
          <a:lstStyle/>
          <a:p>
            <a:pPr algn="l">
              <a:lnSpc>
                <a:spcPct val="135000"/>
              </a:lnSpc>
              <a:spcAft>
                <a:spcPts val="600"/>
              </a:spcAft>
            </a:pPr>
            <a:r>
              <a:rPr sz="1300" b="0">
                <a:solidFill>
                  <a:srgbClr val="333E4F"/>
                </a:solidFill>
                <a:latin typeface="Helvetica Neue"/>
              </a:rPr>
              <a:t>Sequencing logic: we do not have to beat an incumbent ledger on day one. Wrapping buys distribution and, more importantly, buys the ground-truth data that makes phase 2 possible. The substrate is built from month one regardless — it cannot be retrofitted.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16</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RESOURCES</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What it takes: a differently-shaped team</a:t>
            </a:r>
          </a:p>
        </p:txBody>
      </p:sp>
      <p:sp>
        <p:nvSpPr>
          <p:cNvPr id="5" name="TextBox 4"/>
          <p:cNvSpPr txBox="1"/>
          <p:nvPr/>
        </p:nvSpPr>
        <p:spPr>
          <a:xfrm>
            <a:off x="658368" y="1700784"/>
            <a:ext cx="10332720" cy="502920"/>
          </a:xfrm>
          <a:prstGeom prst="rect">
            <a:avLst/>
          </a:prstGeom>
          <a:noFill/>
        </p:spPr>
        <p:txBody>
          <a:bodyPr wrap="square" anchor="t" lIns="0" rIns="0" tIns="0" bIns="0">
            <a:spAutoFit/>
          </a:bodyPr>
          <a:lstStyle/>
          <a:p>
            <a:pPr algn="l">
              <a:lnSpc>
                <a:spcPct val="135000"/>
              </a:lnSpc>
              <a:spcAft>
                <a:spcPts val="600"/>
              </a:spcAft>
            </a:pPr>
            <a:r>
              <a:rPr sz="1350" b="0">
                <a:solidFill>
                  <a:srgbClr val="333E4F"/>
                </a:solidFill>
                <a:latin typeface="Helvetica Neue"/>
              </a:rPr>
              <a:t>Illustrative for the phase-1 to early-phase-2 build. Fewer frontend engineers than a comparable SaaS company, more data and infrastructure engineering, and domain experts inside the system rather than beside it.</a:t>
            </a:r>
          </a:p>
        </p:txBody>
      </p:sp>
      <p:graphicFrame>
        <p:nvGraphicFramePr>
          <p:cNvPr id="6" name="Table 5"/>
          <p:cNvGraphicFramePr>
            <a:graphicFrameLocks noGrp="1"/>
          </p:cNvGraphicFramePr>
          <p:nvPr/>
        </p:nvGraphicFramePr>
        <p:xfrm>
          <a:off x="658368" y="2231136"/>
          <a:ext cx="10872216" cy="3246120"/>
        </p:xfrm>
        <a:graphic>
          <a:graphicData uri="http://schemas.openxmlformats.org/drawingml/2006/table">
            <a:tbl>
              <a:tblPr>
                <a:tableStyleId>{5C22544A-7EE6-4342-B048-85BDC9FD1C3A}</a:tableStyleId>
              </a:tblPr>
              <a:tblGrid>
                <a:gridCol w="2971800"/>
                <a:gridCol w="822960"/>
                <a:gridCol w="822960"/>
                <a:gridCol w="6254496"/>
              </a:tblGrid>
              <a:tr h="365760">
                <a:tc>
                  <a:txBody>
                    <a:bodyPr wrap="square"/>
                    <a:lstStyle/>
                    <a:p>
                      <a:pPr algn="l"/>
                      <a:r>
                        <a:rPr sz="1150" b="1">
                          <a:solidFill>
                            <a:srgbClr val="FFFFFF"/>
                          </a:solidFill>
                          <a:latin typeface="Helvetica Neue"/>
                        </a:rPr>
                        <a:t>Function</a:t>
                      </a:r>
                    </a:p>
                  </a:txBody>
                  <a:tcPr marL="91440" marR="73152" marT="36576" marB="36576" anchor="ctr">
                    <a:solidFill>
                      <a:srgbClr val="111A27"/>
                    </a:solidFill>
                  </a:tcPr>
                </a:tc>
                <a:tc>
                  <a:txBody>
                    <a:bodyPr wrap="square"/>
                    <a:lstStyle/>
                    <a:p>
                      <a:pPr algn="l"/>
                      <a:r>
                        <a:rPr sz="1150" b="1">
                          <a:solidFill>
                            <a:srgbClr val="FFFFFF"/>
                          </a:solidFill>
                          <a:latin typeface="Helvetica Neue"/>
                        </a:rPr>
                        <a:t>Ph. 1</a:t>
                      </a:r>
                    </a:p>
                  </a:txBody>
                  <a:tcPr marL="91440" marR="73152" marT="36576" marB="36576" anchor="ctr">
                    <a:solidFill>
                      <a:srgbClr val="111A27"/>
                    </a:solidFill>
                  </a:tcPr>
                </a:tc>
                <a:tc>
                  <a:txBody>
                    <a:bodyPr wrap="square"/>
                    <a:lstStyle/>
                    <a:p>
                      <a:pPr algn="l"/>
                      <a:r>
                        <a:rPr sz="1150" b="1">
                          <a:solidFill>
                            <a:srgbClr val="FFFFFF"/>
                          </a:solidFill>
                          <a:latin typeface="Helvetica Neue"/>
                        </a:rPr>
                        <a:t>Ph. 2</a:t>
                      </a:r>
                    </a:p>
                  </a:txBody>
                  <a:tcPr marL="91440" marR="73152" marT="36576" marB="36576" anchor="ctr">
                    <a:solidFill>
                      <a:srgbClr val="111A27"/>
                    </a:solidFill>
                  </a:tcPr>
                </a:tc>
                <a:tc>
                  <a:txBody>
                    <a:bodyPr wrap="square"/>
                    <a:lstStyle/>
                    <a:p>
                      <a:pPr algn="l"/>
                      <a:r>
                        <a:rPr sz="1150" b="1">
                          <a:solidFill>
                            <a:srgbClr val="FFFFFF"/>
                          </a:solidFill>
                          <a:latin typeface="Helvetica Neue"/>
                        </a:rPr>
                        <a:t>Why this is not a normal SaaS org</a:t>
                      </a:r>
                    </a:p>
                  </a:txBody>
                  <a:tcPr marL="91440" marR="73152" marT="36576" marB="36576" anchor="ctr">
                    <a:solidFill>
                      <a:srgbClr val="111A27"/>
                    </a:solidFill>
                  </a:tcPr>
                </a:tc>
              </a:tr>
              <a:tr h="320040">
                <a:tc>
                  <a:txBody>
                    <a:bodyPr wrap="square"/>
                    <a:lstStyle/>
                    <a:p>
                      <a:pPr algn="l"/>
                      <a:r>
                        <a:rPr sz="1150" b="1">
                          <a:solidFill>
                            <a:srgbClr val="111A27"/>
                          </a:solidFill>
                          <a:latin typeface="Helvetica Neue"/>
                        </a:rPr>
                        <a:t>Ledger / backend platform</a:t>
                      </a:r>
                    </a:p>
                  </a:txBody>
                  <a:tcPr marL="91440" marR="73152" marT="36576" marB="36576" anchor="ctr">
                    <a:solidFill>
                      <a:srgbClr val="FFFFFF"/>
                    </a:solidFill>
                  </a:tcPr>
                </a:tc>
                <a:tc>
                  <a:txBody>
                    <a:bodyPr wrap="square"/>
                    <a:lstStyle/>
                    <a:p>
                      <a:pPr algn="l"/>
                      <a:r>
                        <a:rPr sz="1150">
                          <a:solidFill>
                            <a:srgbClr val="333E4F"/>
                          </a:solidFill>
                          <a:latin typeface="Helvetica Neue"/>
                        </a:rPr>
                        <a:t>3</a:t>
                      </a:r>
                    </a:p>
                  </a:txBody>
                  <a:tcPr marL="91440" marR="73152" marT="36576" marB="36576" anchor="ctr">
                    <a:solidFill>
                      <a:srgbClr val="FFFFFF"/>
                    </a:solidFill>
                  </a:tcPr>
                </a:tc>
                <a:tc>
                  <a:txBody>
                    <a:bodyPr wrap="square"/>
                    <a:lstStyle/>
                    <a:p>
                      <a:pPr algn="l"/>
                      <a:r>
                        <a:rPr sz="1150">
                          <a:solidFill>
                            <a:srgbClr val="333E4F"/>
                          </a:solidFill>
                          <a:latin typeface="Helvetica Neue"/>
                        </a:rPr>
                        <a:t>5</a:t>
                      </a:r>
                    </a:p>
                  </a:txBody>
                  <a:tcPr marL="91440" marR="73152" marT="36576" marB="36576" anchor="ctr">
                    <a:solidFill>
                      <a:srgbClr val="FFFFFF"/>
                    </a:solidFill>
                  </a:tcPr>
                </a:tc>
                <a:tc>
                  <a:txBody>
                    <a:bodyPr wrap="square"/>
                    <a:lstStyle/>
                    <a:p>
                      <a:pPr algn="l"/>
                      <a:r>
                        <a:rPr sz="1150">
                          <a:solidFill>
                            <a:srgbClr val="333E4F"/>
                          </a:solidFill>
                          <a:latin typeface="Helvetica Neue"/>
                        </a:rPr>
                        <a:t>Bitemporal append-only substrate, provenance, migration tooling</a:t>
                      </a:r>
                    </a:p>
                  </a:txBody>
                  <a:tcPr marL="91440" marR="73152" marT="36576" marB="36576" anchor="ctr">
                    <a:solidFill>
                      <a:srgbClr val="FFFFFF"/>
                    </a:solidFill>
                  </a:tcPr>
                </a:tc>
              </a:tr>
              <a:tr h="320040">
                <a:tc>
                  <a:txBody>
                    <a:bodyPr wrap="square"/>
                    <a:lstStyle/>
                    <a:p>
                      <a:pPr algn="l"/>
                      <a:r>
                        <a:rPr sz="1150" b="1">
                          <a:solidFill>
                            <a:srgbClr val="111A27"/>
                          </a:solidFill>
                          <a:latin typeface="Helvetica Neue"/>
                        </a:rPr>
                        <a:t>Tool layer &amp; orchestration</a:t>
                      </a:r>
                    </a:p>
                  </a:txBody>
                  <a:tcPr marL="91440" marR="73152" marT="36576" marB="36576" anchor="ctr">
                    <a:solidFill>
                      <a:srgbClr val="F3F6F8"/>
                    </a:solidFill>
                  </a:tcPr>
                </a:tc>
                <a:tc>
                  <a:txBody>
                    <a:bodyPr wrap="square"/>
                    <a:lstStyle/>
                    <a:p>
                      <a:pPr algn="l"/>
                      <a:r>
                        <a:rPr sz="1150">
                          <a:solidFill>
                            <a:srgbClr val="333E4F"/>
                          </a:solidFill>
                          <a:latin typeface="Helvetica Neue"/>
                        </a:rPr>
                        <a:t>2</a:t>
                      </a:r>
                    </a:p>
                  </a:txBody>
                  <a:tcPr marL="91440" marR="73152" marT="36576" marB="36576" anchor="ctr">
                    <a:solidFill>
                      <a:srgbClr val="F3F6F8"/>
                    </a:solidFill>
                  </a:tcPr>
                </a:tc>
                <a:tc>
                  <a:txBody>
                    <a:bodyPr wrap="square"/>
                    <a:lstStyle/>
                    <a:p>
                      <a:pPr algn="l"/>
                      <a:r>
                        <a:rPr sz="1150">
                          <a:solidFill>
                            <a:srgbClr val="333E4F"/>
                          </a:solidFill>
                          <a:latin typeface="Helvetica Neue"/>
                        </a:rPr>
                        <a:t>3</a:t>
                      </a:r>
                    </a:p>
                  </a:txBody>
                  <a:tcPr marL="91440" marR="73152" marT="36576" marB="36576" anchor="ctr">
                    <a:solidFill>
                      <a:srgbClr val="F3F6F8"/>
                    </a:solidFill>
                  </a:tcPr>
                </a:tc>
                <a:tc>
                  <a:txBody>
                    <a:bodyPr wrap="square"/>
                    <a:lstStyle/>
                    <a:p>
                      <a:pPr algn="l"/>
                      <a:r>
                        <a:rPr sz="1150">
                          <a:solidFill>
                            <a:srgbClr val="333E4F"/>
                          </a:solidFill>
                          <a:latin typeface="Helvetica Neue"/>
                        </a:rPr>
                        <a:t>Typed invariant-enforcing actions; durable long-running workflows</a:t>
                      </a:r>
                    </a:p>
                  </a:txBody>
                  <a:tcPr marL="91440" marR="73152" marT="36576" marB="36576" anchor="ctr">
                    <a:solidFill>
                      <a:srgbClr val="F3F6F8"/>
                    </a:solidFill>
                  </a:tcPr>
                </a:tc>
              </a:tr>
              <a:tr h="320040">
                <a:tc>
                  <a:txBody>
                    <a:bodyPr wrap="square"/>
                    <a:lstStyle/>
                    <a:p>
                      <a:pPr algn="l"/>
                      <a:r>
                        <a:rPr sz="1150" b="1">
                          <a:solidFill>
                            <a:srgbClr val="111A27"/>
                          </a:solidFill>
                          <a:latin typeface="Helvetica Neue"/>
                        </a:rPr>
                        <a:t>Agent / applied ML</a:t>
                      </a:r>
                    </a:p>
                  </a:txBody>
                  <a:tcPr marL="91440" marR="73152" marT="36576" marB="36576" anchor="ctr">
                    <a:solidFill>
                      <a:srgbClr val="FFFFFF"/>
                    </a:solidFill>
                  </a:tcPr>
                </a:tc>
                <a:tc>
                  <a:txBody>
                    <a:bodyPr wrap="square"/>
                    <a:lstStyle/>
                    <a:p>
                      <a:pPr algn="l"/>
                      <a:r>
                        <a:rPr sz="1150">
                          <a:solidFill>
                            <a:srgbClr val="333E4F"/>
                          </a:solidFill>
                          <a:latin typeface="Helvetica Neue"/>
                        </a:rPr>
                        <a:t>2</a:t>
                      </a:r>
                    </a:p>
                  </a:txBody>
                  <a:tcPr marL="91440" marR="73152" marT="36576" marB="36576" anchor="ctr">
                    <a:solidFill>
                      <a:srgbClr val="FFFFFF"/>
                    </a:solidFill>
                  </a:tcPr>
                </a:tc>
                <a:tc>
                  <a:txBody>
                    <a:bodyPr wrap="square"/>
                    <a:lstStyle/>
                    <a:p>
                      <a:pPr algn="l"/>
                      <a:r>
                        <a:rPr sz="1150">
                          <a:solidFill>
                            <a:srgbClr val="333E4F"/>
                          </a:solidFill>
                          <a:latin typeface="Helvetica Neue"/>
                        </a:rPr>
                        <a:t>3</a:t>
                      </a:r>
                    </a:p>
                  </a:txBody>
                  <a:tcPr marL="91440" marR="73152" marT="36576" marB="36576" anchor="ctr">
                    <a:solidFill>
                      <a:srgbClr val="FFFFFF"/>
                    </a:solidFill>
                  </a:tcPr>
                </a:tc>
                <a:tc>
                  <a:txBody>
                    <a:bodyPr wrap="square"/>
                    <a:lstStyle/>
                    <a:p>
                      <a:pPr algn="l"/>
                      <a:r>
                        <a:rPr sz="1150">
                          <a:solidFill>
                            <a:srgbClr val="333E4F"/>
                          </a:solidFill>
                          <a:latin typeface="Helvetica Neue"/>
                        </a:rPr>
                        <a:t>Smaller than expected — prompts are the replaceable part</a:t>
                      </a:r>
                    </a:p>
                  </a:txBody>
                  <a:tcPr marL="91440" marR="73152" marT="36576" marB="36576" anchor="ctr">
                    <a:solidFill>
                      <a:srgbClr val="FFFFFF"/>
                    </a:solidFill>
                  </a:tcPr>
                </a:tc>
              </a:tr>
              <a:tr h="320040">
                <a:tc>
                  <a:txBody>
                    <a:bodyPr wrap="square"/>
                    <a:lstStyle/>
                    <a:p>
                      <a:pPr algn="l"/>
                      <a:r>
                        <a:rPr sz="1150" b="1">
                          <a:solidFill>
                            <a:srgbClr val="111A27"/>
                          </a:solidFill>
                          <a:latin typeface="Helvetica Neue"/>
                        </a:rPr>
                        <a:t>Evals &amp; data engineering</a:t>
                      </a:r>
                    </a:p>
                  </a:txBody>
                  <a:tcPr marL="91440" marR="73152" marT="36576" marB="36576" anchor="ctr">
                    <a:solidFill>
                      <a:srgbClr val="F3F6F8"/>
                    </a:solidFill>
                  </a:tcPr>
                </a:tc>
                <a:tc>
                  <a:txBody>
                    <a:bodyPr wrap="square"/>
                    <a:lstStyle/>
                    <a:p>
                      <a:pPr algn="l"/>
                      <a:r>
                        <a:rPr sz="1150">
                          <a:solidFill>
                            <a:srgbClr val="333E4F"/>
                          </a:solidFill>
                          <a:latin typeface="Helvetica Neue"/>
                        </a:rPr>
                        <a:t>2</a:t>
                      </a:r>
                    </a:p>
                  </a:txBody>
                  <a:tcPr marL="91440" marR="73152" marT="36576" marB="36576" anchor="ctr">
                    <a:solidFill>
                      <a:srgbClr val="F3F6F8"/>
                    </a:solidFill>
                  </a:tcPr>
                </a:tc>
                <a:tc>
                  <a:txBody>
                    <a:bodyPr wrap="square"/>
                    <a:lstStyle/>
                    <a:p>
                      <a:pPr algn="l"/>
                      <a:r>
                        <a:rPr sz="1150">
                          <a:solidFill>
                            <a:srgbClr val="333E4F"/>
                          </a:solidFill>
                          <a:latin typeface="Helvetica Neue"/>
                        </a:rPr>
                        <a:t>4</a:t>
                      </a:r>
                    </a:p>
                  </a:txBody>
                  <a:tcPr marL="91440" marR="73152" marT="36576" marB="36576" anchor="ctr">
                    <a:solidFill>
                      <a:srgbClr val="F3F6F8"/>
                    </a:solidFill>
                  </a:tcPr>
                </a:tc>
                <a:tc>
                  <a:txBody>
                    <a:bodyPr wrap="square"/>
                    <a:lstStyle/>
                    <a:p>
                      <a:pPr algn="l"/>
                      <a:r>
                        <a:rPr sz="1150">
                          <a:solidFill>
                            <a:srgbClr val="333E4F"/>
                          </a:solidFill>
                          <a:latin typeface="Helvetica Neue"/>
                        </a:rPr>
                        <a:t>Ground-truth corpus, replay harness, ingestion quality, entity resolution</a:t>
                      </a:r>
                    </a:p>
                  </a:txBody>
                  <a:tcPr marL="91440" marR="73152" marT="36576" marB="36576" anchor="ctr">
                    <a:solidFill>
                      <a:srgbClr val="F3F6F8"/>
                    </a:solidFill>
                  </a:tcPr>
                </a:tc>
              </a:tr>
              <a:tr h="320040">
                <a:tc>
                  <a:txBody>
                    <a:bodyPr wrap="square"/>
                    <a:lstStyle/>
                    <a:p>
                      <a:pPr algn="l"/>
                      <a:r>
                        <a:rPr sz="1150" b="1">
                          <a:solidFill>
                            <a:srgbClr val="111A27"/>
                          </a:solidFill>
                          <a:latin typeface="Helvetica Neue"/>
                        </a:rPr>
                        <a:t>Verification &amp; controls</a:t>
                      </a:r>
                    </a:p>
                  </a:txBody>
                  <a:tcPr marL="91440" marR="73152" marT="36576" marB="36576" anchor="ctr">
                    <a:solidFill>
                      <a:srgbClr val="FFFFFF"/>
                    </a:solidFill>
                  </a:tcPr>
                </a:tc>
                <a:tc>
                  <a:txBody>
                    <a:bodyPr wrap="square"/>
                    <a:lstStyle/>
                    <a:p>
                      <a:pPr algn="l"/>
                      <a:r>
                        <a:rPr sz="1150">
                          <a:solidFill>
                            <a:srgbClr val="333E4F"/>
                          </a:solidFill>
                          <a:latin typeface="Helvetica Neue"/>
                        </a:rPr>
                        <a:t>1</a:t>
                      </a:r>
                    </a:p>
                  </a:txBody>
                  <a:tcPr marL="91440" marR="73152" marT="36576" marB="36576" anchor="ctr">
                    <a:solidFill>
                      <a:srgbClr val="FFFFFF"/>
                    </a:solidFill>
                  </a:tcPr>
                </a:tc>
                <a:tc>
                  <a:txBody>
                    <a:bodyPr wrap="square"/>
                    <a:lstStyle/>
                    <a:p>
                      <a:pPr algn="l"/>
                      <a:r>
                        <a:rPr sz="1150">
                          <a:solidFill>
                            <a:srgbClr val="333E4F"/>
                          </a:solidFill>
                          <a:latin typeface="Helvetica Neue"/>
                        </a:rPr>
                        <a:t>2</a:t>
                      </a:r>
                    </a:p>
                  </a:txBody>
                  <a:tcPr marL="91440" marR="73152" marT="36576" marB="36576" anchor="ctr">
                    <a:solidFill>
                      <a:srgbClr val="FFFFFF"/>
                    </a:solidFill>
                  </a:tcPr>
                </a:tc>
                <a:tc>
                  <a:txBody>
                    <a:bodyPr wrap="square"/>
                    <a:lstStyle/>
                    <a:p>
                      <a:pPr algn="l"/>
                      <a:r>
                        <a:rPr sz="1150">
                          <a:solidFill>
                            <a:srgbClr val="333E4F"/>
                          </a:solidFill>
                          <a:latin typeface="Helvetica Neue"/>
                        </a:rPr>
                        <a:t>Invariants, anomaly detection, confidence calibration</a:t>
                      </a:r>
                    </a:p>
                  </a:txBody>
                  <a:tcPr marL="91440" marR="73152" marT="36576" marB="36576" anchor="ctr">
                    <a:solidFill>
                      <a:srgbClr val="FFFFFF"/>
                    </a:solidFill>
                  </a:tcPr>
                </a:tc>
              </a:tr>
              <a:tr h="320040">
                <a:tc>
                  <a:txBody>
                    <a:bodyPr wrap="square"/>
                    <a:lstStyle/>
                    <a:p>
                      <a:pPr algn="l"/>
                      <a:r>
                        <a:rPr sz="1150" b="1">
                          <a:solidFill>
                            <a:srgbClr val="111A27"/>
                          </a:solidFill>
                          <a:latin typeface="Helvetica Neue"/>
                        </a:rPr>
                        <a:t>Product &amp; exception-console UI</a:t>
                      </a:r>
                    </a:p>
                  </a:txBody>
                  <a:tcPr marL="91440" marR="73152" marT="36576" marB="36576" anchor="ctr">
                    <a:solidFill>
                      <a:srgbClr val="F3F6F8"/>
                    </a:solidFill>
                  </a:tcPr>
                </a:tc>
                <a:tc>
                  <a:txBody>
                    <a:bodyPr wrap="square"/>
                    <a:lstStyle/>
                    <a:p>
                      <a:pPr algn="l"/>
                      <a:r>
                        <a:rPr sz="1150">
                          <a:solidFill>
                            <a:srgbClr val="333E4F"/>
                          </a:solidFill>
                          <a:latin typeface="Helvetica Neue"/>
                        </a:rPr>
                        <a:t>2</a:t>
                      </a:r>
                    </a:p>
                  </a:txBody>
                  <a:tcPr marL="91440" marR="73152" marT="36576" marB="36576" anchor="ctr">
                    <a:solidFill>
                      <a:srgbClr val="F3F6F8"/>
                    </a:solidFill>
                  </a:tcPr>
                </a:tc>
                <a:tc>
                  <a:txBody>
                    <a:bodyPr wrap="square"/>
                    <a:lstStyle/>
                    <a:p>
                      <a:pPr algn="l"/>
                      <a:r>
                        <a:rPr sz="1150">
                          <a:solidFill>
                            <a:srgbClr val="333E4F"/>
                          </a:solidFill>
                          <a:latin typeface="Helvetica Neue"/>
                        </a:rPr>
                        <a:t>3</a:t>
                      </a:r>
                    </a:p>
                  </a:txBody>
                  <a:tcPr marL="91440" marR="73152" marT="36576" marB="36576" anchor="ctr">
                    <a:solidFill>
                      <a:srgbClr val="F3F6F8"/>
                    </a:solidFill>
                  </a:tcPr>
                </a:tc>
                <a:tc>
                  <a:txBody>
                    <a:bodyPr wrap="square"/>
                    <a:lstStyle/>
                    <a:p>
                      <a:pPr algn="l"/>
                      <a:r>
                        <a:rPr sz="1150">
                          <a:solidFill>
                            <a:srgbClr val="333E4F"/>
                          </a:solidFill>
                          <a:latin typeface="Helvetica Neue"/>
                        </a:rPr>
                        <a:t>One surface, done extremely well — not forty screens</a:t>
                      </a:r>
                    </a:p>
                  </a:txBody>
                  <a:tcPr marL="91440" marR="73152" marT="36576" marB="36576" anchor="ctr">
                    <a:solidFill>
                      <a:srgbClr val="F3F6F8"/>
                    </a:solidFill>
                  </a:tcPr>
                </a:tc>
              </a:tr>
              <a:tr h="320040">
                <a:tc>
                  <a:txBody>
                    <a:bodyPr wrap="square"/>
                    <a:lstStyle/>
                    <a:p>
                      <a:pPr algn="l"/>
                      <a:r>
                        <a:rPr sz="1150" b="1">
                          <a:solidFill>
                            <a:srgbClr val="111A27"/>
                          </a:solidFill>
                          <a:latin typeface="Helvetica Neue"/>
                        </a:rPr>
                        <a:t>Accountants in the loop</a:t>
                      </a:r>
                    </a:p>
                  </a:txBody>
                  <a:tcPr marL="91440" marR="73152" marT="36576" marB="36576" anchor="ctr">
                    <a:solidFill>
                      <a:srgbClr val="FFFFFF"/>
                    </a:solidFill>
                  </a:tcPr>
                </a:tc>
                <a:tc>
                  <a:txBody>
                    <a:bodyPr wrap="square"/>
                    <a:lstStyle/>
                    <a:p>
                      <a:pPr algn="l"/>
                      <a:r>
                        <a:rPr sz="1150">
                          <a:solidFill>
                            <a:srgbClr val="333E4F"/>
                          </a:solidFill>
                          <a:latin typeface="Helvetica Neue"/>
                        </a:rPr>
                        <a:t>3</a:t>
                      </a:r>
                    </a:p>
                  </a:txBody>
                  <a:tcPr marL="91440" marR="73152" marT="36576" marB="36576" anchor="ctr">
                    <a:solidFill>
                      <a:srgbClr val="FFFFFF"/>
                    </a:solidFill>
                  </a:tcPr>
                </a:tc>
                <a:tc>
                  <a:txBody>
                    <a:bodyPr wrap="square"/>
                    <a:lstStyle/>
                    <a:p>
                      <a:pPr algn="l"/>
                      <a:r>
                        <a:rPr sz="1150">
                          <a:solidFill>
                            <a:srgbClr val="333E4F"/>
                          </a:solidFill>
                          <a:latin typeface="Helvetica Neue"/>
                        </a:rPr>
                        <a:t>6–10</a:t>
                      </a:r>
                    </a:p>
                  </a:txBody>
                  <a:tcPr marL="91440" marR="73152" marT="36576" marB="36576" anchor="ctr">
                    <a:solidFill>
                      <a:srgbClr val="FFFFFF"/>
                    </a:solidFill>
                  </a:tcPr>
                </a:tc>
                <a:tc>
                  <a:txBody>
                    <a:bodyPr wrap="square"/>
                    <a:lstStyle/>
                    <a:p>
                      <a:pPr algn="l"/>
                      <a:r>
                        <a:rPr sz="1150">
                          <a:solidFill>
                            <a:srgbClr val="333E4F"/>
                          </a:solidFill>
                          <a:latin typeface="Helvetica Neue"/>
                        </a:rPr>
                        <a:t>Service delivery, labelling function and spec authors, simultaneously</a:t>
                      </a:r>
                    </a:p>
                  </a:txBody>
                  <a:tcPr marL="91440" marR="73152" marT="36576" marB="36576" anchor="ctr">
                    <a:solidFill>
                      <a:srgbClr val="FFFFFF"/>
                    </a:solidFill>
                  </a:tcPr>
                </a:tc>
              </a:tr>
              <a:tr h="320040">
                <a:tc>
                  <a:txBody>
                    <a:bodyPr wrap="square"/>
                    <a:lstStyle/>
                    <a:p>
                      <a:pPr algn="l"/>
                      <a:r>
                        <a:rPr sz="1150" b="1">
                          <a:solidFill>
                            <a:srgbClr val="111A27"/>
                          </a:solidFill>
                          <a:latin typeface="Helvetica Neue"/>
                        </a:rPr>
                        <a:t>Security / compliance / SOC 2</a:t>
                      </a:r>
                    </a:p>
                  </a:txBody>
                  <a:tcPr marL="91440" marR="73152" marT="36576" marB="36576" anchor="ctr">
                    <a:solidFill>
                      <a:srgbClr val="F3F6F8"/>
                    </a:solidFill>
                  </a:tcPr>
                </a:tc>
                <a:tc>
                  <a:txBody>
                    <a:bodyPr wrap="square"/>
                    <a:lstStyle/>
                    <a:p>
                      <a:pPr algn="l"/>
                      <a:r>
                        <a:rPr sz="1150">
                          <a:solidFill>
                            <a:srgbClr val="333E4F"/>
                          </a:solidFill>
                          <a:latin typeface="Helvetica Neue"/>
                        </a:rPr>
                        <a:t>0.5</a:t>
                      </a:r>
                    </a:p>
                  </a:txBody>
                  <a:tcPr marL="91440" marR="73152" marT="36576" marB="36576" anchor="ctr">
                    <a:solidFill>
                      <a:srgbClr val="F3F6F8"/>
                    </a:solidFill>
                  </a:tcPr>
                </a:tc>
                <a:tc>
                  <a:txBody>
                    <a:bodyPr wrap="square"/>
                    <a:lstStyle/>
                    <a:p>
                      <a:pPr algn="l"/>
                      <a:r>
                        <a:rPr sz="1150">
                          <a:solidFill>
                            <a:srgbClr val="333E4F"/>
                          </a:solidFill>
                          <a:latin typeface="Helvetica Neue"/>
                        </a:rPr>
                        <a:t>1.5</a:t>
                      </a:r>
                    </a:p>
                  </a:txBody>
                  <a:tcPr marL="91440" marR="73152" marT="36576" marB="36576" anchor="ctr">
                    <a:solidFill>
                      <a:srgbClr val="F3F6F8"/>
                    </a:solidFill>
                  </a:tcPr>
                </a:tc>
                <a:tc>
                  <a:txBody>
                    <a:bodyPr wrap="square"/>
                    <a:lstStyle/>
                    <a:p>
                      <a:pPr algn="l"/>
                      <a:r>
                        <a:rPr sz="1150">
                          <a:solidFill>
                            <a:srgbClr val="333E4F"/>
                          </a:solidFill>
                          <a:latin typeface="Helvetica Neue"/>
                        </a:rPr>
                        <a:t>Agent identity, least privilege, audit posture as a sales asset</a:t>
                      </a:r>
                    </a:p>
                  </a:txBody>
                  <a:tcPr marL="91440" marR="73152" marT="36576" marB="36576" anchor="ctr">
                    <a:solidFill>
                      <a:srgbClr val="F3F6F8"/>
                    </a:solidFill>
                  </a:tcPr>
                </a:tc>
              </a:tr>
              <a:tr h="320040">
                <a:tc>
                  <a:txBody>
                    <a:bodyPr wrap="square"/>
                    <a:lstStyle/>
                    <a:p>
                      <a:pPr algn="l"/>
                      <a:r>
                        <a:rPr sz="1150" b="1">
                          <a:solidFill>
                            <a:srgbClr val="111A27"/>
                          </a:solidFill>
                          <a:latin typeface="Helvetica Neue"/>
                        </a:rPr>
                        <a:t>GTM (firm-led)</a:t>
                      </a:r>
                    </a:p>
                  </a:txBody>
                  <a:tcPr marL="91440" marR="73152" marT="36576" marB="36576" anchor="ctr">
                    <a:solidFill>
                      <a:srgbClr val="FFFFFF"/>
                    </a:solidFill>
                  </a:tcPr>
                </a:tc>
                <a:tc>
                  <a:txBody>
                    <a:bodyPr wrap="square"/>
                    <a:lstStyle/>
                    <a:p>
                      <a:pPr algn="l"/>
                      <a:r>
                        <a:rPr sz="1150">
                          <a:solidFill>
                            <a:srgbClr val="333E4F"/>
                          </a:solidFill>
                          <a:latin typeface="Helvetica Neue"/>
                        </a:rPr>
                        <a:t>1</a:t>
                      </a:r>
                    </a:p>
                  </a:txBody>
                  <a:tcPr marL="91440" marR="73152" marT="36576" marB="36576" anchor="ctr">
                    <a:solidFill>
                      <a:srgbClr val="FFFFFF"/>
                    </a:solidFill>
                  </a:tcPr>
                </a:tc>
                <a:tc>
                  <a:txBody>
                    <a:bodyPr wrap="square"/>
                    <a:lstStyle/>
                    <a:p>
                      <a:pPr algn="l"/>
                      <a:r>
                        <a:rPr sz="1150">
                          <a:solidFill>
                            <a:srgbClr val="333E4F"/>
                          </a:solidFill>
                          <a:latin typeface="Helvetica Neue"/>
                        </a:rPr>
                        <a:t>4</a:t>
                      </a:r>
                    </a:p>
                  </a:txBody>
                  <a:tcPr marL="91440" marR="73152" marT="36576" marB="36576" anchor="ctr">
                    <a:solidFill>
                      <a:srgbClr val="FFFFFF"/>
                    </a:solidFill>
                  </a:tcPr>
                </a:tc>
                <a:tc>
                  <a:txBody>
                    <a:bodyPr wrap="square"/>
                    <a:lstStyle/>
                    <a:p>
                      <a:pPr algn="l"/>
                      <a:r>
                        <a:rPr sz="1150">
                          <a:solidFill>
                            <a:srgbClr val="333E4F"/>
                          </a:solidFill>
                          <a:latin typeface="Helvetica Neue"/>
                        </a:rPr>
                        <a:t>Sold to firms on gross-margin uplift, not to SMBs on features</a:t>
                      </a:r>
                    </a:p>
                  </a:txBody>
                  <a:tcPr marL="91440" marR="73152" marT="36576" marB="36576" anchor="ctr">
                    <a:solidFill>
                      <a:srgbClr val="FFFFFF"/>
                    </a:solidFill>
                  </a:tcPr>
                </a:tc>
              </a:tr>
            </a:tbl>
          </a:graphicData>
        </a:graphic>
      </p:graphicFrame>
      <p:sp>
        <p:nvSpPr>
          <p:cNvPr id="7" name="Rounded Rectangle 6"/>
          <p:cNvSpPr/>
          <p:nvPr/>
        </p:nvSpPr>
        <p:spPr>
          <a:xfrm>
            <a:off x="658368" y="5559552"/>
            <a:ext cx="5294376" cy="859536"/>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705856"/>
            <a:ext cx="4800600" cy="256032"/>
          </a:xfrm>
          <a:prstGeom prst="rect">
            <a:avLst/>
          </a:prstGeom>
          <a:noFill/>
        </p:spPr>
        <p:txBody>
          <a:bodyPr wrap="square" anchor="t" lIns="0" rIns="0" tIns="0" bIns="0">
            <a:spAutoFit/>
          </a:bodyPr>
          <a:lstStyle/>
          <a:p>
            <a:pPr algn="l">
              <a:lnSpc>
                <a:spcPct val="125000"/>
              </a:lnSpc>
              <a:spcAft>
                <a:spcPts val="600"/>
              </a:spcAft>
            </a:pPr>
            <a:r>
              <a:rPr sz="1050" b="1">
                <a:solidFill>
                  <a:srgbClr val="6B7688"/>
                </a:solidFill>
                <a:latin typeface="Helvetica Neue"/>
              </a:rPr>
              <a:t>NON-HEADCOUNT COSTS TO UNDERWRITE</a:t>
            </a:r>
          </a:p>
        </p:txBody>
      </p:sp>
      <p:sp>
        <p:nvSpPr>
          <p:cNvPr id="9" name="TextBox 8"/>
          <p:cNvSpPr txBox="1"/>
          <p:nvPr/>
        </p:nvSpPr>
        <p:spPr>
          <a:xfrm>
            <a:off x="914400" y="5980176"/>
            <a:ext cx="4800600" cy="384048"/>
          </a:xfrm>
          <a:prstGeom prst="rect">
            <a:avLst/>
          </a:prstGeom>
          <a:noFill/>
        </p:spPr>
        <p:txBody>
          <a:bodyPr wrap="square" anchor="t" lIns="0" rIns="0" tIns="0" bIns="0">
            <a:spAutoFit/>
          </a:bodyPr>
          <a:lstStyle/>
          <a:p>
            <a:pPr algn="l">
              <a:lnSpc>
                <a:spcPct val="128000"/>
              </a:lnSpc>
              <a:spcAft>
                <a:spcPts val="600"/>
              </a:spcAft>
            </a:pPr>
            <a:r>
              <a:rPr sz="1100" b="0">
                <a:solidFill>
                  <a:srgbClr val="333E4F"/>
                </a:solidFill>
                <a:latin typeface="Helvetica Neue"/>
              </a:rPr>
              <a:t>Inference (a real COGS line, not R&amp;D) · data acquisition for the corpus · SOC 2 and audit readiness · E&amp;O insurance · [licensed CPA of record]</a:t>
            </a:r>
          </a:p>
        </p:txBody>
      </p:sp>
      <p:sp>
        <p:nvSpPr>
          <p:cNvPr id="10" name="Rounded Rectangle 9"/>
          <p:cNvSpPr/>
          <p:nvPr/>
        </p:nvSpPr>
        <p:spPr>
          <a:xfrm>
            <a:off x="6245352" y="5559552"/>
            <a:ext cx="5294376" cy="859536"/>
          </a:xfrm>
          <a:prstGeom prst="roundRect">
            <a:avLst>
              <a:gd name="adj" fmla="val 4000"/>
            </a:avLst>
          </a:prstGeom>
          <a:solidFill>
            <a:srgbClr val="FA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1383" y="5705856"/>
            <a:ext cx="4800600" cy="256032"/>
          </a:xfrm>
          <a:prstGeom prst="rect">
            <a:avLst/>
          </a:prstGeom>
          <a:noFill/>
        </p:spPr>
        <p:txBody>
          <a:bodyPr wrap="square" anchor="t" lIns="0" rIns="0" tIns="0" bIns="0">
            <a:spAutoFit/>
          </a:bodyPr>
          <a:lstStyle/>
          <a:p>
            <a:pPr algn="l">
              <a:lnSpc>
                <a:spcPct val="125000"/>
              </a:lnSpc>
              <a:spcAft>
                <a:spcPts val="600"/>
              </a:spcAft>
            </a:pPr>
            <a:r>
              <a:rPr sz="1050" b="1">
                <a:solidFill>
                  <a:srgbClr val="B45309"/>
                </a:solidFill>
                <a:latin typeface="Helvetica Neue"/>
              </a:rPr>
              <a:t>CAPITAL ASK</a:t>
            </a:r>
          </a:p>
        </p:txBody>
      </p:sp>
      <p:sp>
        <p:nvSpPr>
          <p:cNvPr id="12" name="TextBox 11"/>
          <p:cNvSpPr txBox="1"/>
          <p:nvPr/>
        </p:nvSpPr>
        <p:spPr>
          <a:xfrm>
            <a:off x="6501383" y="5980176"/>
            <a:ext cx="4800600" cy="384048"/>
          </a:xfrm>
          <a:prstGeom prst="rect">
            <a:avLst/>
          </a:prstGeom>
          <a:noFill/>
        </p:spPr>
        <p:txBody>
          <a:bodyPr wrap="square" anchor="t" lIns="0" rIns="0" tIns="0" bIns="0">
            <a:spAutoFit/>
          </a:bodyPr>
          <a:lstStyle/>
          <a:p>
            <a:pPr algn="l">
              <a:lnSpc>
                <a:spcPct val="128000"/>
              </a:lnSpc>
              <a:spcAft>
                <a:spcPts val="600"/>
              </a:spcAft>
            </a:pPr>
            <a:r>
              <a:rPr sz="1100" b="0">
                <a:solidFill>
                  <a:srgbClr val="7A3B08"/>
                </a:solidFill>
                <a:latin typeface="Helvetica Neue"/>
              </a:rPr>
              <a:t>[$X] for [N] months to reach [auto-post rate / entities / margin milestone]. Fill from your own model — do not present illustrative figures as a plan.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801807" y="6528816"/>
            <a:ext cx="731520" cy="237744"/>
          </a:xfrm>
          <a:prstGeom prst="rect">
            <a:avLst/>
          </a:prstGeom>
          <a:noFill/>
        </p:spPr>
        <p:txBody>
          <a:bodyPr wrap="none">
            <a:spAutoFit/>
          </a:bodyPr>
          <a:lstStyle/>
          <a:p>
            <a:pPr algn="r"/>
            <a:r>
              <a:rPr sz="1000">
                <a:solidFill>
                  <a:srgbClr val="D5DCE4"/>
                </a:solidFill>
                <a:latin typeface="Helvetica Neue"/>
              </a:rPr>
              <a:t>17</a:t>
            </a:r>
          </a:p>
        </p:txBody>
      </p:sp>
      <p:sp>
        <p:nvSpPr>
          <p:cNvPr id="3" name="TextBox 2"/>
          <p:cNvSpPr txBox="1"/>
          <p:nvPr/>
        </p:nvSpPr>
        <p:spPr>
          <a:xfrm>
            <a:off x="658368" y="420624"/>
            <a:ext cx="10874959" cy="256032"/>
          </a:xfrm>
          <a:prstGeom prst="rect">
            <a:avLst/>
          </a:prstGeom>
          <a:noFill/>
        </p:spPr>
        <p:txBody>
          <a:bodyPr wrap="square" anchor="t" lIns="0" rIns="0" tIns="0" bIns="0">
            <a:spAutoFit/>
          </a:bodyPr>
          <a:lstStyle/>
          <a:p>
            <a:pPr algn="l">
              <a:lnSpc>
                <a:spcPct val="125000"/>
              </a:lnSpc>
              <a:spcAft>
                <a:spcPts val="600"/>
              </a:spcAft>
            </a:pPr>
            <a:r>
              <a:rPr sz="1050" b="1">
                <a:solidFill>
                  <a:srgbClr val="0E7490"/>
                </a:solidFill>
                <a:latin typeface="Helvetica Neue"/>
              </a:rPr>
              <a:t>WHAT TO HOLD US TO</a:t>
            </a:r>
          </a:p>
        </p:txBody>
      </p:sp>
      <p:sp>
        <p:nvSpPr>
          <p:cNvPr id="4" name="TextBox 3"/>
          <p:cNvSpPr txBox="1"/>
          <p:nvPr/>
        </p:nvSpPr>
        <p:spPr>
          <a:xfrm>
            <a:off x="658368" y="749808"/>
            <a:ext cx="10874959" cy="914400"/>
          </a:xfrm>
          <a:prstGeom prst="rect">
            <a:avLst/>
          </a:prstGeom>
          <a:noFill/>
        </p:spPr>
        <p:txBody>
          <a:bodyPr wrap="square" anchor="t" lIns="0" rIns="0" tIns="0" bIns="0">
            <a:spAutoFit/>
          </a:bodyPr>
          <a:lstStyle/>
          <a:p>
            <a:pPr algn="l">
              <a:lnSpc>
                <a:spcPct val="110000"/>
              </a:lnSpc>
              <a:spcAft>
                <a:spcPts val="600"/>
              </a:spcAft>
            </a:pPr>
            <a:r>
              <a:rPr sz="2700" b="1">
                <a:solidFill>
                  <a:srgbClr val="111A27"/>
                </a:solidFill>
                <a:latin typeface="Helvetica Neue"/>
              </a:rPr>
              <a:t>The metrics that decide whether this works</a:t>
            </a:r>
          </a:p>
        </p:txBody>
      </p:sp>
      <p:sp>
        <p:nvSpPr>
          <p:cNvPr id="5" name="Rounded Rectangle 4"/>
          <p:cNvSpPr/>
          <p:nvPr/>
        </p:nvSpPr>
        <p:spPr>
          <a:xfrm>
            <a:off x="658368" y="1828800"/>
            <a:ext cx="2551176" cy="265176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77824" y="2048256"/>
            <a:ext cx="2139696" cy="685800"/>
          </a:xfrm>
          <a:prstGeom prst="rect">
            <a:avLst/>
          </a:prstGeom>
          <a:noFill/>
        </p:spPr>
        <p:txBody>
          <a:bodyPr wrap="square" anchor="t" lIns="0" rIns="0" tIns="0" bIns="0">
            <a:spAutoFit/>
          </a:bodyPr>
          <a:lstStyle/>
          <a:p>
            <a:pPr algn="l">
              <a:lnSpc>
                <a:spcPct val="115000"/>
              </a:lnSpc>
              <a:spcAft>
                <a:spcPts val="600"/>
              </a:spcAft>
            </a:pPr>
            <a:r>
              <a:rPr sz="1600" b="1">
                <a:solidFill>
                  <a:srgbClr val="0E7490"/>
                </a:solidFill>
                <a:latin typeface="Helvetica Neue"/>
              </a:rPr>
              <a:t>Auto-post rate</a:t>
            </a:r>
          </a:p>
        </p:txBody>
      </p:sp>
      <p:sp>
        <p:nvSpPr>
          <p:cNvPr id="7" name="TextBox 6"/>
          <p:cNvSpPr txBox="1"/>
          <p:nvPr/>
        </p:nvSpPr>
        <p:spPr>
          <a:xfrm>
            <a:off x="877824" y="2871216"/>
            <a:ext cx="2139696" cy="1463040"/>
          </a:xfrm>
          <a:prstGeom prst="rect">
            <a:avLst/>
          </a:prstGeom>
          <a:noFill/>
        </p:spPr>
        <p:txBody>
          <a:bodyPr wrap="square" anchor="t" lIns="0" rIns="0" tIns="0" bIns="0">
            <a:spAutoFit/>
          </a:bodyPr>
          <a:lstStyle/>
          <a:p>
            <a:pPr algn="l">
              <a:lnSpc>
                <a:spcPct val="140000"/>
              </a:lnSpc>
              <a:spcAft>
                <a:spcPts val="600"/>
              </a:spcAft>
            </a:pPr>
            <a:r>
              <a:rPr sz="1250" b="0">
                <a:solidFill>
                  <a:srgbClr val="333E4F"/>
                </a:solidFill>
                <a:latin typeface="Helvetica Neue"/>
              </a:rPr>
              <a:t>% of transactions posted with zero human touch, reported by category with the denominator stated. Product quality, margin driver and moat, in one number.</a:t>
            </a:r>
          </a:p>
        </p:txBody>
      </p:sp>
      <p:sp>
        <p:nvSpPr>
          <p:cNvPr id="8" name="Rounded Rectangle 7"/>
          <p:cNvSpPr/>
          <p:nvPr/>
        </p:nvSpPr>
        <p:spPr>
          <a:xfrm>
            <a:off x="3438144" y="1828800"/>
            <a:ext cx="2551176" cy="265176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57600" y="2048256"/>
            <a:ext cx="2139696" cy="685800"/>
          </a:xfrm>
          <a:prstGeom prst="rect">
            <a:avLst/>
          </a:prstGeom>
          <a:noFill/>
        </p:spPr>
        <p:txBody>
          <a:bodyPr wrap="square" anchor="t" lIns="0" rIns="0" tIns="0" bIns="0">
            <a:spAutoFit/>
          </a:bodyPr>
          <a:lstStyle/>
          <a:p>
            <a:pPr algn="l">
              <a:lnSpc>
                <a:spcPct val="115000"/>
              </a:lnSpc>
              <a:spcAft>
                <a:spcPts val="600"/>
              </a:spcAft>
            </a:pPr>
            <a:r>
              <a:rPr sz="1600" b="1">
                <a:solidFill>
                  <a:srgbClr val="0E7490"/>
                </a:solidFill>
                <a:latin typeface="Helvetica Neue"/>
              </a:rPr>
              <a:t>Hours per close,
per entity</a:t>
            </a:r>
          </a:p>
        </p:txBody>
      </p:sp>
      <p:sp>
        <p:nvSpPr>
          <p:cNvPr id="10" name="TextBox 9"/>
          <p:cNvSpPr txBox="1"/>
          <p:nvPr/>
        </p:nvSpPr>
        <p:spPr>
          <a:xfrm>
            <a:off x="3657600" y="2871216"/>
            <a:ext cx="2139696" cy="1463040"/>
          </a:xfrm>
          <a:prstGeom prst="rect">
            <a:avLst/>
          </a:prstGeom>
          <a:noFill/>
        </p:spPr>
        <p:txBody>
          <a:bodyPr wrap="square" anchor="t" lIns="0" rIns="0" tIns="0" bIns="0">
            <a:spAutoFit/>
          </a:bodyPr>
          <a:lstStyle/>
          <a:p>
            <a:pPr algn="l">
              <a:lnSpc>
                <a:spcPct val="140000"/>
              </a:lnSpc>
              <a:spcAft>
                <a:spcPts val="600"/>
              </a:spcAft>
            </a:pPr>
            <a:r>
              <a:rPr sz="1250" b="0">
                <a:solidFill>
                  <a:srgbClr val="333E4F"/>
                </a:solidFill>
                <a:latin typeface="Helvetica Neue"/>
              </a:rPr>
              <a:t>The honest automation measure. Transaction counts flatter us; hours do not, because the residual tail holds most of the labour cost.</a:t>
            </a:r>
          </a:p>
        </p:txBody>
      </p:sp>
      <p:sp>
        <p:nvSpPr>
          <p:cNvPr id="11" name="Rounded Rectangle 10"/>
          <p:cNvSpPr/>
          <p:nvPr/>
        </p:nvSpPr>
        <p:spPr>
          <a:xfrm>
            <a:off x="6217920" y="1828800"/>
            <a:ext cx="2551176" cy="265176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37376" y="2048256"/>
            <a:ext cx="2139696" cy="685800"/>
          </a:xfrm>
          <a:prstGeom prst="rect">
            <a:avLst/>
          </a:prstGeom>
          <a:noFill/>
        </p:spPr>
        <p:txBody>
          <a:bodyPr wrap="square" anchor="t" lIns="0" rIns="0" tIns="0" bIns="0">
            <a:spAutoFit/>
          </a:bodyPr>
          <a:lstStyle/>
          <a:p>
            <a:pPr algn="l">
              <a:lnSpc>
                <a:spcPct val="115000"/>
              </a:lnSpc>
              <a:spcAft>
                <a:spcPts val="600"/>
              </a:spcAft>
            </a:pPr>
            <a:r>
              <a:rPr sz="1600" b="1">
                <a:solidFill>
                  <a:srgbClr val="0E7490"/>
                </a:solidFill>
                <a:latin typeface="Helvetica Neue"/>
              </a:rPr>
              <a:t>Gross margin
by cohort</a:t>
            </a:r>
          </a:p>
        </p:txBody>
      </p:sp>
      <p:sp>
        <p:nvSpPr>
          <p:cNvPr id="13" name="TextBox 12"/>
          <p:cNvSpPr txBox="1"/>
          <p:nvPr/>
        </p:nvSpPr>
        <p:spPr>
          <a:xfrm>
            <a:off x="6437376" y="2871216"/>
            <a:ext cx="2139696" cy="1463040"/>
          </a:xfrm>
          <a:prstGeom prst="rect">
            <a:avLst/>
          </a:prstGeom>
          <a:noFill/>
        </p:spPr>
        <p:txBody>
          <a:bodyPr wrap="square" anchor="t" lIns="0" rIns="0" tIns="0" bIns="0">
            <a:spAutoFit/>
          </a:bodyPr>
          <a:lstStyle/>
          <a:p>
            <a:pPr algn="l">
              <a:lnSpc>
                <a:spcPct val="140000"/>
              </a:lnSpc>
              <a:spcAft>
                <a:spcPts val="600"/>
              </a:spcAft>
            </a:pPr>
            <a:r>
              <a:rPr sz="1250" b="0">
                <a:solidFill>
                  <a:srgbClr val="333E4F"/>
                </a:solidFill>
                <a:latin typeface="Helvetica Neue"/>
              </a:rPr>
              <a:t>Must slope up as cohorts age. A flat slope means we are a services company with a good story.</a:t>
            </a:r>
          </a:p>
        </p:txBody>
      </p:sp>
      <p:sp>
        <p:nvSpPr>
          <p:cNvPr id="14" name="Rounded Rectangle 13"/>
          <p:cNvSpPr/>
          <p:nvPr/>
        </p:nvSpPr>
        <p:spPr>
          <a:xfrm>
            <a:off x="8997696" y="1828800"/>
            <a:ext cx="2551176" cy="265176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217152" y="2048256"/>
            <a:ext cx="2139696" cy="685800"/>
          </a:xfrm>
          <a:prstGeom prst="rect">
            <a:avLst/>
          </a:prstGeom>
          <a:noFill/>
        </p:spPr>
        <p:txBody>
          <a:bodyPr wrap="square" anchor="t" lIns="0" rIns="0" tIns="0" bIns="0">
            <a:spAutoFit/>
          </a:bodyPr>
          <a:lstStyle/>
          <a:p>
            <a:pPr algn="l">
              <a:lnSpc>
                <a:spcPct val="115000"/>
              </a:lnSpc>
              <a:spcAft>
                <a:spcPts val="600"/>
              </a:spcAft>
            </a:pPr>
            <a:r>
              <a:rPr sz="1600" b="1">
                <a:solidFill>
                  <a:srgbClr val="0E7490"/>
                </a:solidFill>
                <a:latin typeface="Helvetica Neue"/>
              </a:rPr>
              <a:t>Restatement /
error rate</a:t>
            </a:r>
          </a:p>
        </p:txBody>
      </p:sp>
      <p:sp>
        <p:nvSpPr>
          <p:cNvPr id="16" name="TextBox 15"/>
          <p:cNvSpPr txBox="1"/>
          <p:nvPr/>
        </p:nvSpPr>
        <p:spPr>
          <a:xfrm>
            <a:off x="9217152" y="2871216"/>
            <a:ext cx="2139696" cy="1463040"/>
          </a:xfrm>
          <a:prstGeom prst="rect">
            <a:avLst/>
          </a:prstGeom>
          <a:noFill/>
        </p:spPr>
        <p:txBody>
          <a:bodyPr wrap="square" anchor="t" lIns="0" rIns="0" tIns="0" bIns="0">
            <a:spAutoFit/>
          </a:bodyPr>
          <a:lstStyle/>
          <a:p>
            <a:pPr algn="l">
              <a:lnSpc>
                <a:spcPct val="140000"/>
              </a:lnSpc>
              <a:spcAft>
                <a:spcPts val="600"/>
              </a:spcAft>
            </a:pPr>
            <a:r>
              <a:rPr sz="1250" b="0">
                <a:solidFill>
                  <a:srgbClr val="333E4F"/>
                </a:solidFill>
                <a:latin typeface="Helvetica Neue"/>
              </a:rPr>
              <a:t>The metric that can end the company. Tracked against an absolute ceiling, not a trend.</a:t>
            </a:r>
          </a:p>
        </p:txBody>
      </p:sp>
      <p:sp>
        <p:nvSpPr>
          <p:cNvPr id="17" name="TextBox 16"/>
          <p:cNvSpPr txBox="1"/>
          <p:nvPr/>
        </p:nvSpPr>
        <p:spPr>
          <a:xfrm>
            <a:off x="658368" y="4663440"/>
            <a:ext cx="10874959" cy="457200"/>
          </a:xfrm>
          <a:prstGeom prst="rect">
            <a:avLst/>
          </a:prstGeom>
          <a:noFill/>
        </p:spPr>
        <p:txBody>
          <a:bodyPr wrap="square" anchor="t" lIns="0" rIns="0" tIns="0" bIns="0">
            <a:spAutoFit/>
          </a:bodyPr>
          <a:lstStyle/>
          <a:p>
            <a:pPr algn="l">
              <a:lnSpc>
                <a:spcPct val="135000"/>
              </a:lnSpc>
              <a:spcAft>
                <a:spcPts val="600"/>
              </a:spcAft>
            </a:pPr>
            <a:r>
              <a:rPr sz="1300" b="0">
                <a:solidFill>
                  <a:srgbClr val="333E4F"/>
                </a:solidFill>
                <a:latin typeface="Helvetica Neue"/>
              </a:rPr>
              <a:t>Also standing on the board deck: inference cost per entity-month, days-to-close, entities per reviewer, and auto-post rate on the hardest category rather than the blended average.</a:t>
            </a:r>
          </a:p>
        </p:txBody>
      </p:sp>
      <p:sp>
        <p:nvSpPr>
          <p:cNvPr id="18" name="Rounded Rectangle 17"/>
          <p:cNvSpPr/>
          <p:nvPr/>
        </p:nvSpPr>
        <p:spPr>
          <a:xfrm>
            <a:off x="658368" y="5230368"/>
            <a:ext cx="10874959" cy="128016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50976" y="5413248"/>
            <a:ext cx="4937760" cy="274320"/>
          </a:xfrm>
          <a:prstGeom prst="rect">
            <a:avLst/>
          </a:prstGeom>
          <a:noFill/>
        </p:spPr>
        <p:txBody>
          <a:bodyPr wrap="square" anchor="t" lIns="0" rIns="0" tIns="0" bIns="0">
            <a:spAutoFit/>
          </a:bodyPr>
          <a:lstStyle/>
          <a:p>
            <a:pPr algn="l">
              <a:lnSpc>
                <a:spcPct val="125000"/>
              </a:lnSpc>
              <a:spcAft>
                <a:spcPts val="600"/>
              </a:spcAft>
            </a:pPr>
            <a:r>
              <a:rPr sz="1050" b="1">
                <a:solidFill>
                  <a:srgbClr val="7AB8C8"/>
                </a:solidFill>
                <a:latin typeface="Helvetica Neue"/>
              </a:rPr>
              <a:t>WHAT WE ARE ACTUALLY BUILDING</a:t>
            </a:r>
          </a:p>
        </p:txBody>
      </p:sp>
      <p:sp>
        <p:nvSpPr>
          <p:cNvPr id="20" name="TextBox 19"/>
          <p:cNvSpPr txBox="1"/>
          <p:nvPr/>
        </p:nvSpPr>
        <p:spPr>
          <a:xfrm>
            <a:off x="950976" y="5705856"/>
            <a:ext cx="10289743" cy="640080"/>
          </a:xfrm>
          <a:prstGeom prst="rect">
            <a:avLst/>
          </a:prstGeom>
          <a:noFill/>
        </p:spPr>
        <p:txBody>
          <a:bodyPr wrap="square" anchor="t" lIns="0" rIns="0" tIns="0" bIns="0">
            <a:spAutoFit/>
          </a:bodyPr>
          <a:lstStyle/>
          <a:p>
            <a:pPr algn="l">
              <a:lnSpc>
                <a:spcPct val="130000"/>
              </a:lnSpc>
              <a:spcAft>
                <a:spcPts val="600"/>
              </a:spcAft>
            </a:pPr>
            <a:r>
              <a:rPr sz="1550" b="1">
                <a:solidFill>
                  <a:srgbClr val="FFFFFF"/>
                </a:solidFill>
                <a:latin typeface="Helvetica Neue"/>
              </a:rPr>
              <a:t>Not AI features on top of accounting software. An accounting department, with software as its body — on a substrate designed so that every number it produces can be proven, replayed and defended.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