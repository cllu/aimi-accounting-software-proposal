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各位好，我是吕春亮。</a:t>
            </a:r>
          </a:p>
          <a:p/>
          <a:p>
            <a:r>
              <a:t>今天讲一件事：我们要把会计软件重写一遍，按智能体的方式来做。</a:t>
            </a:r>
          </a:p>
          <a:p/>
          <a:p>
            <a:r>
              <a:t>先把两条路分开。一条是在现有软件上挂个 AI 助手，该填的表还是得填。另一条是推倒重写，让软件直接把活干完，而不是等人干完了再记一笔。只有第二条真正改变什么，但它要求一套完全不同的底层。今天主要讲这套底层。</a:t>
            </a:r>
          </a:p>
          <a:p/>
          <a:p>
            <a:r>
              <a:t>我们凭什么做这件事？这些软件我们本来就在用 RPA 替客户操作。哪一步纯机械，哪一步非人不可，接缝在哪儿最容易断，这些不是我们推测出来的，是机器人每天撞出来的。</a:t>
            </a:r>
          </a:p>
          <a:p/>
          <a:p>
            <a:r>
              <a:t>今天这么走：两页背景，一页讲为什么会计这行最适合先做，然后是架构和四个关键部件，一页讲两个真正的坎，最后是怎么落地、多久、要多少人。架构那几页是重点，各位想打断随时打断。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这一页就是我们全部的论点。</a:t>
            </a:r>
          </a:p>
          <a:p/>
          <a:p>
            <a:r>
              <a:t>第一个框，是大部分人没想过的地方。会计软件之所以让你填那么多表，不是厂商懒，也不是设计差。确定性代码在物理上处理不了"看情况"，模糊性总得有个去处，而它的去处就是人。今天记账成本里的每一个小时，都是这个架构约束开出来的账单。</a:t>
            </a:r>
          </a:p>
          <a:p/>
          <a:p>
            <a:r>
              <a:t>第二个框是现在松开的三件事。模型吃得下模糊的东西，多覆盖一个长尾几乎不加钱，而且不需要谁先把界面搭好。我想强调，这是三条具体的工程性质，不是"模型变聪明了"这种说法。</a:t>
            </a:r>
          </a:p>
          <a:p/>
          <a:p>
            <a:r>
              <a:t>第三个框是我们的出身。用 RPA 驱动这些系统这么多年，教了我们两件别人不知道得这么准的事。第一件，机械活到哪儿为止、判断从哪儿开始，我们的机器人每天在那道墙上撞上千次。第二件，客户对底下跑什么软件完全无所谓，他们要一个结果，把软件当管道看。第二件才是替换它的许可；要是客户对软件本身有感情，这件事会难做得多。</a:t>
            </a:r>
          </a:p>
          <a:p/>
          <a:p>
            <a:r>
              <a:t>我也说说 RPA 的天花板。它自动化的是固定界面周围的按键动作，界面一改就崩，判断它做不了。在旧的约束下，那是当时能拿到的最好答案。我们换路线不是因为时髦，是那个约束真的松了。</a:t>
            </a:r>
          </a:p>
          <a:p/>
          <a:p>
            <a:r>
              <a:t>所以我们赌的不是模型有多聪明，是会计这件事能验。结果进客户账之前，我们有办法证明它是对的。</a:t>
            </a:r>
          </a:p>
          <a:p/>
          <a:p>
            <a:r>
              <a:t>至于现有厂商为什么不直接做，架构那几页会从结构上回答。短版本是，他们需要的那个底座是 schema 层面的决定，事后补不上；而且他们的收入，恰好靠这套东西要省掉的那些席位。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这一页解释会计软件为什么长成今天这样。这不是厂商的锅，是确定性软件的能力边界决定的。</a:t>
            </a:r>
          </a:p>
          <a:p/>
          <a:p>
            <a:r>
              <a:t>一个限制派生出四个设计选择。分支得提前写死，因为每条分支都要开发在跑之前写出来，没有哪行代码叫"这张发票说不清"。表单成了转接头，它真正干的活是把人心里那点模糊的意思，翻成程序能执行的结构。</a:t>
            </a:r>
          </a:p>
          <a:p/>
          <a:p>
            <a:r>
              <a:t>第三条我想多说两句，后面整个架构都是从这儿转过去的。我们用过的每一套会计系统，校验的都是格式，不是内容。你把一笔完全平衡的分录记到完全错误的科目上，它照样让你过。格式对和内容对是两码事，而我们手上没有任何一套软件问过后面那个问题。我们要做的东西，核心就是让系统问后面那个问题，并且答得出来。</a:t>
            </a:r>
          </a:p>
          <a:p/>
          <a:p>
            <a:r>
              <a:t>第四条是各位如果排过结账就会有体感的地方。内容对不对，外包给人了；软件的职责，恰好在最贵的那段开始之前就停了。</a:t>
            </a:r>
          </a:p>
          <a:p/>
          <a:p>
            <a:r>
              <a:t>我想讲得公道一点。在 Xero 和 QuickBooks 当年面对的约束下，这样设计是对的。正因为如此，约束已经松了这个判断才值得认真对待。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这一页把三个约束和它们的松动放在一起看。</a:t>
            </a:r>
          </a:p>
          <a:p/>
          <a:p>
            <a:r>
              <a:t>第一条，容不下模糊。以前所有路径都得提前写死，凡是要理解非结构化输入的活，都交给表单后面的人。现在杂乱的凭证、银行摘要、合同、邮件往来，模型都吃得下，而这些正是当年软件推给人的东西。</a:t>
            </a:r>
          </a:p>
          <a:p/>
          <a:p>
            <a:r>
              <a:t>第二条，长尾算不过账。第一千个特例和第一个一样贵，所以厂商只做主流，长尾丢给人和 Excel。现在多覆盖一个特例的成本，接近于把它说清楚的成本，长尾第一次值得做了。</a:t>
            </a:r>
          </a:p>
          <a:p/>
          <a:p>
            <a:r>
              <a:t>第三条，有能力先得有界面。以前你只能用产品经理想到、而且排进了版本的功能去指挥软件。现在自然语言本身就是界面，不用谁提前替你想到，你的需求也能被满足。</a:t>
            </a:r>
          </a:p>
          <a:p/>
          <a:p>
            <a:r>
              <a:t>关于长尾这一条，我想主动承认一半。成本降了很多，但没降到零，而且模型在长尾上的可靠性明显比主流场景差。这恰好就是我们为什么要有校验层和人工复核队列，而不是假设它能全自动。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这一页回答两个问题：为什么是会计这个行业，以及为什么是我们。</a:t>
            </a:r>
          </a:p>
          <a:p/>
          <a:p>
            <a:r>
              <a:t>先说行业。大部分脑力活，你没法机械地检查答案，所以人永远留在环里，产品的天花板就是打辅助。我们选会计，不是因为会计有意思，是因为它能验。借贷必须相等，试算表必须平，明细账要跟总账勾得上，银行对账差额必须为零，税务和申报规则都是成文的。这些规则是现成的。</a:t>
            </a:r>
          </a:p>
          <a:p/>
          <a:p>
            <a:r>
              <a:t>有了这些规则，我们才敢自动过账，而且说得清误差有多大；才能只把真有歧义的推给人；才能用外部审阅认的方式，讲自己的准确率。就这一件事，分开了一个 demo 和一套敢放到客户面前的系统。</a:t>
            </a:r>
          </a:p>
          <a:p/>
          <a:p>
            <a:r>
              <a:t>再说为什么是我们。这些年我们的机器人执行机械步骤，一碰到要判断的地方就停死。每一次停死，都是一条带时间戳的记录，精确标出确定性自动化的边界在哪儿。一个从零起步的团队要花一年才摸出这张图，我们是把它当生产系统在养。它还告诉我们该先打哪几类、按什么顺序，按笔数排，也按出错率排。</a:t>
            </a:r>
          </a:p>
          <a:p/>
          <a:p>
            <a:r>
              <a:t>有一点我要讲准。流程遥测和异常日志，我们有；客户的账簿，我们不拥有。用来训练和评测的数据，是通过现有合作、在客户授权下拿的，有些协议要更新。这是个流程问题，不是拦路石，但我不想假装它不存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接下来六页讲架构。在进去之前，我想先说清楚守得住的是哪几样东西。</a:t>
            </a:r>
          </a:p>
          <a:p/>
          <a:p>
            <a:r>
              <a:t>厂商靠界面做差异化的时候，护城河是用惯了和配置好了。等系统开始替你干活，变得难抄的是另外四样。</a:t>
            </a:r>
          </a:p>
          <a:p/>
          <a:p>
            <a:r>
              <a:t>第一样是校验。给模型写提示词谁都会，证明输出是对的几乎没人会。在一个有标准答案的行业里，校验器本身就是产品。</a:t>
            </a:r>
          </a:p>
          <a:p/>
          <a:p>
            <a:r>
              <a:t>第二样是上下文，也就是客户身上攒下来的规矩和历史。这家供应商一律进主营成本，这家客户两千五以上才资本化。这是专有的状态，不是模型。</a:t>
            </a:r>
          </a:p>
          <a:p/>
          <a:p>
            <a:r>
              <a:t>第三样是权限。我想特别说一下这一条，因为它最容易被低估。界面用惯了是一种偏好，而偏好一轮采购就能推翻；但往客户账上、银行、申报里写数的权限，后面挂着我们的责任，是一个有审批留痕的治理决定，要收回它得开管理层的会。</a:t>
            </a:r>
          </a:p>
          <a:p/>
          <a:p>
            <a:r>
              <a:t>第四样是评测集。提示词一下午就抄走了，几年被复核过的结账数据抄不走。</a:t>
            </a:r>
          </a:p>
          <a:p/>
          <a:p>
            <a:r>
              <a:t>也有些东西没有变。记录系统更重要了，不是更不重要。智能体需要一个有真值、有权限、有历史的底座，被淘汰的是界面，不是数据库。信任、安全、保密、专业规范，还是一切的前提。</a:t>
            </a:r>
          </a:p>
          <a:p/>
          <a:p>
            <a:r>
              <a:t>最后请各位注意，这张单子上没有智能体层。提示词是整个系统里最便宜、最好换的一块，我们故意做得很薄。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这是整套系统的架构。标题那句话就是我们的设计哲学：智能体负责决定，确定性代码负责执行，没验过的东西一律不落账。</a:t>
            </a:r>
          </a:p>
          <a:p/>
          <a:p>
            <a:r>
              <a:t>我从下往上讲，因为这是真实的建设顺序。最底下是数据接入，银行、卡、工资、POS、应付邮箱、凭证、往年账套。往上是账簿内核，只追加、双时间维度、复式记账、全程可溯。再往上是确定性工具层，所有动作都带类型、自己守不变量。再往上是持久化编排，把结账清单做成能断点续跑的状态机。然后才是智能体层，再上面是校验与护栏，最上面才是客户看到的界面。</a:t>
            </a:r>
          </a:p>
          <a:p/>
          <a:p>
            <a:r>
              <a:t>请各位注意校验层的位置。它在智能体之上，在客户之下。智能体产出的任何东西，不过确定性检查，进不了客户的账。这是架构上的保证，不是一条政策，也不是我们对模型行为的承诺。</a:t>
            </a:r>
          </a:p>
          <a:p/>
          <a:p>
            <a:r>
              <a:t>三个菱形是我们认为专有、守得住的地方，而智能体层不在里面。这个赛道很多团队在智能体层上投得过重，因为那是看得见、能演示的部分，然后发现自己既没校验也没评测，压根判断不出来有没有变好。我们是故意反过来做的。</a:t>
            </a:r>
          </a:p>
          <a:p/>
          <a:p>
            <a:r>
              <a:t>可能有人会问，为什么用持久化编排，不让智能体自己规划结账。因为结账是一份已知的清单，要拖好几天，中间得等客户回邮件，某一步失败还得有补偿逻辑。已知的流程我们用确定性方式建模，只在要判断的步骤里用智能体。让智能体在总账上自由发挥，是拿到一份自己都解释不清的财务重述的最快办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这一层，抄提示词是抄不走的。</a:t>
            </a:r>
          </a:p>
          <a:p/>
          <a:p>
            <a:r>
              <a:t>先说双时间维度，我举个例子。客户三月的账是四月关的，到了六月，有人来问我们三月三十一号那天认为的情况是什么、凭什么这么记。普通数据库答不上来，它只存当前状态。我们答得上来，因为我们把一件事什么时候成立、和我们什么时候知道它，分开存了。同一个机制，也让我们能把去年真实的结账数据拿出来，把智能体丢回去重跑一遍，量它的准确率。我们整套评测能力，就压在这一个 schema 选择上。</a:t>
            </a:r>
          </a:p>
          <a:p/>
          <a:p>
            <a:r>
              <a:t>第二条是不可变。更正走红冲，不改数。能改的账，事后说不清；能悄悄覆盖数据的智能体，给多少钱也不该收。</a:t>
            </a:r>
          </a:p>
          <a:p/>
          <a:p>
            <a:r>
              <a:t>第三条是溯源。源凭证、抽取、推理轨迹、工具调用、命中哪条规矩、谁批的、最后过账，这一整条链要能查。在现有系统里，审计日志是贴在边上的合规材料；在这里它是承重墙。项目最常死在一句话上：这笔分录怎么来的，给我看看。只有在 schema 上就为它设计过，这句话才答得上来。</a:t>
            </a:r>
          </a:p>
          <a:p/>
          <a:p>
            <a:r>
              <a:t>我知道有人会算成本。只追加加上双时间维度的账簿，建起来、查起来都比可变表贵。这笔账我们在第一个月就认了，因为它事后补不回来。</a:t>
            </a:r>
          </a:p>
          <a:p/>
          <a:p>
            <a:r>
              <a:t>这一层占工程量大概百分之十五到二十，而且几乎不会出现在 demo 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工具层不是把 REST API 改个名字。REST API 假设调用方知道自己要什么，而工具层假设调用方很能干、很自信，但偶尔是错的。</a:t>
            </a:r>
          </a:p>
          <a:p/>
          <a:p>
            <a:r>
              <a:t>第一点，报错要能指路，因为智能体会读它然后重试。四百参数错误这种报错一点用没有；分录不平、借方一千二、贷方一千一百五、差五十，这样的报错能换来一次成功的重试。在这儿，报错文案是功能，不是细节。</a:t>
            </a:r>
          </a:p>
          <a:p/>
          <a:p>
            <a:r>
              <a:t>第二点，不变量归工具管，不归调用方管。平时你会信自己前端传上来的数，这里反过来。每个工具都当调用方是错的，自己去卡平衡、卡期间、卡权限。</a:t>
            </a:r>
          </a:p>
          <a:p/>
          <a:p>
            <a:r>
              <a:t>第三点，幂等是硬要求，因为智能体一定会重试。</a:t>
            </a:r>
          </a:p>
          <a:p/>
          <a:p>
            <a:r>
              <a:t>第四点，粒度得反复磨。太细，智能体调四十次还把上下文丢了；太粗，它表达不出意图。</a:t>
            </a:r>
          </a:p>
          <a:p/>
          <a:p>
            <a:r>
              <a:t>第五点，接口面必须小、必须好找。上下文是稀缺资源，你不可能把四百个接口摆在一个推理者面前。</a:t>
            </a:r>
          </a:p>
          <a:p/>
          <a:p>
            <a:r>
              <a:t>如果这一页只留一句话，就是右边那条铁律：模型不在脑子里算数，也不在脑子里套规则。竞争对手 demo 里出现的每一个错数字，都是因为让模型自己算，而不是去调一个会算的东西。</a:t>
            </a:r>
          </a:p>
          <a:p/>
          <a:p>
            <a:r>
              <a:t>有人会问 MCP 或者工具协议标准化。我们兼容，但那是集成细节，不是难点。难点是把大概三十个工具的粒度和不变量设计对，那靠的是会计专业，不是协议工作。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这是整套东西的技术核心。跟现在用的软件比，最大的变化是，以前只校验格式对不对，现在要校验一个格式没问题的答案，内容对不对。</a:t>
            </a:r>
          </a:p>
          <a:p/>
          <a:p>
            <a:r>
              <a:t>我们分三层。第一层是硬性不变量，确定性的，不讲条件，提交之前一定跑，过不去就直接拦住，不是给个提醒。第二层是统计检查，跟上期比波动，看供应商和科目的搭配是不是反常，看分布有没有异常。它抓的是不变量放过去的那一类，格式没错，内容错了；它出分，不下结论。第三层是分流，过线的自动过账，没过线的带上全部上下文进复核队列。</a:t>
            </a:r>
          </a:p>
          <a:p/>
          <a:p>
            <a:r>
              <a:t>这里有一件事我想强调。模型的置信度校得很差，而且一贯自信过头，所以问它有几成把握，不算一道控制。我们的置信度是从前两层的信号，加上跑几遍看结果一致不一致推出来的，再用已知结果去校准。</a:t>
            </a:r>
          </a:p>
          <a:p/>
          <a:p>
            <a:r>
              <a:t>分流的那条阈值，就是钱。往上抬，工时降，但出错的风险升；往下压，等于什么都没自动化。整个工程计划其实就一件事，在安全的前提下，按类别把这条线一点点往上推，而且每次推动都拿数说话。自动过账率每涨一个点，对应多少工时，我们算得出来。</a:t>
            </a:r>
          </a:p>
          <a:p/>
          <a:p>
            <a:r>
              <a:t>还有一点，复核人每改一次，先变成一条显式的、有版本的规则，然后才是一个检索样本。规则能拿给审阅的人看，向量不行。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真值来自已经结完的账。我们把智能体丢回历史期间重跑，先跟当时记账的人比，再跟复核改了什么比。哪些类别该加权，我们看 RPA 的异常日志，因为它告诉我们哪些交易类别最常出问题、量有多大。所以我们是按工时到底花在哪给语料加权，不是均匀采样。</a:t>
            </a:r>
          </a:p>
          <a:p/>
          <a:p>
            <a:r>
              <a:t>评测这件事改变了工程习惯。普通功能要么对、要么是 bug，而智能体的能力是一条分布，问题从能不能用，变成在什么样的输入上、多大比例能对、错的时候怎么错。</a:t>
            </a:r>
          </a:p>
          <a:p/>
          <a:p>
            <a:r>
              <a:t>具体有几件事。CI 里跑的是统计检验，掉两个点可能是噪声，也可能是出大事，只有样本量能告诉你是哪种。Bug 复现不了，所以每次运行都要留全，提示词、上下文、工具调用、模型版本；不留，生产环境里就是睁眼瞎。换模型等于改了一堆我们从没写下来的行为，所以要锁版本，新模型先在语料上跑影子评测，再决定换不换，回退留好。</a:t>
            </a:r>
          </a:p>
          <a:p/>
          <a:p>
            <a:r>
              <a:t>我想老实说一句，评测比产品本身更难做。在这儿投得不够，就会失去判断自己有没有变好的能力，最后靠感觉做优化。这套语料要一条数据流水线，加上资深会计的标注时间，那部分时间是真钱，后面资源那页会列出来。</a:t>
            </a:r>
          </a:p>
          <a:p/>
          <a:p>
            <a:r>
              <a:t>这也决定了我们以后怎么汇报。我们不会拿上了一个功能来汇报，我们会拿这一类的自动过账率从七十一提到八十八、对应多少工时来汇报。进度是量出来的，不是说出来的。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这一页讲两个真正的坎，我不想绕过去。</a:t>
            </a:r>
          </a:p>
          <a:p/>
          <a:p>
            <a:r>
              <a:t>第一个是可靠性会连乘掉下来。单步百分之九十五，连着二十步就只剩百分之三十六。这是这个方向最硬的工程问题，没有哪句提示词能解决它。真正的解法在架构上，把自主的跨度做短，中间用确定性编排接起来；每一步都要能单独验；提交前必须过闸。宁可要一串短的、验过的小跳，不要一条长链。前面那页架构，就是围着这件事设计的。</a:t>
            </a:r>
          </a:p>
          <a:p/>
          <a:p>
            <a:r>
              <a:t>这条也可以拿去筛别人。各位以后看这个赛道的其他项目，可以问他们自主链条有多长、每一步靠什么验，这是判断谁真把东西跑起来过的最快办法。</a:t>
            </a:r>
          </a:p>
          <a:p/>
          <a:p>
            <a:r>
              <a:t>第二个是安全模型反过来了。平常是代码可信、用户不可信，而我们的智能体两头都不占。它带着写权限，同时在读一张供应商的 PDF、一封外面来的邮件，这是一类新漏洞，押上去的是客户的账。我们的做法是，凭证按任务下发，权限给到最小；不让任何一个工具同时能读不可信内容和做不可逆的事；职责分离写进代码，智能体不能批自己的分录；期间锁死，凭证里抽出来的文字一律当污点。职责分离这一条，其实是把一套给人用的内控框架，套到了一个软件执行者身上。</a:t>
            </a:r>
          </a:p>
          <a:p/>
          <a:p>
            <a:r>
              <a:t>还有两个我们也盯着。一个是六四陷阱，容易的那大半笔数很快就自动化了，容易让人以为成了，可剩下那一小部分吃掉了大部分工时，所以我们统计各环节耗时，不统计笔数。另一个是迁移，量大，对正确性要求极高，而且每个客户上线前第一件事就是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这套东西的工程形态，和传统会计软件不一样。先说明一下，这些百分比是形态上的估计，不是实测数据。</a:t>
            </a:r>
          </a:p>
          <a:p/>
          <a:p>
            <a:r>
              <a:t>传统软件里，记录系统是代码库里最小、最稳、最值钱的一块，界面是最大、改得最勤的一块。主流软件底下的账簿内核可能就几千行，十年没怎么动；外面那层界面几十万行，每个版本都在改。</a:t>
            </a:r>
          </a:p>
          <a:p/>
          <a:p>
            <a:r>
              <a:t>原因是界面把全部的异质性都吸走了。每来一个新客户类型、新特例、新监管差异，就多一个页面、多一个字段、多一张报表，而领域模型几乎什么都没吸。界面的复杂度，就是客户的多样性投影到确定性代码上的样子。智能体把这部分多样性吸进模型里，所以界面占比大致腰斩，我们要的是一个做到位的界面，不是四十个页面。</a:t>
            </a:r>
          </a:p>
          <a:p/>
          <a:p>
            <a:r>
              <a:t>另外请注意，智能体层是占比最小的几条之一。这已经是今天第三次出现这个结论了。</a:t>
            </a:r>
          </a:p>
          <a:p/>
          <a:p>
            <a:r>
              <a:t>一句话总结这一段，传统软件把工程预算花在让人在界面上更快，我们花在让机器的输出在底座上站得住。</a:t>
            </a:r>
          </a:p>
          <a:p/>
          <a:p>
            <a:r>
              <a:t>如果各位关心我们的人数是不是比同类软件公司少，不是少，是结构不同。前端更少，数据和基础设施更多，再加上会计专业，而且是放在环里，不是放在旁边。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接下来讲我们怎么建，以及为什么敢按周排。</a:t>
            </a:r>
          </a:p>
          <a:p/>
          <a:p>
            <a:r>
              <a:t>编程智能体把工程时间的去向改了。现在谁都能很快生成一份实现，但没人能很快决定这份实现必须满足什么、并且证明它满足了。所以最贵的一步不再是写实现，而是把什么叫对定准，再搭出一套能查它的东西。</a:t>
            </a:r>
          </a:p>
          <a:p/>
          <a:p>
            <a:r>
              <a:t>我们的顺序是四步。第一步，先说清要什么，先写不变量，再写功能，而且写成能跑的检查，不是需求文档里的一句话。第二步，先搭校验台，拿真实的历史结账当用例，配回放执行器，跟已知结果做 diff，挂上 CI 闸门。这里顺序很重要，校验台要先于它要评的那份实现；你要是先写代码，写出来的测试会跟代码达成一致，而不是跟会计要求达成一致。第三步，让智能体去写，目标能机器验之后，它就能对着校验台一遍遍改，直到过，代码量不再是瓶颈。第四步，人守边界，schema 和底座怎么定、工具切多粗、什么算对，还有审这些闸门，人做判断，不做打字。</a:t>
            </a:r>
          </a:p>
          <a:p/>
          <a:p>
            <a:r>
              <a:t>这里有一个我觉得最漂亮的地方。我们为了让编程智能体能干活而搭的那套校验台，就是产品跑起来之后要用的校验层。评测语料、回放执行器、不变量检查，我们不是先搭测试脚手架、再建产品，而是先把产品的校验层建出来，开发变快只是它的副产品。</a:t>
            </a:r>
          </a:p>
          <a:p/>
          <a:p>
            <a:r>
              <a:t>在我们这一行，领域本身就把规格给了我们，复式记账的不变量、勾稽关系、银行对账，所以我们特别有条件吃到这波红利。</a:t>
            </a:r>
          </a:p>
          <a:p/>
          <a:p>
            <a:r>
              <a:t>限制我也说清楚。往这件事上堆人，压不下来多少排期，因为速度上限是把问题定清楚，那是领域活。这也是为什么下面那支团队不大。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这是八条工作流。请各位重点看最后一列，每条线都有一个能验收的完成条件，不是一个交付日期。我建议就按这个考核我们。</a:t>
            </a:r>
          </a:p>
          <a:p/>
          <a:p>
            <a:r>
              <a:t>第一条，账簿底座与切换。这里最要紧的细节是双写 diff。我们不靠拍脑袋决定什么时候切主库，而是两套系统并行跑，每一笔分录自动 diff，连续三个结账周期为零才切。这是一个能验收的闸，不是一个决定。</a:t>
            </a:r>
          </a:p>
          <a:p/>
          <a:p>
            <a:r>
              <a:t>第二条，迁移与期初余额。我直说，这是这类项目里最容易被低估的一项。一个主体一个主体重建期初试算表，还要跟上期期末勾上，这活不光鲜，但对正确性要求极高，而且每个客户在别的一切生效之前都得先过这一关。导入的记录会带一个单独的溯源类别，这样我们永远不会声称自己有实际上没有的溯源链。</a:t>
            </a:r>
          </a:p>
          <a:p/>
          <a:p>
            <a:r>
              <a:t>第六条里有个细节值得说一下。持久化流程在续跑的时候，绝不能悄悄重跑一次模型调用、然后拿到一个不一样的答案。我们存的是那个决定本身，不只是那个步骤。</a:t>
            </a:r>
          </a:p>
          <a:p/>
          <a:p>
            <a:r>
              <a:t>第一、三、五条是关键路径，底座、守底座的工具、证明它的校验台。第零周就得开工，它们不成立，下游做什么都没意义。</a:t>
            </a:r>
          </a:p>
          <a:p/>
          <a:p>
            <a:r>
              <a:t>关于二十周这个数，按常规看确实激进。它成立的前提就是上一页那件事，闸门能机器验，所以实现可以自己对着闸门迭代，不用排队等我们。真出问题会立刻表现成某个闸没过，不会拖到最后交一份状态报告。我也老实说，真正可能滑期的是第二条和第八条。迁移取决于客户数据的状态，那不在我们手里；SOC 2 取决于外部审计师的日程。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这是人力结构的示意，不是招聘计划。我想请各位看三件事。</a:t>
            </a:r>
          </a:p>
          <a:p/>
          <a:p>
            <a:r>
              <a:t>第一，智能体层是十一个人里的一个，而评测和校验台是它的两倍。这个比例是我们做事方式最好的一句概括。</a:t>
            </a:r>
          </a:p>
          <a:p/>
          <a:p>
            <a:r>
              <a:t>第二，会计专业是速度上限，不是工程人力。明天给我们双倍工程师，这个计划也不会明显更早完成，因为卡的是我们把什么叫对说清楚、把语料标出来的速度。这也是我们没要一个大团队的原因。另外，资深会计的标注时间是一笔真钱，而且特别容易被忘，所以我们明确把它放进预算；不预算，语料就会悄悄建不起来，然后所有指标都变成没法验证的。</a:t>
            </a:r>
          </a:p>
          <a:p/>
          <a:p>
            <a:r>
              <a:t>第三，推理成本我们计入营业成本，不进研发。这个赛道大部分计划都放错了，而放对它，单次结账成本这个对比才是诚实的。</a:t>
            </a:r>
          </a:p>
          <a:p/>
          <a:p>
            <a:r>
              <a:t>可能有人会问，十一个人、二十周，做一套账簿加一套智能体系统还要过 SOC 2，真够吗？就实现量说够，编程智能体对着能跑的闸门把这块覆盖掉了。而最先顶不住的不会是代码，是把问题说清楚的产出速度，所以我们要是落后了，第一个加的就是会计专业这条线。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最后，我把可以考核我们的几个数交出来。</a:t>
            </a:r>
          </a:p>
          <a:p/>
          <a:p>
            <a:r>
              <a:t>第一个是自动过账率，一个人都没碰、直接过账的交易占比。我们会按类别报，而且把分母写清楚，因为一个没有分母的混合数没有意义。</a:t>
            </a:r>
          </a:p>
          <a:p/>
          <a:p>
            <a:r>
              <a:t>第二个是单主体单次结账工时。这个数不撒谎，笔数会让我们好看，工时不会，因为剩下的长尾吃掉了大部分成本。</a:t>
            </a:r>
          </a:p>
          <a:p/>
          <a:p>
            <a:r>
              <a:t>第三个是单次结账成本对比替掉的人工，推理加复核，对上被拿掉那部分活的全负担成本。这个数不降，别的都白说。</a:t>
            </a:r>
          </a:p>
          <a:p/>
          <a:p>
            <a:r>
              <a:t>第四个是重述和差错率。这个数能直接把事情终止，所以它按绝对上限管，不看趋势。别的指标我们做优化，这一个我们封顶。</a:t>
            </a:r>
          </a:p>
          <a:p/>
          <a:p>
            <a:r>
              <a:t>关于这个数，我想说一句可能有点反常的话。基线不是零差错。今天 RPA 加人这套流程本来就会出错，机器人会误触发，人会记错科目，账关完了还要更正，而这些我们有日志，比例测得出来。所以智能体要过的那条老实的线，是客户今天做法的实测差错率，不是完美。这两个数我们都打算公开。</a:t>
            </a:r>
          </a:p>
          <a:p/>
          <a:p>
            <a:r>
              <a:t>下面是我们认为什么算做完。账簿成为一定数量客户的主库，连续三个结账周期双写 diff 为零；前五大类别自动过账率到位，分母写清楚；单主体单次结账工时比现状明显下降；重述率不高于上线前的水平；单次结账成本低于它替掉的人工成本的既定比例；拿到 SOC 2 Type II，而且外部审阅一次通过，审计包不用改。</a:t>
            </a:r>
          </a:p>
          <a:p/>
          <a:p>
            <a:r>
              <a:t>一句话收尾。我们不是在会计软件上加几个 AI 功能，是让软件把会计做了，底下压着一套每个数都能证明、都能辩的账簿。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0"/>
            </a:avLst>
          </a:prstGeom>
          <a:solidFill>
            <a:srgbClr val="111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417320"/>
            <a:ext cx="108749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1" i="0">
                <a:solidFill>
                  <a:srgbClr val="7AB8C8"/>
                </a:solidFill>
                <a:latin typeface="Helvetica Neue"/>
                <a:ea typeface="PingFang SC"/>
              </a:rPr>
              <a:t>2026 年 8 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011680"/>
            <a:ext cx="104241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Helvetica Neue"/>
                <a:ea typeface="PingFang SC"/>
              </a:rPr>
              <a:t>智能体原生的
会计软件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4846320"/>
            <a:ext cx="2011680" cy="3175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5120640"/>
            <a:ext cx="108749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 i="0">
                <a:solidFill>
                  <a:srgbClr val="8E9CAE"/>
                </a:solidFill>
                <a:latin typeface="Helvetica Neue"/>
                <a:ea typeface="PingFang SC"/>
              </a:rPr>
              <a:t>吕春亮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1807" y="6528816"/>
            <a:ext cx="7315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D5DCE4"/>
                </a:solidFill>
                <a:latin typeface="Helvetica Neue"/>
                <a:ea typeface="PingFang SC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1" i="0">
                <a:solidFill>
                  <a:srgbClr val="0E7490"/>
                </a:solidFill>
                <a:latin typeface="Helvetica Neue"/>
                <a:ea typeface="PingFang SC"/>
              </a:rPr>
              <a:t>核心论点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49808"/>
            <a:ext cx="1087495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500" b="1" i="0">
                <a:solidFill>
                  <a:srgbClr val="111A27"/>
                </a:solidFill>
                <a:latin typeface="Helvetica Neue"/>
                <a:ea typeface="PingFang SC"/>
              </a:rPr>
              <a:t>软件一直停在真正干活的那条线之外。
那条线是技术划出来的，现在它挪了。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94560"/>
            <a:ext cx="3465576" cy="2880360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14400" y="2432304"/>
            <a:ext cx="29626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11A27"/>
                </a:solidFill>
                <a:latin typeface="Helvetica Neue"/>
                <a:ea typeface="PingFang SC"/>
              </a:rPr>
              <a:t>原来的约束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62656"/>
            <a:ext cx="2962656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00" b="0" i="0">
                <a:solidFill>
                  <a:srgbClr val="333E4F"/>
                </a:solidFill>
                <a:latin typeface="Helvetica Neue"/>
                <a:ea typeface="PingFang SC"/>
              </a:rPr>
              <a:t>确定性的代码没法在模糊里做事。分支都得提前写死，可“看情况”这三个字写不成代码。于是凡是要判断的地方，统统被推出软件，落到人身上。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2194560"/>
            <a:ext cx="3465576" cy="2880360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636008" y="2432304"/>
            <a:ext cx="29626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111A27"/>
                </a:solidFill>
                <a:latin typeface="Helvetica Neue"/>
                <a:ea typeface="PingFang SC"/>
              </a:rPr>
              <a:t>现在松开了什么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36008" y="2962656"/>
            <a:ext cx="2962656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00" b="0" i="0">
                <a:solidFill>
                  <a:srgbClr val="333E4F"/>
                </a:solidFill>
                <a:latin typeface="Helvetica Neue"/>
                <a:ea typeface="PingFang SC"/>
              </a:rPr>
              <a:t>模型吃得下模糊的东西，多覆盖一个长尾几乎不加钱，而且不需要谁先把界面搭好。这是三条具体的工程性质，不是“模型变聪明了”这种空话。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01583" y="2194560"/>
            <a:ext cx="3465576" cy="2880360"/>
          </a:xfrm>
          <a:prstGeom prst="roundRect">
            <a:avLst>
              <a:gd name="adj" fmla="val 4000"/>
            </a:avLst>
          </a:prstGeom>
          <a:solidFill>
            <a:srgbClr val="FAEEE3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357615" y="2432304"/>
            <a:ext cx="296265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800" b="1" i="0">
                <a:solidFill>
                  <a:srgbClr val="7A3B08"/>
                </a:solidFill>
                <a:latin typeface="Helvetica Neue"/>
                <a:ea typeface="PingFang SC"/>
              </a:rPr>
              <a:t>为什么是我们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7615" y="2962656"/>
            <a:ext cx="2962656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300" b="0" i="0">
                <a:solidFill>
                  <a:srgbClr val="333E4F"/>
                </a:solidFill>
                <a:latin typeface="Helvetica Neue"/>
                <a:ea typeface="PingFang SC"/>
              </a:rPr>
              <a:t>这些软件我们本来就在用 RPA 自动化。客户从来不问底下跑的是哪一套，他们只要结果。RPA 自动化的是点鼠标，判断这块它一直没碰。这条线画在哪，我们比谁都清楚。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5285232"/>
            <a:ext cx="10874959" cy="960120"/>
          </a:xfrm>
          <a:prstGeom prst="roundRect">
            <a:avLst>
              <a:gd name="adj" fmla="val 4000"/>
            </a:avLst>
          </a:prstGeom>
          <a:solidFill>
            <a:srgbClr val="111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69264" y="5559552"/>
            <a:ext cx="1025316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Helvetica Neue"/>
                <a:ea typeface="PingFang SC"/>
              </a:rPr>
              <a:t>我们赌的不是模型有多聪明，是会计这件事能验。结果进客户账之前，我们有办法证明它是对的。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1807" y="6528816"/>
            <a:ext cx="7315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D5DCE4"/>
                </a:solidFill>
                <a:latin typeface="Helvetica Neue"/>
                <a:ea typeface="PingFang SC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1" i="0">
                <a:solidFill>
                  <a:srgbClr val="0E7490"/>
                </a:solidFill>
                <a:latin typeface="Helvetica Neue"/>
                <a:ea typeface="PingFang SC"/>
              </a:rPr>
              <a:t>技术背景 · 1 /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49808"/>
            <a:ext cx="1087495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600" b="1" i="0">
                <a:solidFill>
                  <a:srgbClr val="111A27"/>
                </a:solidFill>
                <a:latin typeface="Helvetica Neue"/>
                <a:ea typeface="PingFang SC"/>
              </a:rPr>
              <a:t>会计软件为什么长成今天这样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19072"/>
            <a:ext cx="10241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 i="0">
                <a:solidFill>
                  <a:srgbClr val="333E4F"/>
                </a:solidFill>
                <a:latin typeface="Helvetica Neue"/>
                <a:ea typeface="PingFang SC"/>
              </a:rPr>
              <a:t>这不是厂商的锅。确定性软件能做到哪一步，就决定了它只能长成这样。一个限制，派生出四个设计选择，四个都把活推给了人。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468880"/>
            <a:ext cx="25511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50" b="1" i="0">
                <a:solidFill>
                  <a:srgbClr val="0E7490"/>
                </a:solidFill>
                <a:latin typeface="Helvetica Neue"/>
                <a:ea typeface="PingFang SC"/>
              </a:rPr>
              <a:t>分支得提前写死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999232"/>
            <a:ext cx="2551176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每条分支都要开发在跑之前写出来。没有哪行代码叫“这张发票说不清”。凡是需要解释的东西，只能出程序。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38144" y="2468880"/>
            <a:ext cx="25511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50" b="1" i="0">
                <a:solidFill>
                  <a:srgbClr val="0E7490"/>
                </a:solidFill>
                <a:latin typeface="Helvetica Neue"/>
                <a:ea typeface="PingFang SC"/>
              </a:rPr>
              <a:t>表单就是个转接头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38144" y="2999232"/>
            <a:ext cx="2551176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表单真正干的活，是把人心里那点模糊的意思，翻成程序能执行的结构。它是上面那条限制留下的疤，所以表单才会那么多。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468880"/>
            <a:ext cx="25511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50" b="1" i="0">
                <a:solidFill>
                  <a:srgbClr val="0E7490"/>
                </a:solidFill>
                <a:latin typeface="Helvetica Neue"/>
                <a:ea typeface="PingFang SC"/>
              </a:rPr>
              <a:t>只校验格式，不校验对错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999232"/>
            <a:ext cx="2551176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日期是不是日期、分录平不平，它管；这笔费用该不该进这个科目，它不管。格式对和内容对是两码事，它只问前面那个。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97696" y="2468880"/>
            <a:ext cx="255117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50" b="1" i="0">
                <a:solidFill>
                  <a:srgbClr val="0E7490"/>
                </a:solidFill>
                <a:latin typeface="Helvetica Neue"/>
                <a:ea typeface="PingFang SC"/>
              </a:rPr>
              <a:t>人就是错误处理层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97696" y="2999232"/>
            <a:ext cx="2551176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内容对不对，外包给人了。厂商承诺的是：别让你录进不可能的数，报错说清楚。这比“保证做对”便宜太多，记账成本以人力为主，根子在这儿。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5468112"/>
            <a:ext cx="10874959" cy="914400"/>
          </a:xfrm>
          <a:prstGeom prst="roundRect">
            <a:avLst>
              <a:gd name="adj" fmla="val 4000"/>
            </a:avLst>
          </a:prstGeom>
          <a:solidFill>
            <a:srgbClr val="FA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5705856"/>
            <a:ext cx="1028974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50" b="1" i="0">
                <a:solidFill>
                  <a:srgbClr val="7A3B08"/>
                </a:solidFill>
                <a:latin typeface="Helvetica Neue"/>
                <a:ea typeface="PingFang SC"/>
              </a:rPr>
              <a:t>这些软件从一开始就没打算替你做会计，它只想拦住你录一笔不可能的数。后面所有内容，都来自我们接下那个更难的承诺：做对，而且能证明。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1807" y="6528816"/>
            <a:ext cx="7315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D5DCE4"/>
                </a:solidFill>
                <a:latin typeface="Helvetica Neue"/>
                <a:ea typeface="PingFang SC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1" i="0">
                <a:solidFill>
                  <a:srgbClr val="0E7490"/>
                </a:solidFill>
                <a:latin typeface="Helvetica Neue"/>
                <a:ea typeface="PingFang SC"/>
              </a:rPr>
              <a:t>技术背景 · 2 /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49808"/>
            <a:ext cx="1087495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600" b="1" i="0">
                <a:solidFill>
                  <a:srgbClr val="111A27"/>
                </a:solidFill>
                <a:latin typeface="Helvetica Neue"/>
                <a:ea typeface="PingFang SC"/>
              </a:rPr>
              <a:t>三个约束造就了那套设计，现在三个一起松了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901952"/>
          <a:ext cx="10872216" cy="35753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4059936"/>
                <a:gridCol w="4069080"/>
              </a:tblGrid>
              <a:tr h="420624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约束</a:t>
                      </a:r>
                    </a:p>
                  </a:txBody>
                  <a:tcPr marL="91440" marR="73152" marT="36576" marB="36576" anchor="ctr">
                    <a:solidFill>
                      <a:srgbClr val="111A2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逼着软件怎么做</a:t>
                      </a:r>
                    </a:p>
                  </a:txBody>
                  <a:tcPr marL="91440" marR="73152" marT="36576" marB="36576" anchor="ctr">
                    <a:solidFill>
                      <a:srgbClr val="111A2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250" b="1" i="0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现在变了什么</a:t>
                      </a:r>
                    </a:p>
                  </a:txBody>
                  <a:tcPr marL="91440" marR="73152" marT="36576" marB="36576" anchor="ctr">
                    <a:solidFill>
                      <a:srgbClr val="111A27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2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容不下模糊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2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路径全部提前写死。凡是要理解非结构化输入的活，都交给表单后面的人。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2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杂乱的凭证、银行摘要、合同、邮件往来，模型都吃得下。当年软件推给人的，正是这些。</a:t>
                      </a:r>
                    </a:p>
                  </a:txBody>
                  <a:tcPr marL="91440" marR="73152" marT="36576" marB="36576" anchor="ctr">
                    <a:solidFill>
                      <a:srgbClr val="FAEEE3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2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长尾算不过账</a:t>
                      </a:r>
                    </a:p>
                  </a:txBody>
                  <a:tcPr marL="91440" marR="73152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2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第一千个特例和第一个一样贵。厂商只做主流，长尾丢给人和 Excel。</a:t>
                      </a:r>
                    </a:p>
                  </a:txBody>
                  <a:tcPr marL="91440" marR="73152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2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多覆盖一个特例的成本，接近于把它说清楚的成本。长尾第一次值得做了。</a:t>
                      </a:r>
                    </a:p>
                  </a:txBody>
                  <a:tcPr marL="91440" marR="73152" marT="36576" marB="36576" anchor="ctr">
                    <a:solidFill>
                      <a:srgbClr val="FAEEE3"/>
                    </a:solidFill>
                  </a:tcPr>
                </a:tc>
              </a:tr>
              <a:tr h="1051560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2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有能力先得有界面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2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你只能用产品经理想到、而且排进了版本的功能去指挥软件。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2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自然语言本身就是界面。不用谁提前替你想到，你的需求也能被满足。</a:t>
                      </a:r>
                    </a:p>
                  </a:txBody>
                  <a:tcPr marL="91440" marR="73152" marT="36576" marB="36576" anchor="ctr">
                    <a:solidFill>
                      <a:srgbClr val="FAEEE3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58368" y="5577840"/>
            <a:ext cx="10874959" cy="777240"/>
          </a:xfrm>
          <a:prstGeom prst="roundRect">
            <a:avLst>
              <a:gd name="adj" fmla="val 4000"/>
            </a:avLst>
          </a:prstGeom>
          <a:solidFill>
            <a:srgbClr val="E4F0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50976" y="5779008"/>
            <a:ext cx="1028974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00" b="1" i="0">
                <a:solidFill>
                  <a:srgbClr val="0A5366"/>
                </a:solidFill>
                <a:latin typeface="Helvetica Neue"/>
                <a:ea typeface="PingFang SC"/>
              </a:rPr>
              <a:t>整套判断就压在这三条具体性质上，不是压在对 AI 的笼统信心上：容得下模糊、长尾几乎不加钱、界面不用提前搭。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1807" y="6528816"/>
            <a:ext cx="7315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D5DCE4"/>
                </a:solidFill>
                <a:latin typeface="Helvetica Neue"/>
                <a:ea typeface="PingFang SC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1" i="0">
                <a:solidFill>
                  <a:srgbClr val="0E7490"/>
                </a:solidFill>
                <a:latin typeface="Helvetica Neue"/>
                <a:ea typeface="PingFang SC"/>
              </a:rPr>
              <a:t>领域适配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49808"/>
            <a:ext cx="1087495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600" b="1" i="0">
                <a:solidFill>
                  <a:srgbClr val="111A27"/>
                </a:solidFill>
                <a:latin typeface="Helvetica Neue"/>
                <a:ea typeface="PingFang SC"/>
              </a:rPr>
              <a:t>会计最适合先做，因为它能验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19072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 i="0">
                <a:solidFill>
                  <a:srgbClr val="333E4F"/>
                </a:solidFill>
                <a:latin typeface="Helvetica Neue"/>
                <a:ea typeface="PingFang SC"/>
              </a:rPr>
              <a:t>多数智能体产品最后只能停在“打辅助”，因为没人说得清输出到底对不对。法律、咨询、大部分脑力活都没有标准答案。会计有。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450592"/>
            <a:ext cx="3465576" cy="2926080"/>
          </a:xfrm>
          <a:prstGeom prst="roundRect">
            <a:avLst>
              <a:gd name="adj" fmla="val 4000"/>
            </a:avLst>
          </a:prstGeom>
          <a:solidFill>
            <a:srgbClr val="E4F0F4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6112" y="2670048"/>
            <a:ext cx="30083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 i="0">
                <a:solidFill>
                  <a:srgbClr val="0A5366"/>
                </a:solidFill>
                <a:latin typeface="Helvetica Neue"/>
                <a:ea typeface="PingFang SC"/>
              </a:rPr>
              <a:t>1 · 规则是现成的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090672"/>
            <a:ext cx="3008376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— 借贷必须相等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— 试算平衡表必须平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— 明细账要跟总账勾得上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— 银行对账差额必须为零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— 税务和申报规则都是成文的，不用猜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9976" y="2450592"/>
            <a:ext cx="3465576" cy="2926080"/>
          </a:xfrm>
          <a:prstGeom prst="roundRect">
            <a:avLst>
              <a:gd name="adj" fmla="val 4000"/>
            </a:avLst>
          </a:prstGeom>
          <a:solidFill>
            <a:srgbClr val="FAEEE3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617720" y="2670048"/>
            <a:ext cx="30083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 i="0">
                <a:solidFill>
                  <a:srgbClr val="7A3B08"/>
                </a:solidFill>
                <a:latin typeface="Helvetica Neue"/>
                <a:ea typeface="PingFang SC"/>
              </a:rPr>
              <a:t>2 · 所以能先验再提交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3090672"/>
            <a:ext cx="3008376" cy="2148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就这一件事，分开了一个 demo 和一套敢放到客户面前的系统。
有了它，我们才敢自动过账、而且说得清误差有多大；才能只把真有歧义的推给人；才能用外部审阅认的方式，讲自己的准确率。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1583" y="2450592"/>
            <a:ext cx="3465576" cy="2926080"/>
          </a:xfrm>
          <a:prstGeom prst="roundRect">
            <a:avLst>
              <a:gd name="adj" fmla="val 4000"/>
            </a:avLst>
          </a:prstGeom>
          <a:solidFill>
            <a:srgbClr val="FAEEE3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339327" y="2670048"/>
            <a:ext cx="30083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 i="0">
                <a:solidFill>
                  <a:srgbClr val="7A3B08"/>
                </a:solidFill>
                <a:latin typeface="Helvetica Neue"/>
                <a:ea typeface="PingFang SC"/>
              </a:rPr>
              <a:t>3 · 而且我们知道卡在哪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9327" y="3090672"/>
            <a:ext cx="3008376" cy="2148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用 RPA 驱动这些系统这么多年，等于画了一张图：哪一步是机械的，哪一步非人不可。
机器人每天在那道墙上撞上千次，日志全在。再加上通过现有合作能拿到的历史结账数据，这套真值集我们不是从零起跑。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5541264"/>
            <a:ext cx="10874959" cy="841248"/>
          </a:xfrm>
          <a:prstGeom prst="roundRect">
            <a:avLst>
              <a:gd name="adj" fmla="val 4000"/>
            </a:avLst>
          </a:prstGeom>
          <a:solidFill>
            <a:srgbClr val="111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69264" y="5742432"/>
            <a:ext cx="1025316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Helvetica Neue"/>
                <a:ea typeface="PingFang SC"/>
              </a:rPr>
              <a:t>有标准答案，还知道判断卡在哪，这不是加分项。会计能比别的行业更早做成自动化，靠的就是这两条；该由我们来做，靠的也是这两条。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1807" y="6528816"/>
            <a:ext cx="7315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D5DCE4"/>
                </a:solidFill>
                <a:latin typeface="Helvetica Neue"/>
                <a:ea typeface="PingFang SC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1" i="0">
                <a:solidFill>
                  <a:srgbClr val="0E7490"/>
                </a:solidFill>
                <a:latin typeface="Helvetica Neue"/>
                <a:ea typeface="PingFang SC"/>
              </a:rPr>
              <a:t>什么变了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49808"/>
            <a:ext cx="1087495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600" b="1" i="0">
                <a:solidFill>
                  <a:srgbClr val="111A27"/>
                </a:solidFill>
                <a:latin typeface="Helvetica Neue"/>
                <a:ea typeface="PingFang SC"/>
              </a:rPr>
              <a:t>现在，哪些工程是真正守得住的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19072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 i="0">
                <a:solidFill>
                  <a:srgbClr val="333E4F"/>
                </a:solidFill>
                <a:latin typeface="Helvetica Neue"/>
                <a:ea typeface="PingFang SC"/>
              </a:rPr>
              <a:t>厂商靠界面做差异化的时候，护城河是“用惯了”和“配置好了”。等系统开始替你干活，变得难抄的是另外四样，里面没有一样是提示词。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432304"/>
            <a:ext cx="254203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50" b="1" i="0">
                <a:solidFill>
                  <a:srgbClr val="0E7490"/>
                </a:solidFill>
                <a:latin typeface="Helvetica Neue"/>
                <a:ea typeface="PingFang SC"/>
              </a:rPr>
              <a:t>校验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816352"/>
            <a:ext cx="2542032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给模型写提示词谁都会，证明输出是对的几乎没人会。在一个有标准答案的行业里，校验器本身就是产品。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19856" y="2432304"/>
            <a:ext cx="254203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50" b="1" i="0">
                <a:solidFill>
                  <a:srgbClr val="0E7490"/>
                </a:solidFill>
                <a:latin typeface="Helvetica Neue"/>
                <a:ea typeface="PingFang SC"/>
              </a:rPr>
              <a:t>上下文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9856" y="2816352"/>
            <a:ext cx="2542032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客户身上攒下来的规矩和历史：这家供应商一律进主营成本，这家客户 [2,500 元] 以上才资本化。这是专有的状态，不是模型。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941064"/>
            <a:ext cx="254203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50" b="1" i="0">
                <a:solidFill>
                  <a:srgbClr val="0E7490"/>
                </a:solidFill>
                <a:latin typeface="Helvetica Neue"/>
                <a:ea typeface="PingFang SC"/>
              </a:rPr>
              <a:t>权限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325112"/>
            <a:ext cx="2542032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往账上、银行、申报里写数的权限。要收回它，是一个带责任链的治理决定，比“用惯了”结实得多。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9856" y="3941064"/>
            <a:ext cx="254203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50" b="1" i="0">
                <a:solidFill>
                  <a:srgbClr val="0E7490"/>
                </a:solidFill>
                <a:latin typeface="Helvetica Neue"/>
                <a:ea typeface="PingFang SC"/>
              </a:rPr>
              <a:t>评测集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4325112"/>
            <a:ext cx="2542032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一套带结果的语料，拿来跑回归。提示词一下午就抄走了，几年被复核过的结账数据抄不走。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64807" y="2432304"/>
            <a:ext cx="5074920" cy="2926080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739128" y="265176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1" i="0">
                <a:solidFill>
                  <a:srgbClr val="6B7688"/>
                </a:solidFill>
                <a:latin typeface="Helvetica Neue"/>
                <a:ea typeface="PingFang SC"/>
              </a:rPr>
              <a:t>什么没有变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39128" y="3035808"/>
            <a:ext cx="45720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记录系统更重要了，不是更不重要。智能体需要一个有真值、有权限、有历史的底座；被淘汰的是界面，不是数据库。说账簿会消失的人，没建过账簿。
信任、安全、保密、专业规范，还是一切的前提。押上去的是客户的账和我们自己的名声，所以架构里那些控制手段，不是可选项。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541264"/>
            <a:ext cx="10874959" cy="822960"/>
          </a:xfrm>
          <a:prstGeom prst="roundRect">
            <a:avLst>
              <a:gd name="adj" fmla="val 4000"/>
            </a:avLst>
          </a:prstGeom>
          <a:solidFill>
            <a:srgbClr val="FA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5742432"/>
            <a:ext cx="1028974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1" i="0">
                <a:solidFill>
                  <a:srgbClr val="7A3B08"/>
                </a:solidFill>
                <a:latin typeface="Helvetica Neue"/>
                <a:ea typeface="PingFang SC"/>
              </a:rPr>
              <a:t>注意这张单子上没有智能体层。提示词是整个系统里最便宜、最好换的一块，我们故意做得很薄。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1807" y="6528816"/>
            <a:ext cx="7315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D5DCE4"/>
                </a:solidFill>
                <a:latin typeface="Helvetica Neue"/>
                <a:ea typeface="PingFang SC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1" i="0">
                <a:solidFill>
                  <a:srgbClr val="0E7490"/>
                </a:solidFill>
                <a:latin typeface="Helvetica Neue"/>
                <a:ea typeface="PingFang SC"/>
              </a:rPr>
              <a:t>技术架构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49808"/>
            <a:ext cx="1087495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400" b="1" i="0">
                <a:solidFill>
                  <a:srgbClr val="111A27"/>
                </a:solidFill>
                <a:latin typeface="Helvetica Neue"/>
                <a:ea typeface="PingFang SC"/>
              </a:rPr>
              <a:t>智能体负责决定，确定性代码负责执行，
没验过的东西一律不落账。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212848"/>
            <a:ext cx="9006840" cy="470916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9536" y="2313432"/>
            <a:ext cx="2377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50" b="1" i="0">
                <a:solidFill>
                  <a:srgbClr val="111A27"/>
                </a:solidFill>
                <a:latin typeface="Helvetica Neue"/>
                <a:ea typeface="PingFang SC"/>
              </a:rPr>
              <a:t>客户侧界面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01568" y="2331720"/>
            <a:ext cx="6035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 i="0">
                <a:solidFill>
                  <a:srgbClr val="333E4F"/>
                </a:solidFill>
                <a:latin typeface="Helvetica Neue"/>
                <a:ea typeface="PingFang SC"/>
              </a:rPr>
              <a:t>异常队列（真正的主界面） · 对话和邮件 · 客户报表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752344"/>
            <a:ext cx="9006840" cy="470916"/>
          </a:xfrm>
          <a:prstGeom prst="roundRect">
            <a:avLst>
              <a:gd name="adj" fmla="val 4000"/>
            </a:avLst>
          </a:prstGeom>
          <a:solidFill>
            <a:srgbClr val="FAEEE3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59536" y="2852927"/>
            <a:ext cx="2377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50" b="1" i="0">
                <a:solidFill>
                  <a:srgbClr val="111A27"/>
                </a:solidFill>
                <a:latin typeface="Helvetica Neue"/>
                <a:ea typeface="PingFang SC"/>
              </a:rPr>
              <a:t>校验与护栏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01568" y="2871215"/>
            <a:ext cx="6035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 i="0">
                <a:solidFill>
                  <a:srgbClr val="333E4F"/>
                </a:solidFill>
                <a:latin typeface="Helvetica Neue"/>
                <a:ea typeface="PingFang SC"/>
              </a:rPr>
              <a:t>硬性不变量 · 波动和异常检测 · 按置信度分流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54312" y="2862072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1" i="0">
                <a:solidFill>
                  <a:srgbClr val="B45309"/>
                </a:solidFill>
                <a:latin typeface="Helvetica Neue"/>
                <a:ea typeface="PingFang SC"/>
              </a:rPr>
              <a:t>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291839"/>
            <a:ext cx="9006840" cy="470916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59536" y="3392423"/>
            <a:ext cx="2377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50" b="1" i="0">
                <a:solidFill>
                  <a:srgbClr val="111A27"/>
                </a:solidFill>
                <a:latin typeface="Helvetica Neue"/>
                <a:ea typeface="PingFang SC"/>
              </a:rPr>
              <a:t>智能体层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01568" y="3410711"/>
            <a:ext cx="6035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 i="0">
                <a:solidFill>
                  <a:srgbClr val="333E4F"/>
                </a:solidFill>
                <a:latin typeface="Helvetica Neue"/>
                <a:ea typeface="PingFang SC"/>
              </a:rPr>
              <a:t>流程主控 · 抽取 · 分类 · 匹配 · 催单 · 分析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831335"/>
            <a:ext cx="9006840" cy="470916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59536" y="3931920"/>
            <a:ext cx="2377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50" b="1" i="0">
                <a:solidFill>
                  <a:srgbClr val="111A27"/>
                </a:solidFill>
                <a:latin typeface="Helvetica Neue"/>
                <a:ea typeface="PingFang SC"/>
              </a:rPr>
              <a:t>持久化编排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01568" y="3950207"/>
            <a:ext cx="6035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 i="0">
                <a:solidFill>
                  <a:srgbClr val="333E4F"/>
                </a:solidFill>
                <a:latin typeface="Helvetica Neue"/>
                <a:ea typeface="PingFang SC"/>
              </a:rPr>
              <a:t>把结账清单做成能断点续跑的状态机，不是放手让它自己发挥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370831"/>
            <a:ext cx="9006840" cy="470916"/>
          </a:xfrm>
          <a:prstGeom prst="roundRect">
            <a:avLst>
              <a:gd name="adj" fmla="val 4000"/>
            </a:avLst>
          </a:prstGeom>
          <a:solidFill>
            <a:srgbClr val="FAEEE3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59536" y="4471416"/>
            <a:ext cx="2377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50" b="1" i="0">
                <a:solidFill>
                  <a:srgbClr val="111A27"/>
                </a:solidFill>
                <a:latin typeface="Helvetica Neue"/>
                <a:ea typeface="PingFang SC"/>
              </a:rPr>
              <a:t>确定性工具层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1568" y="4489703"/>
            <a:ext cx="6035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 i="0">
                <a:solidFill>
                  <a:srgbClr val="333E4F"/>
                </a:solidFill>
                <a:latin typeface="Helvetica Neue"/>
                <a:ea typeface="PingFang SC"/>
              </a:rPr>
              <a:t>带类型、自己守不变量的动作：过账 · 对账 · 关账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54312" y="4480559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1" i="0">
                <a:solidFill>
                  <a:srgbClr val="B45309"/>
                </a:solidFill>
                <a:latin typeface="Helvetica Neue"/>
                <a:ea typeface="PingFang SC"/>
              </a:rPr>
              <a:t>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910327"/>
            <a:ext cx="9006840" cy="470916"/>
          </a:xfrm>
          <a:prstGeom prst="roundRect">
            <a:avLst>
              <a:gd name="adj" fmla="val 4000"/>
            </a:avLst>
          </a:prstGeom>
          <a:solidFill>
            <a:srgbClr val="FAEEE3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59536" y="5010912"/>
            <a:ext cx="2377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50" b="1" i="0">
                <a:solidFill>
                  <a:srgbClr val="111A27"/>
                </a:solidFill>
                <a:latin typeface="Helvetica Neue"/>
                <a:ea typeface="PingFang SC"/>
              </a:rPr>
              <a:t>账簿内核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1568" y="5029199"/>
            <a:ext cx="6035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 i="0">
                <a:solidFill>
                  <a:srgbClr val="333E4F"/>
                </a:solidFill>
                <a:latin typeface="Helvetica Neue"/>
                <a:ea typeface="PingFang SC"/>
              </a:rPr>
              <a:t>只追加 · 双时间维度 · 复式记账 · 全程可溯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54312" y="5020055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1" i="0">
                <a:solidFill>
                  <a:srgbClr val="B45309"/>
                </a:solidFill>
                <a:latin typeface="Helvetica Neue"/>
                <a:ea typeface="PingFang SC"/>
              </a:rPr>
              <a:t>◆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5449823"/>
            <a:ext cx="9006840" cy="470916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859536" y="5550407"/>
            <a:ext cx="2377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50" b="1" i="0">
                <a:solidFill>
                  <a:srgbClr val="111A27"/>
                </a:solidFill>
                <a:latin typeface="Helvetica Neue"/>
                <a:ea typeface="PingFang SC"/>
              </a:rPr>
              <a:t>数据接入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01568" y="5568695"/>
            <a:ext cx="6035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0" i="0">
                <a:solidFill>
                  <a:srgbClr val="333E4F"/>
                </a:solidFill>
                <a:latin typeface="Helvetica Neue"/>
                <a:ea typeface="PingFang SC"/>
              </a:rPr>
              <a:t>银行 · 卡 · 工资 · POS · 应付邮箱 · 凭证 · 往年账套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848088" y="2212848"/>
            <a:ext cx="1673352" cy="3707891"/>
          </a:xfrm>
          <a:prstGeom prst="roundRect">
            <a:avLst>
              <a:gd name="adj" fmla="val 4000"/>
            </a:avLst>
          </a:prstGeom>
          <a:solidFill>
            <a:srgbClr val="E8EEF2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994392" y="2340864"/>
            <a:ext cx="138074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050" b="1" i="0">
                <a:solidFill>
                  <a:srgbClr val="6B7688"/>
                </a:solidFill>
                <a:latin typeface="Helvetica Neue"/>
                <a:ea typeface="PingFang SC"/>
              </a:rPr>
              <a:t>横向能力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94392" y="2761488"/>
            <a:ext cx="13807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00" b="0" i="0">
                <a:solidFill>
                  <a:srgbClr val="333E4F"/>
                </a:solidFill>
                <a:latin typeface="Helvetica Neue"/>
                <a:ea typeface="PingFang SC"/>
              </a:rPr>
              <a:t>审计轨迹
与溯源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94392" y="3401568"/>
            <a:ext cx="13807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00" b="0" i="0">
                <a:solidFill>
                  <a:srgbClr val="333E4F"/>
                </a:solidFill>
                <a:latin typeface="Helvetica Neue"/>
                <a:ea typeface="PingFang SC"/>
              </a:rPr>
              <a:t>评测与
回放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94392" y="4041648"/>
            <a:ext cx="13807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00" b="0" i="0">
                <a:solidFill>
                  <a:srgbClr val="333E4F"/>
                </a:solidFill>
                <a:latin typeface="Helvetica Neue"/>
                <a:ea typeface="PingFang SC"/>
              </a:rPr>
              <a:t>成本与
Token 遥测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94392" y="4681728"/>
            <a:ext cx="138074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00" b="0" i="0">
                <a:solidFill>
                  <a:srgbClr val="333E4F"/>
                </a:solidFill>
                <a:latin typeface="Helvetica Neue"/>
                <a:ea typeface="PingFang SC"/>
              </a:rPr>
              <a:t>智能体身份
与最小权限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6080759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1" i="0">
                <a:solidFill>
                  <a:srgbClr val="B45309"/>
                </a:solidFill>
                <a:latin typeface="Helvetica Neue"/>
                <a:ea typeface="PingFang SC"/>
              </a:rPr>
              <a:t>◆  专有，守得住。智能体层是我们改得最勤、也最不依赖的一层。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1807" y="6528816"/>
            <a:ext cx="7315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D5DCE4"/>
                </a:solidFill>
                <a:latin typeface="Helvetica Neue"/>
                <a:ea typeface="PingFang SC"/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1" i="0">
                <a:solidFill>
                  <a:srgbClr val="0E7490"/>
                </a:solidFill>
                <a:latin typeface="Helvetica Neue"/>
                <a:ea typeface="PingFang SC"/>
              </a:rPr>
              <a:t>关键部件 · 1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49808"/>
            <a:ext cx="1087495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600" b="1" i="0">
                <a:solidFill>
                  <a:srgbClr val="111A27"/>
                </a:solidFill>
                <a:latin typeface="Helvetica Neue"/>
                <a:ea typeface="PingFang SC"/>
              </a:rPr>
              <a:t>账簿内核：只追加、双时间维度、责任查得到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19072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50" b="0" i="0">
                <a:solidFill>
                  <a:srgbClr val="333E4F"/>
                </a:solidFill>
                <a:latin typeface="Helvetica Neue"/>
                <a:ea typeface="PingFang SC"/>
              </a:rPr>
              <a:t>普通软件改一行数据就完事。有三条要求，我们用过的会计软件一个都不具备，而它们让“改一行”变得不能接受。三条都是 schema 层面的决定，第一天不定，以后补不回来。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450592"/>
            <a:ext cx="676656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1300"/>
              </a:spcBef>
              <a:spcAft>
                <a:spcPts val="200"/>
              </a:spcAft>
            </a:pPr>
            <a:r>
              <a:rPr sz="1300" b="1" i="0">
                <a:solidFill>
                  <a:srgbClr val="111A27"/>
                </a:solidFill>
                <a:latin typeface="Helvetica Neue"/>
                <a:ea typeface="PingFang SC"/>
              </a:rPr>
              <a:t>双时间维度：记账时间和生效时间分开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0" i="0">
                <a:solidFill>
                  <a:srgbClr val="333E4F"/>
                </a:solidFill>
                <a:latin typeface="Helvetica Neue"/>
                <a:ea typeface="PingFang SC"/>
              </a:rPr>
              <a:t>— 得答得上来“3 月 31 号那天账上是什么”。更要紧的是，只有这样才能把智能体丢回某个历史期间重跑一遍、给它打分。我们整套评测能力，就压在这一个 schema 选择上。</a:t>
            </a:r>
          </a:p>
          <a:p>
            <a:pPr>
              <a:lnSpc>
                <a:spcPct val="135000"/>
              </a:lnSpc>
              <a:spcBef>
                <a:spcPts val="1300"/>
              </a:spcBef>
              <a:spcAft>
                <a:spcPts val="200"/>
              </a:spcAft>
            </a:pPr>
            <a:r>
              <a:rPr sz="1300" b="1" i="0">
                <a:solidFill>
                  <a:srgbClr val="111A27"/>
                </a:solidFill>
                <a:latin typeface="Helvetica Neue"/>
                <a:ea typeface="PingFang SC"/>
              </a:rPr>
              <a:t>不可变：更正走红冲，不是改数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0" i="0">
                <a:solidFill>
                  <a:srgbClr val="333E4F"/>
                </a:solidFill>
                <a:latin typeface="Helvetica Neue"/>
                <a:ea typeface="PingFang SC"/>
              </a:rPr>
              <a:t>— 能改的账，事后说不清；能悄悄覆盖数据的智能体，给多少钱也不该收。</a:t>
            </a:r>
          </a:p>
          <a:p>
            <a:pPr>
              <a:lnSpc>
                <a:spcPct val="135000"/>
              </a:lnSpc>
              <a:spcBef>
                <a:spcPts val="1300"/>
              </a:spcBef>
              <a:spcAft>
                <a:spcPts val="200"/>
              </a:spcAft>
            </a:pPr>
            <a:r>
              <a:rPr sz="1300" b="1" i="0">
                <a:solidFill>
                  <a:srgbClr val="111A27"/>
                </a:solidFill>
                <a:latin typeface="Helvetica Neue"/>
                <a:ea typeface="PingFang SC"/>
              </a:rPr>
              <a:t>溯源是一等公民，而且能查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300" b="0" i="0">
                <a:solidFill>
                  <a:srgbClr val="333E4F"/>
                </a:solidFill>
                <a:latin typeface="Helvetica Neue"/>
                <a:ea typeface="PingFang SC"/>
              </a:rPr>
              <a:t>— 源凭证 → 抽取 → 推理轨迹 → 工具调用 → 命中哪条规矩 → 谁批的 → 过账。在现有系统里，审计日志是贴在边上的合规材料；在这里它是承重墙，工作成果全靠它站住。</a:t>
            </a:r>
          </a:p>
          <a:p>
            <a:pPr>
              <a:lnSpc>
                <a:spcPct val="135000"/>
              </a:lnSpc>
              <a:spcBef>
                <a:spcPts val="800"/>
              </a:spcBef>
              <a:spcAft>
                <a:spcPts val="200"/>
              </a:spcAft>
            </a:pPr>
            <a:r>
              <a:rPr sz="1100" b="0" i="1">
                <a:solidFill>
                  <a:srgbClr val="B45309"/>
                </a:solidFill>
                <a:latin typeface="Helvetica Neue"/>
                <a:ea typeface="PingFang SC"/>
              </a:rPr>
              <a:t>每个操作者都分类型：人、智能体，还是系统。智能体的身份、模型版本、提示词版本，都写在分录上。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36408" y="2450592"/>
            <a:ext cx="3675887" cy="3246120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092440" y="265176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1" i="0">
                <a:solidFill>
                  <a:srgbClr val="6B7688"/>
                </a:solidFill>
                <a:latin typeface="Helvetica Neue"/>
                <a:ea typeface="PingFang SC"/>
              </a:rPr>
              <a:t>为什么这页最要紧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3017520"/>
            <a:ext cx="315468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这一层，抄提示词抄不走。
客户能不能拿这套东西去面对审计和监管，也看这一层。项目最常死在一句话上：“这笔分录怎么来的，给我看看。”只有在 schema 上就为它设计过，这句话才答得上来。
占工程量大概 [15–20]%，而且几乎不进 demo。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1807" y="6528816"/>
            <a:ext cx="7315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D5DCE4"/>
                </a:solidFill>
                <a:latin typeface="Helvetica Neue"/>
                <a:ea typeface="PingFang SC"/>
              </a:rPr>
              <a:t>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1" i="0">
                <a:solidFill>
                  <a:srgbClr val="0E7490"/>
                </a:solidFill>
                <a:latin typeface="Helvetica Neue"/>
                <a:ea typeface="PingFang SC"/>
              </a:rPr>
              <a:t>关键部件 · 2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49808"/>
            <a:ext cx="1087495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600" b="1" i="0">
                <a:solidFill>
                  <a:srgbClr val="111A27"/>
                </a:solidFill>
                <a:latin typeface="Helvetica Neue"/>
                <a:ea typeface="PingFang SC"/>
              </a:rPr>
              <a:t>工具层：面向一个不认识的推理者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19072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50" b="0" i="0">
                <a:solidFill>
                  <a:srgbClr val="333E4F"/>
                </a:solidFill>
                <a:latin typeface="Helvetica Neue"/>
                <a:ea typeface="PingFang SC"/>
              </a:rPr>
              <a:t>这不是把 REST API 改个名字。REST API 假设调用方知道自己要什么；工具层假设调用方很能干、很自信，但偶尔是错的。差别有五点：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450592"/>
            <a:ext cx="6766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1200"/>
              </a:spcBef>
              <a:spcAft>
                <a:spcPts val="200"/>
              </a:spcAft>
            </a:pPr>
            <a:r>
              <a:rPr sz="1300" b="1" i="0">
                <a:solidFill>
                  <a:srgbClr val="111A27"/>
                </a:solidFill>
                <a:latin typeface="Helvetica Neue"/>
                <a:ea typeface="PingFang SC"/>
              </a:rPr>
              <a:t>报错要能指路，因为智能体会读它然后重试。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1300" b="0" i="0">
                <a:solidFill>
                  <a:srgbClr val="333E4F"/>
                </a:solidFill>
                <a:latin typeface="Helvetica Neue"/>
                <a:ea typeface="PingFang SC"/>
              </a:rPr>
              <a:t>— “400 参数错误”一点用没有。“分录不平：借方 1,200.00，贷方 1,150.00，差 50.00”能换来一次成功的重试。在这儿，报错文案是功能，不是细节。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200"/>
              </a:spcAft>
            </a:pPr>
            <a:r>
              <a:rPr sz="1300" b="1" i="0">
                <a:solidFill>
                  <a:srgbClr val="111A27"/>
                </a:solidFill>
                <a:latin typeface="Helvetica Neue"/>
                <a:ea typeface="PingFang SC"/>
              </a:rPr>
              <a:t>不变量归工具管，不归调用方管。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1300" b="0" i="0">
                <a:solidFill>
                  <a:srgbClr val="333E4F"/>
                </a:solidFill>
                <a:latin typeface="Helvetica Neue"/>
                <a:ea typeface="PingFang SC"/>
              </a:rPr>
              <a:t>— 平时你会信自己前端传上来的数。这里反过来：每个工具都当调用方是错的，自己去卡平衡、卡期间、卡权限。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200"/>
              </a:spcAft>
            </a:pPr>
            <a:r>
              <a:rPr sz="1300" b="1" i="0">
                <a:solidFill>
                  <a:srgbClr val="111A27"/>
                </a:solidFill>
                <a:latin typeface="Helvetica Neue"/>
                <a:ea typeface="PingFang SC"/>
              </a:rPr>
              <a:t>幂等是硬要求，因为智能体一定会重试。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200"/>
              </a:spcAft>
            </a:pPr>
            <a:r>
              <a:rPr sz="1300" b="1" i="0">
                <a:solidFill>
                  <a:srgbClr val="111A27"/>
                </a:solidFill>
                <a:latin typeface="Helvetica Neue"/>
                <a:ea typeface="PingFang SC"/>
              </a:rPr>
              <a:t>粒度得反复磨。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1300" b="0" i="0">
                <a:solidFill>
                  <a:srgbClr val="333E4F"/>
                </a:solidFill>
                <a:latin typeface="Helvetica Neue"/>
                <a:ea typeface="PingFang SC"/>
              </a:rPr>
              <a:t>— 太细，智能体调四十次还把上下文丢了；太粗，它表达不出意图。这块必然要来回调，我们已经调过一轮。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200"/>
              </a:spcAft>
            </a:pPr>
            <a:r>
              <a:rPr sz="1300" b="1" i="0">
                <a:solidFill>
                  <a:srgbClr val="111A27"/>
                </a:solidFill>
                <a:latin typeface="Helvetica Neue"/>
                <a:ea typeface="PingFang SC"/>
              </a:rPr>
              <a:t>接口面必须小、必须好找。上下文是稀缺资源，你不可能把四百个接口摆在一个推理者面前。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36408" y="2450592"/>
            <a:ext cx="3675887" cy="2542032"/>
          </a:xfrm>
          <a:prstGeom prst="roundRect">
            <a:avLst>
              <a:gd name="adj" fmla="val 4000"/>
            </a:avLst>
          </a:prstGeom>
          <a:solidFill>
            <a:srgbClr val="E4F0F4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092440" y="265176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1" i="0">
                <a:solidFill>
                  <a:srgbClr val="0A5366"/>
                </a:solidFill>
                <a:latin typeface="Helvetica Neue"/>
                <a:ea typeface="PingFang SC"/>
              </a:rPr>
              <a:t>铁律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3017520"/>
            <a:ext cx="315468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模型不在脑子里算数，也不在脑子里套规则。
每一次状态变更都走一个带类型的工具调用，由工具自己校验、自己拒。智能体只管挑哪个工具、传什么参数；对不对，是工具的事。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36408" y="5102352"/>
            <a:ext cx="3675887" cy="960120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092440" y="5358384"/>
            <a:ext cx="3154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1" i="0">
                <a:solidFill>
                  <a:srgbClr val="111A27"/>
                </a:solidFill>
                <a:latin typeface="Helvetica Neue"/>
                <a:ea typeface="PingFang SC"/>
              </a:rPr>
              <a:t>这一条的杠杆，是整个系统里最高的。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1807" y="6528816"/>
            <a:ext cx="7315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D5DCE4"/>
                </a:solidFill>
                <a:latin typeface="Helvetica Neue"/>
                <a:ea typeface="PingFang SC"/>
              </a:rPr>
              <a:t>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1" i="0">
                <a:solidFill>
                  <a:srgbClr val="0E7490"/>
                </a:solidFill>
                <a:latin typeface="Helvetica Neue"/>
                <a:ea typeface="PingFang SC"/>
              </a:rPr>
              <a:t>关键部件 · 3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49808"/>
            <a:ext cx="1087495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600" b="1" i="0">
                <a:solidFill>
                  <a:srgbClr val="111A27"/>
                </a:solidFill>
                <a:latin typeface="Helvetica Neue"/>
                <a:ea typeface="PingFang SC"/>
              </a:rPr>
              <a:t>校验，和按置信度分流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37360"/>
            <a:ext cx="10424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50" b="0" i="0">
                <a:solidFill>
                  <a:srgbClr val="333E4F"/>
                </a:solidFill>
                <a:latin typeface="Helvetica Neue"/>
                <a:ea typeface="PingFang SC"/>
              </a:rPr>
              <a:t>跟现在用的软件比，最大的变化是：以前只校验格式对不对，现在要校验一个格式没问题的答案，内容对不对。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286000"/>
            <a:ext cx="3465576" cy="2514600"/>
          </a:xfrm>
          <a:prstGeom prst="roundRect">
            <a:avLst>
              <a:gd name="adj" fmla="val 4000"/>
            </a:avLst>
          </a:prstGeom>
          <a:solidFill>
            <a:srgbClr val="FAEEE3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96112" y="2505456"/>
            <a:ext cx="30083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 i="0">
                <a:solidFill>
                  <a:srgbClr val="111A27"/>
                </a:solidFill>
                <a:latin typeface="Helvetica Neue"/>
                <a:ea typeface="PingFang SC"/>
              </a:rPr>
              <a:t>第一层 · 硬性不变量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26080"/>
            <a:ext cx="3008376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确定性的，不讲条件，提交之前一定跑。借贷平衡、试算表勾稽、明细账对总账、对账差额、查重、期间锁定。这一层过不去就是直接拦住，不是给个提醒。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9976" y="2286000"/>
            <a:ext cx="3465576" cy="2514600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617720" y="2505456"/>
            <a:ext cx="30083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 i="0">
                <a:solidFill>
                  <a:srgbClr val="111A27"/>
                </a:solidFill>
                <a:latin typeface="Helvetica Neue"/>
                <a:ea typeface="PingFang SC"/>
              </a:rPr>
              <a:t>第二层 · 统计检查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926080"/>
            <a:ext cx="3008376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跟上期比波动，看供应商和科目的搭配是不是反常，看分布有没有异常。抓的是不变量放过去的那一类：格式没错，内容错了。它出分，不下结论。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1583" y="2286000"/>
            <a:ext cx="3465576" cy="2514600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339327" y="2505456"/>
            <a:ext cx="30083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 i="0">
                <a:solidFill>
                  <a:srgbClr val="111A27"/>
                </a:solidFill>
                <a:latin typeface="Helvetica Neue"/>
                <a:ea typeface="PingFang SC"/>
              </a:rPr>
              <a:t>第三层 · 分流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9327" y="2926080"/>
            <a:ext cx="3008376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过线的自动过账；没过线的带上全部上下文进复核队列。置信度是从前两层的信号、加上跑几遍看结果一致不一致推出来的，绝不是问模型“你有几成把握”。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4992624"/>
            <a:ext cx="6035040" cy="1325880"/>
          </a:xfrm>
          <a:prstGeom prst="roundRect">
            <a:avLst>
              <a:gd name="adj" fmla="val 4000"/>
            </a:avLst>
          </a:prstGeom>
          <a:solidFill>
            <a:srgbClr val="E8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5175504"/>
            <a:ext cx="5486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1" i="0">
                <a:solidFill>
                  <a:srgbClr val="111A27"/>
                </a:solidFill>
                <a:latin typeface="Helvetica Neue"/>
                <a:ea typeface="PingFang SC"/>
              </a:rPr>
              <a:t>模型的置信度校得很差，而且一贯自信过头。问它有几成把握，不算一道控制。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5742432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33E4F"/>
                </a:solidFill>
                <a:latin typeface="Helvetica Neue"/>
                <a:ea typeface="PingFang SC"/>
              </a:rPr>
              <a:t>我们拿前两层的信号，加上多次独立运行的一致性推置信度，再用已知结果去校准。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67728" y="4992624"/>
            <a:ext cx="4572000" cy="1325880"/>
          </a:xfrm>
          <a:prstGeom prst="roundRect">
            <a:avLst>
              <a:gd name="adj" fmla="val 4000"/>
            </a:avLst>
          </a:prstGeom>
          <a:solidFill>
            <a:srgbClr val="FAEE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223759" y="5157216"/>
            <a:ext cx="4069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1" i="0">
                <a:solidFill>
                  <a:srgbClr val="B45309"/>
                </a:solidFill>
                <a:latin typeface="Helvetica Neue"/>
                <a:ea typeface="PingFang SC"/>
              </a:rPr>
              <a:t>阈值就是钱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59" y="5449824"/>
            <a:ext cx="40690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00" b="0" i="0">
                <a:solidFill>
                  <a:srgbClr val="7A3B08"/>
                </a:solidFill>
                <a:latin typeface="Helvetica Neue"/>
                <a:ea typeface="PingFang SC"/>
              </a:rPr>
              <a:t>往上抬，工时降，但出错的风险升；往下压，等于什么都没自动化。整个工程计划就一件事：在安全的前提下，按类别把这条线一点点往上推，而且每次推动都拿数说话。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1807" y="6528816"/>
            <a:ext cx="7315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D5DCE4"/>
                </a:solidFill>
                <a:latin typeface="Helvetica Neue"/>
                <a:ea typeface="PingFang SC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1" i="0">
                <a:solidFill>
                  <a:srgbClr val="0E7490"/>
                </a:solidFill>
                <a:latin typeface="Helvetica Neue"/>
                <a:ea typeface="PingFang SC"/>
              </a:rPr>
              <a:t>关键部件 · 4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49808"/>
            <a:ext cx="1087495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600" b="1" i="0">
                <a:solidFill>
                  <a:srgbClr val="111A27"/>
                </a:solidFill>
                <a:latin typeface="Helvetica Neue"/>
                <a:ea typeface="PingFang SC"/>
              </a:rPr>
              <a:t>评测和回放：这套度量本身就是产品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37360"/>
            <a:ext cx="103327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50" b="0" i="0">
                <a:solidFill>
                  <a:srgbClr val="333E4F"/>
                </a:solidFill>
                <a:latin typeface="Helvetica Neue"/>
                <a:ea typeface="PingFang SC"/>
              </a:rPr>
              <a:t>普通功能要么对、要么是 bug。智能体的能力是一条分布。问题从“能不能用”，变成“在什么样的输入上、多大比例能对、错的时候怎么错”。这一点对工程习惯的改变，比其他任何一点都大。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487168"/>
            <a:ext cx="676656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Bef>
                <a:spcPts val="1200"/>
              </a:spcBef>
              <a:spcAft>
                <a:spcPts val="200"/>
              </a:spcAft>
            </a:pPr>
            <a:r>
              <a:rPr sz="1300" b="1" i="0">
                <a:solidFill>
                  <a:srgbClr val="111A27"/>
                </a:solidFill>
                <a:latin typeface="Helvetica Neue"/>
                <a:ea typeface="PingFang SC"/>
              </a:rPr>
              <a:t>真值来自已经结完的账。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1300" b="0" i="0">
                <a:solidFill>
                  <a:srgbClr val="333E4F"/>
                </a:solidFill>
                <a:latin typeface="Helvetica Neue"/>
                <a:ea typeface="PingFang SC"/>
              </a:rPr>
              <a:t>— 把智能体丢回历史期间重跑，先跟当时记账的人比，再跟复核改了什么比。哪些类别该加权，看我们的 RPA 异常日志。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200"/>
              </a:spcAft>
            </a:pPr>
            <a:r>
              <a:rPr sz="1300" b="1" i="0">
                <a:solidFill>
                  <a:srgbClr val="111A27"/>
                </a:solidFill>
                <a:latin typeface="Helvetica Neue"/>
                <a:ea typeface="PingFang SC"/>
              </a:rPr>
              <a:t>CI 里跑的是统计检验。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1300" b="0" i="0">
                <a:solidFill>
                  <a:srgbClr val="333E4F"/>
                </a:solidFill>
                <a:latin typeface="Helvetica Neue"/>
                <a:ea typeface="PingFang SC"/>
              </a:rPr>
              <a:t>— 掉两个点，可能是噪声，也可能是出大事，只有样本量能告诉你是哪种。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200"/>
              </a:spcAft>
            </a:pPr>
            <a:r>
              <a:rPr sz="1300" b="1" i="0">
                <a:solidFill>
                  <a:srgbClr val="111A27"/>
                </a:solidFill>
                <a:latin typeface="Helvetica Neue"/>
                <a:ea typeface="PingFang SC"/>
              </a:rPr>
              <a:t>Bug 复现不了。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1300" b="0" i="0">
                <a:solidFill>
                  <a:srgbClr val="333E4F"/>
                </a:solidFill>
                <a:latin typeface="Helvetica Neue"/>
                <a:ea typeface="PingFang SC"/>
              </a:rPr>
              <a:t>— 每次运行都要留全：提示词、上下文、工具调用、模型版本。不留，生产环境里就是睁眼瞎。</a:t>
            </a:r>
          </a:p>
          <a:p>
            <a:pPr>
              <a:lnSpc>
                <a:spcPct val="135000"/>
              </a:lnSpc>
              <a:spcBef>
                <a:spcPts val="1200"/>
              </a:spcBef>
              <a:spcAft>
                <a:spcPts val="200"/>
              </a:spcAft>
            </a:pPr>
            <a:r>
              <a:rPr sz="1300" b="1" i="0">
                <a:solidFill>
                  <a:srgbClr val="111A27"/>
                </a:solidFill>
                <a:latin typeface="Helvetica Neue"/>
                <a:ea typeface="PingFang SC"/>
              </a:rPr>
              <a:t>换模型，等于改了一堆我们从没写下来的行为。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1300" b="0" i="0">
                <a:solidFill>
                  <a:srgbClr val="333E4F"/>
                </a:solidFill>
                <a:latin typeface="Helvetica Neue"/>
                <a:ea typeface="PingFang SC"/>
              </a:rPr>
              <a:t>— 锁版本；新模型先在语料上跑影子评测，再决定换不换；回退留好。这是一条常设流水线，不是一个项目。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36408" y="2487168"/>
            <a:ext cx="3675887" cy="3200400"/>
          </a:xfrm>
          <a:prstGeom prst="roundRect">
            <a:avLst>
              <a:gd name="adj" fmla="val 4000"/>
            </a:avLst>
          </a:prstGeom>
          <a:solidFill>
            <a:srgbClr val="FAEEE3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092440" y="2688336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1" i="0">
                <a:solidFill>
                  <a:srgbClr val="B45309"/>
                </a:solidFill>
                <a:latin typeface="Helvetica Neue"/>
                <a:ea typeface="PingFang SC"/>
              </a:rPr>
              <a:t>汇报的单位变了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3054096"/>
            <a:ext cx="315468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软件路线图列功能。
我们的路线图列某一类的准确率：“有歧义的供应商这一类，自动过账率从 71% 提到 88%”。
排期方式不一样，配人方式也不一样。而且进度是量出来的，不是说出来的——以后向董事会汇报，也是这个格式。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1807" y="6528816"/>
            <a:ext cx="7315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D5DCE4"/>
                </a:solidFill>
                <a:latin typeface="Helvetica Neue"/>
                <a:ea typeface="PingFang SC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1" i="0">
                <a:solidFill>
                  <a:srgbClr val="0E7490"/>
                </a:solidFill>
                <a:latin typeface="Helvetica Neue"/>
                <a:ea typeface="PingFang SC"/>
              </a:rPr>
              <a:t>技术风险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49808"/>
            <a:ext cx="1087495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600" b="1" i="0">
                <a:solidFill>
                  <a:srgbClr val="111A27"/>
                </a:solidFill>
                <a:latin typeface="Helvetica Neue"/>
                <a:ea typeface="PingFang SC"/>
              </a:rPr>
              <a:t>两个真正的坎，直接说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828800"/>
            <a:ext cx="5294376" cy="3931920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32688" y="2048256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1" i="0">
                <a:solidFill>
                  <a:srgbClr val="111A27"/>
                </a:solidFill>
                <a:latin typeface="Helvetica Neue"/>
                <a:ea typeface="PingFang SC"/>
              </a:rPr>
              <a:t>1 · 可靠性会连乘掉下来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48716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i="0">
                <a:solidFill>
                  <a:srgbClr val="B45309"/>
                </a:solidFill>
                <a:latin typeface="Helvetica Neue"/>
                <a:ea typeface="PingFang SC"/>
              </a:rPr>
              <a:t>单步 95%，连着 20 步只剩 36%。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962656"/>
            <a:ext cx="4754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300" b="0" i="0">
                <a:solidFill>
                  <a:srgbClr val="333E4F"/>
                </a:solidFill>
                <a:latin typeface="Helvetica Neue"/>
                <a:ea typeface="PingFang SC"/>
              </a:rPr>
              <a:t>这是这个方向最硬的工程问题，没有哪句提示词能解决。真正的解法在架构上：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602736"/>
            <a:ext cx="4754880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— 把自主的跨度做短，中间用确定性编排接起来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— 每一步都要能单独验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— 提交前必须过闸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— 宁可要一串短的、验过的小跳，不要一条长链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5138928"/>
            <a:ext cx="47548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1" i="0">
                <a:solidFill>
                  <a:srgbClr val="B45309"/>
                </a:solidFill>
                <a:latin typeface="Helvetica Neue"/>
                <a:ea typeface="PingFang SC"/>
              </a:rPr>
              <a:t>谁要是假设“长链自主”又不做这些，上线就会翻车。这条可以拿去筛别人。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828800"/>
            <a:ext cx="5294376" cy="3931920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519672" y="2048256"/>
            <a:ext cx="4754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700" b="1" i="0">
                <a:solidFill>
                  <a:srgbClr val="111A27"/>
                </a:solidFill>
                <a:latin typeface="Helvetica Neue"/>
                <a:ea typeface="PingFang SC"/>
              </a:rPr>
              <a:t>2 · 安全模型反过来了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48716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 i="0">
                <a:solidFill>
                  <a:srgbClr val="B45309"/>
                </a:solidFill>
                <a:latin typeface="Helvetica Neue"/>
                <a:ea typeface="PingFang SC"/>
              </a:rPr>
              <a:t>一个有权限的执行者，同时在读不可信的内容。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2962656"/>
            <a:ext cx="4754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300" b="0" i="0">
                <a:solidFill>
                  <a:srgbClr val="333E4F"/>
                </a:solidFill>
                <a:latin typeface="Helvetica Neue"/>
                <a:ea typeface="PingFang SC"/>
              </a:rPr>
              <a:t>平常是代码可信、用户不可信。我们的智能体两头都不占：它带着写权限，同时在读一张供应商的 PDF、一封外面来的邮件。这是一类新漏洞，押上去的是客户的账。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9672" y="3840480"/>
            <a:ext cx="4754880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— 凭证按任务下发，权限给到最小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— 不让任何一个工具同时能“读不可信内容”和“做不可逆的事”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— 职责分离写进代码：智能体不能批自己的分录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250" b="0" i="0">
                <a:solidFill>
                  <a:srgbClr val="333E4F"/>
                </a:solidFill>
                <a:latin typeface="Helvetica Neue"/>
                <a:ea typeface="PingFang SC"/>
              </a:rPr>
              <a:t>— 期间锁死；凭证里抽出来的文字一律当污点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943600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33E4F"/>
                </a:solidFill>
                <a:latin typeface="Helvetica Neue"/>
                <a:ea typeface="PingFang SC"/>
              </a:rPr>
              <a:t>还有两个我们也盯着，也不粉饰。一个是 60/40：容易的那大半笔数很快就自动化了，容易让人以为成了，可剩下那一小部分吃掉了大部分工时，所以我们统计各环节耗时，不统计笔数。另一个是迁移：量大，对正确性要求极高，而且每个客户上线前第一件事就是它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1807" y="6528816"/>
            <a:ext cx="7315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D5DCE4"/>
                </a:solidFill>
                <a:latin typeface="Helvetica Neue"/>
                <a:ea typeface="PingFang SC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1" i="0">
                <a:solidFill>
                  <a:srgbClr val="0E7490"/>
                </a:solidFill>
                <a:latin typeface="Helvetica Neue"/>
                <a:ea typeface="PingFang SC"/>
              </a:rPr>
              <a:t>工程形态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49808"/>
            <a:ext cx="1087495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600" b="1" i="0">
                <a:solidFill>
                  <a:srgbClr val="111A27"/>
                </a:solidFill>
                <a:latin typeface="Helvetica Neue"/>
                <a:ea typeface="PingFang SC"/>
              </a:rPr>
              <a:t>这套东西的工程形态，和以前不一样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3736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400" b="0" i="0">
                <a:solidFill>
                  <a:srgbClr val="333E4F"/>
                </a:solidFill>
                <a:latin typeface="Helvetica Neue"/>
                <a:ea typeface="PingFang SC"/>
              </a:rPr>
              <a:t>传统会计软件里，记录系统是代码库里最小、最稳、最值钱的一块，界面是最大、改得最勤的一块。主流软件底下的账簿内核可能就几千行，十年没怎么动；外面那层界面几十万行，每个版本都在改。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2432304"/>
          <a:ext cx="10872216" cy="33467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17520"/>
                <a:gridCol w="1371600"/>
                <a:gridCol w="1188720"/>
                <a:gridCol w="5294376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分层</a:t>
                      </a:r>
                    </a:p>
                  </a:txBody>
                  <a:tcPr marL="91440" marR="73152" marT="36576" marB="36576" anchor="ctr">
                    <a:solidFill>
                      <a:srgbClr val="111A2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传统软件</a:t>
                      </a:r>
                    </a:p>
                  </a:txBody>
                  <a:tcPr marL="91440" marR="73152" marT="36576" marB="36576" anchor="ctr">
                    <a:solidFill>
                      <a:srgbClr val="111A2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我们</a:t>
                      </a:r>
                    </a:p>
                  </a:txBody>
                  <a:tcPr marL="91440" marR="73152" marT="36576" marB="36576" anchor="ctr">
                    <a:solidFill>
                      <a:srgbClr val="111A2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变化在哪</a:t>
                      </a:r>
                    </a:p>
                  </a:txBody>
                  <a:tcPr marL="91440" marR="73152" marT="36576" marB="36576" anchor="ctr">
                    <a:solidFill>
                      <a:srgbClr val="111A27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记录系统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10–15%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15–20%</a:t>
                      </a:r>
                    </a:p>
                  </a:txBody>
                  <a:tcPr marL="91440" marR="73152" marT="36576" marB="36576" anchor="ctr">
                    <a:solidFill>
                      <a:srgbClr val="FAEEE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还是那个东西，要求高多了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工具层（带类型的动作）</a:t>
                      </a:r>
                    </a:p>
                  </a:txBody>
                  <a:tcPr marL="91440" marR="73152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—</a:t>
                      </a:r>
                    </a:p>
                  </a:txBody>
                  <a:tcPr marL="91440" marR="73152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15–20%</a:t>
                      </a:r>
                    </a:p>
                  </a:txBody>
                  <a:tcPr marL="91440" marR="73152" marT="36576" marB="36576" anchor="ctr">
                    <a:solidFill>
                      <a:srgbClr val="FAEEE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全新，而且不等于 REST API</a:t>
                      </a:r>
                    </a:p>
                  </a:txBody>
                  <a:tcPr marL="91440" marR="73152" marT="36576" marB="36576" anchor="ctr">
                    <a:solidFill>
                      <a:srgbClr val="F3F6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校验与护栏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—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约 15%</a:t>
                      </a:r>
                    </a:p>
                  </a:txBody>
                  <a:tcPr marL="91440" marR="73152" marT="36576" marB="36576" anchor="ctr">
                    <a:solidFill>
                      <a:srgbClr val="FAEEE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全新，现有软件里没有对应的东西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评测与真值语料</a:t>
                      </a:r>
                    </a:p>
                  </a:txBody>
                  <a:tcPr marL="91440" marR="73152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—</a:t>
                      </a:r>
                    </a:p>
                  </a:txBody>
                  <a:tcPr marL="91440" marR="73152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10–15%</a:t>
                      </a:r>
                    </a:p>
                  </a:txBody>
                  <a:tcPr marL="91440" marR="73152" marT="36576" marB="36576" anchor="ctr">
                    <a:solidFill>
                      <a:srgbClr val="FAEEE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全新，同时当测试、也当需求</a:t>
                      </a:r>
                    </a:p>
                  </a:txBody>
                  <a:tcPr marL="91440" marR="73152" marT="36576" marB="36576" anchor="ctr">
                    <a:solidFill>
                      <a:srgbClr val="F3F6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持久化编排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约 2%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约 10%</a:t>
                      </a:r>
                    </a:p>
                  </a:txBody>
                  <a:tcPr marL="91440" marR="73152" marT="36576" marB="36576" anchor="ctr">
                    <a:solidFill>
                      <a:srgbClr val="FAEEE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跟定时任务、队列不是一回事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智能体层（提示词、记忆）</a:t>
                      </a:r>
                    </a:p>
                  </a:txBody>
                  <a:tcPr marL="91440" marR="73152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—</a:t>
                      </a:r>
                    </a:p>
                  </a:txBody>
                  <a:tcPr marL="91440" marR="73152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约 10%</a:t>
                      </a:r>
                    </a:p>
                  </a:txBody>
                  <a:tcPr marL="91440" marR="73152" marT="36576" marB="36576" anchor="ctr">
                    <a:solidFill>
                      <a:srgbClr val="FAEEE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全新，而且比大家想的小</a:t>
                      </a:r>
                    </a:p>
                  </a:txBody>
                  <a:tcPr marL="91440" marR="73152" marT="36576" marB="36576" anchor="ctr">
                    <a:solidFill>
                      <a:srgbClr val="F3F6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界面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30–40%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15–20%</a:t>
                      </a:r>
                    </a:p>
                  </a:txBody>
                  <a:tcPr marL="91440" marR="73152" marT="36576" marB="36576" anchor="ctr">
                    <a:solidFill>
                      <a:srgbClr val="FAEEE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占比降一半，性质也变了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数据集成</a:t>
                      </a:r>
                    </a:p>
                  </a:txBody>
                  <a:tcPr marL="91440" marR="73152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10–15%</a:t>
                      </a:r>
                    </a:p>
                  </a:txBody>
                  <a:tcPr marL="91440" marR="73152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约 10%</a:t>
                      </a:r>
                    </a:p>
                  </a:txBody>
                  <a:tcPr marL="91440" marR="73152" marT="36576" marB="36576" anchor="ctr">
                    <a:solidFill>
                      <a:srgbClr val="FAEEE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差不多，多一层智能体兜底</a:t>
                      </a:r>
                    </a:p>
                  </a:txBody>
                  <a:tcPr marL="91440" marR="73152" marT="36576" marB="36576" anchor="ctr">
                    <a:solidFill>
                      <a:srgbClr val="F3F6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平台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约 15%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7A3B08"/>
                          </a:solidFill>
                          <a:latin typeface="Helvetica Neue"/>
                          <a:ea typeface="PingFang SC"/>
                        </a:rPr>
                        <a:t>约 15%</a:t>
                      </a:r>
                    </a:p>
                  </a:txBody>
                  <a:tcPr marL="91440" marR="73152" marT="36576" marB="36576" anchor="ctr">
                    <a:solidFill>
                      <a:srgbClr val="FAEEE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多了智能体身份和成本遥测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760720"/>
            <a:ext cx="10874959" cy="694944"/>
          </a:xfrm>
          <a:prstGeom prst="roundRect">
            <a:avLst>
              <a:gd name="adj" fmla="val 4000"/>
            </a:avLst>
          </a:prstGeom>
          <a:solidFill>
            <a:srgbClr val="111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50976" y="5925312"/>
            <a:ext cx="10289743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Helvetica Neue"/>
                <a:ea typeface="PingFang SC"/>
              </a:rPr>
              <a:t>传统软件把工程预算花在“让人在界面上更快”。我们花在“让机器的输出在底座上站得住”。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1807" y="6528816"/>
            <a:ext cx="7315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D5DCE4"/>
                </a:solidFill>
                <a:latin typeface="Helvetica Neue"/>
                <a:ea typeface="PingFang SC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1" i="0">
                <a:solidFill>
                  <a:srgbClr val="0E7490"/>
                </a:solidFill>
                <a:latin typeface="Helvetica Neue"/>
                <a:ea typeface="PingFang SC"/>
              </a:rPr>
              <a:t>我们怎么建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49808"/>
            <a:ext cx="1087495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600" b="1" i="0">
                <a:solidFill>
                  <a:srgbClr val="111A27"/>
                </a:solidFill>
                <a:latin typeface="Helvetica Neue"/>
                <a:ea typeface="PingFang SC"/>
              </a:rPr>
              <a:t>瓶颈在把问题说清楚，不在写实现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19072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500" b="0" i="0">
                <a:solidFill>
                  <a:srgbClr val="333E4F"/>
                </a:solidFill>
                <a:latin typeface="Helvetica Neue"/>
                <a:ea typeface="PingFang SC"/>
              </a:rPr>
              <a:t>编程智能体把工程时间的去向改了。写实现已经不是最贵的那一步；把“什么叫对”定准、再搭出一套能查它的东西，才是最贵的。而这套东西，恰好就是产品本身要的。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432304"/>
            <a:ext cx="2551176" cy="1965960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77824" y="2633472"/>
            <a:ext cx="21396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 i="0">
                <a:solidFill>
                  <a:srgbClr val="0E7490"/>
                </a:solidFill>
                <a:latin typeface="Helvetica Neue"/>
                <a:ea typeface="PingFang SC"/>
              </a:rPr>
              <a:t>1 · 先说清要什么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2999232"/>
            <a:ext cx="213969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200" b="0" i="0">
                <a:solidFill>
                  <a:srgbClr val="333E4F"/>
                </a:solidFill>
                <a:latin typeface="Helvetica Neue"/>
                <a:ea typeface="PingFang SC"/>
              </a:rPr>
              <a:t>先写不变量，再写功能。“试算表勾稽不过的分录，一律不许落账。”写成能跑的检查，不是需求文档里的一句话。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38144" y="2432304"/>
            <a:ext cx="2551176" cy="1965960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57600" y="2633472"/>
            <a:ext cx="21396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 i="0">
                <a:solidFill>
                  <a:srgbClr val="0E7490"/>
                </a:solidFill>
                <a:latin typeface="Helvetica Neue"/>
                <a:ea typeface="PingFang SC"/>
              </a:rPr>
              <a:t>2 · 先搭校验台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999232"/>
            <a:ext cx="213969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200" b="0" i="0">
                <a:solidFill>
                  <a:srgbClr val="333E4F"/>
                </a:solidFill>
                <a:latin typeface="Helvetica Neue"/>
                <a:ea typeface="PingFang SC"/>
              </a:rPr>
              <a:t>拿真实的历史结账当用例，配回放执行器、跟已知结果做 diff、挂上 CI 闸门。校验台要先于它要评的那份实现。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432304"/>
            <a:ext cx="2551176" cy="1965960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37376" y="2633472"/>
            <a:ext cx="21396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 i="0">
                <a:solidFill>
                  <a:srgbClr val="0E7490"/>
                </a:solidFill>
                <a:latin typeface="Helvetica Neue"/>
                <a:ea typeface="PingFang SC"/>
              </a:rPr>
              <a:t>3 · 让智能体去写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7376" y="2999232"/>
            <a:ext cx="213969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200" b="0" i="0">
                <a:solidFill>
                  <a:srgbClr val="333E4F"/>
                </a:solidFill>
                <a:latin typeface="Helvetica Neue"/>
                <a:ea typeface="PingFang SC"/>
              </a:rPr>
              <a:t>目标能机器验之后，编程智能体就能对着校验台一遍遍改，直到过。代码量不再是瓶颈。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97696" y="2432304"/>
            <a:ext cx="2551176" cy="1965960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 w="12700">
            <a:solidFill>
              <a:srgbClr val="D5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217152" y="2633472"/>
            <a:ext cx="21396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 i="0">
                <a:solidFill>
                  <a:srgbClr val="0E7490"/>
                </a:solidFill>
                <a:latin typeface="Helvetica Neue"/>
                <a:ea typeface="PingFang SC"/>
              </a:rPr>
              <a:t>4 · 人守边界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17152" y="2999232"/>
            <a:ext cx="2139696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200" b="0" i="0">
                <a:solidFill>
                  <a:srgbClr val="333E4F"/>
                </a:solidFill>
                <a:latin typeface="Helvetica Neue"/>
                <a:ea typeface="PingFang SC"/>
              </a:rPr>
              <a:t>schema 和底座怎么定、工具切多粗、什么算对，还有审这些闸门。人做判断，不做打字。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572000"/>
            <a:ext cx="6766560" cy="1737360"/>
          </a:xfrm>
          <a:prstGeom prst="roundRect">
            <a:avLst>
              <a:gd name="adj" fmla="val 4000"/>
            </a:avLst>
          </a:prstGeom>
          <a:solidFill>
            <a:srgbClr val="FAEEE3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754880"/>
            <a:ext cx="6217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1" i="0">
                <a:solidFill>
                  <a:srgbClr val="B45309"/>
                </a:solidFill>
                <a:latin typeface="Helvetica Neue"/>
                <a:ea typeface="PingFang SC"/>
              </a:rPr>
              <a:t>为什么这样能把周期压下来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5065776"/>
            <a:ext cx="62179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Aft>
                <a:spcPts val="600"/>
              </a:spcAft>
            </a:pPr>
            <a:r>
              <a:rPr sz="1300" b="0" i="0">
                <a:solidFill>
                  <a:srgbClr val="7A3B08"/>
                </a:solidFill>
                <a:latin typeface="Helvetica Neue"/>
                <a:ea typeface="PingFang SC"/>
              </a:rPr>
              <a:t>让产品成立的那条性质，对不对机器能验，同时也让它能被快速建出来。编程智能体的上限就是它对着的那个测试，而会计这行直接把测试给了我们。所以下一页按周排，而且卡在验证结果上，不卡在工时估算上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53528" y="4572000"/>
            <a:ext cx="3877056" cy="1737360"/>
          </a:xfrm>
          <a:prstGeom prst="roundRect">
            <a:avLst>
              <a:gd name="adj" fmla="val 4000"/>
            </a:avLst>
          </a:prstGeom>
          <a:solidFill>
            <a:srgbClr val="E8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909560" y="4754880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1" i="0">
                <a:solidFill>
                  <a:srgbClr val="6B7688"/>
                </a:solidFill>
                <a:latin typeface="Helvetica Neue"/>
                <a:ea typeface="PingFang SC"/>
              </a:rPr>
              <a:t>限制也说清楚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9560" y="5065776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200" b="0" i="0">
                <a:solidFill>
                  <a:srgbClr val="333E4F"/>
                </a:solidFill>
                <a:latin typeface="Helvetica Neue"/>
                <a:ea typeface="PingFang SC"/>
              </a:rPr>
              <a:t>加人压不下来多少。真正的速度上限，是我们把问题定清楚、验明白的速度，那是领域活。
所以下面那支团队不大，重心压在底座、评测和会计专业上。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1807" y="6528816"/>
            <a:ext cx="7315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D5DCE4"/>
                </a:solidFill>
                <a:latin typeface="Helvetica Neue"/>
                <a:ea typeface="PingFang SC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1" i="0">
                <a:solidFill>
                  <a:srgbClr val="0E7490"/>
                </a:solidFill>
                <a:latin typeface="Helvetica Neue"/>
                <a:ea typeface="PingFang SC"/>
              </a:rPr>
              <a:t>实施计划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49808"/>
            <a:ext cx="1087495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600" b="1" i="0">
                <a:solidFill>
                  <a:srgbClr val="111A27"/>
                </a:solidFill>
                <a:latin typeface="Helvetica Neue"/>
                <a:ea typeface="PingFang SC"/>
              </a:rPr>
              <a:t>八条线并行，卡结果，不卡日期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58368" y="1783080"/>
          <a:ext cx="10872216" cy="33101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17520"/>
                <a:gridCol w="777240"/>
                <a:gridCol w="7077456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工作流</a:t>
                      </a:r>
                    </a:p>
                  </a:txBody>
                  <a:tcPr marL="91440" marR="73152" marT="36576" marB="36576" anchor="ctr">
                    <a:solidFill>
                      <a:srgbClr val="111A2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周次</a:t>
                      </a:r>
                    </a:p>
                  </a:txBody>
                  <a:tcPr marL="91440" marR="73152" marT="36576" marB="36576" anchor="ctr">
                    <a:solidFill>
                      <a:srgbClr val="111A2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必须过的闸</a:t>
                      </a:r>
                    </a:p>
                  </a:txBody>
                  <a:tcPr marL="91440" marR="73152" marT="36576" marB="36576" anchor="ctr">
                    <a:solidFill>
                      <a:srgbClr val="111A2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1 · 账簿底座与切换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0–8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跟现有系统连续三个结账周期自动 diff 为零，才切主库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2 · 迁移与期初余额</a:t>
                      </a:r>
                    </a:p>
                  </a:txBody>
                  <a:tcPr marL="91440" marR="73152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2–12</a:t>
                      </a:r>
                    </a:p>
                  </a:txBody>
                  <a:tcPr marL="91440" marR="73152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重建的试算表跟上期期末勾得上，一个主体一个主体过，不许人工硬调</a:t>
                      </a:r>
                    </a:p>
                  </a:txBody>
                  <a:tcPr marL="91440" marR="73152" marT="36576" marB="36576" anchor="ctr">
                    <a:solidFill>
                      <a:srgbClr val="F3F6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3 · 工具层与不变量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0–6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所有状态变更必须走带类型的工具，没有任何一条路能直接写账簿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4 · 校验分层与置信度校准</a:t>
                      </a:r>
                    </a:p>
                  </a:txBody>
                  <a:tcPr marL="91440" marR="73152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1–10</a:t>
                      </a:r>
                    </a:p>
                  </a:txBody>
                  <a:tcPr marL="91440" marR="73152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前五大交易类别的校准误差压到 [Y] 以下，要测出来，不是说出来</a:t>
                      </a:r>
                    </a:p>
                  </a:txBody>
                  <a:tcPr marL="91440" marR="73152" marT="36576" marB="36576" anchor="ctr">
                    <a:solidFill>
                      <a:srgbClr val="F3F6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5 · 校验台与语料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0–16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模型或提示词一改，先过语料回归，再碰客户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6 · 结账流程持久化编排</a:t>
                      </a:r>
                    </a:p>
                  </a:txBody>
                  <a:tcPr marL="91440" marR="73152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4–14</a:t>
                      </a:r>
                    </a:p>
                  </a:txBody>
                  <a:tcPr marL="91440" marR="73152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全流程能断点续跑；续跑时不重新做决定，用回放证明</a:t>
                      </a:r>
                    </a:p>
                  </a:txBody>
                  <a:tcPr marL="91440" marR="73152" marT="36576" marB="36576" anchor="ctr">
                    <a:solidFill>
                      <a:srgbClr val="F3F6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7 · 异常处理台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6–14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复核人每小时清 [N] 条，准确率没有可测量的下降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8 · 控制、审计包与 SOC 2</a:t>
                      </a:r>
                    </a:p>
                  </a:txBody>
                  <a:tcPr marL="91440" marR="73152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4–20</a:t>
                      </a:r>
                    </a:p>
                  </a:txBody>
                  <a:tcPr marL="91440" marR="73152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外部审阅一次通过，审计包不用改</a:t>
                      </a:r>
                    </a:p>
                  </a:txBody>
                  <a:tcPr marL="91440" marR="73152" marT="36576" marB="36576" anchor="ctr"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58368" y="5175504"/>
            <a:ext cx="5294376" cy="1280160"/>
          </a:xfrm>
          <a:prstGeom prst="roundRect">
            <a:avLst>
              <a:gd name="adj" fmla="val 4000"/>
            </a:avLst>
          </a:prstGeom>
          <a:solidFill>
            <a:srgbClr val="FAEEE3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5340096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1" i="0">
                <a:solidFill>
                  <a:srgbClr val="B45309"/>
                </a:solidFill>
                <a:latin typeface="Helvetica Neue"/>
                <a:ea typeface="PingFang SC"/>
              </a:rPr>
              <a:t>关键路径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5632704"/>
            <a:ext cx="4754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00" b="0" i="0">
                <a:solidFill>
                  <a:srgbClr val="7A3B08"/>
                </a:solidFill>
                <a:latin typeface="Helvetica Neue"/>
                <a:ea typeface="PingFang SC"/>
              </a:rPr>
              <a:t>第 1、3、5 条卡着其余所有事：底座、守底座的工具、证明它的校验台。第 0 周就得开工，它们不成立，下游做什么都没意义。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5352" y="5175504"/>
            <a:ext cx="5294376" cy="1280160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519672" y="5340096"/>
            <a:ext cx="47548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1" i="0">
                <a:solidFill>
                  <a:srgbClr val="6B7688"/>
                </a:solidFill>
                <a:latin typeface="Helvetica Neue"/>
                <a:ea typeface="PingFang SC"/>
              </a:rPr>
              <a:t>大约 20 周跑通第一个客户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9672" y="5632704"/>
            <a:ext cx="4754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1200" b="0" i="0">
                <a:solidFill>
                  <a:srgbClr val="333E4F"/>
                </a:solidFill>
                <a:latin typeface="Helvetica Neue"/>
                <a:ea typeface="PingFang SC"/>
              </a:rPr>
              <a:t>按常规看这确实激进，前提就是上一页那件事：闸门能机器验，所以实现可以自己对着闸门迭代，不用排队等我们。真出问题会立刻表现成某个闸没过，不会拖到最后交一份状态报告。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1807" y="6528816"/>
            <a:ext cx="7315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D5DCE4"/>
                </a:solidFill>
                <a:latin typeface="Helvetica Neue"/>
                <a:ea typeface="PingFang SC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1" i="0">
                <a:solidFill>
                  <a:srgbClr val="0E7490"/>
                </a:solidFill>
                <a:latin typeface="Helvetica Neue"/>
                <a:ea typeface="PingFang SC"/>
              </a:rPr>
              <a:t>资源投入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49808"/>
            <a:ext cx="1087495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600" b="1" i="0">
                <a:solidFill>
                  <a:srgbClr val="111A27"/>
                </a:solidFill>
                <a:latin typeface="Helvetica Neue"/>
                <a:ea typeface="PingFang SC"/>
              </a:rPr>
              <a:t>团队不大，重心不在写实现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37360"/>
            <a:ext cx="10424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450" b="0" i="0">
                <a:solidFill>
                  <a:srgbClr val="333E4F"/>
                </a:solidFill>
                <a:latin typeface="Helvetica Neue"/>
                <a:ea typeface="PingFang SC"/>
              </a:rPr>
              <a:t>这是人力结构的示意，不是招聘计划。值得看的是哪些地方小：智能体层，还有写实现这类人力的整体占比。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58368" y="2194560"/>
          <a:ext cx="10872216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017520"/>
                <a:gridCol w="777240"/>
                <a:gridCol w="7077456"/>
              </a:tblGrid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职能</a:t>
                      </a:r>
                    </a:p>
                  </a:txBody>
                  <a:tcPr marL="91440" marR="73152" marT="36576" marB="36576" anchor="ctr">
                    <a:solidFill>
                      <a:srgbClr val="111A2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人力</a:t>
                      </a:r>
                    </a:p>
                  </a:txBody>
                  <a:tcPr marL="91440" marR="73152" marT="36576" marB="36576" anchor="ctr">
                    <a:solidFill>
                      <a:srgbClr val="111A2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FFFFFF"/>
                          </a:solidFill>
                          <a:latin typeface="Helvetica Neue"/>
                          <a:ea typeface="PingFang SC"/>
                        </a:rPr>
                        <a:t>为什么这么配</a:t>
                      </a:r>
                    </a:p>
                  </a:txBody>
                  <a:tcPr marL="91440" marR="73152" marT="36576" marB="36576" anchor="ctr">
                    <a:solidFill>
                      <a:srgbClr val="111A2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账簿底座与工具层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2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schema、双时间维度、溯源、带类型自己守不变量的动作。都是改不回来的决定，得资深的人做。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评测、校验台与数据</a:t>
                      </a:r>
                    </a:p>
                  </a:txBody>
                  <a:tcPr marL="91440" marR="73152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2</a:t>
                      </a:r>
                    </a:p>
                  </a:txBody>
                  <a:tcPr marL="91440" marR="73152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语料、回放执行器、CI 闸门、接入质量、实体归一。故意做成最大的一条工程线。</a:t>
                      </a:r>
                    </a:p>
                  </a:txBody>
                  <a:tcPr marL="91440" marR="73152" marT="36576" marB="36576" anchor="ctr">
                    <a:solidFill>
                      <a:srgbClr val="F3F6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校验与校准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1.5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不变量、异常检测；置信度从信号里推，不听模型自己说。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编排与异常处理台</a:t>
                      </a:r>
                    </a:p>
                  </a:txBody>
                  <a:tcPr marL="91440" marR="73152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1.5</a:t>
                      </a:r>
                    </a:p>
                  </a:txBody>
                  <a:tcPr marL="91440" marR="73152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持久化流程，加一个做到位的界面，而不是四十个页面。</a:t>
                      </a:r>
                    </a:p>
                  </a:txBody>
                  <a:tcPr marL="91440" marR="73152" marT="36576" marB="36576" anchor="ctr">
                    <a:solidFill>
                      <a:srgbClr val="F3F6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会计专业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2–3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写规格、标语料。整个计划的速度上限就在这儿。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安全与控制</a:t>
                      </a:r>
                    </a:p>
                  </a:txBody>
                  <a:tcPr marL="91440" marR="73152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1</a:t>
                      </a:r>
                    </a:p>
                  </a:txBody>
                  <a:tcPr marL="91440" marR="73152" marT="36576" marB="36576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智能体身份、最小权限、职责分离、审计包、SOC 2。</a:t>
                      </a:r>
                    </a:p>
                  </a:txBody>
                  <a:tcPr marL="91440" marR="73152" marT="36576" marB="36576" anchor="ctr">
                    <a:solidFill>
                      <a:srgbClr val="F3F6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1" i="0">
                          <a:solidFill>
                            <a:srgbClr val="111A27"/>
                          </a:solidFill>
                          <a:latin typeface="Helvetica Neue"/>
                          <a:ea typeface="PingFang SC"/>
                        </a:rPr>
                        <a:t>智能体层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1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25000"/>
                        </a:lnSpc>
                      </a:pPr>
                      <a:r>
                        <a:rPr sz="1150" b="0" i="0">
                          <a:solidFill>
                            <a:srgbClr val="333E4F"/>
                          </a:solidFill>
                          <a:latin typeface="Helvetica Neue"/>
                          <a:ea typeface="PingFang SC"/>
                        </a:rPr>
                        <a:t>提示词、任务拆解、规则记忆。最便宜、最好换的一块。</a:t>
                      </a:r>
                    </a:p>
                  </a:txBody>
                  <a:tcPr marL="91440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58368" y="5358384"/>
            <a:ext cx="3465576" cy="1060704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96112" y="5522976"/>
            <a:ext cx="30175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1" i="0">
                <a:solidFill>
                  <a:srgbClr val="0E7490"/>
                </a:solidFill>
                <a:latin typeface="Helvetica Neue"/>
                <a:ea typeface="PingFang SC"/>
              </a:rPr>
              <a:t>约 11 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907024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150" b="0" i="0">
                <a:solidFill>
                  <a:srgbClr val="333E4F"/>
                </a:solidFill>
                <a:latin typeface="Helvetica Neue"/>
                <a:ea typeface="PingFang SC"/>
              </a:rPr>
              <a:t>这十一个人里，只有两个碰提示词和实现量。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79976" y="5358384"/>
            <a:ext cx="3465576" cy="1060704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17720" y="5522976"/>
            <a:ext cx="30175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1" i="0">
                <a:solidFill>
                  <a:srgbClr val="6B7688"/>
                </a:solidFill>
                <a:latin typeface="Helvetica Neue"/>
                <a:ea typeface="PingFang SC"/>
              </a:rPr>
              <a:t>非人力成本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5815584"/>
            <a:ext cx="30175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050" b="0" i="0">
                <a:solidFill>
                  <a:srgbClr val="333E4F"/>
                </a:solidFill>
                <a:latin typeface="Helvetica Neue"/>
                <a:ea typeface="PingFang SC"/>
              </a:rPr>
              <a:t>推理成本计入营业成本 · SOC 2 Type II 审计 · 职业责任险 · 数据基础设施 · 客户授权更新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1584" y="5358384"/>
            <a:ext cx="3429000" cy="1060704"/>
          </a:xfrm>
          <a:prstGeom prst="roundRect">
            <a:avLst>
              <a:gd name="adj" fmla="val 4000"/>
            </a:avLst>
          </a:prstGeom>
          <a:solidFill>
            <a:srgbClr val="FAEEE3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39328" y="5522976"/>
            <a:ext cx="2971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1" i="0">
                <a:solidFill>
                  <a:srgbClr val="B45309"/>
                </a:solidFill>
                <a:latin typeface="Helvetica Neue"/>
                <a:ea typeface="PingFang SC"/>
              </a:rPr>
              <a:t>待填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8" y="5815584"/>
            <a:ext cx="2971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050" b="0" i="0">
                <a:solidFill>
                  <a:srgbClr val="7A3B08"/>
                </a:solidFill>
                <a:latin typeface="Helvetica Neue"/>
                <a:ea typeface="PingFang SC"/>
              </a:rPr>
              <a:t>[20 周总投入] 和 [它替掉的人工成本]。
方括号别带到现场。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801807" y="6528816"/>
            <a:ext cx="73152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 i="0">
                <a:solidFill>
                  <a:srgbClr val="D5DCE4"/>
                </a:solidFill>
                <a:latin typeface="Helvetica Neue"/>
                <a:ea typeface="PingFang SC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00" b="1" i="0">
                <a:solidFill>
                  <a:srgbClr val="0E7490"/>
                </a:solidFill>
                <a:latin typeface="Helvetica Neue"/>
                <a:ea typeface="PingFang SC"/>
              </a:rPr>
              <a:t>怎么判断成了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49808"/>
            <a:ext cx="1087495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2600" b="1" i="0">
                <a:solidFill>
                  <a:srgbClr val="111A27"/>
                </a:solidFill>
                <a:latin typeface="Helvetica Neue"/>
                <a:ea typeface="PingFang SC"/>
              </a:rPr>
              <a:t>看哪几个数，以及什么算做完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1719072"/>
            <a:ext cx="2551176" cy="2148840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77824" y="1901952"/>
            <a:ext cx="2139696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 i="0">
                <a:solidFill>
                  <a:srgbClr val="0E7490"/>
                </a:solidFill>
                <a:latin typeface="Helvetica Neue"/>
                <a:ea typeface="PingFang SC"/>
              </a:rPr>
              <a:t>自动过账率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670048"/>
            <a:ext cx="213969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200" b="0" i="0">
                <a:solidFill>
                  <a:srgbClr val="333E4F"/>
                </a:solidFill>
                <a:latin typeface="Helvetica Neue"/>
                <a:ea typeface="PingFang SC"/>
              </a:rPr>
              <a:t>一个人都没碰、直接过账的交易占比。按类别报，分母写清楚。产品做得怎么样、省下多少工时，都在这一个数里。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8144" y="1719072"/>
            <a:ext cx="2551176" cy="2148840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657600" y="1901952"/>
            <a:ext cx="2139696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 i="0">
                <a:solidFill>
                  <a:srgbClr val="0E7490"/>
                </a:solidFill>
                <a:latin typeface="Helvetica Neue"/>
                <a:ea typeface="PingFang SC"/>
              </a:rPr>
              <a:t>单主体
单次结账工时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670048"/>
            <a:ext cx="213969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200" b="0" i="0">
                <a:solidFill>
                  <a:srgbClr val="333E4F"/>
                </a:solidFill>
                <a:latin typeface="Helvetica Neue"/>
                <a:ea typeface="PingFang SC"/>
              </a:rPr>
              <a:t>这个数不撒谎。笔数会让我们好看，工时不会，因为剩下的长尾吃掉了大部分成本。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719072"/>
            <a:ext cx="2551176" cy="2148840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437376" y="1901952"/>
            <a:ext cx="2139696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 i="0">
                <a:solidFill>
                  <a:srgbClr val="0E7490"/>
                </a:solidFill>
                <a:latin typeface="Helvetica Neue"/>
                <a:ea typeface="PingFang SC"/>
              </a:rPr>
              <a:t>单次结账成本
对比替掉的人工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7376" y="2670048"/>
            <a:ext cx="213969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200" b="0" i="0">
                <a:solidFill>
                  <a:srgbClr val="333E4F"/>
                </a:solidFill>
                <a:latin typeface="Helvetica Neue"/>
                <a:ea typeface="PingFang SC"/>
              </a:rPr>
              <a:t>推理加复核，对上被拿掉那部分活的全负担成本。这个数不降，别的都白说。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97696" y="1719072"/>
            <a:ext cx="2551176" cy="2148840"/>
          </a:xfrm>
          <a:prstGeom prst="roundRect">
            <a:avLst>
              <a:gd name="adj" fmla="val 4000"/>
            </a:avLst>
          </a:prstGeom>
          <a:solidFill>
            <a:srgbClr val="F3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217152" y="1901952"/>
            <a:ext cx="2139696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1" i="0">
                <a:solidFill>
                  <a:srgbClr val="0E7490"/>
                </a:solidFill>
                <a:latin typeface="Helvetica Neue"/>
                <a:ea typeface="PingFang SC"/>
              </a:rPr>
              <a:t>重述 / 差错率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17152" y="2670048"/>
            <a:ext cx="2139696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200" b="0" i="0">
                <a:solidFill>
                  <a:srgbClr val="333E4F"/>
                </a:solidFill>
                <a:latin typeface="Helvetica Neue"/>
                <a:ea typeface="PingFang SC"/>
              </a:rPr>
              <a:t>这个数能直接把事情终止。按绝对上限管，不看趋势；而且要跟现状比。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3986784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1" i="0">
                <a:solidFill>
                  <a:srgbClr val="B45309"/>
                </a:solidFill>
                <a:latin typeface="Helvetica Neue"/>
                <a:ea typeface="PingFang SC"/>
              </a:rPr>
              <a:t>基线不是零差错。今天“RPA 加人”这套流程本来就会出错，而且比例我们测得出来。智能体要过的是这条线，不是完美。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4407408"/>
            <a:ext cx="10874959" cy="1463040"/>
          </a:xfrm>
          <a:prstGeom prst="roundRect">
            <a:avLst>
              <a:gd name="adj" fmla="val 4000"/>
            </a:avLst>
          </a:prstGeom>
          <a:solidFill>
            <a:srgbClr val="E8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50976" y="4572000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150" b="1" i="0">
                <a:solidFill>
                  <a:srgbClr val="6B7688"/>
                </a:solidFill>
                <a:latin typeface="Helvetica Neue"/>
                <a:ea typeface="PingFang SC"/>
              </a:rPr>
              <a:t>什么算做完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" y="4882896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500"/>
              </a:spcAft>
            </a:pPr>
            <a:r>
              <a:rPr sz="1200" b="0" i="0">
                <a:solidFill>
                  <a:srgbClr val="333E4F"/>
                </a:solidFill>
                <a:latin typeface="Helvetica Neue"/>
                <a:ea typeface="PingFang SC"/>
              </a:rPr>
              <a:t>— 我们的账簿成为 [X] 个客户的主库，连续三个结账周期双写 diff 为零</a:t>
            </a:r>
          </a:p>
          <a:p>
            <a:pPr>
              <a:lnSpc>
                <a:spcPct val="135000"/>
              </a:lnSpc>
              <a:spcAft>
                <a:spcPts val="500"/>
              </a:spcAft>
            </a:pPr>
            <a:r>
              <a:rPr sz="1200" b="0" i="0">
                <a:solidFill>
                  <a:srgbClr val="333E4F"/>
                </a:solidFill>
                <a:latin typeface="Helvetica Neue"/>
                <a:ea typeface="PingFang SC"/>
              </a:rPr>
              <a:t>— 前五大类别自动过账率到 [X]% 以上，分母写清楚</a:t>
            </a:r>
          </a:p>
          <a:p>
            <a:pPr>
              <a:lnSpc>
                <a:spcPct val="135000"/>
              </a:lnSpc>
              <a:spcAft>
                <a:spcPts val="500"/>
              </a:spcAft>
            </a:pPr>
            <a:r>
              <a:rPr sz="1200" b="0" i="0">
                <a:solidFill>
                  <a:srgbClr val="333E4F"/>
                </a:solidFill>
                <a:latin typeface="Helvetica Neue"/>
                <a:ea typeface="PingFang SC"/>
              </a:rPr>
              <a:t>— 单主体单次结账工时，比现状降 [Z]%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4882896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500"/>
              </a:spcAft>
            </a:pPr>
            <a:r>
              <a:rPr sz="1200" b="0" i="0">
                <a:solidFill>
                  <a:srgbClr val="333E4F"/>
                </a:solidFill>
                <a:latin typeface="Helvetica Neue"/>
                <a:ea typeface="PingFang SC"/>
              </a:rPr>
              <a:t>— 重述率不高于上线前的水平</a:t>
            </a:r>
          </a:p>
          <a:p>
            <a:pPr>
              <a:lnSpc>
                <a:spcPct val="135000"/>
              </a:lnSpc>
              <a:spcAft>
                <a:spcPts val="500"/>
              </a:spcAft>
            </a:pPr>
            <a:r>
              <a:rPr sz="1200" b="0" i="0">
                <a:solidFill>
                  <a:srgbClr val="333E4F"/>
                </a:solidFill>
                <a:latin typeface="Helvetica Neue"/>
                <a:ea typeface="PingFang SC"/>
              </a:rPr>
              <a:t>— 单次结账成本，低于它替掉的人工成本的 [W]%</a:t>
            </a:r>
          </a:p>
          <a:p>
            <a:pPr>
              <a:lnSpc>
                <a:spcPct val="135000"/>
              </a:lnSpc>
              <a:spcAft>
                <a:spcPts val="500"/>
              </a:spcAft>
            </a:pPr>
            <a:r>
              <a:rPr sz="1200" b="0" i="0">
                <a:solidFill>
                  <a:srgbClr val="333E4F"/>
                </a:solidFill>
                <a:latin typeface="Helvetica Neue"/>
                <a:ea typeface="PingFang SC"/>
              </a:rPr>
              <a:t>— 拿到 SOC 2 Type II；外部审阅一次通过，审计包不用改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5961888"/>
            <a:ext cx="10874959" cy="530352"/>
          </a:xfrm>
          <a:prstGeom prst="roundRect">
            <a:avLst>
              <a:gd name="adj" fmla="val 4000"/>
            </a:avLst>
          </a:prstGeom>
          <a:solidFill>
            <a:srgbClr val="111A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50976" y="6089904"/>
            <a:ext cx="102897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Helvetica Neue"/>
                <a:ea typeface="PingFang SC"/>
              </a:rPr>
              <a:t>不是在会计软件上加几个 AI 功能。是让软件把会计做了，底下压着一套每个数都能证明、都能辩的账簿。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