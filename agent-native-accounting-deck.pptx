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4" roundtripDataSignature="AMtx7mjS2LSAFU8bc4j/FIk2ttrWxf5nM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102487-FF41-47C9-82F8-DD1084D7B1E0}">
  <a:tblStyle styleId="{AC102487-FF41-47C9-82F8-DD1084D7B1E0}"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8761"/>
  </p:normalViewPr>
  <p:slideViewPr>
    <p:cSldViewPr snapToGrid="0">
      <p:cViewPr varScale="1">
        <p:scale>
          <a:sx n="102" d="100"/>
          <a:sy n="102" d="100"/>
        </p:scale>
        <p:origin x="208" y="65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755de7d5b_1_45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g3f755de7d5b_1_45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今天跟大家讨论一件事：我们要把会计软件按智能体时代的方式来重写一遍。</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先把两条路分开。一条是在现有软件上挂个 AI 助手，该填的表还是得填。另一条是推倒重写，让软件直接把活干完，而不是等人干完了再记一笔。只有第二条真正改变什么，但它要求一套完全不同的底层。今天主要讲这套底层。</a:t>
            </a:r>
            <a:endParaRPr/>
          </a:p>
        </p:txBody>
      </p:sp>
      <p:sp>
        <p:nvSpPr>
          <p:cNvPr id="83" name="Google Shape;83;g3f755de7d5b_1_45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f755de7d5b_1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 name="Google Shape;96;g3f755de7d5b_1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这一页是我们全部的论点，分三块看。</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第一块，传统软件的局限。它只能处理确定性的逻辑，所以复杂性都堆在一件事上：得由人通过各种表单，把需求翻译成程序能执行的结构。这就是为什么 SaaS 永远在功能和易用性之间做取舍，功能做多了没人会用，做少了又不够用。另外它处理不了非结构化的数据，凭证、发票、银行摘要，最后都得靠人一条条录进去。</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二块，大模型改变了什么。三件事。推理能力能吃下模糊的需求，不用先把需求写死；编码成本被极大压缩，所以界面可以按客户的需要动态生成，这一点我在第四个关键部件里会专门展开；多模态能直接读非结构化数据，录入这部分人力可以省掉。</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三块，为什么这件事在会计领域特别值得做。会计和税务本身法规复杂，又要面对不同行业，所以软件复杂度天然就高。同时它要处理大量文档和图片，而且对准确度的要求极高。复杂度高、非结构化多、准确度要求严，前面两块的能力刚好都用得上。</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最后一句是我们真正赌的东西：我们赌的不是模型有多聪明，是会计这件事能验。结果进客户账之前，我们有办法证明它是对的。这句话的分量，下一页讲清楚。</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如果有人问现有厂商为什么不直接做，架构那几页会从结构上回答。短版本是，他们需要的那个底座是数据层面的决定，事后补不上；而且他们的收入，恰好靠这套东西要省掉的那些席位。</a:t>
            </a:r>
            <a:endParaRPr/>
          </a:p>
        </p:txBody>
      </p:sp>
      <p:sp>
        <p:nvSpPr>
          <p:cNvPr id="97" name="Google Shape;97;g3f755de7d5b_1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f755de7d5b_1_3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1200">
                <a:solidFill>
                  <a:schemeClr val="dk1"/>
                </a:solidFill>
              </a:rPr>
              <a:t>后面的骨架</a:t>
            </a:r>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第一块，为什么是会计、为什么是我们。会计能验这件事，加上我们手上已经有的东西。</a:t>
            </a:r>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第二块，守得住的是什么，四样，按越往后越拿不走排。</a:t>
            </a:r>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第三块是主体，架构加四个关键部件：账簿内核、工具层、校验与修正回路、界面。</a:t>
            </a:r>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第四块，风险、工程投入的形态、2027 的计划，以及之后。</a:t>
            </a:r>
            <a:endParaRPr/>
          </a:p>
        </p:txBody>
      </p:sp>
      <p:sp>
        <p:nvSpPr>
          <p:cNvPr id="119" name="Google Shape;119;g3f755de7d5b_1_35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2" name="Google Shape;142;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这一页回答两个问题：为什么是会计这个行业，以及为什么是我们。</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先说行业。大部分脑力活，你没法机械地检查答案，所以人永远留在环里，产品的天花板就是打辅助。会计行业不一样，是因为它能验。借贷必须相等，试算表必须平，明细账要跟总账勾得上，银行对账差额必须为零，税务和申报规则都是成文的。这些规则是现成的，不用我们发明。</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有了这些规则，我们才敢自动过账，而且说得清误差有多大；也才能只把真有歧义的那部分推给人。就这一件事，分开了一个 demo 和一套敢放到客户面前的系统。</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再说为什么是我们。这些年我们的机器人在替客户执行机械步骤，一碰到要判断的地方就停下来等人。这些操作日志攒下来，等于画了一张图：哪一步是机械的，哪一步非人不可。一个从零起步的团队要花一年才摸出这张图，我们是把它当生产系统在养。它还告诉我们该先打哪几类、按什么顺序，按笔数排，也按出错率排。</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有一点我要讲准。操作日志和流程数据，我们有；客户的账簿，我们不拥有。用来训练和评测的历史结账数据，是通过现有合作、在客户授权下拿的，有些协议要更新。这是个流程问题，不是拦路石，但我不想假装它不存在。</a:t>
            </a:r>
            <a:endParaRPr/>
          </a:p>
        </p:txBody>
      </p:sp>
      <p:sp>
        <p:nvSpPr>
          <p:cNvPr id="143" name="Google Shape;143;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f755de7d5b_1_13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0" name="Google Shape;160;g3f755de7d5b_1_1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接下来讲架构。在进去之前，我想先说清楚守得住的是哪几样东西。</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厂商靠界面做差异化的时候，护城河是用户习惯和生态。等系统开始替客户干活，变得难抄的是另外四样。我按"越往后越拿不走"的顺序讲。</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第一样是校验。给模型写提示词谁都会，证明输出是对的几乎没人会。在一个有标准答案的行业里，校验本身就是产品。这一条接着上一页讲。</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二样是底座。只追加、双时间维度、全程可溯。这是第一天就要定下来的数据层决定，事后补不回来。它也是上面那条校验能成立的前提：能把智能体丢回历史期间重跑打分，靠的就是双时间维度。它还是"这笔分录怎么来的"这个问题唯一能答得上来的原因。后面第一个关键部件会专门讲它。</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三样是权限。我想特别说一下这一条，因为它最容易被低估。前面两样，一个有钱的对手花时间也能建。但往客户账上、银行、申报里写数的权限不一样，后面挂着我们的责任，是一个有审批留痕的治理决定，要收回它得开管理层的会。界面用惯了是一种偏好，偏好一轮采购就能推翻；这个不是。</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四样是复利回路，我特意放在最后，因为它是唯一一样会自己长大的。复核人每改一次，就产出两样东西：一条带版本、带适用范围的显式规则，和一条被打过分的样本。规则进上下文，样本进评测语料。客户身上攒下来的规矩，比如这家供应商一律进主营成本，和那套评测语料，其实是同一个回路的两个产物。提示词一下午就抄走了，几年被复核过的结账数据抄不走。钱买不到时间，这是对手唯一没法追的一样。</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也有些东西没有变。记录系统更重要了，不是更不重要。智能体需要一个有真值、有权限、有历史的底座，被淘汰的是界面，不是数据库。信任、安全、保密、专业规范，还是一切的前提；押上去的是客户的账和我们自己的名声，所以架构里那些控制手段，不是可选项。</a:t>
            </a:r>
            <a:endParaRPr/>
          </a:p>
        </p:txBody>
      </p:sp>
      <p:sp>
        <p:nvSpPr>
          <p:cNvPr id="161" name="Google Shape;161;g3f755de7d5b_1_13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0" name="Google Shape;190;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这是整套系统的架构。标题那句话就是我们的设计哲学：智能体负责决定，确定性代码负责执行，所有操作可验证可溯源。</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我从下往上讲，因为这是真实的建设顺序。最底下是数据接入，银行、卡、工资、POS、应付邮箱、凭证、往年账套。往上是账簿内核，只追加、双时间维度、复式记账、全程可溯。再往上是工具层，所有动作都带类型、自己守不变量。再往上是持久化编排，把结账清单做成能断点续跑的状态机。然后才是智能体层，再上面是校验与护栏，最上面才是客户看到的界面。</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请各位注意校验层的位置。它在智能体之上，在客户之下。智能体产出的任何东西，不过确定性检查，进不了客户的账。这是架构上的保证，不是一条政策，也不是我们对模型行为的承诺。</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右边那一列是横向能力：审计溯源、评测回放、成本监控、智能体身份与最小权限。它们每一层都要用，所以单独拉出来。</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三个菱形是我们认为专有、守得住的地方，分别是账簿内核、工具层、校验与护栏，而智能体层不在里面。这个赛道很多团队在智能体层上投得过重，因为那是看得见、能演示的部分，然后发现自己既没校验也没评测，压根判断不出来有没有变好。我们是故意反过来做的。</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可能有人会问，为什么用持久化编排，不让智能体自己规划结账。因为结账是一份已知的清单，要拖好几天，中间得等客户回邮件，某一步失败还得有补偿逻辑。已知的流程我们用确定性方式建模，只在要判断的步骤里用智能体。让智能体在总账上自由发挥，是拿到一份自己都解释不清的财务重述的最快办法。</a:t>
            </a:r>
            <a:endParaRPr/>
          </a:p>
        </p:txBody>
      </p:sp>
      <p:sp>
        <p:nvSpPr>
          <p:cNvPr id="191" name="Google Shape;191;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上一页是分层，这一页是同一套东西的流动。我想让各位看清一笔账是怎么走完全程的。</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左边进来的是原始输入：银行流水、卡、工资、POS、应付邮箱里的凭证。先做接入和归一，去重，把 AMZN MKTP 这种字符串归到同一个供应商。</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然后才是智能体层，它做抽取、分类、匹配。请注意它不直接写账。它能做的只有一件事：挑一个带类型的工具，把参数填进去。工具层自己校验平衡、期间、权限，不合规直接拒。</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再往右是校验。第一层硬性不变量，第二层统计检查，然后算出置信度。过线的直接过账，进账簿内核，只追加、双时间维度。</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没过线的往下走，进复核队列。下面那条回路是我最想强调的部分。复核人改完之后，修正当场结构化成一条显式规则，带版本、带适用范围，然后连同语料一起回到智能体的上下文里。下一次遇到同一类，规则先命中，模型就少猜一次。</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右边那条线是另一条回路：已经结完的账本身就是真值。我们把智能体丢回历史期间重跑，拿它和当时记账的人比，这就是评测语料的来源。</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最下面那句是贯穿全程的：每一步都往审计轨迹里写，源凭证、抽取、推理轨迹、工具调用、命中哪条规矩、谁批的、最后过账。而且整张图里，除了工具层，没有任何一条路能碰到账簿。</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颜色也有含义。暖色那三块是我们认为专有、守得住的；蓝绿那三块是学习回路。</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还有一条细支路要说明。过线的自动过账,我们也随机抽一部分送进复核队列。这不是不放心,是因为如果只复核没过线的,我们永远不知道自动过的那批到底错多少。有了这条对照组,自动过账率才是一个有误差边界的数,而不只是一个吞吐量。</a:t>
            </a:r>
            <a:endParaRPr/>
          </a:p>
        </p:txBody>
      </p:sp>
      <p:sp>
        <p:nvSpPr>
          <p:cNvPr id="228" name="Google Shape;228;p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4" name="Google Shape;284;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这一层，抄提示词是抄不走的。</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先说双时间维度，我举个例子。客户三月的账是四月关的，到了六月，有人来问我们三月三十一号那天认为的情况是什么、凭什么这么记。普通数据库答不上来，它只存当前状态。我们答得上来，因为我们把一件事什么时候成立、和我们什么时候知道它，分开存了。同一个机制，也让我们能把去年真实的结账数据拿出来，把智能体丢回去重跑一遍，量它的准确率。我们整套评测能力，就压在这一个数据内核的选择上。</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第二条是不可变。更正走红冲，不直接改数。能改的账，事后说不清；能悄悄覆盖数据的智能体，给多少钱也不该收。</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三条是溯源。源凭证、抽取、推理轨迹、工具调用、命中哪条规矩、谁批的、最后过账，这一整条链要能查。在现有系统里，审计日志是贴在边上的合规材料；在这里它是承重墙。项目最常死在一句话上：这笔分录怎么来的，给我看看。只有在数据层上就为它设计过，这句话才答得上来。</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还有一点，每个操作者都分类型，是人、是智能体，还是系统；智能体的身份、模型版本、提示词版本，都写在分录上。出了问题，能定位到是哪一版在什么时候做的。</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我知道有人会算成本。只追加加上双时间维度的账簿，建起来、查起来都比可变表贵。这笔账我们在第一个月就认了，因为它事后补不回来。这一层占的工程量不小，但它几乎不会出现在 demo 里。</a:t>
            </a:r>
            <a:endParaRPr/>
          </a:p>
        </p:txBody>
      </p:sp>
      <p:sp>
        <p:nvSpPr>
          <p:cNvPr id="285" name="Google Shape;285;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f755de7d5b_1_25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6" name="Google Shape;306;g3f755de7d5b_1_25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工具层不是把 API 改个名字。API 假设调用方知道自己要什么，而工具层假设调用方很能干，但偶尔是错的。</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第一点，不变量归工具管，不归调用方管。平时你会信自己前端传上来的数，这里反过来。每个工具都当调用方是错的，自己去卡平衡、卡期间、卡权限。</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第二点，幂等是硬要求，因为智能体一定会重试。</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第三点，粒度得反复磨。太细，智能体调四十次还把上下文丢了；太粗，它表达不出意图。这块必然要来回调整。</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第四点，接口面必须小、必须好找。上下文是稀缺资源，不能把四百个接口摆在一个模型面前。</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五点，报错要能指路，因为智能体会读它然后重试。四百参数错误这种报错一点用没有；分录不平、借方一千二、贷方一千一百五、差五十，这样的报错能换来一次成功的重试。在这儿，报错文案是功能，不是细节。这一条最能说明这层跟普通 API 的区别，没建过这类系统的人不会把报错字符串当成功能需求。</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如果这一页只留一句话，就是右边那条原则：不要指望模型在脑子里算数，也不要指望它在脑子里套规则。每一次状态变更都由模型走一个带类型的工具调用，由工具自己校验。智能体只管挑哪个工具、传什么参数；对不对，是工具的事。竞争对手 demo 里出现的每一个错数字，都是因为让模型自己算，而不是去调一个会算的东西。</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有人会问 MCP 或者工具协议标准化。我们兼容，但那是集成细节，不是难点。难点是把大概三十个工具的粒度和不变量设计对，那靠的是会计专业，不是协议工作。</a:t>
            </a:r>
            <a:endParaRPr/>
          </a:p>
        </p:txBody>
      </p:sp>
      <p:sp>
        <p:nvSpPr>
          <p:cNvPr id="307" name="Google Shape;307;g3f755de7d5b_1_25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7" name="Google Shape;327;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这是第三个关键部件，也是我认为最值钱的一个。</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跟现在用的软件比，最大的变化是校验的对象变了。以前只校验格式对不对，现在要校验一个格式没问题的答案，内容对不对。</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我们分三层。第一层是硬性不变量，确定性的，不讲条件，提交之前一定跑，过不去就直接拦住，不是给个提醒。第二层是统计检查，跟上期比波动，看供应商和科目的搭配是不是反常。它抓的是不变量放过去的那一类，格式没错，内容错了；它出分，不下结论。第三层是分流，过线的自动过账，没过线的进复核队列。</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这里有一件事我想强调。模型的置信度校得很差，而且一贯自信过头，所以问它有几成把握，不算一道控制。我们的置信度是从前两层的信号，加上跑几遍看结果一致不一致推出来的。</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接下来是这一页真正的重点。剩下那部分不确定，我们不把它当成损耗，而是当成燃料。</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低于阈值的条目，带完整上下文推给复核人，他只看该看的那一段。他改完之后，这次修改不是就地消失，而是当场落成一条显式规则，带版本、带适用范围。我强调显式，因为规则能拿给审阅的人看，向量不行。然后规则和修正一起进评测语料，而真值来自已经结完的账，所以我们可以把智能体丢回历史期间重跑，直接给它打分。下一轮，规则先命中，模型就少猜一次；模型或者提示词一改，先过语料回归，再碰客户。</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这就形成一个飞轮：客户每复核一条，系统下一次就少问一条。自动过账率往上走，复核量往下走，而这两个数我们都在量。这条阈值就是钱，每涨一个点对应多少工时，我们算得出来。</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也因为这样，我们以后汇报的单位跟软件公司不一样。我们不会拿上了一个功能来汇报，我们会拿某一类的自动过账率从七十一提到八十八、对应多少工时来汇报。进度是量出来的，不是说出来的。</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我想老实说一句，这套语料和回放框架比产品本身更难做，而且要占资深会计的标注时间。但不投这一块，就没有这个飞轮，所有指标也都变成没法验证的。</a:t>
            </a:r>
            <a:endParaRPr/>
          </a:p>
        </p:txBody>
      </p:sp>
      <p:sp>
        <p:nvSpPr>
          <p:cNvPr id="328" name="Google Shape;328;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这是第四个关键部件，讲客户看到的那一层。</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先说传统软件的做法。厂商必须先想好界面长什么样，再把所有客户塞进同一套界面里。每来一个新客户类型、一个新特例，就多一个页面、多一个字段、多一个开关。所以在传统软件里，界面是代码量最大、改得最勤的一块，原因就是它在替厂商吸收客户的多样性。</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如果界面可以按需生成，这个约束就没了。客户提一个需求，界面当场生成给他用，我们不用先想好所有人要什么，再排期。第二页讲大模型带来的改变时提到编码成本被极大压缩，兑现的地方就是这里。</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但第二点才是关键，我想特别强调。生成不等于一次性。用得顺的界面必须沉淀下来，存成这家客户自己的资产，下次直接调用。如果每次都重新生成、每次长得都不一样，那不叫界面，那叫抽奖，没有人敢拿它做账。</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第三点，用他自己的叫法。科目怎么叫、流程怎么走、报表长什么样，都按这家客户的习惯来，不用他先学我们的术语。</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第四点，这套界面归客户所有，他可以继续改。我们只负责托管，负责它一直跑得起来。</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集成这件事的方向也反过来了。以前是我们排期做插件，客户排队等我们支持他那套系统；现在客户要接什么就接什么，智能体照人的操作方式去用那个系统，不用等我们的路线图。长尾集成从我们的成本，变成客户自己的能力。</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会有人担心，界面能随便生成，账会不会被写坏。不会。生成出来的界面一样只能通过带类型的工具层动手，不变量、期间锁定、职责分离一条都绕不过去。这也正是为什么工具层要先建好，它在下面兜着。</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最后一句是我最想留下的：传统软件的学习曲线，本质上是客户在为我们的设计买单。界面按需生成、归客户所有之后，这笔账就不存在了。</a:t>
            </a:r>
            <a:endParaRPr/>
          </a:p>
        </p:txBody>
      </p:sp>
      <p:sp>
        <p:nvSpPr>
          <p:cNvPr id="364" name="Google Shape;364;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这一页讲两个真正的风险。</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一个是可靠性会连乘掉下来。单步九成五，连着二十步就只剩三成六。这是这个方向最硬的工程问题，没有哪句提示词能解决。真正的解法在架构上：把自主的跨度做短，中间用确定性编排接起来；每一步都要能单独验；提交前必须过闸。宁可要一串短的、验过的小跳，不要一条长链。前面那几页架构，就是围着这件事设计的。</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这条也可以拿去筛别人。各位以后看这个赛道的其他项目，可以问他们自主链条有多长、每一步靠什么验，这是判断谁真把东西跑起来过的最快办法。</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第二个是安全模型反过来了。平常是代码可信、用户不可信，而我们的智能体两头都不占：它带着写权限，同时在读一份不可信的 PDF 或者邮件。这是一类新漏洞，押上去的是客户的账。我们的做法是，凭证按任务下发、权限给到最小；不让任何一个工具同时能读不可信内容和做不可逆的事；职责分离写进代码，智能体不能批自己的分录；期间锁死，凭证里抽出来的文字一律当污点。职责分离这一条，其实是把一套给人用的内控框架，套到了一个软件执行者身上。</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最后还有三个我们也盯着、不粉饰的。一个是六四陷阱，容易的那大半笔数很快就自动化了，可剩下那一小部分吃掉了大部分工时，所以我们统计各环节耗时，不统计笔数。一个是迁移到新底座，量大而且对正确性要求极高。还有一个是随着智能体变强，校验器自己会变成天花板，所以我们把它的误拦率单独盯着。</a:t>
            </a:r>
            <a:endParaRPr/>
          </a:p>
        </p:txBody>
      </p:sp>
      <p:sp>
        <p:nvSpPr>
          <p:cNvPr id="392" name="Google Shape;392;p1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1" name="Google Shape;411;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这一页收技术部分，用一张表把工程投入的形态讲清楚。先说明一下，这些百分比是形态上的估计，不是实测数据。</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先看传统软件那一列。记录系统只占一成到一成五，是代码库里最小、最稳、也最值钱的一块；界面占三到四成，是最大、改得最勤的一块。主流会计软件底下的账簿内核可能就几千行，十年没怎么动；外面那层界面几十万行，每个版本都在改。</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原因就是上一页讲的：界面在替厂商吸收客户的多样性。每来一个新客户类型、新特例、新监管差异，就多一个页面、多一个字段、多一张报表，而领域模型几乎什么都没吸。</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再看我们这一列，我请各位重点看两处。</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第一处，界面从三到四成降到一成到一成五，大概是原来的三分之一。不是因为我们少做了，而是多样性交给模型和按需生成的界面去吸收，不再往代码里堆页面。</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二处，表里有四行在传统软件那一列是一道横线，也就是根本不存在：工具层、校验与护栏、评测与真值语料，还有智能体层。这四行加起来差不多占一半的工程量。这就是工程形态上真正的差别：省下来的界面预算，全挪到了底座和校验上。而这四行里的前三行，正是刚才那四个关键部件的下半截。</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还有两个细节。记录系统的占比反而升了，从一成到一成五升到一成五到两成，因为同样的内核，要求高多了。而智能体层只占约百分之五，是全表最小的几项之一。今天这已经是第二次说到它：它最便宜、最容易被换掉，所以我们刻意做得很薄，重心压在下面几层。</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一句话总结：传统软件把工程预算花在让人在界面上更快，我们花在让机器的输出在底座上站得住。</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如果各位关心我们的人数是不是比同类软件公司少，不是少，是结构不同。前端更少，数据和基础设施更多，再加上会计专业，而且是放在环里，不是放在旁边。</a:t>
            </a:r>
            <a:endParaRPr/>
          </a:p>
        </p:txBody>
      </p:sp>
      <p:sp>
        <p:nvSpPr>
          <p:cNvPr id="412" name="Google Shape;412;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这一页把 2027 年拆成四个季度，每个季度一个交付物，一个数。</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这四个季度是 2027 年的计划，也就是拿到资源之后的第一年。每一格上面是交付物，下面那一行是这个季度要交出来的数。</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第一季度，账簿成为主库。我们把第一批主体切过来，第一层硬性不变量和抽样对照组进生产，同时把今天的差错率和工时基线公开出来。这个季度的数只有一个：跟现有系统连续三个结账周期自动 diff 为零，才算切成。我想强调公开基线这件事，很多团队跳过它，然后就永远没法证明自己变好了。</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第二季度，前几大类别做到自动化。第二层统计检查和置信度分流上线，修正回路闭合，规则带版本，语料回归进 CI，异常处理台的复核吞吐达到目标。这个季度的数是自动过账率到位，而且自动过账那条路的实测差错率不高于人的基线。</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三季度，界面按需生成，开始吃长尾。界面按客户生成、沉淀下来、归客户所有；客户自己接系统，不用等我们排期；长尾类别开始进来。这个季度的数是单主体单次结账工时下降，而且长尾进来之后自动过账率不能掉。</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四季度，把产出接过来，并且证明能规模化。申报和客户报表长在同一个底座上；结账从每月批一次变成持续的，账永远是当期的；一个复核人能带的主体数达到目标。这个季度的数是单次结账成本低于它替掉的人工。</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最下面那四个数全年不变，只是标准往上抬，这也是我们以后汇报的格式。最后那一句：重述率是封顶管理，不是优化，压在我们自己实测的基线以下。</a:t>
            </a:r>
            <a:endParaRPr/>
          </a:p>
        </p:txBody>
      </p:sp>
      <p:sp>
        <p:nvSpPr>
          <p:cNvPr id="423" name="Google Shape;423;p1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最后一页讲 2027 之后，只讲一件事：在一个可信的账簿上做顾问服务。</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先说为什么这件事重要，而不只是"顺便还能做"。记账是按工作量收费的，我们越自动化，这条线的单价就越往下走。这是我们自己造成的通缩，躲不开。顾问服务是按判断力收费的，它不通缩。所以同一个底座，一边在压我们的成本，一边在打开一条不通缩的收入线。</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那为什么今天的事务所不能直接往上走？因为顾问建议需要的数据必须是当期的、完整的、正确的，而这三件事恰好是这个底座的副产品，不是额外投入。</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具体会变三件事。</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第一，从季度变成连续。今天的建议是一阵一阵的，因为把数凑齐本身就很贵。当账永远是当期的，现金跑道、毛利漂移、契约余量这些东西可以一直盯着，而不是每个季度重建一次。</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第二，天然是向前看的。应付、应收、租赁、工资、税，这些义务和时间表本来就已经结构化地躺在账簿里。所以预测不再是拉一张表，而是对已知的未来分录做一次查询，再叠一个对未知部分的模型。</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第三，每个数都追得到源头。一个能追溯到具体分录的建议，客户才敢照着做，审计师才认。这是"意见"和"立场"的区别。</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中间那一行是具体服务：现金跑道、营运资金、税务安排、情景规划、毛利分析。这些都不是新产品，是账簿一旦可信之后顺理成章的东西。</a:t>
            </a:r>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a:p>
            <a:pPr marL="0" marR="0" lvl="0" indent="0" algn="l" rtl="0">
              <a:spcBef>
                <a:spcPts val="0"/>
              </a:spcBef>
              <a:spcAft>
                <a:spcPts val="0"/>
              </a:spcAft>
              <a:buNone/>
            </a:pPr>
            <a:r>
              <a:rPr lang="en-US" sz="1200">
                <a:solidFill>
                  <a:schemeClr val="dk1"/>
                </a:solidFill>
                <a:latin typeface="Arial"/>
                <a:ea typeface="Arial"/>
                <a:cs typeface="Arial"/>
                <a:sym typeface="Arial"/>
              </a:rPr>
              <a:t>最后那句话我想讲慢一点。压成本和开新收入线，是同一个底座的两面；而这两面，在现有会计软件上挂个 AI 都到不了。</a:t>
            </a:r>
            <a:endParaRPr/>
          </a:p>
        </p:txBody>
      </p:sp>
      <p:sp>
        <p:nvSpPr>
          <p:cNvPr id="454" name="Google Shape;454;p1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7"/>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7"/>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1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8"/>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19"/>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19"/>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1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1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2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20"/>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20"/>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2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21"/>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21"/>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21"/>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21"/>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2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2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3"/>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3"/>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23"/>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2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24"/>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4"/>
          <p:cNvSpPr>
            <a:spLocks noGrp="1"/>
          </p:cNvSpPr>
          <p:nvPr>
            <p:ph type="pic" idx="2"/>
          </p:nvPr>
        </p:nvSpPr>
        <p:spPr>
          <a:xfrm>
            <a:off x="1792288" y="612775"/>
            <a:ext cx="5486400" cy="4114800"/>
          </a:xfrm>
          <a:prstGeom prst="rect">
            <a:avLst/>
          </a:prstGeom>
          <a:noFill/>
          <a:ln>
            <a:noFill/>
          </a:ln>
        </p:spPr>
      </p:sp>
      <p:sp>
        <p:nvSpPr>
          <p:cNvPr id="64" name="Google Shape;64;p24"/>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2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2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2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25"/>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2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26"/>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6"/>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2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5"/>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g3f755de7d5b_1_458"/>
          <p:cNvSpPr/>
          <p:nvPr/>
        </p:nvSpPr>
        <p:spPr>
          <a:xfrm>
            <a:off x="0" y="0"/>
            <a:ext cx="12192000" cy="6858000"/>
          </a:xfrm>
          <a:prstGeom prst="roundRect">
            <a:avLst>
              <a:gd name="adj" fmla="val 0"/>
            </a:avLst>
          </a:prstGeom>
          <a:solidFill>
            <a:srgbClr val="111A2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6" name="Google Shape;86;g3f755de7d5b_1_458"/>
          <p:cNvSpPr/>
          <p:nvPr/>
        </p:nvSpPr>
        <p:spPr>
          <a:xfrm>
            <a:off x="0" y="0"/>
            <a:ext cx="12192000" cy="76200"/>
          </a:xfrm>
          <a:prstGeom prst="rect">
            <a:avLst/>
          </a:prstGeom>
          <a:solidFill>
            <a:srgbClr val="B4530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7" name="Google Shape;87;g3f755de7d5b_1_458"/>
          <p:cNvSpPr txBox="1"/>
          <p:nvPr/>
        </p:nvSpPr>
        <p:spPr>
          <a:xfrm>
            <a:off x="762000" y="1524000"/>
            <a:ext cx="5238900" cy="215400"/>
          </a:xfrm>
          <a:prstGeom prst="rect">
            <a:avLst/>
          </a:prstGeom>
          <a:solidFill>
            <a:srgbClr val="000000">
              <a:alpha val="0"/>
            </a:srgbClr>
          </a:solidFill>
          <a:ln>
            <a:noFill/>
          </a:ln>
        </p:spPr>
        <p:txBody>
          <a:bodyPr spcFirstLastPara="1" wrap="square" lIns="0" tIns="0" rIns="0" bIns="0" anchor="ctr" anchorCtr="0">
            <a:spAutoFit/>
          </a:bodyPr>
          <a:lstStyle/>
          <a:p>
            <a:pPr marL="0" lvl="0" indent="0" algn="l" rtl="0">
              <a:spcBef>
                <a:spcPts val="0"/>
              </a:spcBef>
              <a:spcAft>
                <a:spcPts val="0"/>
              </a:spcAft>
              <a:buNone/>
            </a:pPr>
            <a:r>
              <a:rPr lang="en-US" sz="1400" b="1">
                <a:solidFill>
                  <a:srgbClr val="7AB8C8"/>
                </a:solidFill>
                <a:latin typeface="Helvetica Neue"/>
                <a:ea typeface="Helvetica Neue"/>
                <a:cs typeface="Helvetica Neue"/>
                <a:sym typeface="Helvetica Neue"/>
              </a:rPr>
              <a:t>AUG 2026</a:t>
            </a:r>
            <a:endParaRPr sz="1400" b="1">
              <a:solidFill>
                <a:srgbClr val="7AB8C8"/>
              </a:solidFill>
              <a:latin typeface="Helvetica Neue"/>
              <a:ea typeface="Helvetica Neue"/>
              <a:cs typeface="Helvetica Neue"/>
              <a:sym typeface="Helvetica Neue"/>
            </a:endParaRPr>
          </a:p>
        </p:txBody>
      </p:sp>
      <p:sp>
        <p:nvSpPr>
          <p:cNvPr id="88" name="Google Shape;88;g3f755de7d5b_1_458"/>
          <p:cNvSpPr txBox="1"/>
          <p:nvPr/>
        </p:nvSpPr>
        <p:spPr>
          <a:xfrm>
            <a:off x="762000" y="2095500"/>
            <a:ext cx="5238900" cy="21318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4200" b="1">
                <a:solidFill>
                  <a:srgbClr val="FFFFFF"/>
                </a:solidFill>
                <a:latin typeface="Helvetica Neue"/>
                <a:ea typeface="Helvetica Neue"/>
                <a:cs typeface="Helvetica Neue"/>
                <a:sym typeface="Helvetica Neue"/>
              </a:rPr>
              <a:t>AIMI Agentic</a:t>
            </a:r>
            <a:endParaRPr sz="4200" b="1">
              <a:solidFill>
                <a:srgbClr val="FFFFFF"/>
              </a:solidFill>
              <a:latin typeface="Helvetica Neue"/>
              <a:ea typeface="Helvetica Neue"/>
              <a:cs typeface="Helvetica Neue"/>
              <a:sym typeface="Helvetica Neue"/>
            </a:endParaRPr>
          </a:p>
          <a:p>
            <a:pPr marL="0" lvl="0" indent="0" algn="l" rtl="0">
              <a:spcBef>
                <a:spcPts val="750"/>
              </a:spcBef>
              <a:spcAft>
                <a:spcPts val="0"/>
              </a:spcAft>
              <a:buNone/>
            </a:pPr>
            <a:r>
              <a:rPr lang="en-US" sz="4200" b="1">
                <a:solidFill>
                  <a:srgbClr val="FFFFFF"/>
                </a:solidFill>
                <a:latin typeface="Helvetica Neue"/>
                <a:ea typeface="Helvetica Neue"/>
                <a:cs typeface="Helvetica Neue"/>
                <a:sym typeface="Helvetica Neue"/>
              </a:rPr>
              <a:t>Accounting</a:t>
            </a:r>
            <a:endParaRPr sz="4200" b="1">
              <a:solidFill>
                <a:srgbClr val="FFFFFF"/>
              </a:solidFill>
              <a:latin typeface="Helvetica Neue"/>
              <a:ea typeface="Helvetica Neue"/>
              <a:cs typeface="Helvetica Neue"/>
              <a:sym typeface="Helvetica Neue"/>
            </a:endParaRPr>
          </a:p>
          <a:p>
            <a:pPr marL="0" lvl="0" indent="0" algn="l" rtl="0">
              <a:spcBef>
                <a:spcPts val="750"/>
              </a:spcBef>
              <a:spcAft>
                <a:spcPts val="0"/>
              </a:spcAft>
              <a:buNone/>
            </a:pPr>
            <a:r>
              <a:rPr lang="en-US" sz="4200" b="1">
                <a:solidFill>
                  <a:srgbClr val="FFFFFF"/>
                </a:solidFill>
                <a:latin typeface="Helvetica Neue"/>
                <a:ea typeface="Helvetica Neue"/>
                <a:cs typeface="Helvetica Neue"/>
                <a:sym typeface="Helvetica Neue"/>
              </a:rPr>
              <a:t>Solution</a:t>
            </a:r>
            <a:endParaRPr sz="4200" b="1">
              <a:solidFill>
                <a:srgbClr val="FFFFFF"/>
              </a:solidFill>
              <a:latin typeface="Helvetica Neue"/>
              <a:ea typeface="Helvetica Neue"/>
              <a:cs typeface="Helvetica Neue"/>
              <a:sym typeface="Helvetica Neue"/>
            </a:endParaRPr>
          </a:p>
        </p:txBody>
      </p:sp>
      <p:sp>
        <p:nvSpPr>
          <p:cNvPr id="89" name="Google Shape;89;g3f755de7d5b_1_458"/>
          <p:cNvSpPr/>
          <p:nvPr/>
        </p:nvSpPr>
        <p:spPr>
          <a:xfrm>
            <a:off x="762000" y="4762500"/>
            <a:ext cx="1143000" cy="38100"/>
          </a:xfrm>
          <a:prstGeom prst="rect">
            <a:avLst/>
          </a:prstGeom>
          <a:solidFill>
            <a:srgbClr val="B4530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0" name="Google Shape;90;g3f755de7d5b_1_458"/>
          <p:cNvSpPr txBox="1"/>
          <p:nvPr/>
        </p:nvSpPr>
        <p:spPr>
          <a:xfrm>
            <a:off x="762000" y="4953000"/>
            <a:ext cx="5238900" cy="246300"/>
          </a:xfrm>
          <a:prstGeom prst="rect">
            <a:avLst/>
          </a:prstGeom>
          <a:solidFill>
            <a:srgbClr val="000000">
              <a:alpha val="0"/>
            </a:srgbClr>
          </a:solidFill>
          <a:ln>
            <a:noFill/>
          </a:ln>
        </p:spPr>
        <p:txBody>
          <a:bodyPr spcFirstLastPara="1" wrap="square" lIns="0" tIns="0" rIns="0" bIns="0" anchor="ctr" anchorCtr="0">
            <a:spAutoFit/>
          </a:bodyPr>
          <a:lstStyle/>
          <a:p>
            <a:pPr marL="0" lvl="0" indent="0" algn="l" rtl="0">
              <a:spcBef>
                <a:spcPts val="0"/>
              </a:spcBef>
              <a:spcAft>
                <a:spcPts val="0"/>
              </a:spcAft>
              <a:buNone/>
            </a:pPr>
            <a:r>
              <a:rPr lang="en-US" sz="1600" b="0">
                <a:solidFill>
                  <a:srgbClr val="8E9CAE"/>
                </a:solidFill>
                <a:latin typeface="Helvetica Neue"/>
                <a:ea typeface="Helvetica Neue"/>
                <a:cs typeface="Helvetica Neue"/>
                <a:sym typeface="Helvetica Neue"/>
              </a:rPr>
              <a:t>AIMI</a:t>
            </a:r>
            <a:endParaRPr sz="1600" b="0">
              <a:solidFill>
                <a:srgbClr val="8E9CAE"/>
              </a:solidFill>
              <a:latin typeface="Helvetica Neue"/>
              <a:ea typeface="Helvetica Neue"/>
              <a:cs typeface="Helvetica Neue"/>
              <a:sym typeface="Helvetica Neue"/>
            </a:endParaRPr>
          </a:p>
        </p:txBody>
      </p:sp>
      <p:grpSp>
        <p:nvGrpSpPr>
          <p:cNvPr id="91" name="Google Shape;91;g3f755de7d5b_1_458"/>
          <p:cNvGrpSpPr/>
          <p:nvPr/>
        </p:nvGrpSpPr>
        <p:grpSpPr>
          <a:xfrm>
            <a:off x="6467475" y="1038225"/>
            <a:ext cx="4781700" cy="4781700"/>
            <a:chOff x="-9525" y="-9525"/>
            <a:chExt cx="4781700" cy="4781700"/>
          </a:xfrm>
        </p:grpSpPr>
        <p:pic>
          <p:nvPicPr>
            <p:cNvPr id="92" name="Google Shape;92;g3f755de7d5b_1_458" descr="A modern professional digital 3D visualization of glowing gold and blue nodes, abstract financial data flowing through interconnected glass ledger blocks, clean dark studio setting with soft depth of field, representing agentic AI accounting systems."/>
            <p:cNvPicPr preferRelativeResize="0"/>
            <p:nvPr/>
          </p:nvPicPr>
          <p:blipFill rotWithShape="1">
            <a:blip r:embed="rId3">
              <a:alphaModFix/>
            </a:blip>
            <a:srcRect/>
            <a:stretch/>
          </p:blipFill>
          <p:spPr>
            <a:xfrm>
              <a:off x="0" y="0"/>
              <a:ext cx="4762500" cy="4762500"/>
            </a:xfrm>
            <a:prstGeom prst="roundRect">
              <a:avLst>
                <a:gd name="adj" fmla="val 4800"/>
              </a:avLst>
            </a:prstGeom>
            <a:noFill/>
            <a:ln>
              <a:noFill/>
            </a:ln>
          </p:spPr>
        </p:pic>
        <p:pic>
          <p:nvPicPr>
            <p:cNvPr id="93" name="Google Shape;93;g3f755de7d5b_1_458"/>
            <p:cNvPicPr preferRelativeResize="0"/>
            <p:nvPr/>
          </p:nvPicPr>
          <p:blipFill rotWithShape="1">
            <a:blip r:embed="rId4">
              <a:alphaModFix/>
            </a:blip>
            <a:srcRect/>
            <a:stretch/>
          </p:blipFill>
          <p:spPr>
            <a:xfrm>
              <a:off x="-9525" y="-9525"/>
              <a:ext cx="4781700" cy="4781700"/>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g3f755de7d5b_1_0"/>
          <p:cNvSpPr txBox="1"/>
          <p:nvPr/>
        </p:nvSpPr>
        <p:spPr>
          <a:xfrm>
            <a:off x="10801807" y="6528816"/>
            <a:ext cx="731400" cy="2463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000" b="0" i="0">
                <a:solidFill>
                  <a:srgbClr val="D5DCE4"/>
                </a:solidFill>
                <a:latin typeface="Helvetica Neue"/>
                <a:ea typeface="Helvetica Neue"/>
                <a:cs typeface="Helvetica Neue"/>
                <a:sym typeface="Helvetica Neue"/>
              </a:rPr>
              <a:t>1</a:t>
            </a:r>
            <a:endParaRPr/>
          </a:p>
        </p:txBody>
      </p:sp>
      <p:sp>
        <p:nvSpPr>
          <p:cNvPr id="100" name="Google Shape;100;g3f755de7d5b_1_0"/>
          <p:cNvSpPr txBox="1"/>
          <p:nvPr/>
        </p:nvSpPr>
        <p:spPr>
          <a:xfrm>
            <a:off x="658368" y="420624"/>
            <a:ext cx="10875000" cy="1692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i="0">
                <a:solidFill>
                  <a:srgbClr val="0E7490"/>
                </a:solidFill>
                <a:latin typeface="Helvetica Neue"/>
                <a:ea typeface="Helvetica Neue"/>
                <a:cs typeface="Helvetica Neue"/>
                <a:sym typeface="Helvetica Neue"/>
              </a:rPr>
              <a:t>THE CORE ARGUMENT</a:t>
            </a:r>
            <a:endParaRPr/>
          </a:p>
        </p:txBody>
      </p:sp>
      <p:sp>
        <p:nvSpPr>
          <p:cNvPr id="101" name="Google Shape;101;g3f755de7d5b_1_0"/>
          <p:cNvSpPr txBox="1"/>
          <p:nvPr/>
        </p:nvSpPr>
        <p:spPr>
          <a:xfrm>
            <a:off x="658368" y="749808"/>
            <a:ext cx="10875000" cy="3849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00" b="1">
                <a:solidFill>
                  <a:srgbClr val="111A27"/>
                </a:solidFill>
                <a:latin typeface="Helvetica Neue"/>
                <a:ea typeface="Helvetica Neue"/>
                <a:cs typeface="Helvetica Neue"/>
                <a:sym typeface="Helvetica Neue"/>
              </a:rPr>
              <a:t>In the agentic era, software is no longer just a tool</a:t>
            </a:r>
            <a:endParaRPr sz="2500" b="1" i="0">
              <a:solidFill>
                <a:srgbClr val="111A27"/>
              </a:solidFill>
              <a:latin typeface="Helvetica Neue"/>
              <a:ea typeface="Helvetica Neue"/>
              <a:cs typeface="Helvetica Neue"/>
              <a:sym typeface="Helvetica Neue"/>
            </a:endParaRPr>
          </a:p>
        </p:txBody>
      </p:sp>
      <p:sp>
        <p:nvSpPr>
          <p:cNvPr id="102" name="Google Shape;102;g3f755de7d5b_1_0"/>
          <p:cNvSpPr/>
          <p:nvPr/>
        </p:nvSpPr>
        <p:spPr>
          <a:xfrm>
            <a:off x="657225" y="2000250"/>
            <a:ext cx="3429000" cy="4000500"/>
          </a:xfrm>
          <a:prstGeom prst="roundRect">
            <a:avLst>
              <a:gd name="adj" fmla="val 4444"/>
            </a:avLst>
          </a:prstGeom>
          <a:solidFill>
            <a:srgbClr val="F8FAFC"/>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103" name="Google Shape;103;g3f755de7d5b_1_0"/>
          <p:cNvGrpSpPr/>
          <p:nvPr/>
        </p:nvGrpSpPr>
        <p:grpSpPr>
          <a:xfrm>
            <a:off x="885825" y="2228850"/>
            <a:ext cx="2971800" cy="3286275"/>
            <a:chOff x="0" y="0"/>
            <a:chExt cx="2971800" cy="3286275"/>
          </a:xfrm>
        </p:grpSpPr>
        <p:sp>
          <p:nvSpPr>
            <p:cNvPr id="104" name="Google Shape;104;g3f755de7d5b_1_0"/>
            <p:cNvSpPr txBox="1"/>
            <p:nvPr/>
          </p:nvSpPr>
          <p:spPr>
            <a:xfrm>
              <a:off x="0" y="0"/>
              <a:ext cx="2971800" cy="381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800" b="1">
                  <a:solidFill>
                    <a:srgbClr val="111A27"/>
                  </a:solidFill>
                  <a:latin typeface="Helvetica Neue"/>
                  <a:ea typeface="Helvetica Neue"/>
                  <a:cs typeface="Helvetica Neue"/>
                  <a:sym typeface="Helvetica Neue"/>
                </a:rPr>
                <a:t>Traditional Software</a:t>
              </a:r>
              <a:endParaRPr sz="1800" b="1">
                <a:solidFill>
                  <a:srgbClr val="111A27"/>
                </a:solidFill>
                <a:latin typeface="Helvetica Neue"/>
                <a:ea typeface="Helvetica Neue"/>
                <a:cs typeface="Helvetica Neue"/>
                <a:sym typeface="Helvetica Neue"/>
              </a:endParaRPr>
            </a:p>
          </p:txBody>
        </p:sp>
        <p:sp>
          <p:nvSpPr>
            <p:cNvPr id="105" name="Google Shape;105;g3f755de7d5b_1_0"/>
            <p:cNvSpPr txBox="1"/>
            <p:nvPr/>
          </p:nvSpPr>
          <p:spPr>
            <a:xfrm>
              <a:off x="0" y="619125"/>
              <a:ext cx="2971800" cy="12384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b="1">
                  <a:solidFill>
                    <a:srgbClr val="0F172A"/>
                  </a:solidFill>
                  <a:latin typeface="Helvetica Neue"/>
                  <a:ea typeface="Helvetica Neue"/>
                  <a:cs typeface="Helvetica Neue"/>
                  <a:sym typeface="Helvetica Neue"/>
                </a:rPr>
                <a:t>The Eternal SaaS Tradeoff</a:t>
              </a:r>
              <a:endParaRPr b="1">
                <a:solidFill>
                  <a:srgbClr val="0F172A"/>
                </a:solidFill>
                <a:latin typeface="Helvetica Neue"/>
                <a:ea typeface="Helvetica Neue"/>
                <a:cs typeface="Helvetica Neue"/>
                <a:sym typeface="Helvetica Neue"/>
              </a:endParaRPr>
            </a:p>
            <a:p>
              <a:pPr marL="0" lvl="0" indent="0" algn="l" rtl="0">
                <a:spcBef>
                  <a:spcPts val="600"/>
                </a:spcBef>
                <a:spcAft>
                  <a:spcPts val="0"/>
                </a:spcAft>
                <a:buNone/>
              </a:pPr>
              <a:r>
                <a:rPr lang="en-US" sz="1300">
                  <a:solidFill>
                    <a:srgbClr val="475569"/>
                  </a:solidFill>
                  <a:latin typeface="Helvetica Neue"/>
                  <a:ea typeface="Helvetica Neue"/>
                  <a:cs typeface="Helvetica Neue"/>
                  <a:sym typeface="Helvetica Neue"/>
                </a:rPr>
                <a:t>Traditional software runs deterministic logic. Complexity lands on humans translating intent into code, form by form.</a:t>
              </a:r>
              <a:endParaRPr sz="1300">
                <a:solidFill>
                  <a:srgbClr val="475569"/>
                </a:solidFill>
                <a:latin typeface="Helvetica Neue"/>
                <a:ea typeface="Helvetica Neue"/>
                <a:cs typeface="Helvetica Neue"/>
                <a:sym typeface="Helvetica Neue"/>
              </a:endParaRPr>
            </a:p>
          </p:txBody>
        </p:sp>
        <p:sp>
          <p:nvSpPr>
            <p:cNvPr id="106" name="Google Shape;106;g3f755de7d5b_1_0"/>
            <p:cNvSpPr txBox="1"/>
            <p:nvPr/>
          </p:nvSpPr>
          <p:spPr>
            <a:xfrm>
              <a:off x="0" y="2047875"/>
              <a:ext cx="2971800" cy="12384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b="1">
                  <a:solidFill>
                    <a:srgbClr val="0F172A"/>
                  </a:solidFill>
                  <a:latin typeface="Helvetica Neue"/>
                  <a:ea typeface="Helvetica Neue"/>
                  <a:cs typeface="Helvetica Neue"/>
                  <a:sym typeface="Helvetica Neue"/>
                </a:rPr>
                <a:t>Manual Data Processing</a:t>
              </a:r>
              <a:endParaRPr b="1">
                <a:solidFill>
                  <a:srgbClr val="0F172A"/>
                </a:solidFill>
                <a:latin typeface="Helvetica Neue"/>
                <a:ea typeface="Helvetica Neue"/>
                <a:cs typeface="Helvetica Neue"/>
                <a:sym typeface="Helvetica Neue"/>
              </a:endParaRPr>
            </a:p>
            <a:p>
              <a:pPr marL="0" lvl="0" indent="0" algn="l" rtl="0">
                <a:spcBef>
                  <a:spcPts val="600"/>
                </a:spcBef>
                <a:spcAft>
                  <a:spcPts val="0"/>
                </a:spcAft>
                <a:buNone/>
              </a:pPr>
              <a:r>
                <a:rPr lang="en-US" sz="1300">
                  <a:solidFill>
                    <a:srgbClr val="475569"/>
                  </a:solidFill>
                  <a:latin typeface="Helvetica Neue"/>
                  <a:ea typeface="Helvetica Neue"/>
                  <a:cs typeface="Helvetica Neue"/>
                  <a:sym typeface="Helvetica Neue"/>
                </a:rPr>
                <a:t>Deterministic code cannot read unstructured data. As a result, document entry stays entirely manual.</a:t>
              </a:r>
              <a:endParaRPr sz="1300">
                <a:solidFill>
                  <a:srgbClr val="475569"/>
                </a:solidFill>
                <a:latin typeface="Helvetica Neue"/>
                <a:ea typeface="Helvetica Neue"/>
                <a:cs typeface="Helvetica Neue"/>
                <a:sym typeface="Helvetica Neue"/>
              </a:endParaRPr>
            </a:p>
          </p:txBody>
        </p:sp>
      </p:grpSp>
      <p:sp>
        <p:nvSpPr>
          <p:cNvPr id="107" name="Google Shape;107;g3f755de7d5b_1_0"/>
          <p:cNvSpPr/>
          <p:nvPr/>
        </p:nvSpPr>
        <p:spPr>
          <a:xfrm>
            <a:off x="4371975" y="2000250"/>
            <a:ext cx="3429000" cy="4000500"/>
          </a:xfrm>
          <a:prstGeom prst="roundRect">
            <a:avLst>
              <a:gd name="adj" fmla="val 4444"/>
            </a:avLst>
          </a:prstGeom>
          <a:solidFill>
            <a:srgbClr val="F0FDFA"/>
          </a:solidFill>
          <a:ln w="14300" cap="flat" cmpd="sng">
            <a:solidFill>
              <a:srgbClr val="CCFBF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108" name="Google Shape;108;g3f755de7d5b_1_0"/>
          <p:cNvGrpSpPr/>
          <p:nvPr/>
        </p:nvGrpSpPr>
        <p:grpSpPr>
          <a:xfrm>
            <a:off x="4600575" y="2228850"/>
            <a:ext cx="2971800" cy="3286275"/>
            <a:chOff x="0" y="0"/>
            <a:chExt cx="2971800" cy="3286275"/>
          </a:xfrm>
        </p:grpSpPr>
        <p:sp>
          <p:nvSpPr>
            <p:cNvPr id="109" name="Google Shape;109;g3f755de7d5b_1_0"/>
            <p:cNvSpPr txBox="1"/>
            <p:nvPr/>
          </p:nvSpPr>
          <p:spPr>
            <a:xfrm>
              <a:off x="0" y="0"/>
              <a:ext cx="2971800" cy="381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800" b="1">
                  <a:solidFill>
                    <a:srgbClr val="0F172A"/>
                  </a:solidFill>
                  <a:latin typeface="Helvetica Neue"/>
                  <a:ea typeface="Helvetica Neue"/>
                  <a:cs typeface="Helvetica Neue"/>
                  <a:sym typeface="Helvetica Neue"/>
                </a:rPr>
                <a:t>What LLMs Change</a:t>
              </a:r>
              <a:endParaRPr sz="1800" b="1">
                <a:solidFill>
                  <a:srgbClr val="0F172A"/>
                </a:solidFill>
                <a:latin typeface="Helvetica Neue"/>
                <a:ea typeface="Helvetica Neue"/>
                <a:cs typeface="Helvetica Neue"/>
                <a:sym typeface="Helvetica Neue"/>
              </a:endParaRPr>
            </a:p>
          </p:txBody>
        </p:sp>
        <p:sp>
          <p:nvSpPr>
            <p:cNvPr id="110" name="Google Shape;110;g3f755de7d5b_1_0"/>
            <p:cNvSpPr txBox="1"/>
            <p:nvPr/>
          </p:nvSpPr>
          <p:spPr>
            <a:xfrm>
              <a:off x="0" y="619125"/>
              <a:ext cx="2971800" cy="12384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b="1">
                  <a:solidFill>
                    <a:srgbClr val="0F172A"/>
                  </a:solidFill>
                  <a:latin typeface="Helvetica Neue"/>
                  <a:ea typeface="Helvetica Neue"/>
                  <a:cs typeface="Helvetica Neue"/>
                  <a:sym typeface="Helvetica Neue"/>
                </a:rPr>
                <a:t>Generative Interfaces</a:t>
              </a:r>
              <a:endParaRPr b="1">
                <a:solidFill>
                  <a:srgbClr val="0F172A"/>
                </a:solidFill>
                <a:latin typeface="Helvetica Neue"/>
                <a:ea typeface="Helvetica Neue"/>
                <a:cs typeface="Helvetica Neue"/>
                <a:sym typeface="Helvetica Neue"/>
              </a:endParaRPr>
            </a:p>
            <a:p>
              <a:pPr marL="0" lvl="0" indent="0" algn="l" rtl="0">
                <a:spcBef>
                  <a:spcPts val="600"/>
                </a:spcBef>
                <a:spcAft>
                  <a:spcPts val="0"/>
                </a:spcAft>
                <a:buNone/>
              </a:pPr>
              <a:r>
                <a:rPr lang="en-US" sz="1300">
                  <a:solidFill>
                    <a:srgbClr val="475569"/>
                  </a:solidFill>
                  <a:latin typeface="Helvetica Neue"/>
                  <a:ea typeface="Helvetica Neue"/>
                  <a:cs typeface="Helvetica Neue"/>
                  <a:sym typeface="Helvetica Neue"/>
                </a:rPr>
                <a:t>Model reasoning absorbs ambiguous requirements. Because the cost of code has collapsed, custom interfaces can be generated per customer.</a:t>
              </a:r>
              <a:endParaRPr sz="1300">
                <a:solidFill>
                  <a:srgbClr val="475569"/>
                </a:solidFill>
                <a:latin typeface="Helvetica Neue"/>
                <a:ea typeface="Helvetica Neue"/>
                <a:cs typeface="Helvetica Neue"/>
                <a:sym typeface="Helvetica Neue"/>
              </a:endParaRPr>
            </a:p>
          </p:txBody>
        </p:sp>
        <p:sp>
          <p:nvSpPr>
            <p:cNvPr id="111" name="Google Shape;111;g3f755de7d5b_1_0"/>
            <p:cNvSpPr txBox="1"/>
            <p:nvPr/>
          </p:nvSpPr>
          <p:spPr>
            <a:xfrm>
              <a:off x="0" y="2047875"/>
              <a:ext cx="2971800" cy="12384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b="1">
                  <a:solidFill>
                    <a:srgbClr val="0F172A"/>
                  </a:solidFill>
                  <a:latin typeface="Helvetica Neue"/>
                  <a:ea typeface="Helvetica Neue"/>
                  <a:cs typeface="Helvetica Neue"/>
                  <a:sym typeface="Helvetica Neue"/>
                </a:rPr>
                <a:t>Direct Document Reading</a:t>
              </a:r>
              <a:endParaRPr b="1">
                <a:solidFill>
                  <a:srgbClr val="0F172A"/>
                </a:solidFill>
                <a:latin typeface="Helvetica Neue"/>
                <a:ea typeface="Helvetica Neue"/>
                <a:cs typeface="Helvetica Neue"/>
                <a:sym typeface="Helvetica Neue"/>
              </a:endParaRPr>
            </a:p>
            <a:p>
              <a:pPr marL="0" lvl="0" indent="0" algn="l" rtl="0">
                <a:spcBef>
                  <a:spcPts val="600"/>
                </a:spcBef>
                <a:spcAft>
                  <a:spcPts val="0"/>
                </a:spcAft>
                <a:buNone/>
              </a:pPr>
              <a:r>
                <a:rPr lang="en-US" sz="1300">
                  <a:solidFill>
                    <a:srgbClr val="475569"/>
                  </a:solidFill>
                  <a:latin typeface="Helvetica Neue"/>
                  <a:ea typeface="Helvetica Neue"/>
                  <a:cs typeface="Helvetica Neue"/>
                  <a:sym typeface="Helvetica Neue"/>
                </a:rPr>
                <a:t>Multimodal models process documents and images directly, bypassing manual data entry and drastically reducing overhead.</a:t>
              </a:r>
              <a:endParaRPr sz="1300">
                <a:solidFill>
                  <a:srgbClr val="475569"/>
                </a:solidFill>
                <a:latin typeface="Helvetica Neue"/>
                <a:ea typeface="Helvetica Neue"/>
                <a:cs typeface="Helvetica Neue"/>
                <a:sym typeface="Helvetica Neue"/>
              </a:endParaRPr>
            </a:p>
          </p:txBody>
        </p:sp>
      </p:grpSp>
      <p:sp>
        <p:nvSpPr>
          <p:cNvPr id="112" name="Google Shape;112;g3f755de7d5b_1_0"/>
          <p:cNvSpPr/>
          <p:nvPr/>
        </p:nvSpPr>
        <p:spPr>
          <a:xfrm>
            <a:off x="8086725" y="2000250"/>
            <a:ext cx="3429000" cy="4000500"/>
          </a:xfrm>
          <a:prstGeom prst="roundRect">
            <a:avLst>
              <a:gd name="adj" fmla="val 4444"/>
            </a:avLst>
          </a:prstGeom>
          <a:solidFill>
            <a:srgbClr val="FFF7ED"/>
          </a:solidFill>
          <a:ln w="14300" cap="flat" cmpd="sng">
            <a:solidFill>
              <a:srgbClr val="FFEDD5"/>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113" name="Google Shape;113;g3f755de7d5b_1_0"/>
          <p:cNvGrpSpPr/>
          <p:nvPr/>
        </p:nvGrpSpPr>
        <p:grpSpPr>
          <a:xfrm>
            <a:off x="8315325" y="2228850"/>
            <a:ext cx="2971800" cy="3286275"/>
            <a:chOff x="0" y="0"/>
            <a:chExt cx="2971800" cy="3286275"/>
          </a:xfrm>
        </p:grpSpPr>
        <p:sp>
          <p:nvSpPr>
            <p:cNvPr id="114" name="Google Shape;114;g3f755de7d5b_1_0"/>
            <p:cNvSpPr txBox="1"/>
            <p:nvPr/>
          </p:nvSpPr>
          <p:spPr>
            <a:xfrm>
              <a:off x="0" y="0"/>
              <a:ext cx="2971800" cy="381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800" b="1">
                  <a:solidFill>
                    <a:srgbClr val="7A3B08"/>
                  </a:solidFill>
                  <a:latin typeface="Helvetica Neue"/>
                  <a:ea typeface="Helvetica Neue"/>
                  <a:cs typeface="Helvetica Neue"/>
                  <a:sym typeface="Helvetica Neue"/>
                </a:rPr>
                <a:t>What Accounting Adds</a:t>
              </a:r>
              <a:endParaRPr sz="1800" b="1">
                <a:solidFill>
                  <a:srgbClr val="7A3B08"/>
                </a:solidFill>
                <a:latin typeface="Helvetica Neue"/>
                <a:ea typeface="Helvetica Neue"/>
                <a:cs typeface="Helvetica Neue"/>
                <a:sym typeface="Helvetica Neue"/>
              </a:endParaRPr>
            </a:p>
          </p:txBody>
        </p:sp>
        <p:sp>
          <p:nvSpPr>
            <p:cNvPr id="115" name="Google Shape;115;g3f755de7d5b_1_0"/>
            <p:cNvSpPr txBox="1"/>
            <p:nvPr/>
          </p:nvSpPr>
          <p:spPr>
            <a:xfrm>
              <a:off x="0" y="619125"/>
              <a:ext cx="2971800" cy="12384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b="1">
                  <a:solidFill>
                    <a:srgbClr val="7A3B08"/>
                  </a:solidFill>
                  <a:latin typeface="Helvetica Neue"/>
                  <a:ea typeface="Helvetica Neue"/>
                  <a:cs typeface="Helvetica Neue"/>
                  <a:sym typeface="Helvetica Neue"/>
                </a:rPr>
                <a:t>Dense Rules &amp; Complexity</a:t>
              </a:r>
              <a:endParaRPr b="1">
                <a:solidFill>
                  <a:srgbClr val="7A3B08"/>
                </a:solidFill>
                <a:latin typeface="Helvetica Neue"/>
                <a:ea typeface="Helvetica Neue"/>
                <a:cs typeface="Helvetica Neue"/>
                <a:sym typeface="Helvetica Neue"/>
              </a:endParaRPr>
            </a:p>
            <a:p>
              <a:pPr marL="0" lvl="0" indent="0" algn="l" rtl="0">
                <a:spcBef>
                  <a:spcPts val="600"/>
                </a:spcBef>
                <a:spcAft>
                  <a:spcPts val="0"/>
                </a:spcAft>
                <a:buNone/>
              </a:pPr>
              <a:r>
                <a:rPr lang="en-US" sz="1300">
                  <a:solidFill>
                    <a:srgbClr val="78350F"/>
                  </a:solidFill>
                  <a:latin typeface="Helvetica Neue"/>
                  <a:ea typeface="Helvetica Neue"/>
                  <a:cs typeface="Helvetica Neue"/>
                  <a:sym typeface="Helvetica Neue"/>
                </a:rPr>
                <a:t>Accounting and tax rules are incredibly dense, and every industry differs. This makes financial software inherently complex.</a:t>
              </a:r>
              <a:endParaRPr sz="1300">
                <a:solidFill>
                  <a:srgbClr val="78350F"/>
                </a:solidFill>
                <a:latin typeface="Helvetica Neue"/>
                <a:ea typeface="Helvetica Neue"/>
                <a:cs typeface="Helvetica Neue"/>
                <a:sym typeface="Helvetica Neue"/>
              </a:endParaRPr>
            </a:p>
          </p:txBody>
        </p:sp>
        <p:sp>
          <p:nvSpPr>
            <p:cNvPr id="116" name="Google Shape;116;g3f755de7d5b_1_0"/>
            <p:cNvSpPr txBox="1"/>
            <p:nvPr/>
          </p:nvSpPr>
          <p:spPr>
            <a:xfrm>
              <a:off x="0" y="2047875"/>
              <a:ext cx="2971800" cy="12384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b="1">
                  <a:solidFill>
                    <a:srgbClr val="7A3B08"/>
                  </a:solidFill>
                  <a:latin typeface="Helvetica Neue"/>
                  <a:ea typeface="Helvetica Neue"/>
                  <a:cs typeface="Helvetica Neue"/>
                  <a:sym typeface="Helvetica Neue"/>
                </a:rPr>
                <a:t>Uncompromising Accuracy</a:t>
              </a:r>
              <a:endParaRPr b="1">
                <a:solidFill>
                  <a:srgbClr val="7A3B08"/>
                </a:solidFill>
                <a:latin typeface="Helvetica Neue"/>
                <a:ea typeface="Helvetica Neue"/>
                <a:cs typeface="Helvetica Neue"/>
                <a:sym typeface="Helvetica Neue"/>
              </a:endParaRPr>
            </a:p>
            <a:p>
              <a:pPr marL="0" lvl="0" indent="0" algn="l" rtl="0">
                <a:spcBef>
                  <a:spcPts val="600"/>
                </a:spcBef>
                <a:spcAft>
                  <a:spcPts val="0"/>
                </a:spcAft>
                <a:buNone/>
              </a:pPr>
              <a:r>
                <a:rPr lang="en-US" sz="1300">
                  <a:solidFill>
                    <a:srgbClr val="78350F"/>
                  </a:solidFill>
                  <a:latin typeface="Helvetica Neue"/>
                  <a:ea typeface="Helvetica Neue"/>
                  <a:cs typeface="Helvetica Neue"/>
                  <a:sym typeface="Helvetica Neue"/>
                </a:rPr>
                <a:t>Work runs directly on core business documents and images. The accuracy bar is unusually high, demanding precise verification.</a:t>
              </a:r>
              <a:endParaRPr sz="1300">
                <a:solidFill>
                  <a:srgbClr val="78350F"/>
                </a:solidFill>
                <a:latin typeface="Helvetica Neue"/>
                <a:ea typeface="Helvetica Neue"/>
                <a:cs typeface="Helvetica Neue"/>
                <a:sym typeface="Helvetica Neue"/>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g3f755de7d5b_1_355"/>
          <p:cNvSpPr txBox="1"/>
          <p:nvPr/>
        </p:nvSpPr>
        <p:spPr>
          <a:xfrm>
            <a:off x="658368" y="420624"/>
            <a:ext cx="10875000" cy="1692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i="0">
                <a:solidFill>
                  <a:srgbClr val="0E7490"/>
                </a:solidFill>
                <a:latin typeface="Helvetica Neue"/>
                <a:ea typeface="Helvetica Neue"/>
                <a:cs typeface="Helvetica Neue"/>
                <a:sym typeface="Helvetica Neue"/>
              </a:rPr>
              <a:t>WHAT FOLLOWS</a:t>
            </a:r>
            <a:endParaRPr/>
          </a:p>
        </p:txBody>
      </p:sp>
      <p:sp>
        <p:nvSpPr>
          <p:cNvPr id="122" name="Google Shape;122;g3f755de7d5b_1_355"/>
          <p:cNvSpPr txBox="1"/>
          <p:nvPr/>
        </p:nvSpPr>
        <p:spPr>
          <a:xfrm>
            <a:off x="658368" y="749808"/>
            <a:ext cx="10875000" cy="400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i="0">
                <a:solidFill>
                  <a:srgbClr val="111A27"/>
                </a:solidFill>
                <a:latin typeface="Helvetica Neue"/>
                <a:ea typeface="Helvetica Neue"/>
                <a:cs typeface="Helvetica Neue"/>
                <a:sym typeface="Helvetica Neue"/>
              </a:rPr>
              <a:t>How the rest of this goes</a:t>
            </a:r>
            <a:endParaRPr/>
          </a:p>
        </p:txBody>
      </p:sp>
      <p:sp>
        <p:nvSpPr>
          <p:cNvPr id="123" name="Google Shape;123;g3f755de7d5b_1_355"/>
          <p:cNvSpPr/>
          <p:nvPr/>
        </p:nvSpPr>
        <p:spPr>
          <a:xfrm>
            <a:off x="658375" y="1230400"/>
            <a:ext cx="10875000" cy="1170000"/>
          </a:xfrm>
          <a:prstGeom prst="roundRect">
            <a:avLst>
              <a:gd name="adj" fmla="val 4000"/>
            </a:avLst>
          </a:prstGeom>
          <a:solidFill>
            <a:srgbClr val="F3F6F8"/>
          </a:solidFill>
          <a:ln w="9525"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4" name="Google Shape;124;g3f755de7d5b_1_355"/>
          <p:cNvSpPr txBox="1"/>
          <p:nvPr/>
        </p:nvSpPr>
        <p:spPr>
          <a:xfrm>
            <a:off x="896112" y="1440400"/>
            <a:ext cx="420000" cy="33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200" b="1" i="0">
                <a:solidFill>
                  <a:srgbClr val="0E7490"/>
                </a:solidFill>
                <a:latin typeface="Helvetica Neue"/>
                <a:ea typeface="Helvetica Neue"/>
                <a:cs typeface="Helvetica Neue"/>
                <a:sym typeface="Helvetica Neue"/>
              </a:rPr>
              <a:t>1</a:t>
            </a:r>
            <a:endParaRPr/>
          </a:p>
        </p:txBody>
      </p:sp>
      <p:sp>
        <p:nvSpPr>
          <p:cNvPr id="125" name="Google Shape;125;g3f755de7d5b_1_355"/>
          <p:cNvSpPr txBox="1"/>
          <p:nvPr/>
        </p:nvSpPr>
        <p:spPr>
          <a:xfrm>
            <a:off x="1408368" y="1370400"/>
            <a:ext cx="8300100" cy="27720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1800" b="1" i="0">
                <a:solidFill>
                  <a:srgbClr val="111A27"/>
                </a:solidFill>
                <a:latin typeface="Helvetica Neue"/>
                <a:ea typeface="Helvetica Neue"/>
                <a:cs typeface="Helvetica Neue"/>
                <a:sym typeface="Helvetica Neue"/>
              </a:rPr>
              <a:t>Why accounting, and why us</a:t>
            </a:r>
            <a:endParaRPr sz="1800"/>
          </a:p>
        </p:txBody>
      </p:sp>
      <p:sp>
        <p:nvSpPr>
          <p:cNvPr id="126" name="Google Shape;126;g3f755de7d5b_1_355"/>
          <p:cNvSpPr txBox="1"/>
          <p:nvPr/>
        </p:nvSpPr>
        <p:spPr>
          <a:xfrm>
            <a:off x="1408368" y="1660400"/>
            <a:ext cx="8300100" cy="5172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b="0" i="0">
                <a:solidFill>
                  <a:srgbClr val="333E4F"/>
                </a:solidFill>
                <a:latin typeface="Helvetica Neue"/>
                <a:ea typeface="Helvetica Neue"/>
                <a:cs typeface="Helvetica Neue"/>
                <a:sym typeface="Helvetica Neue"/>
              </a:rPr>
              <a:t>The one property that lets an agent do the work rather than assist with it — and what we already have that a team starting from zero does not.</a:t>
            </a:r>
            <a:endParaRPr/>
          </a:p>
        </p:txBody>
      </p:sp>
      <p:sp>
        <p:nvSpPr>
          <p:cNvPr id="127" name="Google Shape;127;g3f755de7d5b_1_355"/>
          <p:cNvSpPr/>
          <p:nvPr/>
        </p:nvSpPr>
        <p:spPr>
          <a:xfrm>
            <a:off x="658368" y="2609500"/>
            <a:ext cx="10875000" cy="879900"/>
          </a:xfrm>
          <a:prstGeom prst="roundRect">
            <a:avLst>
              <a:gd name="adj" fmla="val 4000"/>
            </a:avLst>
          </a:prstGeom>
          <a:solidFill>
            <a:srgbClr val="F3F6F8"/>
          </a:solidFill>
          <a:ln w="9525"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800">
              <a:solidFill>
                <a:schemeClr val="dk1"/>
              </a:solidFill>
              <a:latin typeface="Calibri"/>
              <a:ea typeface="Calibri"/>
              <a:cs typeface="Calibri"/>
              <a:sym typeface="Calibri"/>
            </a:endParaRPr>
          </a:p>
        </p:txBody>
      </p:sp>
      <p:sp>
        <p:nvSpPr>
          <p:cNvPr id="128" name="Google Shape;128;g3f755de7d5b_1_355"/>
          <p:cNvSpPr txBox="1"/>
          <p:nvPr/>
        </p:nvSpPr>
        <p:spPr>
          <a:xfrm>
            <a:off x="896112" y="2819500"/>
            <a:ext cx="420000" cy="33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200" b="1" i="0">
                <a:solidFill>
                  <a:srgbClr val="0E7490"/>
                </a:solidFill>
                <a:latin typeface="Helvetica Neue"/>
                <a:ea typeface="Helvetica Neue"/>
                <a:cs typeface="Helvetica Neue"/>
                <a:sym typeface="Helvetica Neue"/>
              </a:rPr>
              <a:t>2</a:t>
            </a:r>
            <a:endParaRPr/>
          </a:p>
        </p:txBody>
      </p:sp>
      <p:sp>
        <p:nvSpPr>
          <p:cNvPr id="129" name="Google Shape;129;g3f755de7d5b_1_355"/>
          <p:cNvSpPr txBox="1"/>
          <p:nvPr/>
        </p:nvSpPr>
        <p:spPr>
          <a:xfrm>
            <a:off x="1408368" y="2749500"/>
            <a:ext cx="8300100" cy="27720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1800" b="1" i="0">
                <a:solidFill>
                  <a:srgbClr val="111A27"/>
                </a:solidFill>
                <a:latin typeface="Helvetica Neue"/>
                <a:ea typeface="Helvetica Neue"/>
                <a:cs typeface="Helvetica Neue"/>
                <a:sym typeface="Helvetica Neue"/>
              </a:rPr>
              <a:t>What is defensible</a:t>
            </a:r>
            <a:endParaRPr sz="1800"/>
          </a:p>
        </p:txBody>
      </p:sp>
      <p:sp>
        <p:nvSpPr>
          <p:cNvPr id="130" name="Google Shape;130;g3f755de7d5b_1_355"/>
          <p:cNvSpPr txBox="1"/>
          <p:nvPr/>
        </p:nvSpPr>
        <p:spPr>
          <a:xfrm>
            <a:off x="1408368" y="3039500"/>
            <a:ext cx="8300100" cy="215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b="0" i="0">
                <a:solidFill>
                  <a:srgbClr val="333E4F"/>
                </a:solidFill>
                <a:latin typeface="Helvetica Neue"/>
                <a:ea typeface="Helvetica Neue"/>
                <a:cs typeface="Helvetica Neue"/>
                <a:sym typeface="Helvetica Neue"/>
              </a:rPr>
              <a:t>Verification · substrate · permission · the compounding loop. In that order, hardest to take away last.</a:t>
            </a:r>
            <a:endParaRPr/>
          </a:p>
        </p:txBody>
      </p:sp>
      <p:sp>
        <p:nvSpPr>
          <p:cNvPr id="131" name="Google Shape;131;g3f755de7d5b_1_355"/>
          <p:cNvSpPr/>
          <p:nvPr/>
        </p:nvSpPr>
        <p:spPr>
          <a:xfrm>
            <a:off x="658375" y="3709200"/>
            <a:ext cx="10875000" cy="1078200"/>
          </a:xfrm>
          <a:prstGeom prst="roundRect">
            <a:avLst>
              <a:gd name="adj" fmla="val 4000"/>
            </a:avLst>
          </a:prstGeom>
          <a:solidFill>
            <a:srgbClr val="FCE5CD"/>
          </a:solidFill>
          <a:ln w="9525" cap="flat" cmpd="sng">
            <a:solidFill>
              <a:srgbClr val="DFE5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2" name="Google Shape;132;g3f755de7d5b_1_355"/>
          <p:cNvSpPr txBox="1"/>
          <p:nvPr/>
        </p:nvSpPr>
        <p:spPr>
          <a:xfrm>
            <a:off x="896112" y="3919200"/>
            <a:ext cx="420000" cy="33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200" b="1" i="0">
                <a:solidFill>
                  <a:srgbClr val="0D7490"/>
                </a:solidFill>
                <a:latin typeface="Helvetica Neue"/>
                <a:ea typeface="Helvetica Neue"/>
                <a:cs typeface="Helvetica Neue"/>
                <a:sym typeface="Helvetica Neue"/>
              </a:rPr>
              <a:t>3</a:t>
            </a:r>
            <a:endParaRPr>
              <a:solidFill>
                <a:srgbClr val="0D7490"/>
              </a:solidFill>
            </a:endParaRPr>
          </a:p>
        </p:txBody>
      </p:sp>
      <p:sp>
        <p:nvSpPr>
          <p:cNvPr id="133" name="Google Shape;133;g3f755de7d5b_1_355"/>
          <p:cNvSpPr txBox="1"/>
          <p:nvPr/>
        </p:nvSpPr>
        <p:spPr>
          <a:xfrm>
            <a:off x="1408368" y="3849200"/>
            <a:ext cx="8300100" cy="27720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1800" b="1" i="0">
                <a:solidFill>
                  <a:srgbClr val="111A27"/>
                </a:solidFill>
                <a:latin typeface="Helvetica Neue"/>
                <a:ea typeface="Helvetica Neue"/>
                <a:cs typeface="Helvetica Neue"/>
                <a:sym typeface="Helvetica Neue"/>
              </a:rPr>
              <a:t>How it is built</a:t>
            </a:r>
            <a:endParaRPr sz="1800"/>
          </a:p>
        </p:txBody>
      </p:sp>
      <p:sp>
        <p:nvSpPr>
          <p:cNvPr id="134" name="Google Shape;134;g3f755de7d5b_1_355"/>
          <p:cNvSpPr txBox="1"/>
          <p:nvPr/>
        </p:nvSpPr>
        <p:spPr>
          <a:xfrm>
            <a:off x="1408368" y="4139200"/>
            <a:ext cx="8300100" cy="5172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b="0" i="0">
                <a:solidFill>
                  <a:srgbClr val="333E4F"/>
                </a:solidFill>
                <a:latin typeface="Helvetica Neue"/>
                <a:ea typeface="Helvetica Neue"/>
                <a:cs typeface="Helvetica Neue"/>
                <a:sym typeface="Helvetica Neue"/>
              </a:rPr>
              <a:t>Architecture, and one transaction’s path through it. Then the four components that carry the weight: ledger core · tool layer · verification and the correction loop · interfaces.</a:t>
            </a:r>
            <a:endParaRPr/>
          </a:p>
        </p:txBody>
      </p:sp>
      <p:sp>
        <p:nvSpPr>
          <p:cNvPr id="135" name="Google Shape;135;g3f755de7d5b_1_355"/>
          <p:cNvSpPr/>
          <p:nvPr/>
        </p:nvSpPr>
        <p:spPr>
          <a:xfrm>
            <a:off x="658375" y="4948600"/>
            <a:ext cx="10875000" cy="1078200"/>
          </a:xfrm>
          <a:prstGeom prst="roundRect">
            <a:avLst>
              <a:gd name="adj" fmla="val 4000"/>
            </a:avLst>
          </a:prstGeom>
          <a:solidFill>
            <a:srgbClr val="F3F6F8"/>
          </a:solidFill>
          <a:ln w="9525"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6" name="Google Shape;136;g3f755de7d5b_1_355"/>
          <p:cNvSpPr txBox="1"/>
          <p:nvPr/>
        </p:nvSpPr>
        <p:spPr>
          <a:xfrm>
            <a:off x="896112" y="5158600"/>
            <a:ext cx="420000" cy="33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200" b="1" i="0">
                <a:solidFill>
                  <a:srgbClr val="0E7490"/>
                </a:solidFill>
                <a:latin typeface="Helvetica Neue"/>
                <a:ea typeface="Helvetica Neue"/>
                <a:cs typeface="Helvetica Neue"/>
                <a:sym typeface="Helvetica Neue"/>
              </a:rPr>
              <a:t>4</a:t>
            </a:r>
            <a:endParaRPr/>
          </a:p>
        </p:txBody>
      </p:sp>
      <p:sp>
        <p:nvSpPr>
          <p:cNvPr id="137" name="Google Shape;137;g3f755de7d5b_1_355"/>
          <p:cNvSpPr txBox="1"/>
          <p:nvPr/>
        </p:nvSpPr>
        <p:spPr>
          <a:xfrm>
            <a:off x="1408368" y="5088600"/>
            <a:ext cx="8300100" cy="27720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1800" b="1" i="0">
                <a:solidFill>
                  <a:srgbClr val="111A27"/>
                </a:solidFill>
                <a:latin typeface="Helvetica Neue"/>
                <a:ea typeface="Helvetica Neue"/>
                <a:cs typeface="Helvetica Neue"/>
                <a:sym typeface="Helvetica Neue"/>
              </a:rPr>
              <a:t>Risk, shape, and the plan</a:t>
            </a:r>
            <a:endParaRPr sz="1800"/>
          </a:p>
        </p:txBody>
      </p:sp>
      <p:sp>
        <p:nvSpPr>
          <p:cNvPr id="138" name="Google Shape;138;g3f755de7d5b_1_355"/>
          <p:cNvSpPr txBox="1"/>
          <p:nvPr/>
        </p:nvSpPr>
        <p:spPr>
          <a:xfrm>
            <a:off x="1408368" y="5378600"/>
            <a:ext cx="8300100" cy="5172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b="0" i="0">
                <a:solidFill>
                  <a:srgbClr val="333E4F"/>
                </a:solidFill>
                <a:latin typeface="Helvetica Neue"/>
                <a:ea typeface="Helvetica Neue"/>
                <a:cs typeface="Helvetica Neue"/>
                <a:sym typeface="Helvetica Neue"/>
              </a:rPr>
              <a:t>The two hard problems we do not minimise. Where the engineering effort actually goes. Four quarters of 2027, each with a number. And what the substrate opens after that.</a:t>
            </a:r>
            <a:endParaRPr/>
          </a:p>
        </p:txBody>
      </p:sp>
      <p:sp>
        <p:nvSpPr>
          <p:cNvPr id="139" name="Google Shape;139;g3f755de7d5b_1_355"/>
          <p:cNvSpPr txBox="1"/>
          <p:nvPr/>
        </p:nvSpPr>
        <p:spPr>
          <a:xfrm>
            <a:off x="10801807" y="6528816"/>
            <a:ext cx="731400" cy="1539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None/>
            </a:pPr>
            <a:r>
              <a:rPr lang="en-US" sz="1000" b="0" i="0">
                <a:solidFill>
                  <a:srgbClr val="D5DCE4"/>
                </a:solidFill>
                <a:latin typeface="Helvetica Neue"/>
                <a:ea typeface="Helvetica Neue"/>
                <a:cs typeface="Helvetica Neue"/>
                <a:sym typeface="Helvetica Neue"/>
              </a:rPr>
              <a:t>2</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
          <p:cNvSpPr txBox="1"/>
          <p:nvPr/>
        </p:nvSpPr>
        <p:spPr>
          <a:xfrm>
            <a:off x="10801807" y="6528816"/>
            <a:ext cx="731520" cy="23774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000" b="0" i="0">
                <a:solidFill>
                  <a:srgbClr val="D5DCE4"/>
                </a:solidFill>
                <a:latin typeface="Helvetica Neue"/>
                <a:ea typeface="Helvetica Neue"/>
                <a:cs typeface="Helvetica Neue"/>
                <a:sym typeface="Helvetica Neue"/>
              </a:rPr>
              <a:t>2</a:t>
            </a:r>
            <a:endParaRPr/>
          </a:p>
        </p:txBody>
      </p:sp>
      <p:sp>
        <p:nvSpPr>
          <p:cNvPr id="146" name="Google Shape;146;p3"/>
          <p:cNvSpPr txBox="1"/>
          <p:nvPr/>
        </p:nvSpPr>
        <p:spPr>
          <a:xfrm>
            <a:off x="658368" y="420624"/>
            <a:ext cx="10874959" cy="256032"/>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i="0">
                <a:solidFill>
                  <a:srgbClr val="0E7490"/>
                </a:solidFill>
                <a:latin typeface="Helvetica Neue"/>
                <a:ea typeface="Helvetica Neue"/>
                <a:cs typeface="Helvetica Neue"/>
                <a:sym typeface="Helvetica Neue"/>
              </a:rPr>
              <a:t>DOMAIN FIT</a:t>
            </a:r>
            <a:endParaRPr/>
          </a:p>
        </p:txBody>
      </p:sp>
      <p:sp>
        <p:nvSpPr>
          <p:cNvPr id="147" name="Google Shape;147;p3"/>
          <p:cNvSpPr txBox="1"/>
          <p:nvPr/>
        </p:nvSpPr>
        <p:spPr>
          <a:xfrm>
            <a:off x="658368" y="749808"/>
            <a:ext cx="10874959" cy="43813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i="0">
                <a:solidFill>
                  <a:srgbClr val="111A27"/>
                </a:solidFill>
                <a:latin typeface="Helvetica Neue"/>
                <a:ea typeface="Helvetica Neue"/>
                <a:cs typeface="Helvetica Neue"/>
                <a:sym typeface="Helvetica Neue"/>
              </a:rPr>
              <a:t>Accounting </a:t>
            </a:r>
            <a:r>
              <a:rPr lang="en-US" sz="2600" b="1">
                <a:solidFill>
                  <a:srgbClr val="111A27"/>
                </a:solidFill>
                <a:latin typeface="Helvetica Neue"/>
                <a:ea typeface="Helvetica Neue"/>
                <a:cs typeface="Helvetica Neue"/>
                <a:sym typeface="Helvetica Neue"/>
              </a:rPr>
              <a:t>can be</a:t>
            </a:r>
            <a:r>
              <a:rPr lang="en-US" sz="2600" b="1" i="0">
                <a:solidFill>
                  <a:srgbClr val="111A27"/>
                </a:solidFill>
                <a:latin typeface="Helvetica Neue"/>
                <a:ea typeface="Helvetica Neue"/>
                <a:cs typeface="Helvetica Neue"/>
                <a:sym typeface="Helvetica Neue"/>
              </a:rPr>
              <a:t> verified</a:t>
            </a:r>
            <a:endParaRPr sz="2600" b="1" i="0">
              <a:solidFill>
                <a:srgbClr val="111A27"/>
              </a:solidFill>
              <a:latin typeface="Helvetica Neue"/>
              <a:ea typeface="Helvetica Neue"/>
              <a:cs typeface="Helvetica Neue"/>
              <a:sym typeface="Helvetica Neue"/>
            </a:endParaRPr>
          </a:p>
        </p:txBody>
      </p:sp>
      <p:sp>
        <p:nvSpPr>
          <p:cNvPr id="148" name="Google Shape;148;p3"/>
          <p:cNvSpPr txBox="1"/>
          <p:nvPr/>
        </p:nvSpPr>
        <p:spPr>
          <a:xfrm>
            <a:off x="658368" y="1555172"/>
            <a:ext cx="10424160" cy="610616"/>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a:solidFill>
                  <a:srgbClr val="333E4F"/>
                </a:solidFill>
                <a:latin typeface="Helvetica Neue"/>
                <a:ea typeface="Helvetica Neue"/>
                <a:cs typeface="Helvetica Neue"/>
                <a:sym typeface="Helvetica Neue"/>
              </a:rPr>
              <a:t>Most agent products end up stuck at assistive, because nobody can say whether the output is right. Law, consulting, most knowledge work: no oracle. Accounting is different.</a:t>
            </a:r>
            <a:endParaRPr/>
          </a:p>
        </p:txBody>
      </p:sp>
      <p:sp>
        <p:nvSpPr>
          <p:cNvPr id="149" name="Google Shape;149;p3"/>
          <p:cNvSpPr/>
          <p:nvPr/>
        </p:nvSpPr>
        <p:spPr>
          <a:xfrm>
            <a:off x="658368" y="2450591"/>
            <a:ext cx="3431744" cy="3279647"/>
          </a:xfrm>
          <a:prstGeom prst="roundRect">
            <a:avLst>
              <a:gd name="adj" fmla="val 4000"/>
            </a:avLst>
          </a:prstGeom>
          <a:solidFill>
            <a:srgbClr val="E4F0F4"/>
          </a:solidFill>
          <a:ln w="12700" cap="flat" cmpd="sng">
            <a:solidFill>
              <a:srgbClr val="0E749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50" name="Google Shape;150;p3"/>
          <p:cNvSpPr txBox="1"/>
          <p:nvPr/>
        </p:nvSpPr>
        <p:spPr>
          <a:xfrm>
            <a:off x="896112" y="2670048"/>
            <a:ext cx="3008376" cy="292608"/>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400" b="1" i="0">
                <a:solidFill>
                  <a:srgbClr val="0A5366"/>
                </a:solidFill>
                <a:latin typeface="Helvetica Neue"/>
                <a:ea typeface="Helvetica Neue"/>
                <a:cs typeface="Helvetica Neue"/>
                <a:sym typeface="Helvetica Neue"/>
              </a:rPr>
              <a:t>1 · The rules already exist</a:t>
            </a:r>
            <a:endParaRPr/>
          </a:p>
        </p:txBody>
      </p:sp>
      <p:sp>
        <p:nvSpPr>
          <p:cNvPr id="151" name="Google Shape;151;p3"/>
          <p:cNvSpPr/>
          <p:nvPr/>
        </p:nvSpPr>
        <p:spPr>
          <a:xfrm>
            <a:off x="4379976" y="2450591"/>
            <a:ext cx="3431744" cy="3279647"/>
          </a:xfrm>
          <a:prstGeom prst="roundRect">
            <a:avLst>
              <a:gd name="adj" fmla="val 4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52" name="Google Shape;152;p3"/>
          <p:cNvSpPr txBox="1"/>
          <p:nvPr/>
        </p:nvSpPr>
        <p:spPr>
          <a:xfrm>
            <a:off x="4617720" y="2670048"/>
            <a:ext cx="3008376" cy="249299"/>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400" b="1" i="0">
                <a:solidFill>
                  <a:srgbClr val="7A3B08"/>
                </a:solidFill>
                <a:latin typeface="Helvetica Neue"/>
                <a:ea typeface="Helvetica Neue"/>
                <a:cs typeface="Helvetica Neue"/>
                <a:sym typeface="Helvetica Neue"/>
              </a:rPr>
              <a:t>2 · Verify before we commit</a:t>
            </a:r>
            <a:endParaRPr/>
          </a:p>
        </p:txBody>
      </p:sp>
      <p:sp>
        <p:nvSpPr>
          <p:cNvPr id="153" name="Google Shape;153;p3"/>
          <p:cNvSpPr/>
          <p:nvPr/>
        </p:nvSpPr>
        <p:spPr>
          <a:xfrm>
            <a:off x="8101583" y="2450592"/>
            <a:ext cx="3431744" cy="3279648"/>
          </a:xfrm>
          <a:prstGeom prst="roundRect">
            <a:avLst>
              <a:gd name="adj" fmla="val 4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54" name="Google Shape;154;p3"/>
          <p:cNvSpPr txBox="1"/>
          <p:nvPr/>
        </p:nvSpPr>
        <p:spPr>
          <a:xfrm>
            <a:off x="8339327" y="2670048"/>
            <a:ext cx="3008376" cy="249299"/>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400" b="1" i="0">
                <a:solidFill>
                  <a:srgbClr val="7A3B08"/>
                </a:solidFill>
                <a:latin typeface="Helvetica Neue"/>
                <a:ea typeface="Helvetica Neue"/>
                <a:cs typeface="Helvetica Neue"/>
                <a:sym typeface="Helvetica Neue"/>
              </a:rPr>
              <a:t>3 · We know where it stalls</a:t>
            </a:r>
            <a:endParaRPr/>
          </a:p>
        </p:txBody>
      </p:sp>
      <p:sp>
        <p:nvSpPr>
          <p:cNvPr id="155" name="Google Shape;155;p3"/>
          <p:cNvSpPr txBox="1"/>
          <p:nvPr/>
        </p:nvSpPr>
        <p:spPr>
          <a:xfrm>
            <a:off x="978144" y="3090496"/>
            <a:ext cx="2971800" cy="2001000"/>
          </a:xfrm>
          <a:prstGeom prst="rect">
            <a:avLst/>
          </a:prstGeom>
          <a:solidFill>
            <a:srgbClr val="000000">
              <a:alpha val="0"/>
            </a:srgbClr>
          </a:solidFill>
          <a:ln>
            <a:noFill/>
          </a:ln>
        </p:spPr>
        <p:txBody>
          <a:bodyPr spcFirstLastPara="1" wrap="square" lIns="0" tIns="0" rIns="0" bIns="0" anchor="t" anchorCtr="0">
            <a:spAutoFit/>
          </a:bodyPr>
          <a:lstStyle/>
          <a:p>
            <a:pPr marL="457200" lvl="0" indent="-307975" algn="l" rtl="0">
              <a:spcBef>
                <a:spcPts val="0"/>
              </a:spcBef>
              <a:spcAft>
                <a:spcPts val="0"/>
              </a:spcAft>
              <a:buClr>
                <a:srgbClr val="475569"/>
              </a:buClr>
              <a:buSzPts val="1250"/>
              <a:buFont typeface="Helvetica Neue"/>
              <a:buChar char="●"/>
            </a:pPr>
            <a:r>
              <a:rPr lang="en-US" sz="1250" b="1">
                <a:solidFill>
                  <a:srgbClr val="111A27"/>
                </a:solidFill>
                <a:latin typeface="Helvetica Neue"/>
                <a:ea typeface="Helvetica Neue"/>
                <a:cs typeface="Helvetica Neue"/>
                <a:sym typeface="Helvetica Neue"/>
              </a:rPr>
              <a:t>Debits must equal credits</a:t>
            </a:r>
            <a:endParaRPr sz="1250" b="0">
              <a:solidFill>
                <a:srgbClr val="475569"/>
              </a:solidFill>
              <a:latin typeface="Helvetica Neue"/>
              <a:ea typeface="Helvetica Neue"/>
              <a:cs typeface="Helvetica Neue"/>
              <a:sym typeface="Helvetica Neue"/>
            </a:endParaRPr>
          </a:p>
          <a:p>
            <a:pPr marL="457200" lvl="0" indent="-307975" algn="l" rtl="0">
              <a:spcBef>
                <a:spcPts val="900"/>
              </a:spcBef>
              <a:spcAft>
                <a:spcPts val="0"/>
              </a:spcAft>
              <a:buClr>
                <a:srgbClr val="475569"/>
              </a:buClr>
              <a:buSzPts val="1250"/>
              <a:buFont typeface="Helvetica Neue"/>
              <a:buChar char="●"/>
            </a:pPr>
            <a:r>
              <a:rPr lang="en-US" sz="1250" b="1">
                <a:solidFill>
                  <a:srgbClr val="111A27"/>
                </a:solidFill>
                <a:latin typeface="Helvetica Neue"/>
                <a:ea typeface="Helvetica Neue"/>
                <a:cs typeface="Helvetica Neue"/>
                <a:sym typeface="Helvetica Neue"/>
              </a:rPr>
              <a:t>The trial balance must balance</a:t>
            </a:r>
            <a:endParaRPr sz="1250" b="0">
              <a:solidFill>
                <a:srgbClr val="475569"/>
              </a:solidFill>
              <a:latin typeface="Helvetica Neue"/>
              <a:ea typeface="Helvetica Neue"/>
              <a:cs typeface="Helvetica Neue"/>
              <a:sym typeface="Helvetica Neue"/>
            </a:endParaRPr>
          </a:p>
          <a:p>
            <a:pPr marL="457200" lvl="0" indent="-307975" algn="l" rtl="0">
              <a:spcBef>
                <a:spcPts val="900"/>
              </a:spcBef>
              <a:spcAft>
                <a:spcPts val="0"/>
              </a:spcAft>
              <a:buClr>
                <a:srgbClr val="475569"/>
              </a:buClr>
              <a:buSzPts val="1250"/>
              <a:buFont typeface="Helvetica Neue"/>
              <a:buChar char="●"/>
            </a:pPr>
            <a:r>
              <a:rPr lang="en-US" sz="1250" b="1">
                <a:solidFill>
                  <a:srgbClr val="111A27"/>
                </a:solidFill>
                <a:latin typeface="Helvetica Neue"/>
                <a:ea typeface="Helvetica Neue"/>
                <a:cs typeface="Helvetica Neue"/>
                <a:sym typeface="Helvetica Neue"/>
              </a:rPr>
              <a:t>Subledgers must tie to the general ledger</a:t>
            </a:r>
            <a:endParaRPr sz="1250" b="0">
              <a:solidFill>
                <a:srgbClr val="475569"/>
              </a:solidFill>
              <a:latin typeface="Helvetica Neue"/>
              <a:ea typeface="Helvetica Neue"/>
              <a:cs typeface="Helvetica Neue"/>
              <a:sym typeface="Helvetica Neue"/>
            </a:endParaRPr>
          </a:p>
          <a:p>
            <a:pPr marL="457200" lvl="0" indent="-307975" algn="l" rtl="0">
              <a:spcBef>
                <a:spcPts val="900"/>
              </a:spcBef>
              <a:spcAft>
                <a:spcPts val="0"/>
              </a:spcAft>
              <a:buClr>
                <a:srgbClr val="475569"/>
              </a:buClr>
              <a:buSzPts val="1250"/>
              <a:buFont typeface="Helvetica Neue"/>
              <a:buChar char="●"/>
            </a:pPr>
            <a:r>
              <a:rPr lang="en-US" sz="1250" b="1">
                <a:solidFill>
                  <a:srgbClr val="111A27"/>
                </a:solidFill>
                <a:latin typeface="Helvetica Neue"/>
                <a:ea typeface="Helvetica Neue"/>
                <a:cs typeface="Helvetica Neue"/>
                <a:sym typeface="Helvetica Neue"/>
              </a:rPr>
              <a:t>Bank reconciliation must net to zero</a:t>
            </a:r>
            <a:endParaRPr sz="1250" b="0">
              <a:solidFill>
                <a:srgbClr val="475569"/>
              </a:solidFill>
              <a:latin typeface="Helvetica Neue"/>
              <a:ea typeface="Helvetica Neue"/>
              <a:cs typeface="Helvetica Neue"/>
              <a:sym typeface="Helvetica Neue"/>
            </a:endParaRPr>
          </a:p>
          <a:p>
            <a:pPr marL="457200" lvl="0" indent="-307975" algn="l" rtl="0">
              <a:spcBef>
                <a:spcPts val="900"/>
              </a:spcBef>
              <a:spcAft>
                <a:spcPts val="0"/>
              </a:spcAft>
              <a:buClr>
                <a:srgbClr val="475569"/>
              </a:buClr>
              <a:buSzPts val="1250"/>
              <a:buFont typeface="Helvetica Neue"/>
              <a:buChar char="●"/>
            </a:pPr>
            <a:r>
              <a:rPr lang="en-US" sz="1250" b="1">
                <a:solidFill>
                  <a:srgbClr val="111A27"/>
                </a:solidFill>
                <a:latin typeface="Helvetica Neue"/>
                <a:ea typeface="Helvetica Neue"/>
                <a:cs typeface="Helvetica Neue"/>
                <a:sym typeface="Helvetica Neue"/>
              </a:rPr>
              <a:t>Tax and filing rules are written down, not guessed</a:t>
            </a:r>
            <a:endParaRPr sz="1250" b="0">
              <a:solidFill>
                <a:srgbClr val="475569"/>
              </a:solidFill>
              <a:latin typeface="Helvetica Neue"/>
              <a:ea typeface="Helvetica Neue"/>
              <a:cs typeface="Helvetica Neue"/>
              <a:sym typeface="Helvetica Neue"/>
            </a:endParaRPr>
          </a:p>
        </p:txBody>
      </p:sp>
      <p:sp>
        <p:nvSpPr>
          <p:cNvPr id="156" name="Google Shape;156;p3"/>
          <p:cNvSpPr txBox="1"/>
          <p:nvPr/>
        </p:nvSpPr>
        <p:spPr>
          <a:xfrm>
            <a:off x="4745648" y="3143250"/>
            <a:ext cx="2971800" cy="14622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1250" b="1">
                <a:solidFill>
                  <a:srgbClr val="0F172A"/>
                </a:solidFill>
                <a:latin typeface="Helvetica Neue"/>
                <a:ea typeface="Helvetica Neue"/>
                <a:cs typeface="Helvetica Neue"/>
                <a:sym typeface="Helvetica Neue"/>
              </a:rPr>
              <a:t>The Client-Facing Standard</a:t>
            </a:r>
            <a:endParaRPr sz="1250" b="1">
              <a:solidFill>
                <a:srgbClr val="0F172A"/>
              </a:solidFill>
              <a:latin typeface="Helvetica Neue"/>
              <a:ea typeface="Helvetica Neue"/>
              <a:cs typeface="Helvetica Neue"/>
              <a:sym typeface="Helvetica Neue"/>
            </a:endParaRPr>
          </a:p>
          <a:p>
            <a:pPr marL="0" lvl="0" indent="0" algn="l" rtl="0">
              <a:spcBef>
                <a:spcPts val="1200"/>
              </a:spcBef>
              <a:spcAft>
                <a:spcPts val="0"/>
              </a:spcAft>
              <a:buNone/>
            </a:pPr>
            <a:r>
              <a:rPr lang="en-US" sz="1250" b="0">
                <a:solidFill>
                  <a:srgbClr val="475569"/>
                </a:solidFill>
                <a:latin typeface="Helvetica Neue"/>
                <a:ea typeface="Helvetica Neue"/>
                <a:cs typeface="Helvetica Neue"/>
                <a:sym typeface="Helvetica Neue"/>
              </a:rPr>
              <a:t>This one property separates a demo from a system you dare put in front of a client.</a:t>
            </a:r>
            <a:endParaRPr sz="1250" b="0">
              <a:solidFill>
                <a:srgbClr val="475569"/>
              </a:solidFill>
              <a:latin typeface="Helvetica Neue"/>
              <a:ea typeface="Helvetica Neue"/>
              <a:cs typeface="Helvetica Neue"/>
              <a:sym typeface="Helvetica Neue"/>
            </a:endParaRPr>
          </a:p>
          <a:p>
            <a:pPr marL="0" lvl="0" indent="0" algn="l" rtl="0">
              <a:spcBef>
                <a:spcPts val="1200"/>
              </a:spcBef>
              <a:spcAft>
                <a:spcPts val="0"/>
              </a:spcAft>
              <a:buNone/>
            </a:pPr>
            <a:r>
              <a:rPr lang="en-US" sz="1250" b="0">
                <a:solidFill>
                  <a:srgbClr val="475569"/>
                </a:solidFill>
                <a:latin typeface="Helvetica Neue"/>
                <a:ea typeface="Helvetica Neue"/>
                <a:cs typeface="Helvetica Neue"/>
                <a:sym typeface="Helvetica Neue"/>
              </a:rPr>
              <a:t>With it we can auto-post and state our error bound, and route only the genuinely ambiguous items to a person.</a:t>
            </a:r>
            <a:endParaRPr sz="1250" b="0">
              <a:solidFill>
                <a:srgbClr val="475569"/>
              </a:solidFill>
              <a:latin typeface="Helvetica Neue"/>
              <a:ea typeface="Helvetica Neue"/>
              <a:cs typeface="Helvetica Neue"/>
              <a:sym typeface="Helvetica Neue"/>
            </a:endParaRPr>
          </a:p>
        </p:txBody>
      </p:sp>
      <p:sp>
        <p:nvSpPr>
          <p:cNvPr id="157" name="Google Shape;157;p3"/>
          <p:cNvSpPr txBox="1"/>
          <p:nvPr/>
        </p:nvSpPr>
        <p:spPr>
          <a:xfrm>
            <a:off x="8426388" y="3138398"/>
            <a:ext cx="2971800" cy="15084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1200" b="1">
                <a:solidFill>
                  <a:srgbClr val="7A3B08"/>
                </a:solidFill>
                <a:latin typeface="Helvetica Neue"/>
                <a:ea typeface="Helvetica Neue"/>
                <a:cs typeface="Helvetica Neue"/>
                <a:sym typeface="Helvetica Neue"/>
              </a:rPr>
              <a:t>Human-in-the-Loop Mapping</a:t>
            </a:r>
            <a:endParaRPr sz="1200" b="1">
              <a:solidFill>
                <a:srgbClr val="7A3B08"/>
              </a:solidFill>
              <a:latin typeface="Helvetica Neue"/>
              <a:ea typeface="Helvetica Neue"/>
              <a:cs typeface="Helvetica Neue"/>
              <a:sym typeface="Helvetica Neue"/>
            </a:endParaRPr>
          </a:p>
          <a:p>
            <a:pPr marL="0" lvl="0" indent="0" algn="l" rtl="0">
              <a:spcBef>
                <a:spcPts val="1200"/>
              </a:spcBef>
              <a:spcAft>
                <a:spcPts val="0"/>
              </a:spcAft>
              <a:buNone/>
            </a:pPr>
            <a:r>
              <a:rPr lang="en-US" sz="1100" b="0">
                <a:solidFill>
                  <a:srgbClr val="78350F"/>
                </a:solidFill>
                <a:latin typeface="Helvetica Neue"/>
                <a:ea typeface="Helvetica Neue"/>
                <a:cs typeface="Helvetica Neue"/>
                <a:sym typeface="Helvetica Neue"/>
              </a:rPr>
              <a:t>We already drive these systems with RPA, which amounts to a map: which steps are mechanical, and which ones need a person.</a:t>
            </a:r>
            <a:endParaRPr sz="1100" b="0">
              <a:solidFill>
                <a:srgbClr val="78350F"/>
              </a:solidFill>
              <a:latin typeface="Helvetica Neue"/>
              <a:ea typeface="Helvetica Neue"/>
              <a:cs typeface="Helvetica Neue"/>
              <a:sym typeface="Helvetica Neue"/>
            </a:endParaRPr>
          </a:p>
          <a:p>
            <a:pPr marL="0" lvl="0" indent="0" algn="l" rtl="0">
              <a:spcBef>
                <a:spcPts val="1200"/>
              </a:spcBef>
              <a:spcAft>
                <a:spcPts val="0"/>
              </a:spcAft>
              <a:buNone/>
            </a:pPr>
            <a:r>
              <a:rPr lang="en-US" sz="1100" b="0">
                <a:solidFill>
                  <a:srgbClr val="78350F"/>
                </a:solidFill>
                <a:latin typeface="Helvetica Neue"/>
                <a:ea typeface="Helvetica Neue"/>
                <a:cs typeface="Helvetica Neue"/>
                <a:sym typeface="Helvetica Neue"/>
              </a:rPr>
              <a:t>The bots' operation logs, plus historical closes we reach through existing engagements, give us a headstart on the ground-truth set.</a:t>
            </a:r>
            <a:endParaRPr sz="1100" b="0">
              <a:solidFill>
                <a:srgbClr val="78350F"/>
              </a:solidFill>
              <a:latin typeface="Helvetica Neue"/>
              <a:ea typeface="Helvetica Neue"/>
              <a:cs typeface="Helvetica Neue"/>
              <a:sym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g3f755de7d5b_1_130"/>
          <p:cNvSpPr txBox="1"/>
          <p:nvPr/>
        </p:nvSpPr>
        <p:spPr>
          <a:xfrm>
            <a:off x="10801807" y="6528816"/>
            <a:ext cx="731400" cy="2463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000" b="0" i="0">
                <a:solidFill>
                  <a:srgbClr val="D5DCE4"/>
                </a:solidFill>
                <a:latin typeface="Helvetica Neue"/>
                <a:ea typeface="Helvetica Neue"/>
                <a:cs typeface="Helvetica Neue"/>
                <a:sym typeface="Helvetica Neue"/>
              </a:rPr>
              <a:t>3</a:t>
            </a:r>
            <a:endParaRPr/>
          </a:p>
        </p:txBody>
      </p:sp>
      <p:sp>
        <p:nvSpPr>
          <p:cNvPr id="164" name="Google Shape;164;g3f755de7d5b_1_130"/>
          <p:cNvSpPr txBox="1"/>
          <p:nvPr/>
        </p:nvSpPr>
        <p:spPr>
          <a:xfrm>
            <a:off x="658368" y="420624"/>
            <a:ext cx="10875000" cy="1692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0E7490"/>
                </a:solidFill>
                <a:latin typeface="Helvetica Neue"/>
                <a:ea typeface="Helvetica Neue"/>
                <a:cs typeface="Helvetica Neue"/>
                <a:sym typeface="Helvetica Neue"/>
              </a:rPr>
              <a:t>DEFENSIBILITY</a:t>
            </a:r>
            <a:endParaRPr sz="1100" b="1" i="0">
              <a:solidFill>
                <a:srgbClr val="0E7490"/>
              </a:solidFill>
              <a:latin typeface="Helvetica Neue"/>
              <a:ea typeface="Helvetica Neue"/>
              <a:cs typeface="Helvetica Neue"/>
              <a:sym typeface="Helvetica Neue"/>
            </a:endParaRPr>
          </a:p>
        </p:txBody>
      </p:sp>
      <p:sp>
        <p:nvSpPr>
          <p:cNvPr id="165" name="Google Shape;165;g3f755de7d5b_1_130"/>
          <p:cNvSpPr txBox="1"/>
          <p:nvPr/>
        </p:nvSpPr>
        <p:spPr>
          <a:xfrm>
            <a:off x="658368" y="749808"/>
            <a:ext cx="10875000" cy="400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a:solidFill>
                  <a:srgbClr val="111A27"/>
                </a:solidFill>
                <a:latin typeface="Helvetica Neue"/>
                <a:ea typeface="Helvetica Neue"/>
                <a:cs typeface="Helvetica Neue"/>
                <a:sym typeface="Helvetica Neue"/>
              </a:rPr>
              <a:t>Where the moat sits in the agentic era</a:t>
            </a:r>
            <a:endParaRPr sz="2600" b="1" i="0">
              <a:solidFill>
                <a:srgbClr val="111A27"/>
              </a:solidFill>
              <a:latin typeface="Helvetica Neue"/>
              <a:ea typeface="Helvetica Neue"/>
              <a:cs typeface="Helvetica Neue"/>
              <a:sym typeface="Helvetica Neue"/>
            </a:endParaRPr>
          </a:p>
        </p:txBody>
      </p:sp>
      <p:sp>
        <p:nvSpPr>
          <p:cNvPr id="166" name="Google Shape;166;g3f755de7d5b_1_130"/>
          <p:cNvSpPr txBox="1"/>
          <p:nvPr/>
        </p:nvSpPr>
        <p:spPr>
          <a:xfrm>
            <a:off x="658368" y="1572425"/>
            <a:ext cx="10424100" cy="554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a:solidFill>
                  <a:srgbClr val="333E4F"/>
                </a:solidFill>
                <a:latin typeface="Helvetica Neue"/>
                <a:ea typeface="Helvetica Neue"/>
                <a:cs typeface="Helvetica Neue"/>
                <a:sym typeface="Helvetica Neue"/>
              </a:rPr>
              <a:t>When vendors differentiated on the interface, the moat was user habit and ecosystem. In the agentic era, what matters more is the control framework around the model.</a:t>
            </a:r>
            <a:endParaRPr sz="1500" b="0" i="0">
              <a:solidFill>
                <a:srgbClr val="333E4F"/>
              </a:solidFill>
              <a:latin typeface="Helvetica Neue"/>
              <a:ea typeface="Helvetica Neue"/>
              <a:cs typeface="Helvetica Neue"/>
              <a:sym typeface="Helvetica Neue"/>
            </a:endParaRPr>
          </a:p>
        </p:txBody>
      </p:sp>
      <p:sp>
        <p:nvSpPr>
          <p:cNvPr id="167" name="Google Shape;167;g3f755de7d5b_1_130"/>
          <p:cNvSpPr txBox="1"/>
          <p:nvPr/>
        </p:nvSpPr>
        <p:spPr>
          <a:xfrm>
            <a:off x="3419856" y="2432304"/>
            <a:ext cx="2541900" cy="2541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650" b="1" i="0">
                <a:solidFill>
                  <a:srgbClr val="0E7490"/>
                </a:solidFill>
                <a:latin typeface="Helvetica Neue"/>
                <a:ea typeface="Helvetica Neue"/>
                <a:cs typeface="Helvetica Neue"/>
                <a:sym typeface="Helvetica Neue"/>
              </a:rPr>
              <a:t>Substrate</a:t>
            </a:r>
            <a:endParaRPr/>
          </a:p>
        </p:txBody>
      </p:sp>
      <p:sp>
        <p:nvSpPr>
          <p:cNvPr id="168" name="Google Shape;168;g3f755de7d5b_1_130"/>
          <p:cNvSpPr/>
          <p:nvPr/>
        </p:nvSpPr>
        <p:spPr>
          <a:xfrm>
            <a:off x="657225" y="2286000"/>
            <a:ext cx="2590800" cy="1762200"/>
          </a:xfrm>
          <a:prstGeom prst="roundRect">
            <a:avLst>
              <a:gd name="adj" fmla="val 6486"/>
            </a:avLst>
          </a:prstGeom>
          <a:solidFill>
            <a:srgbClr val="F8FAFC"/>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69" name="Google Shape;169;g3f755de7d5b_1_130"/>
          <p:cNvSpPr txBox="1"/>
          <p:nvPr/>
        </p:nvSpPr>
        <p:spPr>
          <a:xfrm>
            <a:off x="823725" y="2491775"/>
            <a:ext cx="1905000" cy="2541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1650" b="1">
                <a:solidFill>
                  <a:srgbClr val="0E7490"/>
                </a:solidFill>
                <a:latin typeface="Helvetica Neue"/>
                <a:ea typeface="Helvetica Neue"/>
                <a:cs typeface="Helvetica Neue"/>
                <a:sym typeface="Helvetica Neue"/>
              </a:rPr>
              <a:t>Verification</a:t>
            </a:r>
            <a:endParaRPr sz="1600" b="1">
              <a:solidFill>
                <a:srgbClr val="111A27"/>
              </a:solidFill>
              <a:latin typeface="Helvetica Neue"/>
              <a:ea typeface="Helvetica Neue"/>
              <a:cs typeface="Helvetica Neue"/>
              <a:sym typeface="Helvetica Neue"/>
            </a:endParaRPr>
          </a:p>
        </p:txBody>
      </p:sp>
      <p:sp>
        <p:nvSpPr>
          <p:cNvPr id="170" name="Google Shape;170;g3f755de7d5b_1_130"/>
          <p:cNvSpPr txBox="1"/>
          <p:nvPr/>
        </p:nvSpPr>
        <p:spPr>
          <a:xfrm>
            <a:off x="809625" y="2905125"/>
            <a:ext cx="2286000" cy="9621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1250" b="0">
                <a:solidFill>
                  <a:srgbClr val="475569"/>
                </a:solidFill>
                <a:latin typeface="Helvetica Neue"/>
                <a:ea typeface="Helvetica Neue"/>
                <a:cs typeface="Helvetica Neue"/>
                <a:sym typeface="Helvetica Neue"/>
              </a:rPr>
              <a:t>Anyone can prompt a model; almost nobody can prove the output is correct. In a domain with an oracle, the verifier is the product.</a:t>
            </a:r>
            <a:endParaRPr sz="1250" b="0">
              <a:solidFill>
                <a:srgbClr val="475569"/>
              </a:solidFill>
              <a:latin typeface="Helvetica Neue"/>
              <a:ea typeface="Helvetica Neue"/>
              <a:cs typeface="Helvetica Neue"/>
              <a:sym typeface="Helvetica Neue"/>
            </a:endParaRPr>
          </a:p>
        </p:txBody>
      </p:sp>
      <p:sp>
        <p:nvSpPr>
          <p:cNvPr id="171" name="Google Shape;171;g3f755de7d5b_1_130"/>
          <p:cNvSpPr/>
          <p:nvPr/>
        </p:nvSpPr>
        <p:spPr>
          <a:xfrm>
            <a:off x="3438525" y="2286000"/>
            <a:ext cx="2590800" cy="1762200"/>
          </a:xfrm>
          <a:prstGeom prst="roundRect">
            <a:avLst>
              <a:gd name="adj" fmla="val 6486"/>
            </a:avLst>
          </a:prstGeom>
          <a:solidFill>
            <a:srgbClr val="F8FAFC"/>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2" name="Google Shape;172;g3f755de7d5b_1_130"/>
          <p:cNvSpPr/>
          <p:nvPr/>
        </p:nvSpPr>
        <p:spPr>
          <a:xfrm>
            <a:off x="3590925" y="2428875"/>
            <a:ext cx="342900" cy="3429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3" name="Google Shape;173;g3f755de7d5b_1_130"/>
          <p:cNvSpPr txBox="1"/>
          <p:nvPr/>
        </p:nvSpPr>
        <p:spPr>
          <a:xfrm>
            <a:off x="3590925" y="2477175"/>
            <a:ext cx="1905000" cy="2541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1650" b="1">
                <a:solidFill>
                  <a:srgbClr val="0E7490"/>
                </a:solidFill>
                <a:latin typeface="Helvetica Neue"/>
                <a:ea typeface="Helvetica Neue"/>
                <a:cs typeface="Helvetica Neue"/>
                <a:sym typeface="Helvetica Neue"/>
              </a:rPr>
              <a:t>Substrate</a:t>
            </a:r>
            <a:endParaRPr sz="1650" b="1">
              <a:solidFill>
                <a:srgbClr val="0E7490"/>
              </a:solidFill>
              <a:latin typeface="Helvetica Neue"/>
              <a:ea typeface="Helvetica Neue"/>
              <a:cs typeface="Helvetica Neue"/>
              <a:sym typeface="Helvetica Neue"/>
            </a:endParaRPr>
          </a:p>
        </p:txBody>
      </p:sp>
      <p:sp>
        <p:nvSpPr>
          <p:cNvPr id="174" name="Google Shape;174;g3f755de7d5b_1_130"/>
          <p:cNvSpPr txBox="1"/>
          <p:nvPr/>
        </p:nvSpPr>
        <p:spPr>
          <a:xfrm>
            <a:off x="3590925" y="2905125"/>
            <a:ext cx="2286000" cy="9621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1250" b="0">
                <a:solidFill>
                  <a:srgbClr val="475569"/>
                </a:solidFill>
                <a:latin typeface="Helvetica Neue"/>
                <a:ea typeface="Helvetica Neue"/>
                <a:cs typeface="Helvetica Neue"/>
                <a:sym typeface="Helvetica Neue"/>
              </a:rPr>
              <a:t>Append-only, bitemporal, traceable. A day-one decision nobody can retrofit, and why an entry can be defended to an auditor.</a:t>
            </a:r>
            <a:endParaRPr sz="1250" b="0">
              <a:solidFill>
                <a:srgbClr val="475569"/>
              </a:solidFill>
              <a:latin typeface="Helvetica Neue"/>
              <a:ea typeface="Helvetica Neue"/>
              <a:cs typeface="Helvetica Neue"/>
              <a:sym typeface="Helvetica Neue"/>
            </a:endParaRPr>
          </a:p>
        </p:txBody>
      </p:sp>
      <p:sp>
        <p:nvSpPr>
          <p:cNvPr id="175" name="Google Shape;175;g3f755de7d5b_1_130"/>
          <p:cNvSpPr/>
          <p:nvPr/>
        </p:nvSpPr>
        <p:spPr>
          <a:xfrm>
            <a:off x="657225" y="4238625"/>
            <a:ext cx="2590800" cy="1762200"/>
          </a:xfrm>
          <a:prstGeom prst="roundRect">
            <a:avLst>
              <a:gd name="adj" fmla="val 6486"/>
            </a:avLst>
          </a:prstGeom>
          <a:solidFill>
            <a:srgbClr val="F8FAFC"/>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6" name="Google Shape;176;g3f755de7d5b_1_130"/>
          <p:cNvSpPr/>
          <p:nvPr/>
        </p:nvSpPr>
        <p:spPr>
          <a:xfrm>
            <a:off x="809625" y="4381500"/>
            <a:ext cx="342900" cy="3429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7" name="Google Shape;177;g3f755de7d5b_1_130"/>
          <p:cNvSpPr txBox="1"/>
          <p:nvPr/>
        </p:nvSpPr>
        <p:spPr>
          <a:xfrm>
            <a:off x="809625" y="4444400"/>
            <a:ext cx="1905000" cy="254100"/>
          </a:xfrm>
          <a:prstGeom prst="rect">
            <a:avLst/>
          </a:prstGeom>
          <a:solidFill>
            <a:srgbClr val="000000">
              <a:alpha val="0"/>
            </a:srgbClr>
          </a:solid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50" b="1">
                <a:solidFill>
                  <a:srgbClr val="0E7490"/>
                </a:solidFill>
                <a:latin typeface="Helvetica Neue"/>
                <a:ea typeface="Helvetica Neue"/>
                <a:cs typeface="Helvetica Neue"/>
                <a:sym typeface="Helvetica Neue"/>
              </a:rPr>
              <a:t>Permission</a:t>
            </a:r>
            <a:endParaRPr sz="1650" b="1">
              <a:solidFill>
                <a:srgbClr val="0E7490"/>
              </a:solidFill>
              <a:latin typeface="Helvetica Neue"/>
              <a:ea typeface="Helvetica Neue"/>
              <a:cs typeface="Helvetica Neue"/>
              <a:sym typeface="Helvetica Neue"/>
            </a:endParaRPr>
          </a:p>
        </p:txBody>
      </p:sp>
      <p:sp>
        <p:nvSpPr>
          <p:cNvPr id="178" name="Google Shape;178;g3f755de7d5b_1_130"/>
          <p:cNvSpPr txBox="1"/>
          <p:nvPr/>
        </p:nvSpPr>
        <p:spPr>
          <a:xfrm>
            <a:off x="809625" y="4857750"/>
            <a:ext cx="2286000" cy="9621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1250" b="0">
                <a:solidFill>
                  <a:srgbClr val="475569"/>
                </a:solidFill>
                <a:latin typeface="Helvetica Neue"/>
                <a:ea typeface="Helvetica Neue"/>
                <a:cs typeface="Helvetica Neue"/>
                <a:sym typeface="Helvetica Neue"/>
              </a:rPr>
              <a:t>Write access to the ledger, the bank, the filing. Revoking it is a governance decision with a liability trail, far stickier than being used to a screen.</a:t>
            </a:r>
            <a:endParaRPr sz="1250" b="0">
              <a:solidFill>
                <a:srgbClr val="475569"/>
              </a:solidFill>
              <a:latin typeface="Helvetica Neue"/>
              <a:ea typeface="Helvetica Neue"/>
              <a:cs typeface="Helvetica Neue"/>
              <a:sym typeface="Helvetica Neue"/>
            </a:endParaRPr>
          </a:p>
        </p:txBody>
      </p:sp>
      <p:sp>
        <p:nvSpPr>
          <p:cNvPr id="179" name="Google Shape;179;g3f755de7d5b_1_130"/>
          <p:cNvSpPr/>
          <p:nvPr/>
        </p:nvSpPr>
        <p:spPr>
          <a:xfrm>
            <a:off x="3438525" y="4238625"/>
            <a:ext cx="2590800" cy="1762200"/>
          </a:xfrm>
          <a:prstGeom prst="roundRect">
            <a:avLst>
              <a:gd name="adj" fmla="val 6486"/>
            </a:avLst>
          </a:prstGeom>
          <a:solidFill>
            <a:srgbClr val="F8FAFC"/>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80" name="Google Shape;180;g3f755de7d5b_1_130"/>
          <p:cNvSpPr txBox="1"/>
          <p:nvPr/>
        </p:nvSpPr>
        <p:spPr>
          <a:xfrm>
            <a:off x="3590925" y="4857750"/>
            <a:ext cx="2286000" cy="9621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1250" b="0">
                <a:solidFill>
                  <a:srgbClr val="475569"/>
                </a:solidFill>
                <a:latin typeface="Helvetica Neue"/>
                <a:ea typeface="Helvetica Neue"/>
                <a:cs typeface="Helvetica Neue"/>
                <a:sym typeface="Helvetica Neue"/>
              </a:rPr>
              <a:t>Every correction becomes a versioned rule and a scored example. Prompts copy in an afternoon; years of reviewed closes do not.</a:t>
            </a:r>
            <a:endParaRPr sz="1250" b="0">
              <a:solidFill>
                <a:srgbClr val="475569"/>
              </a:solidFill>
              <a:latin typeface="Helvetica Neue"/>
              <a:ea typeface="Helvetica Neue"/>
              <a:cs typeface="Helvetica Neue"/>
              <a:sym typeface="Helvetica Neue"/>
            </a:endParaRPr>
          </a:p>
        </p:txBody>
      </p:sp>
      <p:sp>
        <p:nvSpPr>
          <p:cNvPr id="181" name="Google Shape;181;g3f755de7d5b_1_130"/>
          <p:cNvSpPr/>
          <p:nvPr/>
        </p:nvSpPr>
        <p:spPr>
          <a:xfrm>
            <a:off x="6464808" y="2286000"/>
            <a:ext cx="5074800" cy="3714900"/>
          </a:xfrm>
          <a:prstGeom prst="roundRect">
            <a:avLst>
              <a:gd name="adj" fmla="val 4102"/>
            </a:avLst>
          </a:prstGeom>
          <a:solidFill>
            <a:srgbClr val="FFF7ED"/>
          </a:solidFill>
          <a:ln w="14300" cap="flat" cmpd="sng">
            <a:solidFill>
              <a:srgbClr val="FFEDD5"/>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83" name="Google Shape;183;g3f755de7d5b_1_130"/>
          <p:cNvSpPr/>
          <p:nvPr/>
        </p:nvSpPr>
        <p:spPr>
          <a:xfrm>
            <a:off x="6739128" y="2476500"/>
            <a:ext cx="342900" cy="3429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85" name="Google Shape;185;g3f755de7d5b_1_130"/>
          <p:cNvSpPr txBox="1"/>
          <p:nvPr/>
        </p:nvSpPr>
        <p:spPr>
          <a:xfrm>
            <a:off x="7120128" y="2543175"/>
            <a:ext cx="4191000" cy="2232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1450" b="1" i="0">
                <a:solidFill>
                  <a:srgbClr val="7A3B08"/>
                </a:solidFill>
                <a:latin typeface="Helvetica Neue"/>
                <a:ea typeface="Helvetica Neue"/>
                <a:cs typeface="Helvetica Neue"/>
                <a:sym typeface="Helvetica Neue"/>
              </a:rPr>
              <a:t>WHAT DOES NOT CHANGE</a:t>
            </a:r>
            <a:endParaRPr sz="1450" b="1" i="0">
              <a:solidFill>
                <a:srgbClr val="7A3B08"/>
              </a:solidFill>
              <a:latin typeface="Helvetica Neue"/>
              <a:ea typeface="Helvetica Neue"/>
              <a:cs typeface="Helvetica Neue"/>
              <a:sym typeface="Helvetica Neue"/>
            </a:endParaRPr>
          </a:p>
        </p:txBody>
      </p:sp>
      <p:sp>
        <p:nvSpPr>
          <p:cNvPr id="186" name="Google Shape;186;g3f755de7d5b_1_130"/>
          <p:cNvSpPr txBox="1"/>
          <p:nvPr/>
        </p:nvSpPr>
        <p:spPr>
          <a:xfrm>
            <a:off x="6951809" y="3236561"/>
            <a:ext cx="4191000" cy="1461939"/>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1250" b="1" i="0">
                <a:solidFill>
                  <a:srgbClr val="7A3B08"/>
                </a:solidFill>
                <a:latin typeface="Helvetica Neue"/>
                <a:ea typeface="Helvetica Neue"/>
                <a:cs typeface="Helvetica Neue"/>
                <a:sym typeface="Helvetica Neue"/>
              </a:rPr>
              <a:t>The system of record matters more, not less.</a:t>
            </a:r>
            <a:r>
              <a:rPr lang="en-US" sz="1250" b="0" i="0">
                <a:solidFill>
                  <a:srgbClr val="78350F"/>
                </a:solidFill>
                <a:latin typeface="Helvetica Neue"/>
                <a:ea typeface="Helvetica Neue"/>
                <a:cs typeface="Helvetica Neue"/>
                <a:sym typeface="Helvetica Neue"/>
              </a:rPr>
              <a:t> An agent needs a substrate with truth, permissions and history; what gets obsoleted is the interface, not the database.</a:t>
            </a:r>
            <a:endParaRPr sz="1250" b="0" i="0">
              <a:solidFill>
                <a:srgbClr val="78350F"/>
              </a:solidFill>
              <a:latin typeface="Helvetica Neue"/>
              <a:ea typeface="Helvetica Neue"/>
              <a:cs typeface="Helvetica Neue"/>
              <a:sym typeface="Helvetica Neue"/>
            </a:endParaRPr>
          </a:p>
          <a:p>
            <a:pPr marL="0" lvl="0" indent="0" algn="l" rtl="0">
              <a:spcBef>
                <a:spcPts val="900"/>
              </a:spcBef>
              <a:spcAft>
                <a:spcPts val="0"/>
              </a:spcAft>
              <a:buNone/>
            </a:pPr>
            <a:r>
              <a:rPr lang="en-US" sz="1250" b="1" i="0">
                <a:solidFill>
                  <a:srgbClr val="7A3B08"/>
                </a:solidFill>
                <a:latin typeface="Helvetica Neue"/>
                <a:ea typeface="Helvetica Neue"/>
                <a:cs typeface="Helvetica Neue"/>
                <a:sym typeface="Helvetica Neue"/>
              </a:rPr>
              <a:t>Trust, security, confidentiality and professional standards</a:t>
            </a:r>
            <a:r>
              <a:rPr lang="en-US" sz="1250" b="0" i="0">
                <a:solidFill>
                  <a:srgbClr val="78350F"/>
                </a:solidFill>
                <a:latin typeface="Helvetica Neue"/>
                <a:ea typeface="Helvetica Neue"/>
                <a:cs typeface="Helvetica Neue"/>
                <a:sym typeface="Helvetica Neue"/>
              </a:rPr>
              <a:t> still gate everything. What is exposed is the client's books and our own name, so the controls in this architecture are not optional.</a:t>
            </a:r>
            <a:endParaRPr sz="1250" b="0" i="0">
              <a:solidFill>
                <a:srgbClr val="78350F"/>
              </a:solidFill>
              <a:latin typeface="Helvetica Neue"/>
              <a:ea typeface="Helvetica Neue"/>
              <a:cs typeface="Helvetica Neue"/>
              <a:sym typeface="Helvetica Neue"/>
            </a:endParaRPr>
          </a:p>
        </p:txBody>
      </p:sp>
      <p:sp>
        <p:nvSpPr>
          <p:cNvPr id="187" name="Google Shape;187;g3f755de7d5b_1_130"/>
          <p:cNvSpPr txBox="1"/>
          <p:nvPr/>
        </p:nvSpPr>
        <p:spPr>
          <a:xfrm>
            <a:off x="3544526" y="4352000"/>
            <a:ext cx="2286000" cy="438600"/>
          </a:xfrm>
          <a:prstGeom prst="rect">
            <a:avLst/>
          </a:prstGeom>
          <a:solidFill>
            <a:srgbClr val="000000">
              <a:alpha val="0"/>
            </a:srgbClr>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n-US" sz="1650" b="1">
                <a:solidFill>
                  <a:srgbClr val="0E7490"/>
                </a:solidFill>
                <a:latin typeface="Helvetica Neue"/>
                <a:ea typeface="Helvetica Neue"/>
                <a:cs typeface="Helvetica Neue"/>
                <a:sym typeface="Helvetica Neue"/>
              </a:rPr>
              <a:t>Compounding loop</a:t>
            </a:r>
            <a:endParaRPr sz="1650" b="1">
              <a:solidFill>
                <a:srgbClr val="0E7490"/>
              </a:solidFill>
              <a:latin typeface="Helvetica Neue"/>
              <a:ea typeface="Helvetica Neue"/>
              <a:cs typeface="Helvetica Neue"/>
              <a:sym typeface="Helvetica Neu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
          <p:cNvSpPr txBox="1"/>
          <p:nvPr/>
        </p:nvSpPr>
        <p:spPr>
          <a:xfrm>
            <a:off x="10801807" y="6528816"/>
            <a:ext cx="731520" cy="23774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000" b="0" i="0">
                <a:solidFill>
                  <a:srgbClr val="D5DCE4"/>
                </a:solidFill>
                <a:latin typeface="Helvetica Neue"/>
                <a:ea typeface="Helvetica Neue"/>
                <a:cs typeface="Helvetica Neue"/>
                <a:sym typeface="Helvetica Neue"/>
              </a:rPr>
              <a:t>4</a:t>
            </a:r>
            <a:endParaRPr/>
          </a:p>
        </p:txBody>
      </p:sp>
      <p:sp>
        <p:nvSpPr>
          <p:cNvPr id="194" name="Google Shape;194;p5"/>
          <p:cNvSpPr txBox="1"/>
          <p:nvPr/>
        </p:nvSpPr>
        <p:spPr>
          <a:xfrm>
            <a:off x="658368" y="420624"/>
            <a:ext cx="10874959" cy="256032"/>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i="0">
                <a:solidFill>
                  <a:srgbClr val="0E7490"/>
                </a:solidFill>
                <a:latin typeface="Helvetica Neue"/>
                <a:ea typeface="Helvetica Neue"/>
                <a:cs typeface="Helvetica Neue"/>
                <a:sym typeface="Helvetica Neue"/>
              </a:rPr>
              <a:t>ARCHITECTURE</a:t>
            </a:r>
            <a:endParaRPr/>
          </a:p>
        </p:txBody>
      </p:sp>
      <p:sp>
        <p:nvSpPr>
          <p:cNvPr id="195" name="Google Shape;195;p5"/>
          <p:cNvSpPr txBox="1"/>
          <p:nvPr/>
        </p:nvSpPr>
        <p:spPr>
          <a:xfrm>
            <a:off x="658368" y="749808"/>
            <a:ext cx="10874959" cy="924612"/>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400" b="1" i="0">
                <a:solidFill>
                  <a:srgbClr val="111A27"/>
                </a:solidFill>
                <a:latin typeface="Helvetica Neue"/>
                <a:ea typeface="Helvetica Neue"/>
                <a:cs typeface="Helvetica Neue"/>
                <a:sym typeface="Helvetica Neue"/>
              </a:rPr>
              <a:t>The agent decides, deterministic code executes,</a:t>
            </a:r>
            <a:br>
              <a:rPr lang="en-US" sz="2400" b="1" i="0">
                <a:solidFill>
                  <a:srgbClr val="111A27"/>
                </a:solidFill>
                <a:latin typeface="Helvetica Neue"/>
                <a:ea typeface="Helvetica Neue"/>
                <a:cs typeface="Helvetica Neue"/>
                <a:sym typeface="Helvetica Neue"/>
              </a:rPr>
            </a:br>
            <a:r>
              <a:rPr lang="en-US" sz="2400" b="1" i="0">
                <a:solidFill>
                  <a:srgbClr val="111A27"/>
                </a:solidFill>
                <a:latin typeface="Helvetica Neue"/>
                <a:ea typeface="Helvetica Neue"/>
                <a:cs typeface="Helvetica Neue"/>
                <a:sym typeface="Helvetica Neue"/>
              </a:rPr>
              <a:t>and every action is verifiable and traceable</a:t>
            </a:r>
            <a:endParaRPr/>
          </a:p>
        </p:txBody>
      </p:sp>
      <p:sp>
        <p:nvSpPr>
          <p:cNvPr id="196" name="Google Shape;196;p5"/>
          <p:cNvSpPr/>
          <p:nvPr/>
        </p:nvSpPr>
        <p:spPr>
          <a:xfrm>
            <a:off x="658368" y="2212848"/>
            <a:ext cx="9006840" cy="470916"/>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97" name="Google Shape;197;p5"/>
          <p:cNvSpPr txBox="1"/>
          <p:nvPr/>
        </p:nvSpPr>
        <p:spPr>
          <a:xfrm>
            <a:off x="859536" y="2313432"/>
            <a:ext cx="2377440" cy="24314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350" b="1" i="0">
                <a:solidFill>
                  <a:srgbClr val="111A27"/>
                </a:solidFill>
                <a:latin typeface="Helvetica Neue"/>
                <a:ea typeface="Helvetica Neue"/>
                <a:cs typeface="Helvetica Neue"/>
                <a:sym typeface="Helvetica Neue"/>
              </a:rPr>
              <a:t>Client surfaces</a:t>
            </a:r>
            <a:endParaRPr/>
          </a:p>
        </p:txBody>
      </p:sp>
      <p:sp>
        <p:nvSpPr>
          <p:cNvPr id="198" name="Google Shape;198;p5"/>
          <p:cNvSpPr txBox="1"/>
          <p:nvPr/>
        </p:nvSpPr>
        <p:spPr>
          <a:xfrm>
            <a:off x="3401568" y="2331720"/>
            <a:ext cx="6035040" cy="207108"/>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50" b="0" i="0">
                <a:solidFill>
                  <a:srgbClr val="333E4F"/>
                </a:solidFill>
                <a:latin typeface="Helvetica Neue"/>
                <a:ea typeface="Helvetica Neue"/>
                <a:cs typeface="Helvetica Neue"/>
                <a:sym typeface="Helvetica Neue"/>
              </a:rPr>
              <a:t>exception queue · chat and email · reporting</a:t>
            </a:r>
            <a:endParaRPr/>
          </a:p>
        </p:txBody>
      </p:sp>
      <p:sp>
        <p:nvSpPr>
          <p:cNvPr id="199" name="Google Shape;199;p5"/>
          <p:cNvSpPr/>
          <p:nvPr/>
        </p:nvSpPr>
        <p:spPr>
          <a:xfrm>
            <a:off x="658368" y="2752344"/>
            <a:ext cx="9006840" cy="470916"/>
          </a:xfrm>
          <a:prstGeom prst="roundRect">
            <a:avLst>
              <a:gd name="adj" fmla="val 4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00" name="Google Shape;200;p5"/>
          <p:cNvSpPr txBox="1"/>
          <p:nvPr/>
        </p:nvSpPr>
        <p:spPr>
          <a:xfrm>
            <a:off x="859536" y="2852927"/>
            <a:ext cx="2377440" cy="310896"/>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350" b="1" i="0">
                <a:solidFill>
                  <a:srgbClr val="111A27"/>
                </a:solidFill>
                <a:latin typeface="Helvetica Neue"/>
                <a:ea typeface="Helvetica Neue"/>
                <a:cs typeface="Helvetica Neue"/>
                <a:sym typeface="Helvetica Neue"/>
              </a:rPr>
              <a:t>Verification &amp; guardrails</a:t>
            </a:r>
            <a:endParaRPr/>
          </a:p>
        </p:txBody>
      </p:sp>
      <p:sp>
        <p:nvSpPr>
          <p:cNvPr id="201" name="Google Shape;201;p5"/>
          <p:cNvSpPr txBox="1"/>
          <p:nvPr/>
        </p:nvSpPr>
        <p:spPr>
          <a:xfrm>
            <a:off x="3401568" y="2871215"/>
            <a:ext cx="6035040" cy="310896"/>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50" b="0" i="0">
                <a:solidFill>
                  <a:srgbClr val="333E4F"/>
                </a:solidFill>
                <a:latin typeface="Helvetica Neue"/>
                <a:ea typeface="Helvetica Neue"/>
                <a:cs typeface="Helvetica Neue"/>
                <a:sym typeface="Helvetica Neue"/>
              </a:rPr>
              <a:t>hard invariants · variance and anomaly detection · confidence routing</a:t>
            </a:r>
            <a:endParaRPr/>
          </a:p>
        </p:txBody>
      </p:sp>
      <p:sp>
        <p:nvSpPr>
          <p:cNvPr id="202" name="Google Shape;202;p5"/>
          <p:cNvSpPr txBox="1"/>
          <p:nvPr/>
        </p:nvSpPr>
        <p:spPr>
          <a:xfrm>
            <a:off x="9354312" y="2862072"/>
            <a:ext cx="274320" cy="27432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200" b="1" i="0">
                <a:solidFill>
                  <a:srgbClr val="B45309"/>
                </a:solidFill>
                <a:latin typeface="Helvetica Neue"/>
                <a:ea typeface="Helvetica Neue"/>
                <a:cs typeface="Helvetica Neue"/>
                <a:sym typeface="Helvetica Neue"/>
              </a:rPr>
              <a:t>◆</a:t>
            </a:r>
            <a:endParaRPr/>
          </a:p>
        </p:txBody>
      </p:sp>
      <p:sp>
        <p:nvSpPr>
          <p:cNvPr id="203" name="Google Shape;203;p5"/>
          <p:cNvSpPr/>
          <p:nvPr/>
        </p:nvSpPr>
        <p:spPr>
          <a:xfrm>
            <a:off x="658368" y="3291839"/>
            <a:ext cx="9006840" cy="470916"/>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04" name="Google Shape;204;p5"/>
          <p:cNvSpPr txBox="1"/>
          <p:nvPr/>
        </p:nvSpPr>
        <p:spPr>
          <a:xfrm>
            <a:off x="859536" y="3392423"/>
            <a:ext cx="2377440" cy="310896"/>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350" b="1" i="0">
                <a:solidFill>
                  <a:srgbClr val="111A27"/>
                </a:solidFill>
                <a:latin typeface="Helvetica Neue"/>
                <a:ea typeface="Helvetica Neue"/>
                <a:cs typeface="Helvetica Neue"/>
                <a:sym typeface="Helvetica Neue"/>
              </a:rPr>
              <a:t>Agent layer</a:t>
            </a:r>
            <a:endParaRPr/>
          </a:p>
        </p:txBody>
      </p:sp>
      <p:sp>
        <p:nvSpPr>
          <p:cNvPr id="205" name="Google Shape;205;p5"/>
          <p:cNvSpPr txBox="1"/>
          <p:nvPr/>
        </p:nvSpPr>
        <p:spPr>
          <a:xfrm>
            <a:off x="3401568" y="3410711"/>
            <a:ext cx="6035040" cy="207108"/>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50" b="0" i="0">
                <a:solidFill>
                  <a:srgbClr val="333E4F"/>
                </a:solidFill>
                <a:latin typeface="Helvetica Neue"/>
                <a:ea typeface="Helvetica Neue"/>
                <a:cs typeface="Helvetica Neue"/>
                <a:sym typeface="Helvetica Neue"/>
              </a:rPr>
              <a:t>supervisors · extraction · classification · matching · chasing · analysis</a:t>
            </a:r>
            <a:endParaRPr/>
          </a:p>
        </p:txBody>
      </p:sp>
      <p:sp>
        <p:nvSpPr>
          <p:cNvPr id="206" name="Google Shape;206;p5"/>
          <p:cNvSpPr/>
          <p:nvPr/>
        </p:nvSpPr>
        <p:spPr>
          <a:xfrm>
            <a:off x="658368" y="3831335"/>
            <a:ext cx="9006840" cy="470916"/>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07" name="Google Shape;207;p5"/>
          <p:cNvSpPr txBox="1"/>
          <p:nvPr/>
        </p:nvSpPr>
        <p:spPr>
          <a:xfrm>
            <a:off x="859536" y="3931920"/>
            <a:ext cx="2377440" cy="310896"/>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350" b="1" i="0">
                <a:solidFill>
                  <a:srgbClr val="111A27"/>
                </a:solidFill>
                <a:latin typeface="Helvetica Neue"/>
                <a:ea typeface="Helvetica Neue"/>
                <a:cs typeface="Helvetica Neue"/>
                <a:sym typeface="Helvetica Neue"/>
              </a:rPr>
              <a:t>Durable orchestration</a:t>
            </a:r>
            <a:endParaRPr/>
          </a:p>
        </p:txBody>
      </p:sp>
      <p:sp>
        <p:nvSpPr>
          <p:cNvPr id="208" name="Google Shape;208;p5"/>
          <p:cNvSpPr txBox="1"/>
          <p:nvPr/>
        </p:nvSpPr>
        <p:spPr>
          <a:xfrm>
            <a:off x="3401568" y="3950207"/>
            <a:ext cx="6035040" cy="310896"/>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50" b="0" i="0">
                <a:solidFill>
                  <a:srgbClr val="333E4F"/>
                </a:solidFill>
                <a:latin typeface="Helvetica Neue"/>
                <a:ea typeface="Helvetica Neue"/>
                <a:cs typeface="Helvetica Neue"/>
                <a:sym typeface="Helvetica Neue"/>
              </a:rPr>
              <a:t>the close checklist as a resumable state machine, not free-form agency</a:t>
            </a:r>
            <a:endParaRPr/>
          </a:p>
        </p:txBody>
      </p:sp>
      <p:sp>
        <p:nvSpPr>
          <p:cNvPr id="209" name="Google Shape;209;p5"/>
          <p:cNvSpPr/>
          <p:nvPr/>
        </p:nvSpPr>
        <p:spPr>
          <a:xfrm>
            <a:off x="658368" y="4370831"/>
            <a:ext cx="9006840" cy="470916"/>
          </a:xfrm>
          <a:prstGeom prst="roundRect">
            <a:avLst>
              <a:gd name="adj" fmla="val 4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10" name="Google Shape;210;p5"/>
          <p:cNvSpPr txBox="1"/>
          <p:nvPr/>
        </p:nvSpPr>
        <p:spPr>
          <a:xfrm>
            <a:off x="859536" y="4471416"/>
            <a:ext cx="2377440" cy="24314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350" b="1" i="0">
                <a:solidFill>
                  <a:srgbClr val="111A27"/>
                </a:solidFill>
                <a:latin typeface="Helvetica Neue"/>
                <a:ea typeface="Helvetica Neue"/>
                <a:cs typeface="Helvetica Neue"/>
                <a:sym typeface="Helvetica Neue"/>
              </a:rPr>
              <a:t>Tool layer</a:t>
            </a:r>
            <a:endParaRPr/>
          </a:p>
        </p:txBody>
      </p:sp>
      <p:sp>
        <p:nvSpPr>
          <p:cNvPr id="211" name="Google Shape;211;p5"/>
          <p:cNvSpPr txBox="1"/>
          <p:nvPr/>
        </p:nvSpPr>
        <p:spPr>
          <a:xfrm>
            <a:off x="3401568" y="4489703"/>
            <a:ext cx="6035040" cy="310896"/>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50" b="0" i="0">
                <a:solidFill>
                  <a:srgbClr val="333E4F"/>
                </a:solidFill>
                <a:latin typeface="Helvetica Neue"/>
                <a:ea typeface="Helvetica Neue"/>
                <a:cs typeface="Helvetica Neue"/>
                <a:sym typeface="Helvetica Neue"/>
              </a:rPr>
              <a:t>typed, invariant-enforcing actions: post · reconcile · close period</a:t>
            </a:r>
            <a:endParaRPr/>
          </a:p>
        </p:txBody>
      </p:sp>
      <p:sp>
        <p:nvSpPr>
          <p:cNvPr id="212" name="Google Shape;212;p5"/>
          <p:cNvSpPr txBox="1"/>
          <p:nvPr/>
        </p:nvSpPr>
        <p:spPr>
          <a:xfrm>
            <a:off x="9354312" y="4480559"/>
            <a:ext cx="274320" cy="27432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200" b="1" i="0">
                <a:solidFill>
                  <a:srgbClr val="B45309"/>
                </a:solidFill>
                <a:latin typeface="Helvetica Neue"/>
                <a:ea typeface="Helvetica Neue"/>
                <a:cs typeface="Helvetica Neue"/>
                <a:sym typeface="Helvetica Neue"/>
              </a:rPr>
              <a:t>◆</a:t>
            </a:r>
            <a:endParaRPr/>
          </a:p>
        </p:txBody>
      </p:sp>
      <p:sp>
        <p:nvSpPr>
          <p:cNvPr id="213" name="Google Shape;213;p5"/>
          <p:cNvSpPr/>
          <p:nvPr/>
        </p:nvSpPr>
        <p:spPr>
          <a:xfrm>
            <a:off x="658368" y="4910327"/>
            <a:ext cx="9006840" cy="470916"/>
          </a:xfrm>
          <a:prstGeom prst="roundRect">
            <a:avLst>
              <a:gd name="adj" fmla="val 4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14" name="Google Shape;214;p5"/>
          <p:cNvSpPr txBox="1"/>
          <p:nvPr/>
        </p:nvSpPr>
        <p:spPr>
          <a:xfrm>
            <a:off x="859536" y="5010912"/>
            <a:ext cx="2377440" cy="310896"/>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350" b="1" i="0">
                <a:solidFill>
                  <a:srgbClr val="111A27"/>
                </a:solidFill>
                <a:latin typeface="Helvetica Neue"/>
                <a:ea typeface="Helvetica Neue"/>
                <a:cs typeface="Helvetica Neue"/>
                <a:sym typeface="Helvetica Neue"/>
              </a:rPr>
              <a:t>Ledger core</a:t>
            </a:r>
            <a:endParaRPr/>
          </a:p>
        </p:txBody>
      </p:sp>
      <p:sp>
        <p:nvSpPr>
          <p:cNvPr id="215" name="Google Shape;215;p5"/>
          <p:cNvSpPr txBox="1"/>
          <p:nvPr/>
        </p:nvSpPr>
        <p:spPr>
          <a:xfrm>
            <a:off x="3401568" y="5029199"/>
            <a:ext cx="6035040" cy="310896"/>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50" b="0" i="0">
                <a:solidFill>
                  <a:srgbClr val="333E4F"/>
                </a:solidFill>
                <a:latin typeface="Helvetica Neue"/>
                <a:ea typeface="Helvetica Neue"/>
                <a:cs typeface="Helvetica Neue"/>
                <a:sym typeface="Helvetica Neue"/>
              </a:rPr>
              <a:t>append-only · bitemporal · double-entry · fully traceable</a:t>
            </a:r>
            <a:endParaRPr/>
          </a:p>
        </p:txBody>
      </p:sp>
      <p:sp>
        <p:nvSpPr>
          <p:cNvPr id="216" name="Google Shape;216;p5"/>
          <p:cNvSpPr txBox="1"/>
          <p:nvPr/>
        </p:nvSpPr>
        <p:spPr>
          <a:xfrm>
            <a:off x="9354312" y="5020055"/>
            <a:ext cx="274320" cy="27432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200" b="1" i="0">
                <a:solidFill>
                  <a:srgbClr val="B45309"/>
                </a:solidFill>
                <a:latin typeface="Helvetica Neue"/>
                <a:ea typeface="Helvetica Neue"/>
                <a:cs typeface="Helvetica Neue"/>
                <a:sym typeface="Helvetica Neue"/>
              </a:rPr>
              <a:t>◆</a:t>
            </a:r>
            <a:endParaRPr/>
          </a:p>
        </p:txBody>
      </p:sp>
      <p:sp>
        <p:nvSpPr>
          <p:cNvPr id="217" name="Google Shape;217;p5"/>
          <p:cNvSpPr/>
          <p:nvPr/>
        </p:nvSpPr>
        <p:spPr>
          <a:xfrm>
            <a:off x="658368" y="5449823"/>
            <a:ext cx="9006840" cy="470916"/>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18" name="Google Shape;218;p5"/>
          <p:cNvSpPr txBox="1"/>
          <p:nvPr/>
        </p:nvSpPr>
        <p:spPr>
          <a:xfrm>
            <a:off x="859536" y="5550407"/>
            <a:ext cx="2377440" cy="310896"/>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350" b="1" i="0">
                <a:solidFill>
                  <a:srgbClr val="111A27"/>
                </a:solidFill>
                <a:latin typeface="Helvetica Neue"/>
                <a:ea typeface="Helvetica Neue"/>
                <a:cs typeface="Helvetica Neue"/>
                <a:sym typeface="Helvetica Neue"/>
              </a:rPr>
              <a:t>Data ingestion</a:t>
            </a:r>
            <a:endParaRPr/>
          </a:p>
        </p:txBody>
      </p:sp>
      <p:sp>
        <p:nvSpPr>
          <p:cNvPr id="219" name="Google Shape;219;p5"/>
          <p:cNvSpPr txBox="1"/>
          <p:nvPr/>
        </p:nvSpPr>
        <p:spPr>
          <a:xfrm>
            <a:off x="3401568" y="5568695"/>
            <a:ext cx="6035040" cy="310896"/>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50" b="0" i="0">
                <a:solidFill>
                  <a:srgbClr val="333E4F"/>
                </a:solidFill>
                <a:latin typeface="Helvetica Neue"/>
                <a:ea typeface="Helvetica Neue"/>
                <a:cs typeface="Helvetica Neue"/>
                <a:sym typeface="Helvetica Neue"/>
              </a:rPr>
              <a:t>banks · cards · payroll · POS · AP inbox · documents · prior-year books</a:t>
            </a:r>
            <a:endParaRPr/>
          </a:p>
        </p:txBody>
      </p:sp>
      <p:sp>
        <p:nvSpPr>
          <p:cNvPr id="220" name="Google Shape;220;p5"/>
          <p:cNvSpPr/>
          <p:nvPr/>
        </p:nvSpPr>
        <p:spPr>
          <a:xfrm>
            <a:off x="9848088" y="2212848"/>
            <a:ext cx="1673352" cy="3707891"/>
          </a:xfrm>
          <a:prstGeom prst="roundRect">
            <a:avLst>
              <a:gd name="adj" fmla="val 4000"/>
            </a:avLst>
          </a:prstGeom>
          <a:solidFill>
            <a:srgbClr val="E8EEF2"/>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21" name="Google Shape;221;p5"/>
          <p:cNvSpPr txBox="1"/>
          <p:nvPr/>
        </p:nvSpPr>
        <p:spPr>
          <a:xfrm>
            <a:off x="9994392" y="2340864"/>
            <a:ext cx="1380744" cy="27432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050" b="1" i="0">
                <a:solidFill>
                  <a:srgbClr val="6B7688"/>
                </a:solidFill>
                <a:latin typeface="Helvetica Neue"/>
                <a:ea typeface="Helvetica Neue"/>
                <a:cs typeface="Helvetica Neue"/>
                <a:sym typeface="Helvetica Neue"/>
              </a:rPr>
              <a:t>CROSS-CUTTING</a:t>
            </a:r>
            <a:endParaRPr/>
          </a:p>
        </p:txBody>
      </p:sp>
      <p:sp>
        <p:nvSpPr>
          <p:cNvPr id="222" name="Google Shape;222;p5"/>
          <p:cNvSpPr txBox="1"/>
          <p:nvPr/>
        </p:nvSpPr>
        <p:spPr>
          <a:xfrm>
            <a:off x="9994392" y="2761488"/>
            <a:ext cx="1380744" cy="507768"/>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100" b="0" i="0">
                <a:solidFill>
                  <a:srgbClr val="333E4F"/>
                </a:solidFill>
                <a:latin typeface="Helvetica Neue"/>
                <a:ea typeface="Helvetica Neue"/>
                <a:cs typeface="Helvetica Neue"/>
                <a:sym typeface="Helvetica Neue"/>
              </a:rPr>
              <a:t>Audit</a:t>
            </a:r>
            <a:r>
              <a:rPr lang="en-US" sz="1100">
                <a:solidFill>
                  <a:srgbClr val="333E4F"/>
                </a:solidFill>
                <a:latin typeface="Helvetica Neue"/>
                <a:ea typeface="Helvetica Neue"/>
                <a:cs typeface="Helvetica Neue"/>
                <a:sym typeface="Helvetica Neue"/>
              </a:rPr>
              <a:t> </a:t>
            </a:r>
            <a:r>
              <a:rPr lang="en-US" sz="1100" b="0" i="0">
                <a:solidFill>
                  <a:srgbClr val="333E4F"/>
                </a:solidFill>
                <a:latin typeface="Helvetica Neue"/>
                <a:ea typeface="Helvetica Neue"/>
                <a:cs typeface="Helvetica Neue"/>
                <a:sym typeface="Helvetica Neue"/>
              </a:rPr>
              <a:t>trail</a:t>
            </a:r>
            <a:endParaRPr/>
          </a:p>
          <a:p>
            <a:pPr marL="0" marR="0" lvl="0" indent="0" algn="l" rtl="0">
              <a:lnSpc>
                <a:spcPct val="135000"/>
              </a:lnSpc>
              <a:spcBef>
                <a:spcPts val="600"/>
              </a:spcBef>
              <a:spcAft>
                <a:spcPts val="0"/>
              </a:spcAft>
              <a:buNone/>
            </a:pPr>
            <a:r>
              <a:rPr lang="en-US" sz="1100">
                <a:solidFill>
                  <a:srgbClr val="333E4F"/>
                </a:solidFill>
                <a:latin typeface="Helvetica Neue"/>
                <a:ea typeface="Helvetica Neue"/>
                <a:cs typeface="Helvetica Neue"/>
                <a:sym typeface="Helvetica Neue"/>
              </a:rPr>
              <a:t>Logging</a:t>
            </a:r>
            <a:endParaRPr sz="1100" b="0" i="0">
              <a:solidFill>
                <a:srgbClr val="333E4F"/>
              </a:solidFill>
              <a:latin typeface="Helvetica Neue"/>
              <a:ea typeface="Helvetica Neue"/>
              <a:cs typeface="Helvetica Neue"/>
              <a:sym typeface="Helvetica Neue"/>
            </a:endParaRPr>
          </a:p>
        </p:txBody>
      </p:sp>
      <p:sp>
        <p:nvSpPr>
          <p:cNvPr id="223" name="Google Shape;223;p5"/>
          <p:cNvSpPr txBox="1"/>
          <p:nvPr/>
        </p:nvSpPr>
        <p:spPr>
          <a:xfrm>
            <a:off x="9994392" y="3401568"/>
            <a:ext cx="1380744" cy="509948"/>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100" b="0" i="0">
                <a:solidFill>
                  <a:srgbClr val="333E4F"/>
                </a:solidFill>
                <a:latin typeface="Helvetica Neue"/>
                <a:ea typeface="Helvetica Neue"/>
                <a:cs typeface="Helvetica Neue"/>
                <a:sym typeface="Helvetica Neue"/>
              </a:rPr>
              <a:t>Evals</a:t>
            </a:r>
            <a:br>
              <a:rPr lang="en-US" sz="1100" b="0" i="0">
                <a:solidFill>
                  <a:srgbClr val="333E4F"/>
                </a:solidFill>
                <a:latin typeface="Helvetica Neue"/>
                <a:ea typeface="Helvetica Neue"/>
                <a:cs typeface="Helvetica Neue"/>
                <a:sym typeface="Helvetica Neue"/>
              </a:rPr>
            </a:br>
            <a:r>
              <a:rPr lang="en-US" sz="1100" b="0" i="0">
                <a:solidFill>
                  <a:srgbClr val="333E4F"/>
                </a:solidFill>
                <a:latin typeface="Helvetica Neue"/>
                <a:ea typeface="Helvetica Neue"/>
                <a:cs typeface="Helvetica Neue"/>
                <a:sym typeface="Helvetica Neue"/>
              </a:rPr>
              <a:t>Replay</a:t>
            </a:r>
            <a:endParaRPr/>
          </a:p>
        </p:txBody>
      </p:sp>
      <p:sp>
        <p:nvSpPr>
          <p:cNvPr id="224" name="Google Shape;224;p5"/>
          <p:cNvSpPr txBox="1"/>
          <p:nvPr/>
        </p:nvSpPr>
        <p:spPr>
          <a:xfrm>
            <a:off x="9994392" y="4041648"/>
            <a:ext cx="1380600" cy="47490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100" b="0" i="0">
                <a:solidFill>
                  <a:srgbClr val="333E4F"/>
                </a:solidFill>
                <a:latin typeface="Helvetica Neue"/>
                <a:ea typeface="Helvetica Neue"/>
                <a:cs typeface="Helvetica Neue"/>
                <a:sym typeface="Helvetica Neue"/>
              </a:rPr>
              <a:t>Cost</a:t>
            </a:r>
            <a:r>
              <a:rPr lang="en-US" sz="1100">
                <a:solidFill>
                  <a:srgbClr val="333E4F"/>
                </a:solidFill>
                <a:latin typeface="Helvetica Neue"/>
                <a:ea typeface="Helvetica Neue"/>
                <a:cs typeface="Helvetica Neue"/>
                <a:sym typeface="Helvetica Neue"/>
              </a:rPr>
              <a:t> monitoring</a:t>
            </a:r>
            <a:endParaRPr/>
          </a:p>
          <a:p>
            <a:pPr marL="0" marR="0" lvl="0" indent="0" algn="l" rtl="0">
              <a:lnSpc>
                <a:spcPct val="135000"/>
              </a:lnSpc>
              <a:spcBef>
                <a:spcPts val="600"/>
              </a:spcBef>
              <a:spcAft>
                <a:spcPts val="0"/>
              </a:spcAft>
              <a:buNone/>
            </a:pPr>
            <a:r>
              <a:rPr lang="en-US" sz="1100">
                <a:solidFill>
                  <a:srgbClr val="333E4F"/>
                </a:solidFill>
                <a:latin typeface="Helvetica Neue"/>
                <a:ea typeface="Helvetica Neue"/>
                <a:cs typeface="Helvetica Neue"/>
                <a:sym typeface="Helvetica Neue"/>
              </a:rPr>
              <a:t>Security</a:t>
            </a:r>
            <a:endParaRPr sz="1100" b="0" i="0">
              <a:solidFill>
                <a:srgbClr val="333E4F"/>
              </a:solidFill>
              <a:latin typeface="Helvetica Neue"/>
              <a:ea typeface="Helvetica Neue"/>
              <a:cs typeface="Helvetica Neue"/>
              <a:sym typeface="Helvetica Neue"/>
            </a:endParaRPr>
          </a:p>
        </p:txBody>
      </p:sp>
      <p:sp>
        <p:nvSpPr>
          <p:cNvPr id="225" name="Google Shape;225;p5"/>
          <p:cNvSpPr txBox="1"/>
          <p:nvPr/>
        </p:nvSpPr>
        <p:spPr>
          <a:xfrm>
            <a:off x="9994392" y="4681728"/>
            <a:ext cx="1380744" cy="509948"/>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100" b="0" i="0">
                <a:solidFill>
                  <a:srgbClr val="333E4F"/>
                </a:solidFill>
                <a:latin typeface="Helvetica Neue"/>
                <a:ea typeface="Helvetica Neue"/>
                <a:cs typeface="Helvetica Neue"/>
                <a:sym typeface="Helvetica Neue"/>
              </a:rPr>
              <a:t>Agent identity with</a:t>
            </a:r>
            <a:br>
              <a:rPr lang="en-US" sz="1100" b="0" i="0">
                <a:solidFill>
                  <a:srgbClr val="333E4F"/>
                </a:solidFill>
                <a:latin typeface="Helvetica Neue"/>
                <a:ea typeface="Helvetica Neue"/>
                <a:cs typeface="Helvetica Neue"/>
                <a:sym typeface="Helvetica Neue"/>
              </a:rPr>
            </a:br>
            <a:r>
              <a:rPr lang="en-US" sz="1100" b="0" i="0">
                <a:solidFill>
                  <a:srgbClr val="333E4F"/>
                </a:solidFill>
                <a:latin typeface="Helvetica Neue"/>
                <a:ea typeface="Helvetica Neue"/>
                <a:cs typeface="Helvetica Neue"/>
                <a:sym typeface="Helvetica Neue"/>
              </a:rPr>
              <a:t>least privilege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6"/>
          <p:cNvSpPr txBox="1"/>
          <p:nvPr/>
        </p:nvSpPr>
        <p:spPr>
          <a:xfrm>
            <a:off x="658368" y="420624"/>
            <a:ext cx="10874959" cy="256032"/>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0E7490"/>
                </a:solidFill>
                <a:latin typeface="Helvetica Neue"/>
                <a:ea typeface="Helvetica Neue"/>
                <a:cs typeface="Helvetica Neue"/>
                <a:sym typeface="Helvetica Neue"/>
              </a:rPr>
              <a:t>SYSTEM DIAGRAM</a:t>
            </a:r>
            <a:endParaRPr/>
          </a:p>
        </p:txBody>
      </p:sp>
      <p:sp>
        <p:nvSpPr>
          <p:cNvPr id="231" name="Google Shape;231;p6"/>
          <p:cNvSpPr txBox="1"/>
          <p:nvPr/>
        </p:nvSpPr>
        <p:spPr>
          <a:xfrm>
            <a:off x="658368" y="749808"/>
            <a:ext cx="10874959"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a:solidFill>
                  <a:srgbClr val="111A27"/>
                </a:solidFill>
                <a:latin typeface="Helvetica Neue"/>
                <a:ea typeface="Helvetica Neue"/>
                <a:cs typeface="Helvetica Neue"/>
                <a:sym typeface="Helvetica Neue"/>
              </a:rPr>
              <a:t>How one transaction moves through the system</a:t>
            </a:r>
            <a:endParaRPr/>
          </a:p>
        </p:txBody>
      </p:sp>
      <p:sp>
        <p:nvSpPr>
          <p:cNvPr id="232" name="Google Shape;232;p6"/>
          <p:cNvSpPr txBox="1"/>
          <p:nvPr/>
        </p:nvSpPr>
        <p:spPr>
          <a:xfrm>
            <a:off x="658368" y="1316736"/>
            <a:ext cx="10424160" cy="36576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350" b="0">
                <a:solidFill>
                  <a:srgbClr val="333E4F"/>
                </a:solidFill>
                <a:latin typeface="Helvetica Neue"/>
                <a:ea typeface="Helvetica Neue"/>
                <a:cs typeface="Helvetica Neue"/>
                <a:sym typeface="Helvetica Neue"/>
              </a:rPr>
              <a:t>The same layers, seen as a path: what happens to a single bank line or invoice from arrival to posting, and how a reviewer's correction gets back in.</a:t>
            </a:r>
            <a:endParaRPr/>
          </a:p>
        </p:txBody>
      </p:sp>
      <p:sp>
        <p:nvSpPr>
          <p:cNvPr id="233" name="Google Shape;233;p6"/>
          <p:cNvSpPr/>
          <p:nvPr/>
        </p:nvSpPr>
        <p:spPr>
          <a:xfrm>
            <a:off x="658368" y="2148840"/>
            <a:ext cx="1517904" cy="914400"/>
          </a:xfrm>
          <a:prstGeom prst="roundRect">
            <a:avLst>
              <a:gd name="adj" fmla="val 6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34" name="Google Shape;234;p6"/>
          <p:cNvSpPr txBox="1"/>
          <p:nvPr/>
        </p:nvSpPr>
        <p:spPr>
          <a:xfrm>
            <a:off x="777240" y="2249424"/>
            <a:ext cx="1280160" cy="237744"/>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111A27"/>
                </a:solidFill>
                <a:latin typeface="Helvetica Neue"/>
                <a:ea typeface="Helvetica Neue"/>
                <a:cs typeface="Helvetica Neue"/>
                <a:sym typeface="Helvetica Neue"/>
              </a:rPr>
              <a:t>Sources</a:t>
            </a:r>
            <a:endParaRPr/>
          </a:p>
        </p:txBody>
      </p:sp>
      <p:sp>
        <p:nvSpPr>
          <p:cNvPr id="235" name="Google Shape;235;p6"/>
          <p:cNvSpPr txBox="1"/>
          <p:nvPr/>
        </p:nvSpPr>
        <p:spPr>
          <a:xfrm>
            <a:off x="777240" y="2514600"/>
            <a:ext cx="1280160" cy="457200"/>
          </a:xfrm>
          <a:prstGeom prst="rect">
            <a:avLst/>
          </a:prstGeom>
          <a:noFill/>
          <a:ln>
            <a:noFill/>
          </a:ln>
        </p:spPr>
        <p:txBody>
          <a:bodyPr spcFirstLastPara="1" wrap="square" lIns="0" tIns="0" rIns="0" bIns="0" anchor="t" anchorCtr="0">
            <a:spAutoFit/>
          </a:bodyPr>
          <a:lstStyle/>
          <a:p>
            <a:pPr marL="0" marR="0" lvl="0" indent="0" algn="l" rtl="0">
              <a:lnSpc>
                <a:spcPct val="128000"/>
              </a:lnSpc>
              <a:spcBef>
                <a:spcPts val="0"/>
              </a:spcBef>
              <a:spcAft>
                <a:spcPts val="0"/>
              </a:spcAft>
              <a:buNone/>
            </a:pPr>
            <a:r>
              <a:rPr lang="en-US" sz="850" b="0">
                <a:solidFill>
                  <a:srgbClr val="333E4F"/>
                </a:solidFill>
                <a:latin typeface="Helvetica Neue"/>
                <a:ea typeface="Helvetica Neue"/>
                <a:cs typeface="Helvetica Neue"/>
                <a:sym typeface="Helvetica Neue"/>
              </a:rPr>
              <a:t>bank · card · payroll · POS · AP inbox · documents</a:t>
            </a:r>
            <a:endParaRPr/>
          </a:p>
        </p:txBody>
      </p:sp>
      <p:sp>
        <p:nvSpPr>
          <p:cNvPr id="236" name="Google Shape;236;p6"/>
          <p:cNvSpPr/>
          <p:nvPr/>
        </p:nvSpPr>
        <p:spPr>
          <a:xfrm>
            <a:off x="2523744" y="2148840"/>
            <a:ext cx="1517904" cy="914400"/>
          </a:xfrm>
          <a:prstGeom prst="roundRect">
            <a:avLst>
              <a:gd name="adj" fmla="val 6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37" name="Google Shape;237;p6"/>
          <p:cNvSpPr txBox="1"/>
          <p:nvPr/>
        </p:nvSpPr>
        <p:spPr>
          <a:xfrm>
            <a:off x="2642615" y="2249424"/>
            <a:ext cx="1280160" cy="237744"/>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111A27"/>
                </a:solidFill>
                <a:latin typeface="Helvetica Neue"/>
                <a:ea typeface="Helvetica Neue"/>
                <a:cs typeface="Helvetica Neue"/>
                <a:sym typeface="Helvetica Neue"/>
              </a:rPr>
              <a:t>Ingest</a:t>
            </a:r>
            <a:endParaRPr/>
          </a:p>
        </p:txBody>
      </p:sp>
      <p:sp>
        <p:nvSpPr>
          <p:cNvPr id="238" name="Google Shape;238;p6"/>
          <p:cNvSpPr txBox="1"/>
          <p:nvPr/>
        </p:nvSpPr>
        <p:spPr>
          <a:xfrm>
            <a:off x="2642615" y="2514600"/>
            <a:ext cx="1280160" cy="457200"/>
          </a:xfrm>
          <a:prstGeom prst="rect">
            <a:avLst/>
          </a:prstGeom>
          <a:noFill/>
          <a:ln>
            <a:noFill/>
          </a:ln>
        </p:spPr>
        <p:txBody>
          <a:bodyPr spcFirstLastPara="1" wrap="square" lIns="0" tIns="0" rIns="0" bIns="0" anchor="t" anchorCtr="0">
            <a:spAutoFit/>
          </a:bodyPr>
          <a:lstStyle/>
          <a:p>
            <a:pPr marL="0" marR="0" lvl="0" indent="0" algn="l" rtl="0">
              <a:lnSpc>
                <a:spcPct val="128000"/>
              </a:lnSpc>
              <a:spcBef>
                <a:spcPts val="0"/>
              </a:spcBef>
              <a:spcAft>
                <a:spcPts val="0"/>
              </a:spcAft>
              <a:buNone/>
            </a:pPr>
            <a:r>
              <a:rPr lang="en-US" sz="850" b="0">
                <a:solidFill>
                  <a:srgbClr val="333E4F"/>
                </a:solidFill>
                <a:latin typeface="Helvetica Neue"/>
                <a:ea typeface="Helvetica Neue"/>
                <a:cs typeface="Helvetica Neue"/>
                <a:sym typeface="Helvetica Neue"/>
              </a:rPr>
              <a:t>dedupe · entity resolution</a:t>
            </a:r>
            <a:endParaRPr/>
          </a:p>
        </p:txBody>
      </p:sp>
      <p:sp>
        <p:nvSpPr>
          <p:cNvPr id="239" name="Google Shape;239;p6"/>
          <p:cNvSpPr/>
          <p:nvPr/>
        </p:nvSpPr>
        <p:spPr>
          <a:xfrm>
            <a:off x="4389120" y="2148840"/>
            <a:ext cx="1517904" cy="914400"/>
          </a:xfrm>
          <a:prstGeom prst="roundRect">
            <a:avLst>
              <a:gd name="adj" fmla="val 6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40" name="Google Shape;240;p6"/>
          <p:cNvSpPr txBox="1"/>
          <p:nvPr/>
        </p:nvSpPr>
        <p:spPr>
          <a:xfrm>
            <a:off x="4507992" y="2249424"/>
            <a:ext cx="1280160" cy="237744"/>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111A27"/>
                </a:solidFill>
                <a:latin typeface="Helvetica Neue"/>
                <a:ea typeface="Helvetica Neue"/>
                <a:cs typeface="Helvetica Neue"/>
                <a:sym typeface="Helvetica Neue"/>
              </a:rPr>
              <a:t>Agent layer</a:t>
            </a:r>
            <a:endParaRPr/>
          </a:p>
        </p:txBody>
      </p:sp>
      <p:sp>
        <p:nvSpPr>
          <p:cNvPr id="241" name="Google Shape;241;p6"/>
          <p:cNvSpPr txBox="1"/>
          <p:nvPr/>
        </p:nvSpPr>
        <p:spPr>
          <a:xfrm>
            <a:off x="4507992" y="2514600"/>
            <a:ext cx="1280160" cy="457200"/>
          </a:xfrm>
          <a:prstGeom prst="rect">
            <a:avLst/>
          </a:prstGeom>
          <a:noFill/>
          <a:ln>
            <a:noFill/>
          </a:ln>
        </p:spPr>
        <p:txBody>
          <a:bodyPr spcFirstLastPara="1" wrap="square" lIns="0" tIns="0" rIns="0" bIns="0" anchor="t" anchorCtr="0">
            <a:spAutoFit/>
          </a:bodyPr>
          <a:lstStyle/>
          <a:p>
            <a:pPr marL="0" marR="0" lvl="0" indent="0" algn="l" rtl="0">
              <a:lnSpc>
                <a:spcPct val="128000"/>
              </a:lnSpc>
              <a:spcBef>
                <a:spcPts val="0"/>
              </a:spcBef>
              <a:spcAft>
                <a:spcPts val="0"/>
              </a:spcAft>
              <a:buNone/>
            </a:pPr>
            <a:r>
              <a:rPr lang="en-US" sz="850" b="0">
                <a:solidFill>
                  <a:srgbClr val="333E4F"/>
                </a:solidFill>
                <a:latin typeface="Helvetica Neue"/>
                <a:ea typeface="Helvetica Neue"/>
                <a:cs typeface="Helvetica Neue"/>
                <a:sym typeface="Helvetica Neue"/>
              </a:rPr>
              <a:t>extract · classify · match</a:t>
            </a:r>
            <a:endParaRPr/>
          </a:p>
        </p:txBody>
      </p:sp>
      <p:sp>
        <p:nvSpPr>
          <p:cNvPr id="242" name="Google Shape;242;p6"/>
          <p:cNvSpPr/>
          <p:nvPr/>
        </p:nvSpPr>
        <p:spPr>
          <a:xfrm>
            <a:off x="6254496" y="2148840"/>
            <a:ext cx="1517904" cy="914400"/>
          </a:xfrm>
          <a:prstGeom prst="roundRect">
            <a:avLst>
              <a:gd name="adj" fmla="val 6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43" name="Google Shape;243;p6"/>
          <p:cNvSpPr txBox="1"/>
          <p:nvPr/>
        </p:nvSpPr>
        <p:spPr>
          <a:xfrm>
            <a:off x="6373368" y="2249424"/>
            <a:ext cx="1280160" cy="237744"/>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111A27"/>
                </a:solidFill>
                <a:latin typeface="Helvetica Neue"/>
                <a:ea typeface="Helvetica Neue"/>
                <a:cs typeface="Helvetica Neue"/>
                <a:sym typeface="Helvetica Neue"/>
              </a:rPr>
              <a:t>Tool layer</a:t>
            </a:r>
            <a:endParaRPr/>
          </a:p>
        </p:txBody>
      </p:sp>
      <p:sp>
        <p:nvSpPr>
          <p:cNvPr id="244" name="Google Shape;244;p6"/>
          <p:cNvSpPr txBox="1"/>
          <p:nvPr/>
        </p:nvSpPr>
        <p:spPr>
          <a:xfrm>
            <a:off x="6373368" y="2514600"/>
            <a:ext cx="1280160" cy="457200"/>
          </a:xfrm>
          <a:prstGeom prst="rect">
            <a:avLst/>
          </a:prstGeom>
          <a:noFill/>
          <a:ln>
            <a:noFill/>
          </a:ln>
        </p:spPr>
        <p:txBody>
          <a:bodyPr spcFirstLastPara="1" wrap="square" lIns="0" tIns="0" rIns="0" bIns="0" anchor="t" anchorCtr="0">
            <a:spAutoFit/>
          </a:bodyPr>
          <a:lstStyle/>
          <a:p>
            <a:pPr marL="0" marR="0" lvl="0" indent="0" algn="l" rtl="0">
              <a:lnSpc>
                <a:spcPct val="128000"/>
              </a:lnSpc>
              <a:spcBef>
                <a:spcPts val="0"/>
              </a:spcBef>
              <a:spcAft>
                <a:spcPts val="0"/>
              </a:spcAft>
              <a:buNone/>
            </a:pPr>
            <a:r>
              <a:rPr lang="en-US" sz="850" b="0">
                <a:solidFill>
                  <a:srgbClr val="333E4F"/>
                </a:solidFill>
                <a:latin typeface="Helvetica Neue"/>
                <a:ea typeface="Helvetica Neue"/>
                <a:cs typeface="Helvetica Neue"/>
                <a:sym typeface="Helvetica Neue"/>
              </a:rPr>
              <a:t>typed call, invariants enforced</a:t>
            </a:r>
            <a:endParaRPr/>
          </a:p>
        </p:txBody>
      </p:sp>
      <p:sp>
        <p:nvSpPr>
          <p:cNvPr id="245" name="Google Shape;245;p6"/>
          <p:cNvSpPr/>
          <p:nvPr/>
        </p:nvSpPr>
        <p:spPr>
          <a:xfrm>
            <a:off x="8119872" y="2148840"/>
            <a:ext cx="1517904" cy="914400"/>
          </a:xfrm>
          <a:prstGeom prst="roundRect">
            <a:avLst>
              <a:gd name="adj" fmla="val 6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46" name="Google Shape;246;p6"/>
          <p:cNvSpPr txBox="1"/>
          <p:nvPr/>
        </p:nvSpPr>
        <p:spPr>
          <a:xfrm>
            <a:off x="8238744" y="2249424"/>
            <a:ext cx="1280160" cy="237744"/>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111A27"/>
                </a:solidFill>
                <a:latin typeface="Helvetica Neue"/>
                <a:ea typeface="Helvetica Neue"/>
                <a:cs typeface="Helvetica Neue"/>
                <a:sym typeface="Helvetica Neue"/>
              </a:rPr>
              <a:t>Verification</a:t>
            </a:r>
            <a:endParaRPr/>
          </a:p>
        </p:txBody>
      </p:sp>
      <p:sp>
        <p:nvSpPr>
          <p:cNvPr id="247" name="Google Shape;247;p6"/>
          <p:cNvSpPr txBox="1"/>
          <p:nvPr/>
        </p:nvSpPr>
        <p:spPr>
          <a:xfrm>
            <a:off x="8238744" y="2514600"/>
            <a:ext cx="1280160" cy="457200"/>
          </a:xfrm>
          <a:prstGeom prst="rect">
            <a:avLst/>
          </a:prstGeom>
          <a:noFill/>
          <a:ln>
            <a:noFill/>
          </a:ln>
        </p:spPr>
        <p:txBody>
          <a:bodyPr spcFirstLastPara="1" wrap="square" lIns="0" tIns="0" rIns="0" bIns="0" anchor="t" anchorCtr="0">
            <a:spAutoFit/>
          </a:bodyPr>
          <a:lstStyle/>
          <a:p>
            <a:pPr marL="0" marR="0" lvl="0" indent="0" algn="l" rtl="0">
              <a:lnSpc>
                <a:spcPct val="128000"/>
              </a:lnSpc>
              <a:spcBef>
                <a:spcPts val="0"/>
              </a:spcBef>
              <a:spcAft>
                <a:spcPts val="0"/>
              </a:spcAft>
              <a:buNone/>
            </a:pPr>
            <a:r>
              <a:rPr lang="en-US" sz="850" b="0">
                <a:solidFill>
                  <a:srgbClr val="333E4F"/>
                </a:solidFill>
                <a:latin typeface="Helvetica Neue"/>
                <a:ea typeface="Helvetica Neue"/>
                <a:cs typeface="Helvetica Neue"/>
                <a:sym typeface="Helvetica Neue"/>
              </a:rPr>
              <a:t>tier 1 + tier 2, confidence</a:t>
            </a:r>
            <a:endParaRPr/>
          </a:p>
        </p:txBody>
      </p:sp>
      <p:sp>
        <p:nvSpPr>
          <p:cNvPr id="248" name="Google Shape;248;p6"/>
          <p:cNvSpPr/>
          <p:nvPr/>
        </p:nvSpPr>
        <p:spPr>
          <a:xfrm>
            <a:off x="9985248" y="2148840"/>
            <a:ext cx="1517904" cy="914400"/>
          </a:xfrm>
          <a:prstGeom prst="roundRect">
            <a:avLst>
              <a:gd name="adj" fmla="val 6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49" name="Google Shape;249;p6"/>
          <p:cNvSpPr txBox="1"/>
          <p:nvPr/>
        </p:nvSpPr>
        <p:spPr>
          <a:xfrm>
            <a:off x="10104120" y="2249424"/>
            <a:ext cx="1280160" cy="237744"/>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111A27"/>
                </a:solidFill>
                <a:latin typeface="Helvetica Neue"/>
                <a:ea typeface="Helvetica Neue"/>
                <a:cs typeface="Helvetica Neue"/>
                <a:sym typeface="Helvetica Neue"/>
              </a:rPr>
              <a:t>Ledger core</a:t>
            </a:r>
            <a:endParaRPr/>
          </a:p>
        </p:txBody>
      </p:sp>
      <p:sp>
        <p:nvSpPr>
          <p:cNvPr id="250" name="Google Shape;250;p6"/>
          <p:cNvSpPr txBox="1"/>
          <p:nvPr/>
        </p:nvSpPr>
        <p:spPr>
          <a:xfrm>
            <a:off x="10104120" y="2514600"/>
            <a:ext cx="1280160" cy="457200"/>
          </a:xfrm>
          <a:prstGeom prst="rect">
            <a:avLst/>
          </a:prstGeom>
          <a:noFill/>
          <a:ln>
            <a:noFill/>
          </a:ln>
        </p:spPr>
        <p:txBody>
          <a:bodyPr spcFirstLastPara="1" wrap="square" lIns="0" tIns="0" rIns="0" bIns="0" anchor="t" anchorCtr="0">
            <a:spAutoFit/>
          </a:bodyPr>
          <a:lstStyle/>
          <a:p>
            <a:pPr marL="0" marR="0" lvl="0" indent="0" algn="l" rtl="0">
              <a:lnSpc>
                <a:spcPct val="128000"/>
              </a:lnSpc>
              <a:spcBef>
                <a:spcPts val="0"/>
              </a:spcBef>
              <a:spcAft>
                <a:spcPts val="0"/>
              </a:spcAft>
              <a:buNone/>
            </a:pPr>
            <a:r>
              <a:rPr lang="en-US" sz="850" b="0">
                <a:solidFill>
                  <a:srgbClr val="333E4F"/>
                </a:solidFill>
                <a:latin typeface="Helvetica Neue"/>
                <a:ea typeface="Helvetica Neue"/>
                <a:cs typeface="Helvetica Neue"/>
                <a:sym typeface="Helvetica Neue"/>
              </a:rPr>
              <a:t>append-only, bitemporal</a:t>
            </a:r>
            <a:endParaRPr/>
          </a:p>
        </p:txBody>
      </p:sp>
      <p:sp>
        <p:nvSpPr>
          <p:cNvPr id="251" name="Google Shape;251;p6"/>
          <p:cNvSpPr/>
          <p:nvPr/>
        </p:nvSpPr>
        <p:spPr>
          <a:xfrm>
            <a:off x="2212848" y="2505456"/>
            <a:ext cx="274320" cy="201168"/>
          </a:xfrm>
          <a:prstGeom prst="rightArrow">
            <a:avLst>
              <a:gd name="adj1" fmla="val 50000"/>
              <a:gd name="adj2" fmla="val 50000"/>
            </a:avLst>
          </a:prstGeom>
          <a:solidFill>
            <a:srgbClr val="D5DCE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52" name="Google Shape;252;p6"/>
          <p:cNvSpPr/>
          <p:nvPr/>
        </p:nvSpPr>
        <p:spPr>
          <a:xfrm>
            <a:off x="4078224" y="2505456"/>
            <a:ext cx="274320" cy="201168"/>
          </a:xfrm>
          <a:prstGeom prst="rightArrow">
            <a:avLst>
              <a:gd name="adj1" fmla="val 50000"/>
              <a:gd name="adj2" fmla="val 50000"/>
            </a:avLst>
          </a:prstGeom>
          <a:solidFill>
            <a:srgbClr val="D5DCE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53" name="Google Shape;253;p6"/>
          <p:cNvSpPr/>
          <p:nvPr/>
        </p:nvSpPr>
        <p:spPr>
          <a:xfrm>
            <a:off x="5943600" y="2505456"/>
            <a:ext cx="274320" cy="201168"/>
          </a:xfrm>
          <a:prstGeom prst="rightArrow">
            <a:avLst>
              <a:gd name="adj1" fmla="val 50000"/>
              <a:gd name="adj2" fmla="val 50000"/>
            </a:avLst>
          </a:prstGeom>
          <a:solidFill>
            <a:srgbClr val="D5DCE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54" name="Google Shape;254;p6"/>
          <p:cNvSpPr/>
          <p:nvPr/>
        </p:nvSpPr>
        <p:spPr>
          <a:xfrm>
            <a:off x="7808975" y="2505456"/>
            <a:ext cx="274320" cy="201168"/>
          </a:xfrm>
          <a:prstGeom prst="rightArrow">
            <a:avLst>
              <a:gd name="adj1" fmla="val 50000"/>
              <a:gd name="adj2" fmla="val 50000"/>
            </a:avLst>
          </a:prstGeom>
          <a:solidFill>
            <a:srgbClr val="D5DCE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55" name="Google Shape;255;p6"/>
          <p:cNvSpPr/>
          <p:nvPr/>
        </p:nvSpPr>
        <p:spPr>
          <a:xfrm>
            <a:off x="9674352" y="2505456"/>
            <a:ext cx="274320" cy="201168"/>
          </a:xfrm>
          <a:prstGeom prst="rightArrow">
            <a:avLst>
              <a:gd name="adj1" fmla="val 50000"/>
              <a:gd name="adj2" fmla="val 50000"/>
            </a:avLst>
          </a:prstGeom>
          <a:solidFill>
            <a:srgbClr val="D5DCE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56" name="Google Shape;256;p6"/>
          <p:cNvSpPr txBox="1"/>
          <p:nvPr/>
        </p:nvSpPr>
        <p:spPr>
          <a:xfrm>
            <a:off x="9400032" y="1856231"/>
            <a:ext cx="1170432" cy="237744"/>
          </a:xfrm>
          <a:prstGeom prst="rect">
            <a:avLst/>
          </a:prstGeom>
          <a:noFill/>
          <a:ln>
            <a:noFill/>
          </a:ln>
        </p:spPr>
        <p:txBody>
          <a:bodyPr spcFirstLastPara="1" wrap="square" lIns="0" tIns="0" rIns="0" bIns="0" anchor="t" anchorCtr="0">
            <a:spAutoFit/>
          </a:bodyPr>
          <a:lstStyle/>
          <a:p>
            <a:pPr marL="0" marR="0" lvl="0" indent="0" algn="ctr" rtl="0">
              <a:lnSpc>
                <a:spcPct val="130000"/>
              </a:lnSpc>
              <a:spcBef>
                <a:spcPts val="0"/>
              </a:spcBef>
              <a:spcAft>
                <a:spcPts val="0"/>
              </a:spcAft>
              <a:buNone/>
            </a:pPr>
            <a:r>
              <a:rPr lang="en-US" sz="850" b="0">
                <a:solidFill>
                  <a:srgbClr val="7A3B08"/>
                </a:solidFill>
                <a:latin typeface="Helvetica Neue"/>
                <a:ea typeface="Helvetica Neue"/>
                <a:cs typeface="Helvetica Neue"/>
                <a:sym typeface="Helvetica Neue"/>
              </a:rPr>
              <a:t>above threshold</a:t>
            </a:r>
            <a:endParaRPr/>
          </a:p>
        </p:txBody>
      </p:sp>
      <p:sp>
        <p:nvSpPr>
          <p:cNvPr id="257" name="Google Shape;257;p6"/>
          <p:cNvSpPr/>
          <p:nvPr/>
        </p:nvSpPr>
        <p:spPr>
          <a:xfrm>
            <a:off x="8778240" y="3154680"/>
            <a:ext cx="201168" cy="411480"/>
          </a:xfrm>
          <a:prstGeom prst="downArrow">
            <a:avLst>
              <a:gd name="adj1" fmla="val 50000"/>
              <a:gd name="adj2" fmla="val 50000"/>
            </a:avLst>
          </a:prstGeom>
          <a:solidFill>
            <a:srgbClr val="0E749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58" name="Google Shape;258;p6"/>
          <p:cNvSpPr txBox="1"/>
          <p:nvPr/>
        </p:nvSpPr>
        <p:spPr>
          <a:xfrm>
            <a:off x="7178040" y="3209544"/>
            <a:ext cx="1508760" cy="237744"/>
          </a:xfrm>
          <a:prstGeom prst="rect">
            <a:avLst/>
          </a:prstGeom>
          <a:noFill/>
          <a:ln>
            <a:noFill/>
          </a:ln>
        </p:spPr>
        <p:txBody>
          <a:bodyPr spcFirstLastPara="1" wrap="square" lIns="0" tIns="0" rIns="0" bIns="0" anchor="t" anchorCtr="0">
            <a:spAutoFit/>
          </a:bodyPr>
          <a:lstStyle/>
          <a:p>
            <a:pPr marL="0" marR="0" lvl="0" indent="0" algn="r" rtl="0">
              <a:lnSpc>
                <a:spcPct val="130000"/>
              </a:lnSpc>
              <a:spcBef>
                <a:spcPts val="0"/>
              </a:spcBef>
              <a:spcAft>
                <a:spcPts val="0"/>
              </a:spcAft>
              <a:buNone/>
            </a:pPr>
            <a:r>
              <a:rPr lang="en-US" sz="850" b="0">
                <a:solidFill>
                  <a:srgbClr val="0A5366"/>
                </a:solidFill>
                <a:latin typeface="Helvetica Neue"/>
                <a:ea typeface="Helvetica Neue"/>
                <a:cs typeface="Helvetica Neue"/>
                <a:sym typeface="Helvetica Neue"/>
              </a:rPr>
              <a:t>below threshold</a:t>
            </a:r>
            <a:endParaRPr/>
          </a:p>
        </p:txBody>
      </p:sp>
      <p:sp>
        <p:nvSpPr>
          <p:cNvPr id="259" name="Google Shape;259;p6"/>
          <p:cNvSpPr/>
          <p:nvPr/>
        </p:nvSpPr>
        <p:spPr>
          <a:xfrm>
            <a:off x="4389120" y="3639312"/>
            <a:ext cx="1517904" cy="868680"/>
          </a:xfrm>
          <a:prstGeom prst="roundRect">
            <a:avLst>
              <a:gd name="adj" fmla="val 6000"/>
            </a:avLst>
          </a:prstGeom>
          <a:solidFill>
            <a:srgbClr val="E4F0F4"/>
          </a:solidFill>
          <a:ln w="12700" cap="flat" cmpd="sng">
            <a:solidFill>
              <a:srgbClr val="0E749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60" name="Google Shape;260;p6"/>
          <p:cNvSpPr txBox="1"/>
          <p:nvPr/>
        </p:nvSpPr>
        <p:spPr>
          <a:xfrm>
            <a:off x="4507992" y="3739896"/>
            <a:ext cx="1280160" cy="237744"/>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0A5366"/>
                </a:solidFill>
                <a:latin typeface="Helvetica Neue"/>
                <a:ea typeface="Helvetica Neue"/>
                <a:cs typeface="Helvetica Neue"/>
                <a:sym typeface="Helvetica Neue"/>
              </a:rPr>
              <a:t>Rules + corpus</a:t>
            </a:r>
            <a:endParaRPr/>
          </a:p>
        </p:txBody>
      </p:sp>
      <p:sp>
        <p:nvSpPr>
          <p:cNvPr id="261" name="Google Shape;261;p6"/>
          <p:cNvSpPr txBox="1"/>
          <p:nvPr/>
        </p:nvSpPr>
        <p:spPr>
          <a:xfrm>
            <a:off x="4507992" y="4005072"/>
            <a:ext cx="1280160" cy="411479"/>
          </a:xfrm>
          <a:prstGeom prst="rect">
            <a:avLst/>
          </a:prstGeom>
          <a:noFill/>
          <a:ln>
            <a:noFill/>
          </a:ln>
        </p:spPr>
        <p:txBody>
          <a:bodyPr spcFirstLastPara="1" wrap="square" lIns="0" tIns="0" rIns="0" bIns="0" anchor="t" anchorCtr="0">
            <a:spAutoFit/>
          </a:bodyPr>
          <a:lstStyle/>
          <a:p>
            <a:pPr marL="0" marR="0" lvl="0" indent="0" algn="l" rtl="0">
              <a:lnSpc>
                <a:spcPct val="128000"/>
              </a:lnSpc>
              <a:spcBef>
                <a:spcPts val="0"/>
              </a:spcBef>
              <a:spcAft>
                <a:spcPts val="0"/>
              </a:spcAft>
              <a:buNone/>
            </a:pPr>
            <a:r>
              <a:rPr lang="en-US" sz="850" b="0">
                <a:solidFill>
                  <a:srgbClr val="333E4F"/>
                </a:solidFill>
                <a:latin typeface="Helvetica Neue"/>
                <a:ea typeface="Helvetica Neue"/>
                <a:cs typeface="Helvetica Neue"/>
                <a:sym typeface="Helvetica Neue"/>
              </a:rPr>
              <a:t>versioned rules, ground-truth set</a:t>
            </a:r>
            <a:endParaRPr/>
          </a:p>
        </p:txBody>
      </p:sp>
      <p:sp>
        <p:nvSpPr>
          <p:cNvPr id="262" name="Google Shape;262;p6"/>
          <p:cNvSpPr/>
          <p:nvPr/>
        </p:nvSpPr>
        <p:spPr>
          <a:xfrm>
            <a:off x="6254496" y="3639312"/>
            <a:ext cx="1517904" cy="868680"/>
          </a:xfrm>
          <a:prstGeom prst="roundRect">
            <a:avLst>
              <a:gd name="adj" fmla="val 6000"/>
            </a:avLst>
          </a:prstGeom>
          <a:solidFill>
            <a:srgbClr val="E4F0F4"/>
          </a:solidFill>
          <a:ln w="12700" cap="flat" cmpd="sng">
            <a:solidFill>
              <a:srgbClr val="0E749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63" name="Google Shape;263;p6"/>
          <p:cNvSpPr txBox="1"/>
          <p:nvPr/>
        </p:nvSpPr>
        <p:spPr>
          <a:xfrm>
            <a:off x="6373368" y="3739896"/>
            <a:ext cx="1280160" cy="237744"/>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0A5366"/>
                </a:solidFill>
                <a:latin typeface="Helvetica Neue"/>
                <a:ea typeface="Helvetica Neue"/>
                <a:cs typeface="Helvetica Neue"/>
                <a:sym typeface="Helvetica Neue"/>
              </a:rPr>
              <a:t>Structure the fix</a:t>
            </a:r>
            <a:endParaRPr/>
          </a:p>
        </p:txBody>
      </p:sp>
      <p:sp>
        <p:nvSpPr>
          <p:cNvPr id="264" name="Google Shape;264;p6"/>
          <p:cNvSpPr txBox="1"/>
          <p:nvPr/>
        </p:nvSpPr>
        <p:spPr>
          <a:xfrm>
            <a:off x="6373368" y="4005072"/>
            <a:ext cx="1280160" cy="411479"/>
          </a:xfrm>
          <a:prstGeom prst="rect">
            <a:avLst/>
          </a:prstGeom>
          <a:noFill/>
          <a:ln>
            <a:noFill/>
          </a:ln>
        </p:spPr>
        <p:txBody>
          <a:bodyPr spcFirstLastPara="1" wrap="square" lIns="0" tIns="0" rIns="0" bIns="0" anchor="t" anchorCtr="0">
            <a:spAutoFit/>
          </a:bodyPr>
          <a:lstStyle/>
          <a:p>
            <a:pPr marL="0" marR="0" lvl="0" indent="0" algn="l" rtl="0">
              <a:lnSpc>
                <a:spcPct val="128000"/>
              </a:lnSpc>
              <a:spcBef>
                <a:spcPts val="0"/>
              </a:spcBef>
              <a:spcAft>
                <a:spcPts val="0"/>
              </a:spcAft>
              <a:buNone/>
            </a:pPr>
            <a:r>
              <a:rPr lang="en-US" sz="850" b="0">
                <a:solidFill>
                  <a:srgbClr val="333E4F"/>
                </a:solidFill>
                <a:latin typeface="Helvetica Neue"/>
                <a:ea typeface="Helvetica Neue"/>
                <a:cs typeface="Helvetica Neue"/>
                <a:sym typeface="Helvetica Neue"/>
              </a:rPr>
              <a:t>explicit rule, scoped</a:t>
            </a:r>
            <a:endParaRPr/>
          </a:p>
        </p:txBody>
      </p:sp>
      <p:sp>
        <p:nvSpPr>
          <p:cNvPr id="265" name="Google Shape;265;p6"/>
          <p:cNvSpPr/>
          <p:nvPr/>
        </p:nvSpPr>
        <p:spPr>
          <a:xfrm>
            <a:off x="8119872" y="3639312"/>
            <a:ext cx="1517904" cy="868680"/>
          </a:xfrm>
          <a:prstGeom prst="roundRect">
            <a:avLst>
              <a:gd name="adj" fmla="val 6000"/>
            </a:avLst>
          </a:prstGeom>
          <a:solidFill>
            <a:srgbClr val="E4F0F4"/>
          </a:solidFill>
          <a:ln w="12700" cap="flat" cmpd="sng">
            <a:solidFill>
              <a:srgbClr val="0E749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66" name="Google Shape;266;p6"/>
          <p:cNvSpPr txBox="1"/>
          <p:nvPr/>
        </p:nvSpPr>
        <p:spPr>
          <a:xfrm>
            <a:off x="8238744" y="3739896"/>
            <a:ext cx="1280160" cy="237744"/>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0A5366"/>
                </a:solidFill>
                <a:latin typeface="Helvetica Neue"/>
                <a:ea typeface="Helvetica Neue"/>
                <a:cs typeface="Helvetica Neue"/>
                <a:sym typeface="Helvetica Neue"/>
              </a:rPr>
              <a:t>Review queue</a:t>
            </a:r>
            <a:endParaRPr/>
          </a:p>
        </p:txBody>
      </p:sp>
      <p:sp>
        <p:nvSpPr>
          <p:cNvPr id="267" name="Google Shape;267;p6"/>
          <p:cNvSpPr txBox="1"/>
          <p:nvPr/>
        </p:nvSpPr>
        <p:spPr>
          <a:xfrm>
            <a:off x="8238744" y="4005072"/>
            <a:ext cx="1280160" cy="411479"/>
          </a:xfrm>
          <a:prstGeom prst="rect">
            <a:avLst/>
          </a:prstGeom>
          <a:noFill/>
          <a:ln>
            <a:noFill/>
          </a:ln>
        </p:spPr>
        <p:txBody>
          <a:bodyPr spcFirstLastPara="1" wrap="square" lIns="0" tIns="0" rIns="0" bIns="0" anchor="t" anchorCtr="0">
            <a:spAutoFit/>
          </a:bodyPr>
          <a:lstStyle/>
          <a:p>
            <a:pPr marL="0" marR="0" lvl="0" indent="0" algn="l" rtl="0">
              <a:lnSpc>
                <a:spcPct val="128000"/>
              </a:lnSpc>
              <a:spcBef>
                <a:spcPts val="0"/>
              </a:spcBef>
              <a:spcAft>
                <a:spcPts val="0"/>
              </a:spcAft>
              <a:buNone/>
            </a:pPr>
            <a:r>
              <a:rPr lang="en-US" sz="850" b="0">
                <a:solidFill>
                  <a:srgbClr val="333E4F"/>
                </a:solidFill>
                <a:latin typeface="Helvetica Neue"/>
                <a:ea typeface="Helvetica Neue"/>
                <a:cs typeface="Helvetica Neue"/>
                <a:sym typeface="Helvetica Neue"/>
              </a:rPr>
              <a:t>human, full context</a:t>
            </a:r>
            <a:endParaRPr/>
          </a:p>
        </p:txBody>
      </p:sp>
      <p:sp>
        <p:nvSpPr>
          <p:cNvPr id="268" name="Google Shape;268;p6"/>
          <p:cNvSpPr/>
          <p:nvPr/>
        </p:nvSpPr>
        <p:spPr>
          <a:xfrm>
            <a:off x="5943600" y="3977639"/>
            <a:ext cx="274320" cy="201168"/>
          </a:xfrm>
          <a:prstGeom prst="leftArrow">
            <a:avLst>
              <a:gd name="adj1" fmla="val 50000"/>
              <a:gd name="adj2" fmla="val 50000"/>
            </a:avLst>
          </a:prstGeom>
          <a:solidFill>
            <a:srgbClr val="0E749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69" name="Google Shape;269;p6"/>
          <p:cNvSpPr/>
          <p:nvPr/>
        </p:nvSpPr>
        <p:spPr>
          <a:xfrm>
            <a:off x="7808975" y="3977639"/>
            <a:ext cx="274320" cy="201168"/>
          </a:xfrm>
          <a:prstGeom prst="leftArrow">
            <a:avLst>
              <a:gd name="adj1" fmla="val 50000"/>
              <a:gd name="adj2" fmla="val 50000"/>
            </a:avLst>
          </a:prstGeom>
          <a:solidFill>
            <a:srgbClr val="0E749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70" name="Google Shape;270;p6"/>
          <p:cNvSpPr/>
          <p:nvPr/>
        </p:nvSpPr>
        <p:spPr>
          <a:xfrm>
            <a:off x="5047488" y="3154680"/>
            <a:ext cx="201168" cy="411480"/>
          </a:xfrm>
          <a:prstGeom prst="upArrow">
            <a:avLst>
              <a:gd name="adj1" fmla="val 50000"/>
              <a:gd name="adj2" fmla="val 50000"/>
            </a:avLst>
          </a:prstGeom>
          <a:solidFill>
            <a:srgbClr val="0E749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71" name="Google Shape;271;p6"/>
          <p:cNvSpPr txBox="1"/>
          <p:nvPr/>
        </p:nvSpPr>
        <p:spPr>
          <a:xfrm>
            <a:off x="749808" y="3209544"/>
            <a:ext cx="3246120" cy="237744"/>
          </a:xfrm>
          <a:prstGeom prst="rect">
            <a:avLst/>
          </a:prstGeom>
          <a:noFill/>
          <a:ln>
            <a:noFill/>
          </a:ln>
        </p:spPr>
        <p:txBody>
          <a:bodyPr spcFirstLastPara="1" wrap="square" lIns="0" tIns="0" rIns="0" bIns="0" anchor="t" anchorCtr="0">
            <a:spAutoFit/>
          </a:bodyPr>
          <a:lstStyle/>
          <a:p>
            <a:pPr marL="0" marR="0" lvl="0" indent="0" algn="r" rtl="0">
              <a:lnSpc>
                <a:spcPct val="130000"/>
              </a:lnSpc>
              <a:spcBef>
                <a:spcPts val="0"/>
              </a:spcBef>
              <a:spcAft>
                <a:spcPts val="0"/>
              </a:spcAft>
              <a:buNone/>
            </a:pPr>
            <a:r>
              <a:rPr lang="en-US" sz="850" b="0">
                <a:solidFill>
                  <a:srgbClr val="0A5366"/>
                </a:solidFill>
                <a:latin typeface="Helvetica Neue"/>
                <a:ea typeface="Helvetica Neue"/>
                <a:cs typeface="Helvetica Neue"/>
                <a:sym typeface="Helvetica Neue"/>
              </a:rPr>
              <a:t>rules and context feed the next run</a:t>
            </a:r>
            <a:endParaRPr/>
          </a:p>
        </p:txBody>
      </p:sp>
      <p:sp>
        <p:nvSpPr>
          <p:cNvPr id="272" name="Google Shape;272;p6"/>
          <p:cNvSpPr/>
          <p:nvPr/>
        </p:nvSpPr>
        <p:spPr>
          <a:xfrm>
            <a:off x="10735056" y="3063240"/>
            <a:ext cx="18288" cy="1728216"/>
          </a:xfrm>
          <a:prstGeom prst="rect">
            <a:avLst/>
          </a:prstGeom>
          <a:solidFill>
            <a:srgbClr val="0E749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73" name="Google Shape;273;p6"/>
          <p:cNvSpPr/>
          <p:nvPr/>
        </p:nvSpPr>
        <p:spPr>
          <a:xfrm>
            <a:off x="5148072" y="4773168"/>
            <a:ext cx="5596128" cy="18288"/>
          </a:xfrm>
          <a:prstGeom prst="rect">
            <a:avLst/>
          </a:prstGeom>
          <a:solidFill>
            <a:srgbClr val="0E749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74" name="Google Shape;274;p6"/>
          <p:cNvSpPr/>
          <p:nvPr/>
        </p:nvSpPr>
        <p:spPr>
          <a:xfrm>
            <a:off x="5047488" y="4526279"/>
            <a:ext cx="201168" cy="256032"/>
          </a:xfrm>
          <a:prstGeom prst="upArrow">
            <a:avLst>
              <a:gd name="adj1" fmla="val 50000"/>
              <a:gd name="adj2" fmla="val 50000"/>
            </a:avLst>
          </a:prstGeom>
          <a:solidFill>
            <a:srgbClr val="0E749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75" name="Google Shape;275;p6"/>
          <p:cNvSpPr txBox="1"/>
          <p:nvPr/>
        </p:nvSpPr>
        <p:spPr>
          <a:xfrm>
            <a:off x="6254496" y="4535424"/>
            <a:ext cx="3840480" cy="237744"/>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850" b="0">
                <a:solidFill>
                  <a:srgbClr val="0A5366"/>
                </a:solidFill>
                <a:latin typeface="Helvetica Neue"/>
                <a:ea typeface="Helvetica Neue"/>
                <a:cs typeface="Helvetica Neue"/>
                <a:sym typeface="Helvetica Neue"/>
              </a:rPr>
              <a:t>closed periods become ground truth</a:t>
            </a:r>
            <a:endParaRPr/>
          </a:p>
        </p:txBody>
      </p:sp>
      <p:sp>
        <p:nvSpPr>
          <p:cNvPr id="276" name="Google Shape;276;p6"/>
          <p:cNvSpPr/>
          <p:nvPr/>
        </p:nvSpPr>
        <p:spPr>
          <a:xfrm>
            <a:off x="658368" y="5102352"/>
            <a:ext cx="10874959" cy="658368"/>
          </a:xfrm>
          <a:prstGeom prst="roundRect">
            <a:avLst>
              <a:gd name="adj" fmla="val 6000"/>
            </a:avLst>
          </a:prstGeom>
          <a:solidFill>
            <a:srgbClr val="E8EEF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77" name="Google Shape;277;p6"/>
          <p:cNvSpPr txBox="1"/>
          <p:nvPr/>
        </p:nvSpPr>
        <p:spPr>
          <a:xfrm>
            <a:off x="932688" y="5248656"/>
            <a:ext cx="10326319" cy="402336"/>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200" b="0">
                <a:solidFill>
                  <a:srgbClr val="333E4F"/>
                </a:solidFill>
                <a:latin typeface="Helvetica Neue"/>
                <a:ea typeface="Helvetica Neue"/>
                <a:cs typeface="Helvetica Neue"/>
                <a:sym typeface="Helvetica Neue"/>
              </a:rPr>
              <a:t>Every step writes to the audit trail: source document → extraction → reasoning trace → tool call → policy applied → approver → posting. Nothing reaches the ledger except through the tool layer, and a sampled slice of the automated path is reviewed so its error rate is measured.</a:t>
            </a:r>
            <a:endParaRPr/>
          </a:p>
        </p:txBody>
      </p:sp>
      <p:sp>
        <p:nvSpPr>
          <p:cNvPr id="278" name="Google Shape;278;p6"/>
          <p:cNvSpPr txBox="1"/>
          <p:nvPr/>
        </p:nvSpPr>
        <p:spPr>
          <a:xfrm>
            <a:off x="658368" y="5888736"/>
            <a:ext cx="10874959" cy="256032"/>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a:solidFill>
                  <a:srgbClr val="B45309"/>
                </a:solidFill>
                <a:latin typeface="Helvetica Neue"/>
                <a:ea typeface="Helvetica Neue"/>
                <a:cs typeface="Helvetica Neue"/>
                <a:sym typeface="Helvetica Neue"/>
              </a:rPr>
              <a:t>Warm = proprietary and defensible.   Teal = the learning loop.</a:t>
            </a:r>
            <a:endParaRPr/>
          </a:p>
        </p:txBody>
      </p:sp>
      <p:sp>
        <p:nvSpPr>
          <p:cNvPr id="279" name="Google Shape;279;p6"/>
          <p:cNvSpPr txBox="1"/>
          <p:nvPr/>
        </p:nvSpPr>
        <p:spPr>
          <a:xfrm>
            <a:off x="10801807" y="6528816"/>
            <a:ext cx="731520" cy="237744"/>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1000" b="0">
                <a:solidFill>
                  <a:srgbClr val="D5DCE4"/>
                </a:solidFill>
                <a:latin typeface="Helvetica Neue"/>
                <a:ea typeface="Helvetica Neue"/>
                <a:cs typeface="Helvetica Neue"/>
                <a:sym typeface="Helvetica Neue"/>
              </a:rPr>
              <a:t>5</a:t>
            </a:r>
            <a:endParaRPr/>
          </a:p>
        </p:txBody>
      </p:sp>
      <p:sp>
        <p:nvSpPr>
          <p:cNvPr id="280" name="Google Shape;280;p6"/>
          <p:cNvSpPr/>
          <p:nvPr/>
        </p:nvSpPr>
        <p:spPr>
          <a:xfrm>
            <a:off x="9326880" y="3154680"/>
            <a:ext cx="201168" cy="411480"/>
          </a:xfrm>
          <a:prstGeom prst="downArrow">
            <a:avLst>
              <a:gd name="adj1" fmla="val 50000"/>
              <a:gd name="adj2" fmla="val 50000"/>
            </a:avLst>
          </a:prstGeom>
          <a:solidFill>
            <a:srgbClr val="6B768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81" name="Google Shape;281;p6"/>
          <p:cNvSpPr txBox="1"/>
          <p:nvPr/>
        </p:nvSpPr>
        <p:spPr>
          <a:xfrm>
            <a:off x="9646920" y="3209544"/>
            <a:ext cx="960120" cy="201168"/>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800" b="0">
                <a:solidFill>
                  <a:srgbClr val="6B7688"/>
                </a:solidFill>
                <a:latin typeface="Helvetica Neue"/>
                <a:ea typeface="Helvetica Neue"/>
                <a:cs typeface="Helvetica Neue"/>
                <a:sym typeface="Helvetica Neue"/>
              </a:rPr>
              <a:t>random sample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7"/>
          <p:cNvSpPr txBox="1"/>
          <p:nvPr/>
        </p:nvSpPr>
        <p:spPr>
          <a:xfrm>
            <a:off x="10801807" y="6528816"/>
            <a:ext cx="731520" cy="23774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000" b="0" i="0">
                <a:solidFill>
                  <a:srgbClr val="D5DCE4"/>
                </a:solidFill>
                <a:latin typeface="Helvetica Neue"/>
                <a:ea typeface="Helvetica Neue"/>
                <a:cs typeface="Helvetica Neue"/>
                <a:sym typeface="Helvetica Neue"/>
              </a:rPr>
              <a:t>6</a:t>
            </a:r>
            <a:endParaRPr/>
          </a:p>
        </p:txBody>
      </p:sp>
      <p:sp>
        <p:nvSpPr>
          <p:cNvPr id="288" name="Google Shape;288;p7"/>
          <p:cNvSpPr txBox="1"/>
          <p:nvPr/>
        </p:nvSpPr>
        <p:spPr>
          <a:xfrm>
            <a:off x="658368" y="420624"/>
            <a:ext cx="10874959" cy="256032"/>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i="0">
                <a:solidFill>
                  <a:srgbClr val="0E7490"/>
                </a:solidFill>
                <a:latin typeface="Helvetica Neue"/>
                <a:ea typeface="Helvetica Neue"/>
                <a:cs typeface="Helvetica Neue"/>
                <a:sym typeface="Helvetica Neue"/>
              </a:rPr>
              <a:t>KEY COMPONENT · 1 OF 4</a:t>
            </a:r>
            <a:endParaRPr/>
          </a:p>
        </p:txBody>
      </p:sp>
      <p:sp>
        <p:nvSpPr>
          <p:cNvPr id="289" name="Google Shape;289;p7"/>
          <p:cNvSpPr txBox="1"/>
          <p:nvPr/>
        </p:nvSpPr>
        <p:spPr>
          <a:xfrm>
            <a:off x="658368" y="749808"/>
            <a:ext cx="10874959" cy="43813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i="0">
                <a:solidFill>
                  <a:srgbClr val="111A27"/>
                </a:solidFill>
                <a:latin typeface="Helvetica Neue"/>
                <a:ea typeface="Helvetica Neue"/>
                <a:cs typeface="Helvetica Neue"/>
                <a:sym typeface="Helvetica Neue"/>
              </a:rPr>
              <a:t>Ledger core: append-only, bitemporal, traceable</a:t>
            </a:r>
            <a:endParaRPr/>
          </a:p>
        </p:txBody>
      </p:sp>
      <p:sp>
        <p:nvSpPr>
          <p:cNvPr id="290" name="Google Shape;290;p7"/>
          <p:cNvSpPr txBox="1"/>
          <p:nvPr/>
        </p:nvSpPr>
        <p:spPr>
          <a:xfrm>
            <a:off x="658368" y="1719072"/>
            <a:ext cx="10332720" cy="590226"/>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50" b="0" i="0">
                <a:solidFill>
                  <a:srgbClr val="333E4F"/>
                </a:solidFill>
                <a:latin typeface="Helvetica Neue"/>
                <a:ea typeface="Helvetica Neue"/>
                <a:cs typeface="Helvetica Neue"/>
                <a:sym typeface="Helvetica Neue"/>
              </a:rPr>
              <a:t>Ordinary software updates a row and moves on. Three requirements that none of the accounting packages we use support make that unacceptable. All three are data-layer decisions: miss them on day one and you cannot add them later.</a:t>
            </a:r>
            <a:endParaRPr/>
          </a:p>
        </p:txBody>
      </p:sp>
      <p:grpSp>
        <p:nvGrpSpPr>
          <p:cNvPr id="291" name="Google Shape;291;p7"/>
          <p:cNvGrpSpPr/>
          <p:nvPr/>
        </p:nvGrpSpPr>
        <p:grpSpPr>
          <a:xfrm>
            <a:off x="658375" y="2428875"/>
            <a:ext cx="3465600" cy="1749376"/>
            <a:chOff x="0" y="0"/>
            <a:chExt cx="3465600" cy="2381400"/>
          </a:xfrm>
        </p:grpSpPr>
        <p:sp>
          <p:nvSpPr>
            <p:cNvPr id="292" name="Google Shape;292;p7"/>
            <p:cNvSpPr/>
            <p:nvPr/>
          </p:nvSpPr>
          <p:spPr>
            <a:xfrm>
              <a:off x="0" y="0"/>
              <a:ext cx="3465600" cy="2381400"/>
            </a:xfrm>
            <a:prstGeom prst="roundRect">
              <a:avLst>
                <a:gd name="adj" fmla="val 3148"/>
              </a:avLst>
            </a:prstGeom>
            <a:solidFill>
              <a:srgbClr val="FAEEE3"/>
            </a:solidFill>
            <a:ln w="12700" cap="flat" cmpd="sng">
              <a:solidFill>
                <a:srgbClr val="B45309"/>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3" name="Google Shape;293;p7"/>
            <p:cNvSpPr txBox="1"/>
            <p:nvPr/>
          </p:nvSpPr>
          <p:spPr>
            <a:xfrm>
              <a:off x="0" y="0"/>
              <a:ext cx="3465600" cy="2381400"/>
            </a:xfrm>
            <a:prstGeom prst="rect">
              <a:avLst/>
            </a:prstGeom>
            <a:noFill/>
            <a:ln>
              <a:noFill/>
            </a:ln>
          </p:spPr>
          <p:txBody>
            <a:bodyPr spcFirstLastPara="1" wrap="square" lIns="190500" tIns="190500" rIns="190500" bIns="190500" anchor="t" anchorCtr="0">
              <a:noAutofit/>
            </a:bodyPr>
            <a:lstStyle/>
            <a:p>
              <a:pPr marL="0" lvl="0" indent="0" algn="l" rtl="0">
                <a:spcBef>
                  <a:spcPts val="0"/>
                </a:spcBef>
                <a:spcAft>
                  <a:spcPts val="0"/>
                </a:spcAft>
                <a:buNone/>
              </a:pPr>
              <a:r>
                <a:rPr lang="en-US" sz="1450" b="1">
                  <a:solidFill>
                    <a:srgbClr val="111A27"/>
                  </a:solidFill>
                  <a:latin typeface="Helvetica Neue"/>
                  <a:ea typeface="Helvetica Neue"/>
                  <a:cs typeface="Helvetica Neue"/>
                  <a:sym typeface="Helvetica Neue"/>
                </a:rPr>
                <a:t>Bitemporal: booking date separate from effective date</a:t>
              </a:r>
              <a:endParaRPr sz="1450" b="1">
                <a:solidFill>
                  <a:srgbClr val="111A27"/>
                </a:solidFill>
                <a:latin typeface="Helvetica Neue"/>
                <a:ea typeface="Helvetica Neue"/>
                <a:cs typeface="Helvetica Neue"/>
                <a:sym typeface="Helvetica Neue"/>
              </a:endParaRPr>
            </a:p>
            <a:p>
              <a:pPr marL="0" lvl="0" indent="0" algn="l" rtl="0">
                <a:spcBef>
                  <a:spcPts val="750"/>
                </a:spcBef>
                <a:spcAft>
                  <a:spcPts val="0"/>
                </a:spcAft>
                <a:buNone/>
              </a:pPr>
              <a:r>
                <a:rPr lang="en-US" sz="1250" b="0">
                  <a:solidFill>
                    <a:srgbClr val="333E4F"/>
                  </a:solidFill>
                  <a:latin typeface="Helvetica Neue"/>
                  <a:ea typeface="Helvetica Neue"/>
                  <a:cs typeface="Helvetica Neue"/>
                  <a:sym typeface="Helvetica Neue"/>
                </a:rPr>
                <a:t>We have to be able to answer what the books said on 31 March. More importantly, it is the only way to replay an agent over a historical period and score it.</a:t>
              </a:r>
              <a:endParaRPr sz="1250" b="0">
                <a:solidFill>
                  <a:srgbClr val="333E4F"/>
                </a:solidFill>
                <a:latin typeface="Helvetica Neue"/>
                <a:ea typeface="Helvetica Neue"/>
                <a:cs typeface="Helvetica Neue"/>
                <a:sym typeface="Helvetica Neue"/>
              </a:endParaRPr>
            </a:p>
          </p:txBody>
        </p:sp>
      </p:grpSp>
      <p:grpSp>
        <p:nvGrpSpPr>
          <p:cNvPr id="294" name="Google Shape;294;p7"/>
          <p:cNvGrpSpPr/>
          <p:nvPr/>
        </p:nvGrpSpPr>
        <p:grpSpPr>
          <a:xfrm>
            <a:off x="4361700" y="2428875"/>
            <a:ext cx="3465600" cy="1749376"/>
            <a:chOff x="0" y="0"/>
            <a:chExt cx="3465600" cy="2381400"/>
          </a:xfrm>
        </p:grpSpPr>
        <p:sp>
          <p:nvSpPr>
            <p:cNvPr id="295" name="Google Shape;295;p7"/>
            <p:cNvSpPr/>
            <p:nvPr/>
          </p:nvSpPr>
          <p:spPr>
            <a:xfrm>
              <a:off x="0" y="0"/>
              <a:ext cx="3465600" cy="2381400"/>
            </a:xfrm>
            <a:prstGeom prst="roundRect">
              <a:avLst>
                <a:gd name="adj" fmla="val 3148"/>
              </a:avLst>
            </a:prstGeom>
            <a:solidFill>
              <a:srgbClr val="F3F6F8"/>
            </a:solidFill>
            <a:ln w="12700" cap="flat" cmpd="sng">
              <a:solidFill>
                <a:srgbClr val="D5DCE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6" name="Google Shape;296;p7"/>
            <p:cNvSpPr txBox="1"/>
            <p:nvPr/>
          </p:nvSpPr>
          <p:spPr>
            <a:xfrm>
              <a:off x="0" y="0"/>
              <a:ext cx="3465600" cy="2381400"/>
            </a:xfrm>
            <a:prstGeom prst="rect">
              <a:avLst/>
            </a:prstGeom>
            <a:noFill/>
            <a:ln>
              <a:noFill/>
            </a:ln>
          </p:spPr>
          <p:txBody>
            <a:bodyPr spcFirstLastPara="1" wrap="square" lIns="190500" tIns="190500" rIns="190500" bIns="190500" anchor="t" anchorCtr="0">
              <a:noAutofit/>
            </a:bodyPr>
            <a:lstStyle/>
            <a:p>
              <a:pPr marL="0" lvl="0" indent="0" algn="l" rtl="0">
                <a:spcBef>
                  <a:spcPts val="0"/>
                </a:spcBef>
                <a:spcAft>
                  <a:spcPts val="0"/>
                </a:spcAft>
                <a:buNone/>
              </a:pPr>
              <a:r>
                <a:rPr lang="en-US" sz="1450" b="1">
                  <a:solidFill>
                    <a:srgbClr val="111A27"/>
                  </a:solidFill>
                  <a:latin typeface="Helvetica Neue"/>
                  <a:ea typeface="Helvetica Neue"/>
                  <a:cs typeface="Helvetica Neue"/>
                  <a:sym typeface="Helvetica Neue"/>
                </a:rPr>
                <a:t>Immutable: corrections are reversing entries, not edits</a:t>
              </a:r>
              <a:endParaRPr sz="1450" b="1">
                <a:solidFill>
                  <a:srgbClr val="111A27"/>
                </a:solidFill>
                <a:latin typeface="Helvetica Neue"/>
                <a:ea typeface="Helvetica Neue"/>
                <a:cs typeface="Helvetica Neue"/>
                <a:sym typeface="Helvetica Neue"/>
              </a:endParaRPr>
            </a:p>
            <a:p>
              <a:pPr marL="0" lvl="0" indent="0" algn="l" rtl="0">
                <a:spcBef>
                  <a:spcPts val="750"/>
                </a:spcBef>
                <a:spcAft>
                  <a:spcPts val="0"/>
                </a:spcAft>
                <a:buNone/>
              </a:pPr>
              <a:r>
                <a:rPr lang="en-US" sz="1250" b="0">
                  <a:solidFill>
                    <a:srgbClr val="333E4F"/>
                  </a:solidFill>
                  <a:latin typeface="Helvetica Neue"/>
                  <a:ea typeface="Helvetica Neue"/>
                  <a:cs typeface="Helvetica Neue"/>
                  <a:sym typeface="Helvetica Neue"/>
                </a:rPr>
                <a:t>A ledger you can edit cannot be explained after the fact, and an agent that can silently overwrite is not worth having at any price.</a:t>
              </a:r>
              <a:endParaRPr sz="1250" b="0">
                <a:solidFill>
                  <a:srgbClr val="333E4F"/>
                </a:solidFill>
                <a:latin typeface="Helvetica Neue"/>
                <a:ea typeface="Helvetica Neue"/>
                <a:cs typeface="Helvetica Neue"/>
                <a:sym typeface="Helvetica Neue"/>
              </a:endParaRPr>
            </a:p>
          </p:txBody>
        </p:sp>
      </p:grpSp>
      <p:grpSp>
        <p:nvGrpSpPr>
          <p:cNvPr id="297" name="Google Shape;297;p7"/>
          <p:cNvGrpSpPr/>
          <p:nvPr/>
        </p:nvGrpSpPr>
        <p:grpSpPr>
          <a:xfrm>
            <a:off x="8065000" y="2428875"/>
            <a:ext cx="3465600" cy="1749376"/>
            <a:chOff x="0" y="0"/>
            <a:chExt cx="3465600" cy="2381400"/>
          </a:xfrm>
        </p:grpSpPr>
        <p:sp>
          <p:nvSpPr>
            <p:cNvPr id="298" name="Google Shape;298;p7"/>
            <p:cNvSpPr/>
            <p:nvPr/>
          </p:nvSpPr>
          <p:spPr>
            <a:xfrm>
              <a:off x="0" y="0"/>
              <a:ext cx="3465600" cy="2381400"/>
            </a:xfrm>
            <a:prstGeom prst="roundRect">
              <a:avLst>
                <a:gd name="adj" fmla="val 3148"/>
              </a:avLst>
            </a:prstGeom>
            <a:solidFill>
              <a:srgbClr val="F3F6F8"/>
            </a:solidFill>
            <a:ln w="12700" cap="flat" cmpd="sng">
              <a:solidFill>
                <a:srgbClr val="D5DCE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9" name="Google Shape;299;p7"/>
            <p:cNvSpPr txBox="1"/>
            <p:nvPr/>
          </p:nvSpPr>
          <p:spPr>
            <a:xfrm>
              <a:off x="0" y="0"/>
              <a:ext cx="3465600" cy="2381400"/>
            </a:xfrm>
            <a:prstGeom prst="rect">
              <a:avLst/>
            </a:prstGeom>
            <a:noFill/>
            <a:ln>
              <a:noFill/>
            </a:ln>
          </p:spPr>
          <p:txBody>
            <a:bodyPr spcFirstLastPara="1" wrap="square" lIns="190500" tIns="190500" rIns="190500" bIns="190500" anchor="t" anchorCtr="0">
              <a:noAutofit/>
            </a:bodyPr>
            <a:lstStyle/>
            <a:p>
              <a:pPr marL="0" lvl="0" indent="0" algn="l" rtl="0">
                <a:spcBef>
                  <a:spcPts val="0"/>
                </a:spcBef>
                <a:spcAft>
                  <a:spcPts val="0"/>
                </a:spcAft>
                <a:buNone/>
              </a:pPr>
              <a:r>
                <a:rPr lang="en-US" sz="1450" b="1">
                  <a:solidFill>
                    <a:srgbClr val="111A27"/>
                  </a:solidFill>
                  <a:latin typeface="Helvetica Neue"/>
                  <a:ea typeface="Helvetica Neue"/>
                  <a:cs typeface="Helvetica Neue"/>
                  <a:sym typeface="Helvetica Neue"/>
                </a:rPr>
                <a:t>Provenance is first-class and queryable</a:t>
              </a:r>
              <a:endParaRPr sz="1450" b="1">
                <a:solidFill>
                  <a:srgbClr val="111A27"/>
                </a:solidFill>
                <a:latin typeface="Helvetica Neue"/>
                <a:ea typeface="Helvetica Neue"/>
                <a:cs typeface="Helvetica Neue"/>
                <a:sym typeface="Helvetica Neue"/>
              </a:endParaRPr>
            </a:p>
            <a:p>
              <a:pPr marL="0" lvl="0" indent="0" algn="l" rtl="0">
                <a:spcBef>
                  <a:spcPts val="750"/>
                </a:spcBef>
                <a:spcAft>
                  <a:spcPts val="0"/>
                </a:spcAft>
                <a:buNone/>
              </a:pPr>
              <a:r>
                <a:rPr lang="en-US" sz="1250" b="0">
                  <a:solidFill>
                    <a:srgbClr val="333E4F"/>
                  </a:solidFill>
                  <a:latin typeface="Helvetica Neue"/>
                  <a:ea typeface="Helvetica Neue"/>
                  <a:cs typeface="Helvetica Neue"/>
                  <a:sym typeface="Helvetica Neue"/>
                </a:rPr>
                <a:t>Source document → extraction → reasoning trace → tool call → policy applied → approver → posting. Here it is load-bearing.</a:t>
              </a:r>
              <a:endParaRPr sz="1250" b="0">
                <a:solidFill>
                  <a:srgbClr val="333E4F"/>
                </a:solidFill>
                <a:latin typeface="Helvetica Neue"/>
                <a:ea typeface="Helvetica Neue"/>
                <a:cs typeface="Helvetica Neue"/>
                <a:sym typeface="Helvetica Neue"/>
              </a:endParaRPr>
            </a:p>
          </p:txBody>
        </p:sp>
      </p:grpSp>
      <p:grpSp>
        <p:nvGrpSpPr>
          <p:cNvPr id="300" name="Google Shape;300;p7"/>
          <p:cNvGrpSpPr/>
          <p:nvPr/>
        </p:nvGrpSpPr>
        <p:grpSpPr>
          <a:xfrm>
            <a:off x="656993" y="4492625"/>
            <a:ext cx="10875000" cy="1238400"/>
            <a:chOff x="0" y="0"/>
            <a:chExt cx="10875000" cy="1238400"/>
          </a:xfrm>
        </p:grpSpPr>
        <p:sp>
          <p:nvSpPr>
            <p:cNvPr id="301" name="Google Shape;301;p7"/>
            <p:cNvSpPr/>
            <p:nvPr/>
          </p:nvSpPr>
          <p:spPr>
            <a:xfrm>
              <a:off x="0" y="0"/>
              <a:ext cx="10875000" cy="1238400"/>
            </a:xfrm>
            <a:prstGeom prst="roundRect">
              <a:avLst>
                <a:gd name="adj" fmla="val 8211"/>
              </a:avLst>
            </a:prstGeom>
            <a:solidFill>
              <a:srgbClr val="E4F0F4"/>
            </a:solidFill>
            <a:ln w="12700" cap="flat" cmpd="sng">
              <a:solidFill>
                <a:srgbClr val="0E749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02" name="Google Shape;302;p7"/>
            <p:cNvSpPr txBox="1"/>
            <p:nvPr/>
          </p:nvSpPr>
          <p:spPr>
            <a:xfrm>
              <a:off x="0" y="0"/>
              <a:ext cx="10875000" cy="12384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450" b="1">
                  <a:solidFill>
                    <a:srgbClr val="0A5366"/>
                  </a:solidFill>
                  <a:latin typeface="Helvetica Neue"/>
                  <a:ea typeface="Helvetica Neue"/>
                  <a:cs typeface="Helvetica Neue"/>
                  <a:sym typeface="Helvetica Neue"/>
                </a:rPr>
                <a:t>WHY THIS ONE MATTERS MOST</a:t>
              </a:r>
              <a:endParaRPr sz="1450" b="1">
                <a:solidFill>
                  <a:srgbClr val="0A5366"/>
                </a:solidFill>
                <a:latin typeface="Helvetica Neue"/>
                <a:ea typeface="Helvetica Neue"/>
                <a:cs typeface="Helvetica Neue"/>
                <a:sym typeface="Helvetica Neue"/>
              </a:endParaRPr>
            </a:p>
            <a:p>
              <a:pPr marL="0" lvl="0" indent="0" algn="l" rtl="0">
                <a:spcBef>
                  <a:spcPts val="450"/>
                </a:spcBef>
                <a:spcAft>
                  <a:spcPts val="0"/>
                </a:spcAft>
                <a:buNone/>
              </a:pPr>
              <a:r>
                <a:rPr lang="en-US" sz="1250" b="0">
                  <a:solidFill>
                    <a:srgbClr val="333E4F"/>
                  </a:solidFill>
                  <a:latin typeface="Helvetica Neue"/>
                  <a:ea typeface="Helvetica Neue"/>
                  <a:cs typeface="Helvetica Neue"/>
                  <a:sym typeface="Helvetica Neue"/>
                </a:rPr>
                <a:t>This layer cannot be copied by copying our prompts. It also decides whether a client can take this in front of an auditor or a regulator. Engagements die on one question: show me how this entry was produced. That is answerable only if the data layer was designed for it.</a:t>
              </a:r>
              <a:endParaRPr sz="1250" b="0">
                <a:solidFill>
                  <a:srgbClr val="333E4F"/>
                </a:solidFill>
                <a:latin typeface="Helvetica Neue"/>
                <a:ea typeface="Helvetica Neue"/>
                <a:cs typeface="Helvetica Neue"/>
                <a:sym typeface="Helvetica Neue"/>
              </a:endParaRPr>
            </a:p>
          </p:txBody>
        </p:sp>
      </p:grpSp>
      <p:sp>
        <p:nvSpPr>
          <p:cNvPr id="303" name="Google Shape;303;p7"/>
          <p:cNvSpPr txBox="1"/>
          <p:nvPr/>
        </p:nvSpPr>
        <p:spPr>
          <a:xfrm>
            <a:off x="658493" y="6045400"/>
            <a:ext cx="10875000" cy="285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100" b="0" i="1">
                <a:solidFill>
                  <a:srgbClr val="B45309"/>
                </a:solidFill>
                <a:latin typeface="Helvetica Neue"/>
                <a:ea typeface="Helvetica Neue"/>
                <a:cs typeface="Helvetica Neue"/>
                <a:sym typeface="Helvetica Neue"/>
              </a:rPr>
              <a:t>Every actor is typed: human, agent or system. The agent's identity, model version and prompt version are recorded on the entry itself.</a:t>
            </a:r>
            <a:endParaRPr sz="1100" b="0" i="1">
              <a:solidFill>
                <a:srgbClr val="B45309"/>
              </a:solidFill>
              <a:latin typeface="Helvetica Neue"/>
              <a:ea typeface="Helvetica Neue"/>
              <a:cs typeface="Helvetica Neue"/>
              <a:sym typeface="Helvetica Neue"/>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g3f755de7d5b_1_258"/>
          <p:cNvSpPr txBox="1"/>
          <p:nvPr/>
        </p:nvSpPr>
        <p:spPr>
          <a:xfrm>
            <a:off x="10801807" y="6528816"/>
            <a:ext cx="731400" cy="2463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000" b="0" i="0">
                <a:solidFill>
                  <a:srgbClr val="D5DCE4"/>
                </a:solidFill>
                <a:latin typeface="Helvetica Neue"/>
                <a:ea typeface="Helvetica Neue"/>
                <a:cs typeface="Helvetica Neue"/>
                <a:sym typeface="Helvetica Neue"/>
              </a:rPr>
              <a:t>7</a:t>
            </a:r>
            <a:endParaRPr/>
          </a:p>
        </p:txBody>
      </p:sp>
      <p:sp>
        <p:nvSpPr>
          <p:cNvPr id="310" name="Google Shape;310;g3f755de7d5b_1_258"/>
          <p:cNvSpPr txBox="1"/>
          <p:nvPr/>
        </p:nvSpPr>
        <p:spPr>
          <a:xfrm>
            <a:off x="658368" y="420624"/>
            <a:ext cx="10875000" cy="1692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i="0">
                <a:solidFill>
                  <a:srgbClr val="0E7490"/>
                </a:solidFill>
                <a:latin typeface="Helvetica Neue"/>
                <a:ea typeface="Helvetica Neue"/>
                <a:cs typeface="Helvetica Neue"/>
                <a:sym typeface="Helvetica Neue"/>
              </a:rPr>
              <a:t>KEY COMPONENT · 2 OF 4</a:t>
            </a:r>
            <a:endParaRPr/>
          </a:p>
        </p:txBody>
      </p:sp>
      <p:sp>
        <p:nvSpPr>
          <p:cNvPr id="311" name="Google Shape;311;g3f755de7d5b_1_258"/>
          <p:cNvSpPr txBox="1"/>
          <p:nvPr/>
        </p:nvSpPr>
        <p:spPr>
          <a:xfrm>
            <a:off x="658368" y="749808"/>
            <a:ext cx="10875000" cy="400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i="0">
                <a:solidFill>
                  <a:srgbClr val="111A27"/>
                </a:solidFill>
                <a:latin typeface="Helvetica Neue"/>
                <a:ea typeface="Helvetica Neue"/>
                <a:cs typeface="Helvetica Neue"/>
                <a:sym typeface="Helvetica Neue"/>
              </a:rPr>
              <a:t>Tool layer: the only door to the ledger</a:t>
            </a:r>
            <a:endParaRPr/>
          </a:p>
        </p:txBody>
      </p:sp>
      <p:grpSp>
        <p:nvGrpSpPr>
          <p:cNvPr id="312" name="Google Shape;312;g3f755de7d5b_1_258"/>
          <p:cNvGrpSpPr/>
          <p:nvPr/>
        </p:nvGrpSpPr>
        <p:grpSpPr>
          <a:xfrm>
            <a:off x="658368" y="1295400"/>
            <a:ext cx="10332600" cy="446400"/>
            <a:chOff x="0" y="0"/>
            <a:chExt cx="10332600" cy="446400"/>
          </a:xfrm>
        </p:grpSpPr>
        <p:sp>
          <p:nvSpPr>
            <p:cNvPr id="313" name="Google Shape;313;g3f755de7d5b_1_258"/>
            <p:cNvSpPr/>
            <p:nvPr/>
          </p:nvSpPr>
          <p:spPr>
            <a:xfrm>
              <a:off x="0" y="0"/>
              <a:ext cx="10332600" cy="446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14" name="Google Shape;314;g3f755de7d5b_1_258"/>
            <p:cNvSpPr txBox="1"/>
            <p:nvPr/>
          </p:nvSpPr>
          <p:spPr>
            <a:xfrm>
              <a:off x="0" y="0"/>
              <a:ext cx="10332600" cy="446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450" b="0">
                  <a:solidFill>
                    <a:srgbClr val="333E4F"/>
                  </a:solidFill>
                  <a:latin typeface="Helvetica Neue"/>
                  <a:ea typeface="Helvetica Neue"/>
                  <a:cs typeface="Helvetica Neue"/>
                  <a:sym typeface="Helvetica Neue"/>
                </a:rPr>
                <a:t>This is not an API with a new name. An API trusts its caller; the tool layer trusts nobody. Invariants live here not because the model is unreliable, but because the ledger must be provably correct whoever wrote to it.</a:t>
              </a:r>
              <a:endParaRPr sz="1450" b="0">
                <a:solidFill>
                  <a:srgbClr val="333E4F"/>
                </a:solidFill>
                <a:latin typeface="Helvetica Neue"/>
                <a:ea typeface="Helvetica Neue"/>
                <a:cs typeface="Helvetica Neue"/>
                <a:sym typeface="Helvetica Neue"/>
              </a:endParaRPr>
            </a:p>
          </p:txBody>
        </p:sp>
      </p:grpSp>
      <p:grpSp>
        <p:nvGrpSpPr>
          <p:cNvPr id="315" name="Google Shape;315;g3f755de7d5b_1_258"/>
          <p:cNvGrpSpPr/>
          <p:nvPr/>
        </p:nvGrpSpPr>
        <p:grpSpPr>
          <a:xfrm>
            <a:off x="658375" y="2333625"/>
            <a:ext cx="3465607" cy="1819390"/>
            <a:chOff x="0" y="0"/>
            <a:chExt cx="3465607" cy="2381400"/>
          </a:xfrm>
        </p:grpSpPr>
        <p:sp>
          <p:nvSpPr>
            <p:cNvPr id="316" name="Google Shape;316;g3f755de7d5b_1_258"/>
            <p:cNvSpPr/>
            <p:nvPr/>
          </p:nvSpPr>
          <p:spPr>
            <a:xfrm>
              <a:off x="0" y="0"/>
              <a:ext cx="3465600" cy="2381400"/>
            </a:xfrm>
            <a:prstGeom prst="roundRect">
              <a:avLst>
                <a:gd name="adj" fmla="val 3148"/>
              </a:avLst>
            </a:prstGeom>
            <a:solidFill>
              <a:srgbClr val="FAEEE3"/>
            </a:solidFill>
            <a:ln w="12675" cap="flat" cmpd="sng">
              <a:solidFill>
                <a:srgbClr val="B45309"/>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17" name="Google Shape;317;g3f755de7d5b_1_258"/>
            <p:cNvSpPr txBox="1"/>
            <p:nvPr/>
          </p:nvSpPr>
          <p:spPr>
            <a:xfrm>
              <a:off x="7" y="0"/>
              <a:ext cx="3465600" cy="1819200"/>
            </a:xfrm>
            <a:prstGeom prst="rect">
              <a:avLst/>
            </a:prstGeom>
            <a:noFill/>
            <a:ln>
              <a:noFill/>
            </a:ln>
          </p:spPr>
          <p:txBody>
            <a:bodyPr spcFirstLastPara="1" wrap="square" lIns="190500" tIns="190500" rIns="190500" bIns="190500" anchor="t" anchorCtr="0">
              <a:noAutofit/>
            </a:bodyPr>
            <a:lstStyle/>
            <a:p>
              <a:pPr marL="0" lvl="0" indent="0" algn="l" rtl="0">
                <a:spcBef>
                  <a:spcPts val="0"/>
                </a:spcBef>
                <a:spcAft>
                  <a:spcPts val="0"/>
                </a:spcAft>
                <a:buNone/>
              </a:pPr>
              <a:r>
                <a:rPr lang="en-US" sz="1350" b="1">
                  <a:solidFill>
                    <a:srgbClr val="111A27"/>
                  </a:solidFill>
                  <a:latin typeface="Helvetica Neue"/>
                  <a:ea typeface="Helvetica Neue"/>
                  <a:cs typeface="Helvetica Neue"/>
                  <a:sym typeface="Helvetica Neue"/>
                </a:rPr>
                <a:t>Invariants belong to the tool, not to the caller</a:t>
              </a:r>
              <a:endParaRPr sz="1350" b="1">
                <a:solidFill>
                  <a:srgbClr val="111A27"/>
                </a:solidFill>
                <a:latin typeface="Helvetica Neue"/>
                <a:ea typeface="Helvetica Neue"/>
                <a:cs typeface="Helvetica Neue"/>
                <a:sym typeface="Helvetica Neue"/>
              </a:endParaRPr>
            </a:p>
            <a:p>
              <a:pPr marL="0" lvl="0" indent="0" algn="l" rtl="0">
                <a:spcBef>
                  <a:spcPts val="750"/>
                </a:spcBef>
                <a:spcAft>
                  <a:spcPts val="0"/>
                </a:spcAft>
                <a:buNone/>
              </a:pPr>
              <a:r>
                <a:rPr lang="en-US" sz="1250" b="0">
                  <a:solidFill>
                    <a:srgbClr val="333E4F"/>
                  </a:solidFill>
                  <a:latin typeface="Helvetica Neue"/>
                  <a:ea typeface="Helvetica Neue"/>
                  <a:cs typeface="Helvetica Neue"/>
                  <a:sym typeface="Helvetica Neue"/>
                </a:rPr>
                <a:t>Normally you trust the data your own frontend sends. Here it is inverted: every tool assumes the caller is wrong, and enforces balance, period locks and permissions itself.</a:t>
              </a:r>
              <a:endParaRPr sz="1250" b="0">
                <a:solidFill>
                  <a:srgbClr val="333E4F"/>
                </a:solidFill>
                <a:latin typeface="Helvetica Neue"/>
                <a:ea typeface="Helvetica Neue"/>
                <a:cs typeface="Helvetica Neue"/>
                <a:sym typeface="Helvetica Neue"/>
              </a:endParaRPr>
            </a:p>
          </p:txBody>
        </p:sp>
      </p:grpSp>
      <p:grpSp>
        <p:nvGrpSpPr>
          <p:cNvPr id="318" name="Google Shape;318;g3f755de7d5b_1_258"/>
          <p:cNvGrpSpPr/>
          <p:nvPr/>
        </p:nvGrpSpPr>
        <p:grpSpPr>
          <a:xfrm>
            <a:off x="4361700" y="2333625"/>
            <a:ext cx="3465600" cy="1819390"/>
            <a:chOff x="0" y="0"/>
            <a:chExt cx="3465600" cy="2381400"/>
          </a:xfrm>
        </p:grpSpPr>
        <p:sp>
          <p:nvSpPr>
            <p:cNvPr id="319" name="Google Shape;319;g3f755de7d5b_1_258"/>
            <p:cNvSpPr/>
            <p:nvPr/>
          </p:nvSpPr>
          <p:spPr>
            <a:xfrm>
              <a:off x="0" y="0"/>
              <a:ext cx="3465600" cy="2381400"/>
            </a:xfrm>
            <a:prstGeom prst="roundRect">
              <a:avLst>
                <a:gd name="adj" fmla="val 3148"/>
              </a:avLst>
            </a:prstGeom>
            <a:solidFill>
              <a:srgbClr val="F3F6F8"/>
            </a:solidFill>
            <a:ln w="12675" cap="flat" cmpd="sng">
              <a:solidFill>
                <a:srgbClr val="D5DCE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20" name="Google Shape;320;g3f755de7d5b_1_258"/>
            <p:cNvSpPr txBox="1"/>
            <p:nvPr/>
          </p:nvSpPr>
          <p:spPr>
            <a:xfrm>
              <a:off x="0" y="0"/>
              <a:ext cx="3465600" cy="2381400"/>
            </a:xfrm>
            <a:prstGeom prst="rect">
              <a:avLst/>
            </a:prstGeom>
            <a:noFill/>
            <a:ln>
              <a:noFill/>
            </a:ln>
          </p:spPr>
          <p:txBody>
            <a:bodyPr spcFirstLastPara="1" wrap="square" lIns="190500" tIns="190500" rIns="190500" bIns="190500" anchor="t" anchorCtr="0">
              <a:noAutofit/>
            </a:bodyPr>
            <a:lstStyle/>
            <a:p>
              <a:pPr marL="0" lvl="0" indent="0" algn="l" rtl="0">
                <a:spcBef>
                  <a:spcPts val="0"/>
                </a:spcBef>
                <a:spcAft>
                  <a:spcPts val="0"/>
                </a:spcAft>
                <a:buNone/>
              </a:pPr>
              <a:r>
                <a:rPr lang="en-US" sz="1350" b="1">
                  <a:solidFill>
                    <a:srgbClr val="111A27"/>
                  </a:solidFill>
                  <a:latin typeface="Helvetica Neue"/>
                  <a:ea typeface="Helvetica Neue"/>
                  <a:cs typeface="Helvetica Neue"/>
                  <a:sym typeface="Helvetica Neue"/>
                </a:rPr>
                <a:t>Granularity &amp; Surface: small and discoverable</a:t>
              </a:r>
              <a:endParaRPr sz="1350" b="1">
                <a:solidFill>
                  <a:srgbClr val="111A27"/>
                </a:solidFill>
                <a:latin typeface="Helvetica Neue"/>
                <a:ea typeface="Helvetica Neue"/>
                <a:cs typeface="Helvetica Neue"/>
                <a:sym typeface="Helvetica Neue"/>
              </a:endParaRPr>
            </a:p>
            <a:p>
              <a:pPr marL="0" lvl="0" indent="0" algn="l" rtl="0">
                <a:spcBef>
                  <a:spcPts val="750"/>
                </a:spcBef>
                <a:spcAft>
                  <a:spcPts val="0"/>
                </a:spcAft>
                <a:buNone/>
              </a:pPr>
              <a:r>
                <a:rPr lang="en-US" sz="1250" b="0">
                  <a:solidFill>
                    <a:srgbClr val="333E4F"/>
                  </a:solidFill>
                  <a:latin typeface="Helvetica Neue"/>
                  <a:ea typeface="Helvetica Neue"/>
                  <a:cs typeface="Helvetica Neue"/>
                  <a:sym typeface="Helvetica Neue"/>
                </a:rPr>
                <a:t>Too fine and the agent burns forty calls and loses the thread; too coarse and it cannot express intent. Keep the surface small: context is scarce, you cannot put 400 endpoints in front of a model.</a:t>
              </a:r>
              <a:endParaRPr sz="1250" b="0">
                <a:solidFill>
                  <a:srgbClr val="333E4F"/>
                </a:solidFill>
                <a:latin typeface="Helvetica Neue"/>
                <a:ea typeface="Helvetica Neue"/>
                <a:cs typeface="Helvetica Neue"/>
                <a:sym typeface="Helvetica Neue"/>
              </a:endParaRPr>
            </a:p>
          </p:txBody>
        </p:sp>
      </p:grpSp>
      <p:grpSp>
        <p:nvGrpSpPr>
          <p:cNvPr id="321" name="Google Shape;321;g3f755de7d5b_1_258"/>
          <p:cNvGrpSpPr/>
          <p:nvPr/>
        </p:nvGrpSpPr>
        <p:grpSpPr>
          <a:xfrm>
            <a:off x="8065000" y="2333625"/>
            <a:ext cx="3465600" cy="1819390"/>
            <a:chOff x="0" y="0"/>
            <a:chExt cx="3465600" cy="2381400"/>
          </a:xfrm>
        </p:grpSpPr>
        <p:sp>
          <p:nvSpPr>
            <p:cNvPr id="322" name="Google Shape;322;g3f755de7d5b_1_258"/>
            <p:cNvSpPr/>
            <p:nvPr/>
          </p:nvSpPr>
          <p:spPr>
            <a:xfrm>
              <a:off x="0" y="0"/>
              <a:ext cx="3465600" cy="2381400"/>
            </a:xfrm>
            <a:prstGeom prst="roundRect">
              <a:avLst>
                <a:gd name="adj" fmla="val 3148"/>
              </a:avLst>
            </a:prstGeom>
            <a:solidFill>
              <a:srgbClr val="F3F6F8"/>
            </a:solidFill>
            <a:ln w="12675" cap="flat" cmpd="sng">
              <a:solidFill>
                <a:srgbClr val="D5DCE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23" name="Google Shape;323;g3f755de7d5b_1_258"/>
            <p:cNvSpPr txBox="1"/>
            <p:nvPr/>
          </p:nvSpPr>
          <p:spPr>
            <a:xfrm>
              <a:off x="0" y="0"/>
              <a:ext cx="3465600" cy="2381400"/>
            </a:xfrm>
            <a:prstGeom prst="rect">
              <a:avLst/>
            </a:prstGeom>
            <a:noFill/>
            <a:ln>
              <a:noFill/>
            </a:ln>
          </p:spPr>
          <p:txBody>
            <a:bodyPr spcFirstLastPara="1" wrap="square" lIns="190500" tIns="190500" rIns="190500" bIns="190500" anchor="t" anchorCtr="0">
              <a:noAutofit/>
            </a:bodyPr>
            <a:lstStyle/>
            <a:p>
              <a:pPr marL="0" lvl="0" indent="0" algn="l" rtl="0">
                <a:spcBef>
                  <a:spcPts val="0"/>
                </a:spcBef>
                <a:spcAft>
                  <a:spcPts val="0"/>
                </a:spcAft>
                <a:buNone/>
              </a:pPr>
              <a:r>
                <a:rPr lang="en-US" sz="1350" b="1">
                  <a:solidFill>
                    <a:srgbClr val="111A27"/>
                  </a:solidFill>
                  <a:latin typeface="Helvetica Neue"/>
                  <a:ea typeface="Helvetica Neue"/>
                  <a:cs typeface="Helvetica Neue"/>
                  <a:sym typeface="Helvetica Neue"/>
                </a:rPr>
                <a:t>Idempotency &amp; Errors: retry-driven design</a:t>
              </a:r>
              <a:endParaRPr sz="1350" b="1">
                <a:solidFill>
                  <a:srgbClr val="111A27"/>
                </a:solidFill>
                <a:latin typeface="Helvetica Neue"/>
                <a:ea typeface="Helvetica Neue"/>
                <a:cs typeface="Helvetica Neue"/>
                <a:sym typeface="Helvetica Neue"/>
              </a:endParaRPr>
            </a:p>
            <a:p>
              <a:pPr marL="0" lvl="0" indent="0" algn="l" rtl="0">
                <a:spcBef>
                  <a:spcPts val="750"/>
                </a:spcBef>
                <a:spcAft>
                  <a:spcPts val="0"/>
                </a:spcAft>
                <a:buNone/>
              </a:pPr>
              <a:r>
                <a:rPr lang="en-US" sz="1250" b="0">
                  <a:solidFill>
                    <a:srgbClr val="333E4F"/>
                  </a:solidFill>
                  <a:latin typeface="Helvetica Neue"/>
                  <a:ea typeface="Helvetica Neue"/>
                  <a:cs typeface="Helvetica Neue"/>
                  <a:sym typeface="Helvetica Neue"/>
                </a:rPr>
                <a:t>Idempotency is mandatory because the agent will retry. Errors must point the way: detailed error copy is a feature that buys a retry that succeeds, not a detail.</a:t>
              </a:r>
              <a:endParaRPr sz="1250" b="0">
                <a:solidFill>
                  <a:srgbClr val="333E4F"/>
                </a:solidFill>
                <a:latin typeface="Helvetica Neue"/>
                <a:ea typeface="Helvetica Neue"/>
                <a:cs typeface="Helvetica Neue"/>
                <a:sym typeface="Helvetica Neue"/>
              </a:endParaRPr>
            </a:p>
          </p:txBody>
        </p:sp>
      </p:grpSp>
      <p:sp>
        <p:nvSpPr>
          <p:cNvPr id="324" name="Google Shape;324;g3f755de7d5b_1_258"/>
          <p:cNvSpPr txBox="1"/>
          <p:nvPr/>
        </p:nvSpPr>
        <p:spPr>
          <a:xfrm>
            <a:off x="658500" y="4714825"/>
            <a:ext cx="10875000" cy="1252200"/>
          </a:xfrm>
          <a:prstGeom prst="rect">
            <a:avLst/>
          </a:prstGeom>
          <a:solidFill>
            <a:srgbClr val="E4F0F4"/>
          </a:solidFill>
          <a:ln w="12700" cap="flat" cmpd="sng">
            <a:solidFill>
              <a:srgbClr val="0E7490"/>
            </a:solidFill>
            <a:prstDash val="solid"/>
            <a:round/>
            <a:headEnd type="none" w="sm" len="sm"/>
            <a:tailEnd type="none" w="sm" len="sm"/>
          </a:ln>
        </p:spPr>
        <p:txBody>
          <a:bodyPr spcFirstLastPara="1" wrap="square" lIns="190500" tIns="190500" rIns="190500" bIns="190500" anchor="ctr" anchorCtr="0">
            <a:noAutofit/>
          </a:bodyPr>
          <a:lstStyle/>
          <a:p>
            <a:pPr marL="0" lvl="0" indent="0" algn="l" rtl="0">
              <a:spcBef>
                <a:spcPts val="0"/>
              </a:spcBef>
              <a:spcAft>
                <a:spcPts val="0"/>
              </a:spcAft>
              <a:buNone/>
            </a:pPr>
            <a:r>
              <a:rPr lang="en-US" sz="1350" b="1">
                <a:solidFill>
                  <a:srgbClr val="0A5366"/>
                </a:solidFill>
                <a:latin typeface="Helvetica Neue"/>
                <a:ea typeface="Helvetica Neue"/>
                <a:cs typeface="Helvetica Neue"/>
                <a:sym typeface="Helvetica Neue"/>
              </a:rPr>
              <a:t>THE PRINCIPLE</a:t>
            </a:r>
            <a:endParaRPr sz="1350" b="1">
              <a:solidFill>
                <a:srgbClr val="0A5366"/>
              </a:solidFill>
              <a:latin typeface="Helvetica Neue"/>
              <a:ea typeface="Helvetica Neue"/>
              <a:cs typeface="Helvetica Neue"/>
              <a:sym typeface="Helvetica Neue"/>
            </a:endParaRPr>
          </a:p>
          <a:p>
            <a:pPr marL="0" marR="0" lvl="0" indent="0" algn="l" rtl="0">
              <a:lnSpc>
                <a:spcPct val="100000"/>
              </a:lnSpc>
              <a:spcBef>
                <a:spcPts val="450"/>
              </a:spcBef>
              <a:spcAft>
                <a:spcPts val="0"/>
              </a:spcAft>
              <a:buNone/>
            </a:pPr>
            <a:r>
              <a:rPr lang="en-US" sz="1250">
                <a:solidFill>
                  <a:srgbClr val="333E4F"/>
                </a:solidFill>
                <a:latin typeface="Helvetica Neue"/>
                <a:ea typeface="Helvetica Neue"/>
                <a:cs typeface="Helvetica Neue"/>
                <a:sym typeface="Helvetica Neue"/>
              </a:rPr>
              <a:t>Never expect the model to do arithmetic in its head, or to apply a rule in its head. Every state change goes through a typed tool call, and the tool validates it. The agent picks which tool and which arguments; correctness is the tool's job.</a:t>
            </a:r>
            <a:endParaRPr sz="1250">
              <a:solidFill>
                <a:srgbClr val="333E4F"/>
              </a:solidFill>
              <a:latin typeface="Helvetica Neue"/>
              <a:ea typeface="Helvetica Neue"/>
              <a:cs typeface="Helvetica Neue"/>
              <a:sym typeface="Helvetica Neue"/>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9"/>
          <p:cNvSpPr txBox="1"/>
          <p:nvPr/>
        </p:nvSpPr>
        <p:spPr>
          <a:xfrm>
            <a:off x="658368" y="420624"/>
            <a:ext cx="10874959" cy="25603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00" b="1" i="0">
                <a:solidFill>
                  <a:srgbClr val="0E7490"/>
                </a:solidFill>
                <a:latin typeface="Helvetica Neue"/>
                <a:ea typeface="Helvetica Neue"/>
                <a:cs typeface="Helvetica Neue"/>
                <a:sym typeface="Helvetica Neue"/>
              </a:rPr>
              <a:t>KEY COMPONENT · 3 OF 4</a:t>
            </a:r>
            <a:endParaRPr/>
          </a:p>
        </p:txBody>
      </p:sp>
      <p:sp>
        <p:nvSpPr>
          <p:cNvPr id="331" name="Google Shape;331;p9"/>
          <p:cNvSpPr txBox="1"/>
          <p:nvPr/>
        </p:nvSpPr>
        <p:spPr>
          <a:xfrm>
            <a:off x="658368" y="749808"/>
            <a:ext cx="10874959"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i="0">
                <a:solidFill>
                  <a:srgbClr val="111A27"/>
                </a:solidFill>
                <a:latin typeface="Helvetica Neue"/>
                <a:ea typeface="Helvetica Neue"/>
                <a:cs typeface="Helvetica Neue"/>
                <a:sym typeface="Helvetica Neue"/>
              </a:rPr>
              <a:t>Verification, routing, and a loop that improves with use</a:t>
            </a:r>
            <a:endParaRPr/>
          </a:p>
        </p:txBody>
      </p:sp>
      <p:sp>
        <p:nvSpPr>
          <p:cNvPr id="332" name="Google Shape;332;p9"/>
          <p:cNvSpPr txBox="1"/>
          <p:nvPr/>
        </p:nvSpPr>
        <p:spPr>
          <a:xfrm>
            <a:off x="658368" y="1316736"/>
            <a:ext cx="10424160" cy="56692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a:solidFill>
                  <a:srgbClr val="333E4F"/>
                </a:solidFill>
                <a:latin typeface="Helvetica Neue"/>
                <a:ea typeface="Helvetica Neue"/>
                <a:cs typeface="Helvetica Neue"/>
                <a:sym typeface="Helvetica Neue"/>
              </a:rPr>
              <a:t>The biggest change from the software in use today: we used to check only whether the format was valid, and now we check whether a well-formed answer is actually correct. The uncertainty left over is exactly what makes the system improve.</a:t>
            </a:r>
            <a:endParaRPr/>
          </a:p>
        </p:txBody>
      </p:sp>
      <p:sp>
        <p:nvSpPr>
          <p:cNvPr id="333" name="Google Shape;333;p9"/>
          <p:cNvSpPr/>
          <p:nvPr/>
        </p:nvSpPr>
        <p:spPr>
          <a:xfrm>
            <a:off x="658368" y="1920240"/>
            <a:ext cx="3465576" cy="1874519"/>
          </a:xfrm>
          <a:prstGeom prst="roundRect">
            <a:avLst>
              <a:gd name="adj" fmla="val 4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34" name="Google Shape;334;p9"/>
          <p:cNvSpPr txBox="1"/>
          <p:nvPr/>
        </p:nvSpPr>
        <p:spPr>
          <a:xfrm>
            <a:off x="896112" y="2052400"/>
            <a:ext cx="2990088" cy="29260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1" i="0">
                <a:solidFill>
                  <a:srgbClr val="111A27"/>
                </a:solidFill>
                <a:latin typeface="Helvetica Neue"/>
                <a:ea typeface="Helvetica Neue"/>
                <a:cs typeface="Helvetica Neue"/>
                <a:sym typeface="Helvetica Neue"/>
              </a:rPr>
              <a:t>Tier 1 · Hard invariants</a:t>
            </a:r>
            <a:endParaRPr/>
          </a:p>
        </p:txBody>
      </p:sp>
      <p:sp>
        <p:nvSpPr>
          <p:cNvPr id="335" name="Google Shape;335;p9"/>
          <p:cNvSpPr txBox="1"/>
          <p:nvPr/>
        </p:nvSpPr>
        <p:spPr>
          <a:xfrm>
            <a:off x="896112" y="2382617"/>
            <a:ext cx="2990088" cy="1349537"/>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a:solidFill>
                  <a:srgbClr val="333E4F"/>
                </a:solidFill>
                <a:latin typeface="Helvetica Neue"/>
                <a:ea typeface="Helvetica Neue"/>
                <a:cs typeface="Helvetica Neue"/>
                <a:sym typeface="Helvetica Neue"/>
              </a:rPr>
              <a:t>Deterministic and non-negotiable, run before anything commits: balance, trial-balance ties, subledger to GL, reconciliation difference, duplicates, period locks. Failing is a hard block.</a:t>
            </a:r>
            <a:endParaRPr/>
          </a:p>
        </p:txBody>
      </p:sp>
      <p:sp>
        <p:nvSpPr>
          <p:cNvPr id="336" name="Google Shape;336;p9"/>
          <p:cNvSpPr/>
          <p:nvPr/>
        </p:nvSpPr>
        <p:spPr>
          <a:xfrm>
            <a:off x="4379976" y="1920240"/>
            <a:ext cx="3465576" cy="1874519"/>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37" name="Google Shape;337;p9"/>
          <p:cNvSpPr txBox="1"/>
          <p:nvPr/>
        </p:nvSpPr>
        <p:spPr>
          <a:xfrm>
            <a:off x="4617720" y="2061026"/>
            <a:ext cx="2990088" cy="29260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1" i="0">
                <a:solidFill>
                  <a:srgbClr val="111A27"/>
                </a:solidFill>
                <a:latin typeface="Helvetica Neue"/>
                <a:ea typeface="Helvetica Neue"/>
                <a:cs typeface="Helvetica Neue"/>
                <a:sym typeface="Helvetica Neue"/>
              </a:rPr>
              <a:t>Tier 2 · Statistical checks</a:t>
            </a:r>
            <a:endParaRPr/>
          </a:p>
        </p:txBody>
      </p:sp>
      <p:sp>
        <p:nvSpPr>
          <p:cNvPr id="338" name="Google Shape;338;p9"/>
          <p:cNvSpPr txBox="1"/>
          <p:nvPr/>
        </p:nvSpPr>
        <p:spPr>
          <a:xfrm>
            <a:off x="4617720" y="2382617"/>
            <a:ext cx="2990088" cy="118872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a:solidFill>
                  <a:srgbClr val="333E4F"/>
                </a:solidFill>
                <a:latin typeface="Helvetica Neue"/>
                <a:ea typeface="Helvetica Neue"/>
                <a:cs typeface="Helvetica Neue"/>
                <a:sym typeface="Helvetica Neue"/>
              </a:rPr>
              <a:t>Variance against prior periods, unusual vendor and account pairings, distribution anomalies. Catches what invariants let through: format fine, content wrong. It scores, it does not decide.</a:t>
            </a:r>
            <a:endParaRPr/>
          </a:p>
        </p:txBody>
      </p:sp>
      <p:sp>
        <p:nvSpPr>
          <p:cNvPr id="339" name="Google Shape;339;p9"/>
          <p:cNvSpPr/>
          <p:nvPr/>
        </p:nvSpPr>
        <p:spPr>
          <a:xfrm>
            <a:off x="8101583" y="1920240"/>
            <a:ext cx="3465576" cy="1874519"/>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40" name="Google Shape;340;p9"/>
          <p:cNvSpPr txBox="1"/>
          <p:nvPr/>
        </p:nvSpPr>
        <p:spPr>
          <a:xfrm>
            <a:off x="8339327" y="2026521"/>
            <a:ext cx="2990088" cy="29260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1" i="0">
                <a:solidFill>
                  <a:srgbClr val="111A27"/>
                </a:solidFill>
                <a:latin typeface="Helvetica Neue"/>
                <a:ea typeface="Helvetica Neue"/>
                <a:cs typeface="Helvetica Neue"/>
                <a:sym typeface="Helvetica Neue"/>
              </a:rPr>
              <a:t>Tier 3 · Routing</a:t>
            </a:r>
            <a:endParaRPr/>
          </a:p>
        </p:txBody>
      </p:sp>
      <p:sp>
        <p:nvSpPr>
          <p:cNvPr id="341" name="Google Shape;341;p9"/>
          <p:cNvSpPr txBox="1"/>
          <p:nvPr/>
        </p:nvSpPr>
        <p:spPr>
          <a:xfrm>
            <a:off x="8339327" y="2382617"/>
            <a:ext cx="2990088" cy="118872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a:solidFill>
                  <a:srgbClr val="333E4F"/>
                </a:solidFill>
                <a:latin typeface="Helvetica Neue"/>
                <a:ea typeface="Helvetica Neue"/>
                <a:cs typeface="Helvetica Neue"/>
                <a:sym typeface="Helvetica Neue"/>
              </a:rPr>
              <a:t>Above the threshold, post automatically; below it, into the review queue. A random sample of auto-posted items is reviewed too, so the automated path has a measured error rate.</a:t>
            </a:r>
            <a:endParaRPr/>
          </a:p>
        </p:txBody>
      </p:sp>
      <p:sp>
        <p:nvSpPr>
          <p:cNvPr id="342" name="Google Shape;342;p9"/>
          <p:cNvSpPr txBox="1"/>
          <p:nvPr/>
        </p:nvSpPr>
        <p:spPr>
          <a:xfrm>
            <a:off x="658368" y="3886200"/>
            <a:ext cx="10874959" cy="2743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a:solidFill>
                  <a:srgbClr val="6B7688"/>
                </a:solidFill>
                <a:latin typeface="Helvetica Neue"/>
                <a:ea typeface="Helvetica Neue"/>
                <a:cs typeface="Helvetica Neue"/>
                <a:sym typeface="Helvetica Neue"/>
              </a:rPr>
              <a:t>Confidence comes from the first two tiers and from agreement across independent runs, never from the model's self-report.</a:t>
            </a:r>
            <a:endParaRPr/>
          </a:p>
        </p:txBody>
      </p:sp>
      <p:sp>
        <p:nvSpPr>
          <p:cNvPr id="343" name="Google Shape;343;p9"/>
          <p:cNvSpPr txBox="1"/>
          <p:nvPr/>
        </p:nvSpPr>
        <p:spPr>
          <a:xfrm>
            <a:off x="658368" y="4133088"/>
            <a:ext cx="3657600" cy="25603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50" b="1" i="0">
                <a:solidFill>
                  <a:srgbClr val="0E7490"/>
                </a:solidFill>
                <a:latin typeface="Helvetica Neue"/>
                <a:ea typeface="Helvetica Neue"/>
                <a:cs typeface="Helvetica Neue"/>
                <a:sym typeface="Helvetica Neue"/>
              </a:rPr>
              <a:t>WHAT'S LEFT RUNS THIS LOOP</a:t>
            </a:r>
            <a:endParaRPr/>
          </a:p>
        </p:txBody>
      </p:sp>
      <p:sp>
        <p:nvSpPr>
          <p:cNvPr id="344" name="Google Shape;344;p9"/>
          <p:cNvSpPr/>
          <p:nvPr/>
        </p:nvSpPr>
        <p:spPr>
          <a:xfrm>
            <a:off x="658368" y="4462272"/>
            <a:ext cx="2551176" cy="137160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45" name="Google Shape;345;p9"/>
          <p:cNvSpPr txBox="1"/>
          <p:nvPr/>
        </p:nvSpPr>
        <p:spPr>
          <a:xfrm>
            <a:off x="859536" y="4608576"/>
            <a:ext cx="2148840" cy="25603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50" b="1" i="0">
                <a:solidFill>
                  <a:srgbClr val="0E7490"/>
                </a:solidFill>
                <a:latin typeface="Helvetica Neue"/>
                <a:ea typeface="Helvetica Neue"/>
                <a:cs typeface="Helvetica Neue"/>
                <a:sym typeface="Helvetica Neue"/>
              </a:rPr>
              <a:t>① Route to a person</a:t>
            </a:r>
            <a:endParaRPr/>
          </a:p>
        </p:txBody>
      </p:sp>
      <p:sp>
        <p:nvSpPr>
          <p:cNvPr id="346" name="Google Shape;346;p9"/>
          <p:cNvSpPr txBox="1"/>
          <p:nvPr/>
        </p:nvSpPr>
        <p:spPr>
          <a:xfrm>
            <a:off x="859536" y="4937760"/>
            <a:ext cx="2148840" cy="786384"/>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100" b="0" i="0">
                <a:solidFill>
                  <a:srgbClr val="333E4F"/>
                </a:solidFill>
                <a:latin typeface="Helvetica Neue"/>
                <a:ea typeface="Helvetica Neue"/>
                <a:cs typeface="Helvetica Neue"/>
                <a:sym typeface="Helvetica Neue"/>
              </a:rPr>
              <a:t>Below-threshold items reach the reviewer with full context, not a screen to hunt through.</a:t>
            </a:r>
            <a:endParaRPr/>
          </a:p>
        </p:txBody>
      </p:sp>
      <p:sp>
        <p:nvSpPr>
          <p:cNvPr id="347" name="Google Shape;347;p9"/>
          <p:cNvSpPr txBox="1"/>
          <p:nvPr/>
        </p:nvSpPr>
        <p:spPr>
          <a:xfrm>
            <a:off x="3246120" y="5010912"/>
            <a:ext cx="237744" cy="2743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1400" b="1" i="0">
                <a:solidFill>
                  <a:srgbClr val="B45309"/>
                </a:solidFill>
                <a:latin typeface="Helvetica Neue"/>
                <a:ea typeface="Helvetica Neue"/>
                <a:cs typeface="Helvetica Neue"/>
                <a:sym typeface="Helvetica Neue"/>
              </a:rPr>
              <a:t>→</a:t>
            </a:r>
            <a:endParaRPr/>
          </a:p>
        </p:txBody>
      </p:sp>
      <p:sp>
        <p:nvSpPr>
          <p:cNvPr id="348" name="Google Shape;348;p9"/>
          <p:cNvSpPr/>
          <p:nvPr/>
        </p:nvSpPr>
        <p:spPr>
          <a:xfrm>
            <a:off x="3468319" y="4462272"/>
            <a:ext cx="2551176" cy="137160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49" name="Google Shape;349;p9"/>
          <p:cNvSpPr txBox="1"/>
          <p:nvPr/>
        </p:nvSpPr>
        <p:spPr>
          <a:xfrm>
            <a:off x="3669487" y="4608576"/>
            <a:ext cx="2148840" cy="25603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50" b="1" i="0">
                <a:solidFill>
                  <a:srgbClr val="0E7490"/>
                </a:solidFill>
                <a:latin typeface="Helvetica Neue"/>
                <a:ea typeface="Helvetica Neue"/>
                <a:cs typeface="Helvetica Neue"/>
                <a:sym typeface="Helvetica Neue"/>
              </a:rPr>
              <a:t>② Structure the fix</a:t>
            </a:r>
            <a:endParaRPr/>
          </a:p>
        </p:txBody>
      </p:sp>
      <p:sp>
        <p:nvSpPr>
          <p:cNvPr id="350" name="Google Shape;350;p9"/>
          <p:cNvSpPr txBox="1"/>
          <p:nvPr/>
        </p:nvSpPr>
        <p:spPr>
          <a:xfrm>
            <a:off x="3669487" y="4937760"/>
            <a:ext cx="2148840" cy="786384"/>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100" b="0" i="0">
                <a:solidFill>
                  <a:srgbClr val="333E4F"/>
                </a:solidFill>
                <a:latin typeface="Helvetica Neue"/>
                <a:ea typeface="Helvetica Neue"/>
                <a:cs typeface="Helvetica Neue"/>
                <a:sym typeface="Helvetica Neue"/>
              </a:rPr>
              <a:t>Each fix becomes an explicit rule, versioned and scoped, not a silent vector entry.</a:t>
            </a:r>
            <a:endParaRPr/>
          </a:p>
        </p:txBody>
      </p:sp>
      <p:sp>
        <p:nvSpPr>
          <p:cNvPr id="351" name="Google Shape;351;p9"/>
          <p:cNvSpPr txBox="1"/>
          <p:nvPr/>
        </p:nvSpPr>
        <p:spPr>
          <a:xfrm>
            <a:off x="6056071" y="5010912"/>
            <a:ext cx="237744" cy="2743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1400" b="1" i="0">
                <a:solidFill>
                  <a:srgbClr val="B45309"/>
                </a:solidFill>
                <a:latin typeface="Helvetica Neue"/>
                <a:ea typeface="Helvetica Neue"/>
                <a:cs typeface="Helvetica Neue"/>
                <a:sym typeface="Helvetica Neue"/>
              </a:rPr>
              <a:t>→</a:t>
            </a:r>
            <a:endParaRPr/>
          </a:p>
        </p:txBody>
      </p:sp>
      <p:sp>
        <p:nvSpPr>
          <p:cNvPr id="352" name="Google Shape;352;p9"/>
          <p:cNvSpPr/>
          <p:nvPr/>
        </p:nvSpPr>
        <p:spPr>
          <a:xfrm>
            <a:off x="6278270" y="4462272"/>
            <a:ext cx="2551176" cy="137160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53" name="Google Shape;353;p9"/>
          <p:cNvSpPr txBox="1"/>
          <p:nvPr/>
        </p:nvSpPr>
        <p:spPr>
          <a:xfrm>
            <a:off x="6479438" y="4608576"/>
            <a:ext cx="2148840" cy="25603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50" b="1" i="0">
                <a:solidFill>
                  <a:srgbClr val="0E7490"/>
                </a:solidFill>
                <a:latin typeface="Helvetica Neue"/>
                <a:ea typeface="Helvetica Neue"/>
                <a:cs typeface="Helvetica Neue"/>
                <a:sym typeface="Helvetica Neue"/>
              </a:rPr>
              <a:t>③ Feed corpus and replay</a:t>
            </a:r>
            <a:endParaRPr/>
          </a:p>
        </p:txBody>
      </p:sp>
      <p:sp>
        <p:nvSpPr>
          <p:cNvPr id="354" name="Google Shape;354;p9"/>
          <p:cNvSpPr txBox="1"/>
          <p:nvPr/>
        </p:nvSpPr>
        <p:spPr>
          <a:xfrm>
            <a:off x="6479438" y="4937760"/>
            <a:ext cx="2148840" cy="786384"/>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100" b="0" i="0">
                <a:solidFill>
                  <a:srgbClr val="333E4F"/>
                </a:solidFill>
                <a:latin typeface="Helvetica Neue"/>
                <a:ea typeface="Helvetica Neue"/>
                <a:cs typeface="Helvetica Neue"/>
                <a:sym typeface="Helvetica Neue"/>
              </a:rPr>
              <a:t>Rules and fixes enter the corpus. Replaying real closes gives a score.</a:t>
            </a:r>
            <a:endParaRPr/>
          </a:p>
        </p:txBody>
      </p:sp>
      <p:sp>
        <p:nvSpPr>
          <p:cNvPr id="355" name="Google Shape;355;p9"/>
          <p:cNvSpPr txBox="1"/>
          <p:nvPr/>
        </p:nvSpPr>
        <p:spPr>
          <a:xfrm>
            <a:off x="8866022" y="5010912"/>
            <a:ext cx="237744" cy="2743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1400" b="1" i="0">
                <a:solidFill>
                  <a:srgbClr val="B45309"/>
                </a:solidFill>
                <a:latin typeface="Helvetica Neue"/>
                <a:ea typeface="Helvetica Neue"/>
                <a:cs typeface="Helvetica Neue"/>
                <a:sym typeface="Helvetica Neue"/>
              </a:rPr>
              <a:t>→</a:t>
            </a:r>
            <a:endParaRPr/>
          </a:p>
        </p:txBody>
      </p:sp>
      <p:sp>
        <p:nvSpPr>
          <p:cNvPr id="356" name="Google Shape;356;p9"/>
          <p:cNvSpPr/>
          <p:nvPr/>
        </p:nvSpPr>
        <p:spPr>
          <a:xfrm>
            <a:off x="9088221" y="4462272"/>
            <a:ext cx="2551176" cy="137160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57" name="Google Shape;357;p9"/>
          <p:cNvSpPr txBox="1"/>
          <p:nvPr/>
        </p:nvSpPr>
        <p:spPr>
          <a:xfrm>
            <a:off x="9289389" y="4608576"/>
            <a:ext cx="2148840" cy="25603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50" b="1" i="0">
                <a:solidFill>
                  <a:srgbClr val="0E7490"/>
                </a:solidFill>
                <a:latin typeface="Helvetica Neue"/>
                <a:ea typeface="Helvetica Neue"/>
                <a:cs typeface="Helvetica Neue"/>
                <a:sym typeface="Helvetica Neue"/>
              </a:rPr>
              <a:t>④ Ask less next time</a:t>
            </a:r>
            <a:endParaRPr/>
          </a:p>
        </p:txBody>
      </p:sp>
      <p:sp>
        <p:nvSpPr>
          <p:cNvPr id="358" name="Google Shape;358;p9"/>
          <p:cNvSpPr txBox="1"/>
          <p:nvPr/>
        </p:nvSpPr>
        <p:spPr>
          <a:xfrm>
            <a:off x="9289389" y="4937760"/>
            <a:ext cx="2148840" cy="786384"/>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100" b="0" i="0">
                <a:solidFill>
                  <a:srgbClr val="333E4F"/>
                </a:solidFill>
                <a:latin typeface="Helvetica Neue"/>
                <a:ea typeface="Helvetica Neue"/>
                <a:cs typeface="Helvetica Neue"/>
                <a:sym typeface="Helvetica Neue"/>
              </a:rPr>
              <a:t>Rules hit first, so the model guesses less. Changes clear regression before clients.</a:t>
            </a:r>
            <a:endParaRPr/>
          </a:p>
        </p:txBody>
      </p:sp>
      <p:sp>
        <p:nvSpPr>
          <p:cNvPr id="359" name="Google Shape;359;p9"/>
          <p:cNvSpPr/>
          <p:nvPr/>
        </p:nvSpPr>
        <p:spPr>
          <a:xfrm>
            <a:off x="658368" y="5961888"/>
            <a:ext cx="10874959" cy="457200"/>
          </a:xfrm>
          <a:prstGeom prst="roundRect">
            <a:avLst>
              <a:gd name="adj" fmla="val 4000"/>
            </a:avLst>
          </a:prstGeom>
          <a:solidFill>
            <a:srgbClr val="111A2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60" name="Google Shape;360;p9"/>
          <p:cNvSpPr txBox="1"/>
          <p:nvPr/>
        </p:nvSpPr>
        <p:spPr>
          <a:xfrm>
            <a:off x="950976" y="6071616"/>
            <a:ext cx="10289743" cy="27432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300" b="1" i="0">
                <a:solidFill>
                  <a:srgbClr val="FFFFFF"/>
                </a:solidFill>
                <a:latin typeface="Helvetica Neue"/>
                <a:ea typeface="Helvetica Neue"/>
                <a:cs typeface="Helvetica Neue"/>
                <a:sym typeface="Helvetica Neue"/>
              </a:rPr>
              <a:t>Every item a client reviews is one the system stops asking about. Auto-post climbs, review volume falls.</a:t>
            </a:r>
            <a:endParaRPr/>
          </a:p>
        </p:txBody>
      </p:sp>
      <p:sp>
        <p:nvSpPr>
          <p:cNvPr id="361" name="Google Shape;361;p9"/>
          <p:cNvSpPr txBox="1"/>
          <p:nvPr/>
        </p:nvSpPr>
        <p:spPr>
          <a:xfrm>
            <a:off x="10801807" y="6528816"/>
            <a:ext cx="731520" cy="237744"/>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1000">
                <a:solidFill>
                  <a:srgbClr val="D5DCE4"/>
                </a:solidFill>
                <a:latin typeface="Helvetica Neue"/>
                <a:ea typeface="Helvetica Neue"/>
                <a:cs typeface="Helvetica Neue"/>
                <a:sym typeface="Helvetica Neue"/>
              </a:rPr>
              <a:t>8</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5"/>
        <p:cNvGrpSpPr/>
        <p:nvPr/>
      </p:nvGrpSpPr>
      <p:grpSpPr>
        <a:xfrm>
          <a:off x="0" y="0"/>
          <a:ext cx="0" cy="0"/>
          <a:chOff x="0" y="0"/>
          <a:chExt cx="0" cy="0"/>
        </a:xfrm>
      </p:grpSpPr>
      <p:sp>
        <p:nvSpPr>
          <p:cNvPr id="366" name="Google Shape;366;p10"/>
          <p:cNvSpPr txBox="1"/>
          <p:nvPr/>
        </p:nvSpPr>
        <p:spPr>
          <a:xfrm>
            <a:off x="658368" y="420624"/>
            <a:ext cx="10874959" cy="256032"/>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100" b="1">
                <a:solidFill>
                  <a:srgbClr val="0E7490"/>
                </a:solidFill>
                <a:latin typeface="Helvetica Neue"/>
                <a:ea typeface="Helvetica Neue"/>
                <a:cs typeface="Helvetica Neue"/>
                <a:sym typeface="Helvetica Neue"/>
              </a:rPr>
              <a:t>KEY COMPONENT · 4 OF 4</a:t>
            </a:r>
            <a:endParaRPr/>
          </a:p>
        </p:txBody>
      </p:sp>
      <p:sp>
        <p:nvSpPr>
          <p:cNvPr id="367" name="Google Shape;367;p10"/>
          <p:cNvSpPr txBox="1"/>
          <p:nvPr/>
        </p:nvSpPr>
        <p:spPr>
          <a:xfrm>
            <a:off x="658368" y="749808"/>
            <a:ext cx="10874959"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a:solidFill>
                  <a:srgbClr val="111A27"/>
                </a:solidFill>
                <a:latin typeface="Helvetica Neue"/>
                <a:ea typeface="Helvetica Neue"/>
                <a:cs typeface="Helvetica Neue"/>
                <a:sym typeface="Helvetica Neue"/>
              </a:rPr>
              <a:t>Interfaces: generated on demand, owned by the customer</a:t>
            </a:r>
            <a:endParaRPr/>
          </a:p>
        </p:txBody>
      </p:sp>
      <p:sp>
        <p:nvSpPr>
          <p:cNvPr id="368" name="Google Shape;368;p10"/>
          <p:cNvSpPr txBox="1"/>
          <p:nvPr/>
        </p:nvSpPr>
        <p:spPr>
          <a:xfrm>
            <a:off x="658368" y="1316736"/>
            <a:ext cx="10424160" cy="56692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a:solidFill>
                  <a:srgbClr val="333E4F"/>
                </a:solidFill>
                <a:latin typeface="Helvetica Neue"/>
                <a:ea typeface="Helvetica Neue"/>
                <a:cs typeface="Helvetica Neue"/>
                <a:sym typeface="Helvetica Neue"/>
              </a:rPr>
              <a:t>Traditional software has to decide what the interface looks like first, then fit every customer into that one interface. If interfaces can be generated on demand and then persisted for reuse, that constraint disappears.</a:t>
            </a:r>
            <a:endParaRPr/>
          </a:p>
        </p:txBody>
      </p:sp>
      <p:sp>
        <p:nvSpPr>
          <p:cNvPr id="369" name="Google Shape;369;p10"/>
          <p:cNvSpPr/>
          <p:nvPr/>
        </p:nvSpPr>
        <p:spPr>
          <a:xfrm>
            <a:off x="658368" y="1965960"/>
            <a:ext cx="2551176" cy="182880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70" name="Google Shape;370;p10"/>
          <p:cNvSpPr txBox="1"/>
          <p:nvPr/>
        </p:nvSpPr>
        <p:spPr>
          <a:xfrm>
            <a:off x="859536" y="2121408"/>
            <a:ext cx="2148840" cy="256032"/>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250" b="1">
                <a:solidFill>
                  <a:srgbClr val="0E7490"/>
                </a:solidFill>
                <a:latin typeface="Helvetica Neue"/>
                <a:ea typeface="Helvetica Neue"/>
                <a:cs typeface="Helvetica Neue"/>
                <a:sym typeface="Helvetica Neue"/>
              </a:rPr>
              <a:t>① Generated on demand</a:t>
            </a:r>
            <a:endParaRPr/>
          </a:p>
        </p:txBody>
      </p:sp>
      <p:sp>
        <p:nvSpPr>
          <p:cNvPr id="371" name="Google Shape;371;p10"/>
          <p:cNvSpPr txBox="1"/>
          <p:nvPr/>
        </p:nvSpPr>
        <p:spPr>
          <a:xfrm>
            <a:off x="859536" y="2468880"/>
            <a:ext cx="2148840" cy="129323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150" b="0">
                <a:solidFill>
                  <a:srgbClr val="333E4F"/>
                </a:solidFill>
                <a:latin typeface="Helvetica Neue"/>
                <a:ea typeface="Helvetica Neue"/>
                <a:cs typeface="Helvetica Neue"/>
                <a:sym typeface="Helvetica Neue"/>
              </a:rPr>
              <a:t>A customer asks for something and the interface is generated for them on the spot. We do not have to plan and build for everyone in advance.</a:t>
            </a:r>
            <a:endParaRPr/>
          </a:p>
        </p:txBody>
      </p:sp>
      <p:sp>
        <p:nvSpPr>
          <p:cNvPr id="372" name="Google Shape;372;p10"/>
          <p:cNvSpPr/>
          <p:nvPr/>
        </p:nvSpPr>
        <p:spPr>
          <a:xfrm>
            <a:off x="3468319" y="1965960"/>
            <a:ext cx="2551176" cy="182880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73" name="Google Shape;373;p10"/>
          <p:cNvSpPr txBox="1"/>
          <p:nvPr/>
        </p:nvSpPr>
        <p:spPr>
          <a:xfrm>
            <a:off x="3669487" y="2121408"/>
            <a:ext cx="2148840" cy="256032"/>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250" b="1">
                <a:solidFill>
                  <a:srgbClr val="0E7490"/>
                </a:solidFill>
                <a:latin typeface="Helvetica Neue"/>
                <a:ea typeface="Helvetica Neue"/>
                <a:cs typeface="Helvetica Neue"/>
                <a:sym typeface="Helvetica Neue"/>
              </a:rPr>
              <a:t>② Persisted for reuse</a:t>
            </a:r>
            <a:endParaRPr/>
          </a:p>
        </p:txBody>
      </p:sp>
      <p:sp>
        <p:nvSpPr>
          <p:cNvPr id="374" name="Google Shape;374;p10"/>
          <p:cNvSpPr txBox="1"/>
          <p:nvPr/>
        </p:nvSpPr>
        <p:spPr>
          <a:xfrm>
            <a:off x="3669487" y="2468880"/>
            <a:ext cx="2148840" cy="117043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150" b="0">
                <a:solidFill>
                  <a:srgbClr val="333E4F"/>
                </a:solidFill>
                <a:latin typeface="Helvetica Neue"/>
                <a:ea typeface="Helvetica Neue"/>
                <a:cs typeface="Helvetica Neue"/>
                <a:sym typeface="Helvetica Neue"/>
              </a:rPr>
              <a:t>An interface that works is saved as that customer's own asset and called again next time, instead of being regenerated differently on every use.</a:t>
            </a:r>
            <a:endParaRPr/>
          </a:p>
        </p:txBody>
      </p:sp>
      <p:sp>
        <p:nvSpPr>
          <p:cNvPr id="375" name="Google Shape;375;p10"/>
          <p:cNvSpPr/>
          <p:nvPr/>
        </p:nvSpPr>
        <p:spPr>
          <a:xfrm>
            <a:off x="6278270" y="1965960"/>
            <a:ext cx="2551176" cy="182880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76" name="Google Shape;376;p10"/>
          <p:cNvSpPr txBox="1"/>
          <p:nvPr/>
        </p:nvSpPr>
        <p:spPr>
          <a:xfrm>
            <a:off x="6479438" y="2121408"/>
            <a:ext cx="2148840" cy="256032"/>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250" b="1">
                <a:solidFill>
                  <a:srgbClr val="0E7490"/>
                </a:solidFill>
                <a:latin typeface="Helvetica Neue"/>
                <a:ea typeface="Helvetica Neue"/>
                <a:cs typeface="Helvetica Neue"/>
                <a:sym typeface="Helvetica Neue"/>
              </a:rPr>
              <a:t>③ Their own vocabulary</a:t>
            </a:r>
            <a:endParaRPr/>
          </a:p>
        </p:txBody>
      </p:sp>
      <p:sp>
        <p:nvSpPr>
          <p:cNvPr id="377" name="Google Shape;377;p10"/>
          <p:cNvSpPr txBox="1"/>
          <p:nvPr/>
        </p:nvSpPr>
        <p:spPr>
          <a:xfrm>
            <a:off x="6479438" y="2468880"/>
            <a:ext cx="2148840" cy="102778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150" b="0">
                <a:solidFill>
                  <a:srgbClr val="333E4F"/>
                </a:solidFill>
                <a:latin typeface="Helvetica Neue"/>
                <a:ea typeface="Helvetica Neue"/>
                <a:cs typeface="Helvetica Neue"/>
                <a:sym typeface="Helvetica Neue"/>
              </a:rPr>
              <a:t>What the accounts are called, how the workflow runs, what the report looks like: all follow this customer's own preferences.</a:t>
            </a:r>
            <a:endParaRPr/>
          </a:p>
        </p:txBody>
      </p:sp>
      <p:sp>
        <p:nvSpPr>
          <p:cNvPr id="378" name="Google Shape;378;p10"/>
          <p:cNvSpPr/>
          <p:nvPr/>
        </p:nvSpPr>
        <p:spPr>
          <a:xfrm>
            <a:off x="9088221" y="1965960"/>
            <a:ext cx="2551176" cy="182880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79" name="Google Shape;379;p10"/>
          <p:cNvSpPr txBox="1"/>
          <p:nvPr/>
        </p:nvSpPr>
        <p:spPr>
          <a:xfrm>
            <a:off x="9289389" y="2121408"/>
            <a:ext cx="2148840" cy="250005"/>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250" b="1">
                <a:solidFill>
                  <a:srgbClr val="0E7490"/>
                </a:solidFill>
                <a:latin typeface="Helvetica Neue"/>
                <a:ea typeface="Helvetica Neue"/>
                <a:cs typeface="Helvetica Neue"/>
                <a:sym typeface="Helvetica Neue"/>
              </a:rPr>
              <a:t>④ Fully customizable</a:t>
            </a:r>
            <a:endParaRPr sz="1250" b="1">
              <a:solidFill>
                <a:srgbClr val="0E7490"/>
              </a:solidFill>
              <a:latin typeface="Helvetica Neue"/>
              <a:ea typeface="Helvetica Neue"/>
              <a:cs typeface="Helvetica Neue"/>
              <a:sym typeface="Helvetica Neue"/>
            </a:endParaRPr>
          </a:p>
        </p:txBody>
      </p:sp>
      <p:sp>
        <p:nvSpPr>
          <p:cNvPr id="380" name="Google Shape;380;p10"/>
          <p:cNvSpPr txBox="1"/>
          <p:nvPr/>
        </p:nvSpPr>
        <p:spPr>
          <a:xfrm>
            <a:off x="9289389" y="2468880"/>
            <a:ext cx="2148840" cy="102778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150" b="0">
                <a:solidFill>
                  <a:srgbClr val="333E4F"/>
                </a:solidFill>
                <a:latin typeface="Helvetica Neue"/>
                <a:ea typeface="Helvetica Neue"/>
                <a:cs typeface="Helvetica Neue"/>
                <a:sym typeface="Helvetica Neue"/>
              </a:rPr>
              <a:t>The interface belongs to the customer and they can keep changing it. We host it and keep it running.</a:t>
            </a:r>
            <a:endParaRPr/>
          </a:p>
        </p:txBody>
      </p:sp>
      <p:sp>
        <p:nvSpPr>
          <p:cNvPr id="381" name="Google Shape;381;p10"/>
          <p:cNvSpPr/>
          <p:nvPr/>
        </p:nvSpPr>
        <p:spPr>
          <a:xfrm>
            <a:off x="658368" y="3977639"/>
            <a:ext cx="5285232" cy="1704720"/>
          </a:xfrm>
          <a:prstGeom prst="roundRect">
            <a:avLst>
              <a:gd name="adj" fmla="val 4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82" name="Google Shape;382;p10"/>
          <p:cNvSpPr txBox="1"/>
          <p:nvPr/>
        </p:nvSpPr>
        <p:spPr>
          <a:xfrm>
            <a:off x="914400" y="4160520"/>
            <a:ext cx="4800600" cy="256032"/>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200" b="1">
                <a:solidFill>
                  <a:srgbClr val="B45309"/>
                </a:solidFill>
                <a:latin typeface="Helvetica Neue"/>
                <a:ea typeface="Helvetica Neue"/>
                <a:cs typeface="Helvetica Neue"/>
                <a:sym typeface="Helvetica Neue"/>
              </a:rPr>
              <a:t>INTEGRATION RUNS THE OTHER WAY NOW</a:t>
            </a:r>
            <a:endParaRPr/>
          </a:p>
        </p:txBody>
      </p:sp>
      <p:sp>
        <p:nvSpPr>
          <p:cNvPr id="383" name="Google Shape;383;p10"/>
          <p:cNvSpPr txBox="1"/>
          <p:nvPr/>
        </p:nvSpPr>
        <p:spPr>
          <a:xfrm>
            <a:off x="914400" y="4498848"/>
            <a:ext cx="4800600" cy="96012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a:solidFill>
                  <a:srgbClr val="7A3B08"/>
                </a:solidFill>
                <a:latin typeface="Helvetica Neue"/>
                <a:ea typeface="Helvetica Neue"/>
                <a:cs typeface="Helvetica Neue"/>
                <a:sym typeface="Helvetica Neue"/>
              </a:rPr>
              <a:t>We used to schedule plugin work while customers queued for support. Now they connect whatever they want, and the agent drives it the way a person would, with no roadmap dependency. Long-tail integration moves from our cost to their capability.</a:t>
            </a:r>
            <a:endParaRPr/>
          </a:p>
        </p:txBody>
      </p:sp>
      <p:sp>
        <p:nvSpPr>
          <p:cNvPr id="384" name="Google Shape;384;p10"/>
          <p:cNvSpPr/>
          <p:nvPr/>
        </p:nvSpPr>
        <p:spPr>
          <a:xfrm>
            <a:off x="6245352" y="3977638"/>
            <a:ext cx="5285232" cy="1704719"/>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85" name="Google Shape;385;p10"/>
          <p:cNvSpPr txBox="1"/>
          <p:nvPr/>
        </p:nvSpPr>
        <p:spPr>
          <a:xfrm>
            <a:off x="6501383" y="4160520"/>
            <a:ext cx="4791456" cy="234423"/>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200" b="1">
                <a:solidFill>
                  <a:srgbClr val="6B7688"/>
                </a:solidFill>
                <a:latin typeface="Helvetica Neue"/>
                <a:ea typeface="Helvetica Neue"/>
                <a:cs typeface="Helvetica Neue"/>
                <a:sym typeface="Helvetica Neue"/>
              </a:rPr>
              <a:t>INTERFACES CHANGE; GUARDRAILS DO NOT</a:t>
            </a:r>
            <a:endParaRPr/>
          </a:p>
        </p:txBody>
      </p:sp>
      <p:sp>
        <p:nvSpPr>
          <p:cNvPr id="386" name="Google Shape;386;p10"/>
          <p:cNvSpPr txBox="1"/>
          <p:nvPr/>
        </p:nvSpPr>
        <p:spPr>
          <a:xfrm>
            <a:off x="6501383" y="4498848"/>
            <a:ext cx="4791456" cy="96012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a:solidFill>
                  <a:srgbClr val="333E4F"/>
                </a:solidFill>
                <a:latin typeface="Helvetica Neue"/>
                <a:ea typeface="Helvetica Neue"/>
                <a:cs typeface="Helvetica Neue"/>
                <a:sym typeface="Helvetica Neue"/>
              </a:rPr>
              <a:t>A generated interface still has to act through the typed tool layer. Invariants, period locks and separation of duties cannot be bypassed. So interfaces being freely generated and the books staying correct are not in conflict.</a:t>
            </a:r>
            <a:endParaRPr/>
          </a:p>
        </p:txBody>
      </p:sp>
      <p:sp>
        <p:nvSpPr>
          <p:cNvPr id="387" name="Google Shape;387;p10"/>
          <p:cNvSpPr/>
          <p:nvPr/>
        </p:nvSpPr>
        <p:spPr>
          <a:xfrm>
            <a:off x="658368" y="5801263"/>
            <a:ext cx="10874959" cy="548640"/>
          </a:xfrm>
          <a:prstGeom prst="roundRect">
            <a:avLst>
              <a:gd name="adj" fmla="val 4000"/>
            </a:avLst>
          </a:prstGeom>
          <a:solidFill>
            <a:srgbClr val="111A2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88" name="Google Shape;388;p10"/>
          <p:cNvSpPr txBox="1"/>
          <p:nvPr/>
        </p:nvSpPr>
        <p:spPr>
          <a:xfrm>
            <a:off x="950976" y="5910991"/>
            <a:ext cx="10289743" cy="329184"/>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300" b="1">
                <a:solidFill>
                  <a:srgbClr val="FFFFFF"/>
                </a:solidFill>
                <a:latin typeface="Helvetica Neue"/>
                <a:ea typeface="Helvetica Neue"/>
                <a:cs typeface="Helvetica Neue"/>
                <a:sym typeface="Helvetica Neue"/>
              </a:rPr>
              <a:t>A learning curve is the customer paying for our design decisions. Generated, customer-owned interfaces remove that bill.</a:t>
            </a:r>
            <a:endParaRPr/>
          </a:p>
        </p:txBody>
      </p:sp>
      <p:sp>
        <p:nvSpPr>
          <p:cNvPr id="389" name="Google Shape;389;p10"/>
          <p:cNvSpPr txBox="1"/>
          <p:nvPr/>
        </p:nvSpPr>
        <p:spPr>
          <a:xfrm>
            <a:off x="10801807" y="6528816"/>
            <a:ext cx="731520" cy="237744"/>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1000" b="0">
                <a:solidFill>
                  <a:srgbClr val="D5DCE4"/>
                </a:solidFill>
                <a:latin typeface="Helvetica Neue"/>
                <a:ea typeface="Helvetica Neue"/>
                <a:cs typeface="Helvetica Neue"/>
                <a:sym typeface="Helvetica Neue"/>
              </a:rPr>
              <a:t>9</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11"/>
          <p:cNvSpPr txBox="1"/>
          <p:nvPr/>
        </p:nvSpPr>
        <p:spPr>
          <a:xfrm>
            <a:off x="658368" y="420624"/>
            <a:ext cx="10874959" cy="25603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00" b="1" i="0">
                <a:solidFill>
                  <a:srgbClr val="0E7490"/>
                </a:solidFill>
                <a:latin typeface="Helvetica Neue"/>
                <a:ea typeface="Helvetica Neue"/>
                <a:cs typeface="Helvetica Neue"/>
                <a:sym typeface="Helvetica Neue"/>
              </a:rPr>
              <a:t>TECHNICAL RISK</a:t>
            </a:r>
            <a:endParaRPr/>
          </a:p>
        </p:txBody>
      </p:sp>
      <p:sp>
        <p:nvSpPr>
          <p:cNvPr id="395" name="Google Shape;395;p11"/>
          <p:cNvSpPr txBox="1"/>
          <p:nvPr/>
        </p:nvSpPr>
        <p:spPr>
          <a:xfrm>
            <a:off x="658368" y="749808"/>
            <a:ext cx="10874959"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i="0">
                <a:solidFill>
                  <a:srgbClr val="111A27"/>
                </a:solidFill>
                <a:latin typeface="Helvetica Neue"/>
                <a:ea typeface="Helvetica Neue"/>
                <a:cs typeface="Helvetica Neue"/>
                <a:sym typeface="Helvetica Neue"/>
              </a:rPr>
              <a:t>The two hard problems, stated plainly</a:t>
            </a:r>
            <a:endParaRPr/>
          </a:p>
        </p:txBody>
      </p:sp>
      <p:sp>
        <p:nvSpPr>
          <p:cNvPr id="396" name="Google Shape;396;p11"/>
          <p:cNvSpPr/>
          <p:nvPr/>
        </p:nvSpPr>
        <p:spPr>
          <a:xfrm>
            <a:off x="658368" y="1828800"/>
            <a:ext cx="5294376" cy="393192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97" name="Google Shape;397;p11"/>
          <p:cNvSpPr txBox="1"/>
          <p:nvPr/>
        </p:nvSpPr>
        <p:spPr>
          <a:xfrm>
            <a:off x="932688" y="2048256"/>
            <a:ext cx="4745736" cy="32004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700" b="1" i="0">
                <a:solidFill>
                  <a:srgbClr val="111A27"/>
                </a:solidFill>
                <a:latin typeface="Helvetica Neue"/>
                <a:ea typeface="Helvetica Neue"/>
                <a:cs typeface="Helvetica Neue"/>
                <a:sym typeface="Helvetica Neue"/>
              </a:rPr>
              <a:t>1 · Reliability compounds badly</a:t>
            </a:r>
            <a:endParaRPr/>
          </a:p>
        </p:txBody>
      </p:sp>
      <p:sp>
        <p:nvSpPr>
          <p:cNvPr id="398" name="Google Shape;398;p11"/>
          <p:cNvSpPr txBox="1"/>
          <p:nvPr/>
        </p:nvSpPr>
        <p:spPr>
          <a:xfrm>
            <a:off x="932688" y="2487168"/>
            <a:ext cx="4745736" cy="36576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500" b="1" i="0">
                <a:solidFill>
                  <a:srgbClr val="B45309"/>
                </a:solidFill>
                <a:latin typeface="Helvetica Neue"/>
                <a:ea typeface="Helvetica Neue"/>
                <a:cs typeface="Helvetica Neue"/>
                <a:sym typeface="Helvetica Neue"/>
              </a:rPr>
              <a:t>95% per step across 20 steps is 36% end to end.</a:t>
            </a:r>
            <a:endParaRPr/>
          </a:p>
        </p:txBody>
      </p:sp>
      <p:sp>
        <p:nvSpPr>
          <p:cNvPr id="399" name="Google Shape;399;p11"/>
          <p:cNvSpPr txBox="1"/>
          <p:nvPr/>
        </p:nvSpPr>
        <p:spPr>
          <a:xfrm>
            <a:off x="932688" y="2962656"/>
            <a:ext cx="4745736" cy="5029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300" b="0" i="0">
                <a:solidFill>
                  <a:srgbClr val="333E4F"/>
                </a:solidFill>
                <a:latin typeface="Helvetica Neue"/>
                <a:ea typeface="Helvetica Neue"/>
                <a:cs typeface="Helvetica Neue"/>
                <a:sym typeface="Helvetica Neue"/>
              </a:rPr>
              <a:t>The central engineering problem of the category, and no prompt fixes it. The only real answer is architectural:</a:t>
            </a:r>
            <a:endParaRPr/>
          </a:p>
        </p:txBody>
      </p:sp>
      <p:sp>
        <p:nvSpPr>
          <p:cNvPr id="400" name="Google Shape;400;p11"/>
          <p:cNvSpPr txBox="1"/>
          <p:nvPr/>
        </p:nvSpPr>
        <p:spPr>
          <a:xfrm>
            <a:off x="932688" y="3547872"/>
            <a:ext cx="4745736" cy="1463040"/>
          </a:xfrm>
          <a:prstGeom prst="rect">
            <a:avLst/>
          </a:prstGeom>
          <a:noFill/>
          <a:ln>
            <a:noFill/>
          </a:ln>
        </p:spPr>
        <p:txBody>
          <a:bodyPr spcFirstLastPara="1" wrap="square" lIns="0" tIns="0" rIns="0" bIns="0" anchor="t" anchorCtr="0">
            <a:spAutoFit/>
          </a:bodyPr>
          <a:lstStyle/>
          <a:p>
            <a:pPr marL="144000" marR="0" lvl="0" indent="-144000" algn="l" rtl="0">
              <a:lnSpc>
                <a:spcPct val="128000"/>
              </a:lnSpc>
              <a:spcBef>
                <a:spcPts val="0"/>
              </a:spcBef>
              <a:spcAft>
                <a:spcPts val="0"/>
              </a:spcAft>
              <a:buClr>
                <a:srgbClr val="333E4F"/>
              </a:buClr>
              <a:buSzPts val="1250"/>
              <a:buFont typeface="Arial"/>
              <a:buChar char="•"/>
            </a:pPr>
            <a:r>
              <a:rPr lang="en-US" sz="1250" b="0" i="0">
                <a:solidFill>
                  <a:srgbClr val="333E4F"/>
                </a:solidFill>
                <a:latin typeface="Helvetica Neue"/>
                <a:ea typeface="Helvetica Neue"/>
                <a:cs typeface="Helvetica Neue"/>
                <a:sym typeface="Helvetica Neue"/>
              </a:rPr>
              <a:t>Shorten agentic spans; keep deterministic orchestration between them</a:t>
            </a:r>
            <a:endParaRPr/>
          </a:p>
          <a:p>
            <a:pPr marL="144000" marR="0" lvl="0" indent="-144000" algn="l" rtl="0">
              <a:lnSpc>
                <a:spcPct val="128000"/>
              </a:lnSpc>
              <a:spcBef>
                <a:spcPts val="600"/>
              </a:spcBef>
              <a:spcAft>
                <a:spcPts val="0"/>
              </a:spcAft>
              <a:buClr>
                <a:srgbClr val="333E4F"/>
              </a:buClr>
              <a:buSzPts val="1250"/>
              <a:buFont typeface="Arial"/>
              <a:buChar char="•"/>
            </a:pPr>
            <a:r>
              <a:rPr lang="en-US" sz="1250" b="0" i="0">
                <a:solidFill>
                  <a:srgbClr val="333E4F"/>
                </a:solidFill>
                <a:latin typeface="Helvetica Neue"/>
                <a:ea typeface="Helvetica Neue"/>
                <a:cs typeface="Helvetica Neue"/>
                <a:sym typeface="Helvetica Neue"/>
              </a:rPr>
              <a:t>Make every step independently verifiable</a:t>
            </a:r>
            <a:endParaRPr/>
          </a:p>
          <a:p>
            <a:pPr marL="144000" marR="0" lvl="0" indent="-144000" algn="l" rtl="0">
              <a:lnSpc>
                <a:spcPct val="128000"/>
              </a:lnSpc>
              <a:spcBef>
                <a:spcPts val="600"/>
              </a:spcBef>
              <a:spcAft>
                <a:spcPts val="0"/>
              </a:spcAft>
              <a:buClr>
                <a:srgbClr val="333E4F"/>
              </a:buClr>
              <a:buSzPts val="1250"/>
              <a:buFont typeface="Arial"/>
              <a:buChar char="•"/>
            </a:pPr>
            <a:r>
              <a:rPr lang="en-US" sz="1250" b="0" i="0">
                <a:solidFill>
                  <a:srgbClr val="333E4F"/>
                </a:solidFill>
                <a:latin typeface="Helvetica Neue"/>
                <a:ea typeface="Helvetica Neue"/>
                <a:cs typeface="Helvetica Neue"/>
                <a:sym typeface="Helvetica Neue"/>
              </a:rPr>
              <a:t>Gate before commit, always</a:t>
            </a:r>
            <a:endParaRPr/>
          </a:p>
          <a:p>
            <a:pPr marL="144000" marR="0" lvl="0" indent="-144000" algn="l" rtl="0">
              <a:lnSpc>
                <a:spcPct val="128000"/>
              </a:lnSpc>
              <a:spcBef>
                <a:spcPts val="600"/>
              </a:spcBef>
              <a:spcAft>
                <a:spcPts val="0"/>
              </a:spcAft>
              <a:buClr>
                <a:srgbClr val="333E4F"/>
              </a:buClr>
              <a:buSzPts val="1250"/>
              <a:buFont typeface="Arial"/>
              <a:buChar char="•"/>
            </a:pPr>
            <a:r>
              <a:rPr lang="en-US" sz="1250" b="0" i="0">
                <a:solidFill>
                  <a:srgbClr val="333E4F"/>
                </a:solidFill>
                <a:latin typeface="Helvetica Neue"/>
                <a:ea typeface="Helvetica Neue"/>
                <a:cs typeface="Helvetica Neue"/>
                <a:sym typeface="Helvetica Neue"/>
              </a:rPr>
              <a:t>Prefer many short verified hops to one long chain</a:t>
            </a:r>
            <a:endParaRPr/>
          </a:p>
        </p:txBody>
      </p:sp>
      <p:sp>
        <p:nvSpPr>
          <p:cNvPr id="401" name="Google Shape;401;p11"/>
          <p:cNvSpPr txBox="1"/>
          <p:nvPr/>
        </p:nvSpPr>
        <p:spPr>
          <a:xfrm>
            <a:off x="932688" y="4983480"/>
            <a:ext cx="4745736" cy="5029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1" i="0">
                <a:solidFill>
                  <a:srgbClr val="B45309"/>
                </a:solidFill>
                <a:latin typeface="Helvetica Neue"/>
                <a:ea typeface="Helvetica Neue"/>
                <a:cs typeface="Helvetica Neue"/>
                <a:sym typeface="Helvetica Neue"/>
              </a:rPr>
              <a:t>Use it as a filter on anyone else you look at: ask how long their autonomous chains run, and what verifies each step.</a:t>
            </a:r>
            <a:endParaRPr/>
          </a:p>
        </p:txBody>
      </p:sp>
      <p:sp>
        <p:nvSpPr>
          <p:cNvPr id="402" name="Google Shape;402;p11"/>
          <p:cNvSpPr/>
          <p:nvPr/>
        </p:nvSpPr>
        <p:spPr>
          <a:xfrm>
            <a:off x="6245352" y="1828800"/>
            <a:ext cx="5294376" cy="393192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03" name="Google Shape;403;p11"/>
          <p:cNvSpPr txBox="1"/>
          <p:nvPr/>
        </p:nvSpPr>
        <p:spPr>
          <a:xfrm>
            <a:off x="6519672" y="2048256"/>
            <a:ext cx="4745736" cy="32004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700" b="1" i="0">
                <a:solidFill>
                  <a:srgbClr val="111A27"/>
                </a:solidFill>
                <a:latin typeface="Helvetica Neue"/>
                <a:ea typeface="Helvetica Neue"/>
                <a:cs typeface="Helvetica Neue"/>
                <a:sym typeface="Helvetica Neue"/>
              </a:rPr>
              <a:t>2 · The security model inverts</a:t>
            </a:r>
            <a:endParaRPr/>
          </a:p>
        </p:txBody>
      </p:sp>
      <p:sp>
        <p:nvSpPr>
          <p:cNvPr id="404" name="Google Shape;404;p11"/>
          <p:cNvSpPr txBox="1"/>
          <p:nvPr/>
        </p:nvSpPr>
        <p:spPr>
          <a:xfrm>
            <a:off x="6519672" y="2487168"/>
            <a:ext cx="4745736" cy="50292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500" b="1" i="0">
                <a:solidFill>
                  <a:srgbClr val="B45309"/>
                </a:solidFill>
                <a:latin typeface="Helvetica Neue"/>
                <a:ea typeface="Helvetica Neue"/>
                <a:cs typeface="Helvetica Neue"/>
                <a:sym typeface="Helvetica Neue"/>
              </a:rPr>
              <a:t>An actor with write authority, reading untrusted content.</a:t>
            </a:r>
            <a:endParaRPr/>
          </a:p>
        </p:txBody>
      </p:sp>
      <p:sp>
        <p:nvSpPr>
          <p:cNvPr id="405" name="Google Shape;405;p11"/>
          <p:cNvSpPr txBox="1"/>
          <p:nvPr/>
        </p:nvSpPr>
        <p:spPr>
          <a:xfrm>
            <a:off x="6519672" y="3072384"/>
            <a:ext cx="4745736" cy="7315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300" b="0" i="0">
                <a:solidFill>
                  <a:srgbClr val="333E4F"/>
                </a:solidFill>
                <a:latin typeface="Helvetica Neue"/>
                <a:ea typeface="Helvetica Neue"/>
                <a:cs typeface="Helvetica Neue"/>
                <a:sym typeface="Helvetica Neue"/>
              </a:rPr>
              <a:t>Normally code is trusted and users are not. Our agent is neither: it holds write access while reading an untrusted PDF or email. What is exposed is the client's books.</a:t>
            </a:r>
            <a:endParaRPr/>
          </a:p>
        </p:txBody>
      </p:sp>
      <p:sp>
        <p:nvSpPr>
          <p:cNvPr id="406" name="Google Shape;406;p11"/>
          <p:cNvSpPr txBox="1"/>
          <p:nvPr/>
        </p:nvSpPr>
        <p:spPr>
          <a:xfrm>
            <a:off x="6519672" y="3858768"/>
            <a:ext cx="4745736" cy="1691640"/>
          </a:xfrm>
          <a:prstGeom prst="rect">
            <a:avLst/>
          </a:prstGeom>
          <a:noFill/>
          <a:ln>
            <a:noFill/>
          </a:ln>
        </p:spPr>
        <p:txBody>
          <a:bodyPr spcFirstLastPara="1" wrap="square" lIns="0" tIns="0" rIns="0" bIns="0" anchor="t" anchorCtr="0">
            <a:spAutoFit/>
          </a:bodyPr>
          <a:lstStyle/>
          <a:p>
            <a:pPr marL="144000" marR="0" lvl="0" indent="-144000" algn="l" rtl="0">
              <a:lnSpc>
                <a:spcPct val="128000"/>
              </a:lnSpc>
              <a:spcBef>
                <a:spcPts val="0"/>
              </a:spcBef>
              <a:spcAft>
                <a:spcPts val="0"/>
              </a:spcAft>
              <a:buClr>
                <a:srgbClr val="333E4F"/>
              </a:buClr>
              <a:buSzPts val="1250"/>
              <a:buFont typeface="Arial"/>
              <a:buChar char="•"/>
            </a:pPr>
            <a:r>
              <a:rPr lang="en-US" sz="1250" b="0" i="0">
                <a:solidFill>
                  <a:srgbClr val="333E4F"/>
                </a:solidFill>
                <a:latin typeface="Helvetica Neue"/>
                <a:ea typeface="Helvetica Neue"/>
                <a:cs typeface="Helvetica Neue"/>
                <a:sym typeface="Helvetica Neue"/>
              </a:rPr>
              <a:t>Scoped, least-privilege credentials per task</a:t>
            </a:r>
            <a:endParaRPr/>
          </a:p>
          <a:p>
            <a:pPr marL="144000" marR="0" lvl="0" indent="-144000" algn="l" rtl="0">
              <a:lnSpc>
                <a:spcPct val="128000"/>
              </a:lnSpc>
              <a:spcBef>
                <a:spcPts val="600"/>
              </a:spcBef>
              <a:spcAft>
                <a:spcPts val="0"/>
              </a:spcAft>
              <a:buClr>
                <a:srgbClr val="333E4F"/>
              </a:buClr>
              <a:buSzPts val="1250"/>
              <a:buFont typeface="Arial"/>
              <a:buChar char="•"/>
            </a:pPr>
            <a:r>
              <a:rPr lang="en-US" sz="1250" b="0" i="0">
                <a:solidFill>
                  <a:srgbClr val="333E4F"/>
                </a:solidFill>
                <a:latin typeface="Helvetica Neue"/>
                <a:ea typeface="Helvetica Neue"/>
                <a:cs typeface="Helvetica Neue"/>
                <a:sym typeface="Helvetica Neue"/>
              </a:rPr>
              <a:t>No tool both reads untrusted content and takes irreversible action</a:t>
            </a:r>
            <a:endParaRPr/>
          </a:p>
          <a:p>
            <a:pPr marL="144000" marR="0" lvl="0" indent="-144000" algn="l" rtl="0">
              <a:lnSpc>
                <a:spcPct val="128000"/>
              </a:lnSpc>
              <a:spcBef>
                <a:spcPts val="600"/>
              </a:spcBef>
              <a:spcAft>
                <a:spcPts val="0"/>
              </a:spcAft>
              <a:buClr>
                <a:srgbClr val="333E4F"/>
              </a:buClr>
              <a:buSzPts val="1250"/>
              <a:buFont typeface="Arial"/>
              <a:buChar char="•"/>
            </a:pPr>
            <a:r>
              <a:rPr lang="en-US" sz="1250" b="0" i="0">
                <a:solidFill>
                  <a:srgbClr val="333E4F"/>
                </a:solidFill>
                <a:latin typeface="Helvetica Neue"/>
                <a:ea typeface="Helvetica Neue"/>
                <a:cs typeface="Helvetica Neue"/>
                <a:sym typeface="Helvetica Neue"/>
              </a:rPr>
              <a:t>Separation of duties in code: an agent cannot approve its own entry</a:t>
            </a:r>
            <a:endParaRPr/>
          </a:p>
          <a:p>
            <a:pPr marL="144000" marR="0" lvl="0" indent="-144000" algn="l" rtl="0">
              <a:lnSpc>
                <a:spcPct val="128000"/>
              </a:lnSpc>
              <a:spcBef>
                <a:spcPts val="600"/>
              </a:spcBef>
              <a:spcAft>
                <a:spcPts val="0"/>
              </a:spcAft>
              <a:buClr>
                <a:srgbClr val="333E4F"/>
              </a:buClr>
              <a:buSzPts val="1250"/>
              <a:buFont typeface="Arial"/>
              <a:buChar char="•"/>
            </a:pPr>
            <a:r>
              <a:rPr lang="en-US" sz="1250" b="0" i="0">
                <a:solidFill>
                  <a:srgbClr val="333E4F"/>
                </a:solidFill>
                <a:latin typeface="Helvetica Neue"/>
                <a:ea typeface="Helvetica Neue"/>
                <a:cs typeface="Helvetica Neue"/>
                <a:sym typeface="Helvetica Neue"/>
              </a:rPr>
              <a:t>Hard period locks; document-derived text treated as tainted</a:t>
            </a:r>
            <a:endParaRPr/>
          </a:p>
        </p:txBody>
      </p:sp>
      <p:sp>
        <p:nvSpPr>
          <p:cNvPr id="407" name="Google Shape;407;p11"/>
          <p:cNvSpPr txBox="1"/>
          <p:nvPr/>
        </p:nvSpPr>
        <p:spPr>
          <a:xfrm>
            <a:off x="658368" y="5897880"/>
            <a:ext cx="10874959" cy="45720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200" b="0" i="0">
                <a:solidFill>
                  <a:srgbClr val="333E4F"/>
                </a:solidFill>
                <a:latin typeface="Helvetica Neue"/>
                <a:ea typeface="Helvetica Neue"/>
                <a:cs typeface="Helvetica Neue"/>
                <a:sym typeface="Helvetica Neue"/>
              </a:rPr>
              <a:t>Three more we do not minimise. The 60/40 trap: the easy majority automates fast while the residual holds most of the hours, so we measure activity time, not transaction counts. Migration onto the substrate. And the verifier becoming the ceiling as the agent improves.</a:t>
            </a:r>
            <a:endParaRPr/>
          </a:p>
        </p:txBody>
      </p:sp>
      <p:sp>
        <p:nvSpPr>
          <p:cNvPr id="408" name="Google Shape;408;p11"/>
          <p:cNvSpPr txBox="1"/>
          <p:nvPr/>
        </p:nvSpPr>
        <p:spPr>
          <a:xfrm>
            <a:off x="10801807" y="6528816"/>
            <a:ext cx="731520" cy="237744"/>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1000" b="0" i="0">
                <a:solidFill>
                  <a:srgbClr val="D5DCE4"/>
                </a:solidFill>
                <a:latin typeface="Helvetica Neue"/>
                <a:ea typeface="Helvetica Neue"/>
                <a:cs typeface="Helvetica Neue"/>
                <a:sym typeface="Helvetica Neue"/>
              </a:rPr>
              <a:t>10</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sp>
        <p:nvSpPr>
          <p:cNvPr id="414" name="Google Shape;414;p12"/>
          <p:cNvSpPr txBox="1"/>
          <p:nvPr/>
        </p:nvSpPr>
        <p:spPr>
          <a:xfrm>
            <a:off x="10801807" y="6528816"/>
            <a:ext cx="731520" cy="23774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000" b="0" i="0">
                <a:solidFill>
                  <a:srgbClr val="D5DCE4"/>
                </a:solidFill>
                <a:latin typeface="Helvetica Neue"/>
                <a:ea typeface="Helvetica Neue"/>
                <a:cs typeface="Helvetica Neue"/>
                <a:sym typeface="Helvetica Neue"/>
              </a:rPr>
              <a:t>11</a:t>
            </a:r>
            <a:endParaRPr/>
          </a:p>
        </p:txBody>
      </p:sp>
      <p:sp>
        <p:nvSpPr>
          <p:cNvPr id="415" name="Google Shape;415;p12"/>
          <p:cNvSpPr txBox="1"/>
          <p:nvPr/>
        </p:nvSpPr>
        <p:spPr>
          <a:xfrm>
            <a:off x="658368" y="420624"/>
            <a:ext cx="10874959" cy="19582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100" b="1" i="0">
                <a:solidFill>
                  <a:srgbClr val="0E7490"/>
                </a:solidFill>
                <a:latin typeface="Helvetica Neue"/>
                <a:ea typeface="Helvetica Neue"/>
                <a:cs typeface="Helvetica Neue"/>
                <a:sym typeface="Helvetica Neue"/>
              </a:rPr>
              <a:t>ENGINEERING </a:t>
            </a:r>
            <a:r>
              <a:rPr lang="en-US" sz="1100" b="1">
                <a:solidFill>
                  <a:srgbClr val="0E7490"/>
                </a:solidFill>
                <a:latin typeface="Helvetica Neue"/>
                <a:ea typeface="Helvetica Neue"/>
                <a:cs typeface="Helvetica Neue"/>
                <a:sym typeface="Helvetica Neue"/>
              </a:rPr>
              <a:t>SHIFT</a:t>
            </a:r>
            <a:endParaRPr sz="1100" b="1" i="0">
              <a:solidFill>
                <a:srgbClr val="0E7490"/>
              </a:solidFill>
              <a:latin typeface="Helvetica Neue"/>
              <a:ea typeface="Helvetica Neue"/>
              <a:cs typeface="Helvetica Neue"/>
              <a:sym typeface="Helvetica Neue"/>
            </a:endParaRPr>
          </a:p>
        </p:txBody>
      </p:sp>
      <p:sp>
        <p:nvSpPr>
          <p:cNvPr id="416" name="Google Shape;416;p12"/>
          <p:cNvSpPr txBox="1"/>
          <p:nvPr/>
        </p:nvSpPr>
        <p:spPr>
          <a:xfrm>
            <a:off x="658368" y="749808"/>
            <a:ext cx="10874959" cy="43813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a:solidFill>
                  <a:srgbClr val="111A27"/>
                </a:solidFill>
                <a:latin typeface="Helvetica Neue"/>
                <a:ea typeface="Helvetica Neue"/>
                <a:cs typeface="Helvetica Neue"/>
                <a:sym typeface="Helvetica Neue"/>
              </a:rPr>
              <a:t>Where the engineering effort goes</a:t>
            </a:r>
            <a:endParaRPr sz="2600" b="1" i="0">
              <a:solidFill>
                <a:srgbClr val="111A27"/>
              </a:solidFill>
              <a:latin typeface="Helvetica Neue"/>
              <a:ea typeface="Helvetica Neue"/>
              <a:cs typeface="Helvetica Neue"/>
              <a:sym typeface="Helvetica Neue"/>
            </a:endParaRPr>
          </a:p>
        </p:txBody>
      </p:sp>
      <p:graphicFrame>
        <p:nvGraphicFramePr>
          <p:cNvPr id="417" name="Google Shape;417;p12"/>
          <p:cNvGraphicFramePr/>
          <p:nvPr/>
        </p:nvGraphicFramePr>
        <p:xfrm>
          <a:off x="658368" y="1668660"/>
          <a:ext cx="10872225" cy="3346625"/>
        </p:xfrm>
        <a:graphic>
          <a:graphicData uri="http://schemas.openxmlformats.org/drawingml/2006/table">
            <a:tbl>
              <a:tblPr>
                <a:noFill/>
                <a:tableStyleId>{AC102487-FF41-47C9-82F8-DD1084D7B1E0}</a:tableStyleId>
              </a:tblPr>
              <a:tblGrid>
                <a:gridCol w="3017525">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88725">
                  <a:extLst>
                    <a:ext uri="{9D8B030D-6E8A-4147-A177-3AD203B41FA5}">
                      <a16:colId xmlns:a16="http://schemas.microsoft.com/office/drawing/2014/main" val="20002"/>
                    </a:ext>
                  </a:extLst>
                </a:gridCol>
                <a:gridCol w="5294375">
                  <a:extLst>
                    <a:ext uri="{9D8B030D-6E8A-4147-A177-3AD203B41FA5}">
                      <a16:colId xmlns:a16="http://schemas.microsoft.com/office/drawing/2014/main" val="20003"/>
                    </a:ext>
                  </a:extLst>
                </a:gridCol>
              </a:tblGrid>
              <a:tr h="384050">
                <a:tc>
                  <a:txBody>
                    <a:bodyPr/>
                    <a:lstStyle/>
                    <a:p>
                      <a:pPr marL="0" marR="0" lvl="0" indent="0" algn="l" rtl="0">
                        <a:lnSpc>
                          <a:spcPct val="125000"/>
                        </a:lnSpc>
                        <a:spcBef>
                          <a:spcPts val="0"/>
                        </a:spcBef>
                        <a:spcAft>
                          <a:spcPts val="0"/>
                        </a:spcAft>
                        <a:buNone/>
                      </a:pPr>
                      <a:r>
                        <a:rPr lang="en-US" sz="1150" b="1" i="0" u="none" strike="noStrike" cap="none">
                          <a:solidFill>
                            <a:srgbClr val="FFFFFF"/>
                          </a:solidFill>
                          <a:latin typeface="Helvetica Neue"/>
                          <a:ea typeface="Helvetica Neue"/>
                          <a:cs typeface="Helvetica Neue"/>
                          <a:sym typeface="Helvetica Neue"/>
                        </a:rPr>
                        <a:t>Layer</a:t>
                      </a:r>
                      <a:endParaRPr/>
                    </a:p>
                  </a:txBody>
                  <a:tcPr marL="91450" marR="73150" marT="36575" marB="36575" anchor="ctr">
                    <a:solidFill>
                      <a:srgbClr val="111A27"/>
                    </a:solidFill>
                  </a:tcPr>
                </a:tc>
                <a:tc>
                  <a:txBody>
                    <a:bodyPr/>
                    <a:lstStyle/>
                    <a:p>
                      <a:pPr marL="0" marR="0" lvl="0" indent="0" algn="l" rtl="0">
                        <a:lnSpc>
                          <a:spcPct val="125000"/>
                        </a:lnSpc>
                        <a:spcBef>
                          <a:spcPts val="0"/>
                        </a:spcBef>
                        <a:spcAft>
                          <a:spcPts val="0"/>
                        </a:spcAft>
                        <a:buNone/>
                      </a:pPr>
                      <a:r>
                        <a:rPr lang="en-US" sz="1150" b="1" i="0" u="none" strike="noStrike" cap="none">
                          <a:solidFill>
                            <a:srgbClr val="FFFFFF"/>
                          </a:solidFill>
                          <a:latin typeface="Helvetica Neue"/>
                          <a:ea typeface="Helvetica Neue"/>
                          <a:cs typeface="Helvetica Neue"/>
                          <a:sym typeface="Helvetica Neue"/>
                        </a:rPr>
                        <a:t>Traditional</a:t>
                      </a:r>
                      <a:endParaRPr/>
                    </a:p>
                  </a:txBody>
                  <a:tcPr marL="91450" marR="73150" marT="36575" marB="36575" anchor="ctr">
                    <a:solidFill>
                      <a:srgbClr val="111A27"/>
                    </a:solidFill>
                  </a:tcPr>
                </a:tc>
                <a:tc>
                  <a:txBody>
                    <a:bodyPr/>
                    <a:lstStyle/>
                    <a:p>
                      <a:pPr marL="0" marR="0" lvl="0" indent="0" algn="l" rtl="0">
                        <a:lnSpc>
                          <a:spcPct val="125000"/>
                        </a:lnSpc>
                        <a:spcBef>
                          <a:spcPts val="0"/>
                        </a:spcBef>
                        <a:spcAft>
                          <a:spcPts val="0"/>
                        </a:spcAft>
                        <a:buNone/>
                      </a:pPr>
                      <a:r>
                        <a:rPr lang="en-US" sz="1150" b="1" i="0" u="none" strike="noStrike" cap="none">
                          <a:solidFill>
                            <a:srgbClr val="FFFFFF"/>
                          </a:solidFill>
                          <a:latin typeface="Helvetica Neue"/>
                          <a:ea typeface="Helvetica Neue"/>
                          <a:cs typeface="Helvetica Neue"/>
                          <a:sym typeface="Helvetica Neue"/>
                        </a:rPr>
                        <a:t>Ours</a:t>
                      </a:r>
                      <a:endParaRPr/>
                    </a:p>
                  </a:txBody>
                  <a:tcPr marL="91450" marR="73150" marT="36575" marB="36575" anchor="ctr">
                    <a:solidFill>
                      <a:srgbClr val="111A27"/>
                    </a:solidFill>
                  </a:tcPr>
                </a:tc>
                <a:tc>
                  <a:txBody>
                    <a:bodyPr/>
                    <a:lstStyle/>
                    <a:p>
                      <a:pPr marL="0" marR="0" lvl="0" indent="0" algn="l" rtl="0">
                        <a:lnSpc>
                          <a:spcPct val="125000"/>
                        </a:lnSpc>
                        <a:spcBef>
                          <a:spcPts val="0"/>
                        </a:spcBef>
                        <a:spcAft>
                          <a:spcPts val="0"/>
                        </a:spcAft>
                        <a:buNone/>
                      </a:pPr>
                      <a:r>
                        <a:rPr lang="en-US" sz="1150" b="1" i="0" u="none" strike="noStrike" cap="none">
                          <a:solidFill>
                            <a:srgbClr val="FFFFFF"/>
                          </a:solidFill>
                          <a:latin typeface="Helvetica Neue"/>
                          <a:ea typeface="Helvetica Neue"/>
                          <a:cs typeface="Helvetica Neue"/>
                          <a:sym typeface="Helvetica Neue"/>
                        </a:rPr>
                        <a:t>Nature of the change</a:t>
                      </a:r>
                      <a:endParaRPr/>
                    </a:p>
                  </a:txBody>
                  <a:tcPr marL="91450" marR="73150" marT="36575" marB="36575" anchor="ctr">
                    <a:solidFill>
                      <a:srgbClr val="111A27"/>
                    </a:solidFill>
                  </a:tcPr>
                </a:tc>
                <a:extLst>
                  <a:ext uri="{0D108BD9-81ED-4DB2-BD59-A6C34878D82A}">
                    <a16:rowId xmlns:a16="http://schemas.microsoft.com/office/drawing/2014/main" val="10000"/>
                  </a:ext>
                </a:extLst>
              </a:tr>
              <a:tr h="329175">
                <a:tc>
                  <a:txBody>
                    <a:bodyPr/>
                    <a:lstStyle/>
                    <a:p>
                      <a:pPr marL="0" marR="0" lvl="0" indent="0" algn="l" rtl="0">
                        <a:lnSpc>
                          <a:spcPct val="125000"/>
                        </a:lnSpc>
                        <a:spcBef>
                          <a:spcPts val="0"/>
                        </a:spcBef>
                        <a:spcAft>
                          <a:spcPts val="0"/>
                        </a:spcAft>
                        <a:buNone/>
                      </a:pPr>
                      <a:r>
                        <a:rPr lang="en-US" sz="1150" b="1" i="0" u="none" strike="noStrike" cap="none">
                          <a:solidFill>
                            <a:srgbClr val="111A27"/>
                          </a:solidFill>
                          <a:latin typeface="Helvetica Neue"/>
                          <a:ea typeface="Helvetica Neue"/>
                          <a:cs typeface="Helvetica Neue"/>
                          <a:sym typeface="Helvetica Neue"/>
                        </a:rPr>
                        <a:t>System of record</a:t>
                      </a:r>
                      <a:endParaRPr/>
                    </a:p>
                  </a:txBody>
                  <a:tcPr marL="91450" marR="73150" marT="36575" marB="36575" anchor="ctr">
                    <a:solidFill>
                      <a:srgbClr val="FFFFFF"/>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10–15%</a:t>
                      </a:r>
                      <a:endParaRPr/>
                    </a:p>
                  </a:txBody>
                  <a:tcPr marL="91450" marR="73150" marT="36575" marB="36575" anchor="ctr">
                    <a:solidFill>
                      <a:srgbClr val="FFFFFF"/>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7A3B08"/>
                          </a:solidFill>
                          <a:latin typeface="Helvetica Neue"/>
                          <a:ea typeface="Helvetica Neue"/>
                          <a:cs typeface="Helvetica Neue"/>
                          <a:sym typeface="Helvetica Neue"/>
                        </a:rPr>
                        <a:t>15–20%</a:t>
                      </a:r>
                      <a:endParaRPr/>
                    </a:p>
                  </a:txBody>
                  <a:tcPr marL="91450" marR="73150" marT="36575" marB="36575" anchor="ctr">
                    <a:solidFill>
                      <a:srgbClr val="FAEEE3"/>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Same core, a much higher bar</a:t>
                      </a:r>
                      <a:endParaRPr sz="1150" b="0" i="0" u="none" strike="noStrike" cap="none">
                        <a:solidFill>
                          <a:srgbClr val="333E4F"/>
                        </a:solidFill>
                        <a:latin typeface="Helvetica Neue"/>
                        <a:ea typeface="Helvetica Neue"/>
                        <a:cs typeface="Helvetica Neue"/>
                        <a:sym typeface="Helvetica Neue"/>
                      </a:endParaRPr>
                    </a:p>
                  </a:txBody>
                  <a:tcPr marL="91450" marR="73150" marT="36575" marB="36575" anchor="ctr">
                    <a:solidFill>
                      <a:srgbClr val="FFFFFF"/>
                    </a:solidFill>
                  </a:tcPr>
                </a:tc>
                <a:extLst>
                  <a:ext uri="{0D108BD9-81ED-4DB2-BD59-A6C34878D82A}">
                    <a16:rowId xmlns:a16="http://schemas.microsoft.com/office/drawing/2014/main" val="10001"/>
                  </a:ext>
                </a:extLst>
              </a:tr>
              <a:tr h="329175">
                <a:tc>
                  <a:txBody>
                    <a:bodyPr/>
                    <a:lstStyle/>
                    <a:p>
                      <a:pPr marL="0" marR="0" lvl="0" indent="0" algn="l" rtl="0">
                        <a:lnSpc>
                          <a:spcPct val="125000"/>
                        </a:lnSpc>
                        <a:spcBef>
                          <a:spcPts val="0"/>
                        </a:spcBef>
                        <a:spcAft>
                          <a:spcPts val="0"/>
                        </a:spcAft>
                        <a:buNone/>
                      </a:pPr>
                      <a:r>
                        <a:rPr lang="en-US" sz="1150" b="1" i="0" u="none" strike="noStrike" cap="none">
                          <a:solidFill>
                            <a:srgbClr val="111A27"/>
                          </a:solidFill>
                          <a:latin typeface="Helvetica Neue"/>
                          <a:ea typeface="Helvetica Neue"/>
                          <a:cs typeface="Helvetica Neue"/>
                          <a:sym typeface="Helvetica Neue"/>
                        </a:rPr>
                        <a:t>Tool layer (typed actions)</a:t>
                      </a:r>
                      <a:endParaRPr/>
                    </a:p>
                  </a:txBody>
                  <a:tcPr marL="91450" marR="73150" marT="36575" marB="36575" anchor="ctr">
                    <a:solidFill>
                      <a:srgbClr val="F3F6F8"/>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a:t>
                      </a:r>
                      <a:endParaRPr/>
                    </a:p>
                  </a:txBody>
                  <a:tcPr marL="91450" marR="73150" marT="36575" marB="36575" anchor="ctr">
                    <a:solidFill>
                      <a:srgbClr val="F3F6F8"/>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7A3B08"/>
                          </a:solidFill>
                          <a:latin typeface="Helvetica Neue"/>
                          <a:ea typeface="Helvetica Neue"/>
                          <a:cs typeface="Helvetica Neue"/>
                          <a:sym typeface="Helvetica Neue"/>
                        </a:rPr>
                        <a:t>15–20%</a:t>
                      </a:r>
                      <a:endParaRPr/>
                    </a:p>
                  </a:txBody>
                  <a:tcPr marL="91450" marR="73150" marT="36575" marB="36575" anchor="ctr">
                    <a:solidFill>
                      <a:srgbClr val="FAEEE3"/>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New, and not a conventional APIREST API</a:t>
                      </a:r>
                      <a:endParaRPr/>
                    </a:p>
                  </a:txBody>
                  <a:tcPr marL="91450" marR="73150" marT="36575" marB="36575" anchor="ctr">
                    <a:solidFill>
                      <a:srgbClr val="F3F6F8"/>
                    </a:solidFill>
                  </a:tcPr>
                </a:tc>
                <a:extLst>
                  <a:ext uri="{0D108BD9-81ED-4DB2-BD59-A6C34878D82A}">
                    <a16:rowId xmlns:a16="http://schemas.microsoft.com/office/drawing/2014/main" val="10002"/>
                  </a:ext>
                </a:extLst>
              </a:tr>
              <a:tr h="329175">
                <a:tc>
                  <a:txBody>
                    <a:bodyPr/>
                    <a:lstStyle/>
                    <a:p>
                      <a:pPr marL="0" marR="0" lvl="0" indent="0" algn="l" rtl="0">
                        <a:lnSpc>
                          <a:spcPct val="125000"/>
                        </a:lnSpc>
                        <a:spcBef>
                          <a:spcPts val="0"/>
                        </a:spcBef>
                        <a:spcAft>
                          <a:spcPts val="0"/>
                        </a:spcAft>
                        <a:buNone/>
                      </a:pPr>
                      <a:r>
                        <a:rPr lang="en-US" sz="1150" b="1" i="0" u="none" strike="noStrike" cap="none">
                          <a:solidFill>
                            <a:srgbClr val="111A27"/>
                          </a:solidFill>
                          <a:latin typeface="Helvetica Neue"/>
                          <a:ea typeface="Helvetica Neue"/>
                          <a:cs typeface="Helvetica Neue"/>
                          <a:sym typeface="Helvetica Neue"/>
                        </a:rPr>
                        <a:t>Verification &amp; guardrails</a:t>
                      </a:r>
                      <a:endParaRPr/>
                    </a:p>
                  </a:txBody>
                  <a:tcPr marL="91450" marR="73150" marT="36575" marB="36575" anchor="ctr">
                    <a:solidFill>
                      <a:srgbClr val="FFFFFF"/>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a:t>
                      </a:r>
                      <a:endParaRPr/>
                    </a:p>
                  </a:txBody>
                  <a:tcPr marL="91450" marR="73150" marT="36575" marB="36575" anchor="ctr">
                    <a:solidFill>
                      <a:srgbClr val="FFFFFF"/>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7A3B08"/>
                          </a:solidFill>
                          <a:latin typeface="Helvetica Neue"/>
                          <a:ea typeface="Helvetica Neue"/>
                          <a:cs typeface="Helvetica Neue"/>
                          <a:sym typeface="Helvetica Neue"/>
                        </a:rPr>
                        <a:t>~15%</a:t>
                      </a:r>
                      <a:endParaRPr/>
                    </a:p>
                  </a:txBody>
                  <a:tcPr marL="91450" marR="73150" marT="36575" marB="36575" anchor="ctr">
                    <a:solidFill>
                      <a:srgbClr val="FAEEE3"/>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New, no counterpart in existing software</a:t>
                      </a:r>
                      <a:endParaRPr/>
                    </a:p>
                  </a:txBody>
                  <a:tcPr marL="91450" marR="73150" marT="36575" marB="36575" anchor="ctr">
                    <a:solidFill>
                      <a:srgbClr val="FFFFFF"/>
                    </a:solidFill>
                  </a:tcPr>
                </a:tc>
                <a:extLst>
                  <a:ext uri="{0D108BD9-81ED-4DB2-BD59-A6C34878D82A}">
                    <a16:rowId xmlns:a16="http://schemas.microsoft.com/office/drawing/2014/main" val="10003"/>
                  </a:ext>
                </a:extLst>
              </a:tr>
              <a:tr h="329175">
                <a:tc>
                  <a:txBody>
                    <a:bodyPr/>
                    <a:lstStyle/>
                    <a:p>
                      <a:pPr marL="0" marR="0" lvl="0" indent="0" algn="l" rtl="0">
                        <a:lnSpc>
                          <a:spcPct val="125000"/>
                        </a:lnSpc>
                        <a:spcBef>
                          <a:spcPts val="0"/>
                        </a:spcBef>
                        <a:spcAft>
                          <a:spcPts val="0"/>
                        </a:spcAft>
                        <a:buNone/>
                      </a:pPr>
                      <a:r>
                        <a:rPr lang="en-US" sz="1150" b="1" i="0" u="none" strike="noStrike" cap="none">
                          <a:solidFill>
                            <a:srgbClr val="111A27"/>
                          </a:solidFill>
                          <a:latin typeface="Helvetica Neue"/>
                          <a:ea typeface="Helvetica Neue"/>
                          <a:cs typeface="Helvetica Neue"/>
                          <a:sym typeface="Helvetica Neue"/>
                        </a:rPr>
                        <a:t>Evals &amp; ground-truth corpus</a:t>
                      </a:r>
                      <a:endParaRPr/>
                    </a:p>
                  </a:txBody>
                  <a:tcPr marL="91450" marR="73150" marT="36575" marB="36575" anchor="ctr">
                    <a:solidFill>
                      <a:srgbClr val="F3F6F8"/>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a:t>
                      </a:r>
                      <a:endParaRPr/>
                    </a:p>
                  </a:txBody>
                  <a:tcPr marL="91450" marR="73150" marT="36575" marB="36575" anchor="ctr">
                    <a:solidFill>
                      <a:srgbClr val="F3F6F8"/>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7A3B08"/>
                          </a:solidFill>
                          <a:latin typeface="Helvetica Neue"/>
                          <a:ea typeface="Helvetica Neue"/>
                          <a:cs typeface="Helvetica Neue"/>
                          <a:sym typeface="Helvetica Neue"/>
                        </a:rPr>
                        <a:t>10–15%</a:t>
                      </a:r>
                      <a:endParaRPr/>
                    </a:p>
                  </a:txBody>
                  <a:tcPr marL="91450" marR="73150" marT="36575" marB="36575" anchor="ctr">
                    <a:solidFill>
                      <a:srgbClr val="FAEEE3"/>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New, both as the test suite and the spec</a:t>
                      </a:r>
                      <a:endParaRPr/>
                    </a:p>
                  </a:txBody>
                  <a:tcPr marL="91450" marR="73150" marT="36575" marB="36575" anchor="ctr">
                    <a:solidFill>
                      <a:srgbClr val="F3F6F8"/>
                    </a:solidFill>
                  </a:tcPr>
                </a:tc>
                <a:extLst>
                  <a:ext uri="{0D108BD9-81ED-4DB2-BD59-A6C34878D82A}">
                    <a16:rowId xmlns:a16="http://schemas.microsoft.com/office/drawing/2014/main" val="10004"/>
                  </a:ext>
                </a:extLst>
              </a:tr>
              <a:tr h="329175">
                <a:tc>
                  <a:txBody>
                    <a:bodyPr/>
                    <a:lstStyle/>
                    <a:p>
                      <a:pPr marL="0" marR="0" lvl="0" indent="0" algn="l" rtl="0">
                        <a:lnSpc>
                          <a:spcPct val="125000"/>
                        </a:lnSpc>
                        <a:spcBef>
                          <a:spcPts val="0"/>
                        </a:spcBef>
                        <a:spcAft>
                          <a:spcPts val="0"/>
                        </a:spcAft>
                        <a:buNone/>
                      </a:pPr>
                      <a:r>
                        <a:rPr lang="en-US" sz="1150" b="1" i="0" u="none" strike="noStrike" cap="none">
                          <a:solidFill>
                            <a:srgbClr val="111A27"/>
                          </a:solidFill>
                          <a:latin typeface="Helvetica Neue"/>
                          <a:ea typeface="Helvetica Neue"/>
                          <a:cs typeface="Helvetica Neue"/>
                          <a:sym typeface="Helvetica Neue"/>
                        </a:rPr>
                        <a:t>Durable orchestration</a:t>
                      </a:r>
                      <a:endParaRPr/>
                    </a:p>
                  </a:txBody>
                  <a:tcPr marL="91450" marR="73150" marT="36575" marB="36575" anchor="ctr">
                    <a:solidFill>
                      <a:srgbClr val="FFFFFF"/>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~2%</a:t>
                      </a:r>
                      <a:endParaRPr/>
                    </a:p>
                  </a:txBody>
                  <a:tcPr marL="91450" marR="73150" marT="36575" marB="36575" anchor="ctr">
                    <a:solidFill>
                      <a:srgbClr val="FFFFFF"/>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7A3B08"/>
                          </a:solidFill>
                          <a:latin typeface="Helvetica Neue"/>
                          <a:ea typeface="Helvetica Neue"/>
                          <a:cs typeface="Helvetica Neue"/>
                          <a:sym typeface="Helvetica Neue"/>
                        </a:rPr>
                        <a:t>~5%</a:t>
                      </a:r>
                      <a:endParaRPr/>
                    </a:p>
                  </a:txBody>
                  <a:tcPr marL="91450" marR="73150" marT="36575" marB="36575" anchor="ctr">
                    <a:solidFill>
                      <a:srgbClr val="FAEEE3"/>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Not the same thing as cron jobs and queues</a:t>
                      </a:r>
                      <a:endParaRPr/>
                    </a:p>
                  </a:txBody>
                  <a:tcPr marL="91450" marR="73150" marT="36575" marB="36575" anchor="ctr">
                    <a:solidFill>
                      <a:srgbClr val="FFFFFF"/>
                    </a:solidFill>
                  </a:tcPr>
                </a:tc>
                <a:extLst>
                  <a:ext uri="{0D108BD9-81ED-4DB2-BD59-A6C34878D82A}">
                    <a16:rowId xmlns:a16="http://schemas.microsoft.com/office/drawing/2014/main" val="10005"/>
                  </a:ext>
                </a:extLst>
              </a:tr>
              <a:tr h="329175">
                <a:tc>
                  <a:txBody>
                    <a:bodyPr/>
                    <a:lstStyle/>
                    <a:p>
                      <a:pPr marL="0" marR="0" lvl="0" indent="0" algn="l" rtl="0">
                        <a:lnSpc>
                          <a:spcPct val="125000"/>
                        </a:lnSpc>
                        <a:spcBef>
                          <a:spcPts val="0"/>
                        </a:spcBef>
                        <a:spcAft>
                          <a:spcPts val="0"/>
                        </a:spcAft>
                        <a:buNone/>
                      </a:pPr>
                      <a:r>
                        <a:rPr lang="en-US" sz="1150" b="1" i="0" u="none" strike="noStrike" cap="none">
                          <a:solidFill>
                            <a:srgbClr val="111A27"/>
                          </a:solidFill>
                          <a:latin typeface="Helvetica Neue"/>
                          <a:ea typeface="Helvetica Neue"/>
                          <a:cs typeface="Helvetica Neue"/>
                          <a:sym typeface="Helvetica Neue"/>
                        </a:rPr>
                        <a:t>Agent layer</a:t>
                      </a:r>
                      <a:endParaRPr/>
                    </a:p>
                  </a:txBody>
                  <a:tcPr marL="91450" marR="73150" marT="36575" marB="36575" anchor="ctr">
                    <a:solidFill>
                      <a:srgbClr val="F3F6F8"/>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a:t>
                      </a:r>
                      <a:endParaRPr/>
                    </a:p>
                  </a:txBody>
                  <a:tcPr marL="91450" marR="73150" marT="36575" marB="36575" anchor="ctr">
                    <a:solidFill>
                      <a:srgbClr val="F3F6F8"/>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7A3B08"/>
                          </a:solidFill>
                          <a:latin typeface="Helvetica Neue"/>
                          <a:ea typeface="Helvetica Neue"/>
                          <a:cs typeface="Helvetica Neue"/>
                          <a:sym typeface="Helvetica Neue"/>
                        </a:rPr>
                        <a:t>~5%</a:t>
                      </a:r>
                      <a:endParaRPr/>
                    </a:p>
                  </a:txBody>
                  <a:tcPr marL="91450" marR="73150" marT="36575" marB="36575" anchor="ctr">
                    <a:solidFill>
                      <a:srgbClr val="FAEEE3"/>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New, but smaller than people expect</a:t>
                      </a:r>
                      <a:endParaRPr/>
                    </a:p>
                  </a:txBody>
                  <a:tcPr marL="91450" marR="73150" marT="36575" marB="36575" anchor="ctr">
                    <a:solidFill>
                      <a:srgbClr val="F3F6F8"/>
                    </a:solidFill>
                  </a:tcPr>
                </a:tc>
                <a:extLst>
                  <a:ext uri="{0D108BD9-81ED-4DB2-BD59-A6C34878D82A}">
                    <a16:rowId xmlns:a16="http://schemas.microsoft.com/office/drawing/2014/main" val="10006"/>
                  </a:ext>
                </a:extLst>
              </a:tr>
              <a:tr h="329175">
                <a:tc>
                  <a:txBody>
                    <a:bodyPr/>
                    <a:lstStyle/>
                    <a:p>
                      <a:pPr marL="0" marR="0" lvl="0" indent="0" algn="l" rtl="0">
                        <a:lnSpc>
                          <a:spcPct val="125000"/>
                        </a:lnSpc>
                        <a:spcBef>
                          <a:spcPts val="0"/>
                        </a:spcBef>
                        <a:spcAft>
                          <a:spcPts val="0"/>
                        </a:spcAft>
                        <a:buNone/>
                      </a:pPr>
                      <a:r>
                        <a:rPr lang="en-US" sz="1150" b="1" i="0" u="none" strike="noStrike" cap="none">
                          <a:solidFill>
                            <a:srgbClr val="111A27"/>
                          </a:solidFill>
                          <a:latin typeface="Helvetica Neue"/>
                          <a:ea typeface="Helvetica Neue"/>
                          <a:cs typeface="Helvetica Neue"/>
                          <a:sym typeface="Helvetica Neue"/>
                        </a:rPr>
                        <a:t>Interface</a:t>
                      </a:r>
                      <a:endParaRPr/>
                    </a:p>
                  </a:txBody>
                  <a:tcPr marL="91450" marR="73150" marT="36575" marB="36575" anchor="ctr">
                    <a:solidFill>
                      <a:srgbClr val="FFFFFF"/>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30–40%</a:t>
                      </a:r>
                      <a:endParaRPr/>
                    </a:p>
                  </a:txBody>
                  <a:tcPr marL="91450" marR="73150" marT="36575" marB="36575" anchor="ctr">
                    <a:solidFill>
                      <a:srgbClr val="FFFFFF"/>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7A3B08"/>
                          </a:solidFill>
                          <a:latin typeface="Helvetica Neue"/>
                          <a:ea typeface="Helvetica Neue"/>
                          <a:cs typeface="Helvetica Neue"/>
                          <a:sym typeface="Helvetica Neue"/>
                        </a:rPr>
                        <a:t>10–15%</a:t>
                      </a:r>
                      <a:endParaRPr/>
                    </a:p>
                  </a:txBody>
                  <a:tcPr marL="91450" marR="73150" marT="36575" marB="36575" anchor="ctr">
                    <a:solidFill>
                      <a:srgbClr val="FAEEE3"/>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Share drops sharply, nature changes too</a:t>
                      </a:r>
                      <a:endParaRPr/>
                    </a:p>
                  </a:txBody>
                  <a:tcPr marL="91450" marR="73150" marT="36575" marB="36575" anchor="ctr">
                    <a:solidFill>
                      <a:srgbClr val="FFFFFF"/>
                    </a:solidFill>
                  </a:tcPr>
                </a:tc>
                <a:extLst>
                  <a:ext uri="{0D108BD9-81ED-4DB2-BD59-A6C34878D82A}">
                    <a16:rowId xmlns:a16="http://schemas.microsoft.com/office/drawing/2014/main" val="10007"/>
                  </a:ext>
                </a:extLst>
              </a:tr>
              <a:tr h="329175">
                <a:tc>
                  <a:txBody>
                    <a:bodyPr/>
                    <a:lstStyle/>
                    <a:p>
                      <a:pPr marL="0" marR="0" lvl="0" indent="0" algn="l" rtl="0">
                        <a:lnSpc>
                          <a:spcPct val="125000"/>
                        </a:lnSpc>
                        <a:spcBef>
                          <a:spcPts val="0"/>
                        </a:spcBef>
                        <a:spcAft>
                          <a:spcPts val="0"/>
                        </a:spcAft>
                        <a:buNone/>
                      </a:pPr>
                      <a:r>
                        <a:rPr lang="en-US" sz="1150" b="1" i="0" u="none" strike="noStrike" cap="none">
                          <a:solidFill>
                            <a:srgbClr val="111A27"/>
                          </a:solidFill>
                          <a:latin typeface="Helvetica Neue"/>
                          <a:ea typeface="Helvetica Neue"/>
                          <a:cs typeface="Helvetica Neue"/>
                          <a:sym typeface="Helvetica Neue"/>
                        </a:rPr>
                        <a:t>Data integration</a:t>
                      </a:r>
                      <a:endParaRPr/>
                    </a:p>
                  </a:txBody>
                  <a:tcPr marL="91450" marR="73150" marT="36575" marB="36575" anchor="ctr">
                    <a:solidFill>
                      <a:srgbClr val="F3F6F8"/>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10–15%</a:t>
                      </a:r>
                      <a:endParaRPr/>
                    </a:p>
                  </a:txBody>
                  <a:tcPr marL="91450" marR="73150" marT="36575" marB="36575" anchor="ctr">
                    <a:solidFill>
                      <a:srgbClr val="F3F6F8"/>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7A3B08"/>
                          </a:solidFill>
                          <a:latin typeface="Helvetica Neue"/>
                          <a:ea typeface="Helvetica Neue"/>
                          <a:cs typeface="Helvetica Neue"/>
                          <a:sym typeface="Helvetica Neue"/>
                        </a:rPr>
                        <a:t>~10%</a:t>
                      </a:r>
                      <a:endParaRPr/>
                    </a:p>
                  </a:txBody>
                  <a:tcPr marL="91450" marR="73150" marT="36575" marB="36575" anchor="ctr">
                    <a:solidFill>
                      <a:srgbClr val="FAEEE3"/>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Similar, plus an agent-driven fallback</a:t>
                      </a:r>
                      <a:endParaRPr/>
                    </a:p>
                  </a:txBody>
                  <a:tcPr marL="91450" marR="73150" marT="36575" marB="36575" anchor="ctr">
                    <a:solidFill>
                      <a:srgbClr val="F3F6F8"/>
                    </a:solidFill>
                  </a:tcPr>
                </a:tc>
                <a:extLst>
                  <a:ext uri="{0D108BD9-81ED-4DB2-BD59-A6C34878D82A}">
                    <a16:rowId xmlns:a16="http://schemas.microsoft.com/office/drawing/2014/main" val="10008"/>
                  </a:ext>
                </a:extLst>
              </a:tr>
              <a:tr h="329175">
                <a:tc>
                  <a:txBody>
                    <a:bodyPr/>
                    <a:lstStyle/>
                    <a:p>
                      <a:pPr marL="0" marR="0" lvl="0" indent="0" algn="l" rtl="0">
                        <a:lnSpc>
                          <a:spcPct val="125000"/>
                        </a:lnSpc>
                        <a:spcBef>
                          <a:spcPts val="0"/>
                        </a:spcBef>
                        <a:spcAft>
                          <a:spcPts val="0"/>
                        </a:spcAft>
                        <a:buNone/>
                      </a:pPr>
                      <a:r>
                        <a:rPr lang="en-US" sz="1150" b="1" i="0" u="none" strike="noStrike" cap="none">
                          <a:solidFill>
                            <a:srgbClr val="111A27"/>
                          </a:solidFill>
                          <a:latin typeface="Helvetica Neue"/>
                          <a:ea typeface="Helvetica Neue"/>
                          <a:cs typeface="Helvetica Neue"/>
                          <a:sym typeface="Helvetica Neue"/>
                        </a:rPr>
                        <a:t>Platform</a:t>
                      </a:r>
                      <a:endParaRPr/>
                    </a:p>
                  </a:txBody>
                  <a:tcPr marL="91450" marR="73150" marT="36575" marB="36575" anchor="ctr">
                    <a:solidFill>
                      <a:srgbClr val="FFFFFF"/>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~15%</a:t>
                      </a:r>
                      <a:endParaRPr/>
                    </a:p>
                  </a:txBody>
                  <a:tcPr marL="91450" marR="73150" marT="36575" marB="36575" anchor="ctr">
                    <a:solidFill>
                      <a:srgbClr val="FFFFFF"/>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7A3B08"/>
                          </a:solidFill>
                          <a:latin typeface="Helvetica Neue"/>
                          <a:ea typeface="Helvetica Neue"/>
                          <a:cs typeface="Helvetica Neue"/>
                          <a:sym typeface="Helvetica Neue"/>
                        </a:rPr>
                        <a:t>~15%</a:t>
                      </a:r>
                      <a:endParaRPr/>
                    </a:p>
                  </a:txBody>
                  <a:tcPr marL="91450" marR="73150" marT="36575" marB="36575" anchor="ctr">
                    <a:solidFill>
                      <a:srgbClr val="FAEEE3"/>
                    </a:solidFill>
                  </a:tcPr>
                </a:tc>
                <a:tc>
                  <a:txBody>
                    <a:bodyPr/>
                    <a:lstStyle/>
                    <a:p>
                      <a:pPr marL="0" marR="0" lvl="0" indent="0" algn="l" rtl="0">
                        <a:lnSpc>
                          <a:spcPct val="125000"/>
                        </a:lnSpc>
                        <a:spcBef>
                          <a:spcPts val="0"/>
                        </a:spcBef>
                        <a:spcAft>
                          <a:spcPts val="0"/>
                        </a:spcAft>
                        <a:buNone/>
                      </a:pPr>
                      <a:r>
                        <a:rPr lang="en-US" sz="1150" b="0" i="0" u="none" strike="noStrike" cap="none">
                          <a:solidFill>
                            <a:srgbClr val="333E4F"/>
                          </a:solidFill>
                          <a:latin typeface="Helvetica Neue"/>
                          <a:ea typeface="Helvetica Neue"/>
                          <a:cs typeface="Helvetica Neue"/>
                          <a:sym typeface="Helvetica Neue"/>
                        </a:rPr>
                        <a:t>With agent identity and telemetry</a:t>
                      </a:r>
                      <a:endParaRPr/>
                    </a:p>
                  </a:txBody>
                  <a:tcPr marL="91450" marR="73150" marT="36575" marB="36575" anchor="ctr">
                    <a:solidFill>
                      <a:srgbClr val="FFFFFF"/>
                    </a:solidFill>
                  </a:tcPr>
                </a:tc>
                <a:extLst>
                  <a:ext uri="{0D108BD9-81ED-4DB2-BD59-A6C34878D82A}">
                    <a16:rowId xmlns:a16="http://schemas.microsoft.com/office/drawing/2014/main" val="10009"/>
                  </a:ext>
                </a:extLst>
              </a:tr>
            </a:tbl>
          </a:graphicData>
        </a:graphic>
      </p:graphicFrame>
      <p:sp>
        <p:nvSpPr>
          <p:cNvPr id="418" name="Google Shape;418;p12"/>
          <p:cNvSpPr/>
          <p:nvPr/>
        </p:nvSpPr>
        <p:spPr>
          <a:xfrm>
            <a:off x="658368" y="5336458"/>
            <a:ext cx="10874959" cy="694944"/>
          </a:xfrm>
          <a:prstGeom prst="roundRect">
            <a:avLst>
              <a:gd name="adj" fmla="val 4000"/>
            </a:avLst>
          </a:prstGeom>
          <a:solidFill>
            <a:srgbClr val="111A2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19" name="Google Shape;419;p12"/>
          <p:cNvSpPr txBox="1"/>
          <p:nvPr/>
        </p:nvSpPr>
        <p:spPr>
          <a:xfrm>
            <a:off x="950976" y="5501050"/>
            <a:ext cx="10289743" cy="257378"/>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400" b="1" i="0">
                <a:solidFill>
                  <a:srgbClr val="FFFFFF"/>
                </a:solidFill>
                <a:latin typeface="Helvetica Neue"/>
                <a:ea typeface="Helvetica Neue"/>
                <a:cs typeface="Helvetica Neue"/>
                <a:sym typeface="Helvetica Neue"/>
              </a:rPr>
              <a:t>Traditional software made people faster at the interface. We make the agent's output accurate and robust.</a:t>
            </a:r>
            <a:endParaRPr/>
          </a:p>
        </p:txBody>
      </p:sp>
      <p:sp>
        <p:nvSpPr>
          <p:cNvPr id="420" name="Google Shape;420;p12"/>
          <p:cNvSpPr txBox="1"/>
          <p:nvPr/>
        </p:nvSpPr>
        <p:spPr>
          <a:xfrm>
            <a:off x="658368" y="5047488"/>
            <a:ext cx="10872216" cy="16459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a:solidFill>
                  <a:srgbClr val="6B7688"/>
                </a:solidFill>
                <a:latin typeface="Helvetica Neue"/>
                <a:ea typeface="Helvetica Neue"/>
                <a:cs typeface="Helvetica Neue"/>
                <a:sym typeface="Helvetica Neue"/>
              </a:rPr>
              <a:t>Major layers only. Percentages are directional estimates of where effort goes, not a partition that sums to 100.</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13"/>
          <p:cNvSpPr txBox="1"/>
          <p:nvPr/>
        </p:nvSpPr>
        <p:spPr>
          <a:xfrm>
            <a:off x="658368" y="420624"/>
            <a:ext cx="10874959" cy="25603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00" b="1">
                <a:solidFill>
                  <a:srgbClr val="0E7490"/>
                </a:solidFill>
                <a:latin typeface="Helvetica Neue"/>
                <a:ea typeface="Helvetica Neue"/>
                <a:cs typeface="Helvetica Neue"/>
                <a:sym typeface="Helvetica Neue"/>
              </a:rPr>
              <a:t>ROADMAP · 2027</a:t>
            </a:r>
            <a:endParaRPr/>
          </a:p>
        </p:txBody>
      </p:sp>
      <p:sp>
        <p:nvSpPr>
          <p:cNvPr id="426" name="Google Shape;426;p13"/>
          <p:cNvSpPr txBox="1"/>
          <p:nvPr/>
        </p:nvSpPr>
        <p:spPr>
          <a:xfrm>
            <a:off x="658368" y="749808"/>
            <a:ext cx="10874959"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a:solidFill>
                  <a:srgbClr val="111A27"/>
                </a:solidFill>
                <a:latin typeface="Helvetica Neue"/>
                <a:ea typeface="Helvetica Neue"/>
                <a:cs typeface="Helvetica Neue"/>
                <a:sym typeface="Helvetica Neue"/>
              </a:rPr>
              <a:t>Four quarters, each with a deliverable and a number</a:t>
            </a:r>
            <a:endParaRPr/>
          </a:p>
        </p:txBody>
      </p:sp>
      <p:sp>
        <p:nvSpPr>
          <p:cNvPr id="427" name="Google Shape;427;p13"/>
          <p:cNvSpPr/>
          <p:nvPr/>
        </p:nvSpPr>
        <p:spPr>
          <a:xfrm>
            <a:off x="658368" y="1572768"/>
            <a:ext cx="2523744" cy="3255264"/>
          </a:xfrm>
          <a:prstGeom prst="roundRect">
            <a:avLst>
              <a:gd name="adj" fmla="val 4000"/>
            </a:avLst>
          </a:prstGeom>
          <a:solidFill>
            <a:srgbClr val="FAEEE3"/>
          </a:solidFill>
          <a:ln w="12700" cap="flat" cmpd="sng">
            <a:solidFill>
              <a:srgbClr val="B4530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28" name="Google Shape;428;p13"/>
          <p:cNvSpPr txBox="1"/>
          <p:nvPr/>
        </p:nvSpPr>
        <p:spPr>
          <a:xfrm>
            <a:off x="877824" y="1737360"/>
            <a:ext cx="2084831" cy="23774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00" b="1">
                <a:solidFill>
                  <a:srgbClr val="7A3B08"/>
                </a:solidFill>
                <a:latin typeface="Helvetica Neue"/>
                <a:ea typeface="Helvetica Neue"/>
                <a:cs typeface="Helvetica Neue"/>
                <a:sym typeface="Helvetica Neue"/>
              </a:rPr>
              <a:t>Q1 2027</a:t>
            </a:r>
            <a:endParaRPr/>
          </a:p>
        </p:txBody>
      </p:sp>
      <p:sp>
        <p:nvSpPr>
          <p:cNvPr id="429" name="Google Shape;429;p13"/>
          <p:cNvSpPr txBox="1"/>
          <p:nvPr/>
        </p:nvSpPr>
        <p:spPr>
          <a:xfrm>
            <a:off x="877824" y="2011680"/>
            <a:ext cx="2084831" cy="512064"/>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50" b="1">
                <a:solidFill>
                  <a:srgbClr val="111A27"/>
                </a:solidFill>
                <a:latin typeface="Helvetica Neue"/>
                <a:ea typeface="Helvetica Neue"/>
                <a:cs typeface="Helvetica Neue"/>
                <a:sym typeface="Helvetica Neue"/>
              </a:rPr>
              <a:t>Ledger becomes primary</a:t>
            </a:r>
            <a:endParaRPr/>
          </a:p>
        </p:txBody>
      </p:sp>
      <p:sp>
        <p:nvSpPr>
          <p:cNvPr id="430" name="Google Shape;430;p13"/>
          <p:cNvSpPr txBox="1"/>
          <p:nvPr/>
        </p:nvSpPr>
        <p:spPr>
          <a:xfrm>
            <a:off x="877824" y="2512673"/>
            <a:ext cx="2084831" cy="1463040"/>
          </a:xfrm>
          <a:prstGeom prst="rect">
            <a:avLst/>
          </a:prstGeom>
          <a:noFill/>
          <a:ln>
            <a:noFill/>
          </a:ln>
        </p:spPr>
        <p:txBody>
          <a:bodyPr spcFirstLastPara="1" wrap="square" lIns="0" tIns="0" rIns="0" bIns="0" anchor="t" anchorCtr="0">
            <a:spAutoFit/>
          </a:bodyPr>
          <a:lstStyle/>
          <a:p>
            <a:pPr marL="144000" marR="0" lvl="0" indent="-144000" algn="l" rtl="0">
              <a:lnSpc>
                <a:spcPct val="130000"/>
              </a:lnSpc>
              <a:spcBef>
                <a:spcPts val="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First cohort of entities cut over to our ledger</a:t>
            </a:r>
            <a:endParaRPr/>
          </a:p>
          <a:p>
            <a:pPr marL="144000" marR="0" lvl="0" indent="-144000" algn="l" rtl="0">
              <a:lnSpc>
                <a:spcPct val="130000"/>
              </a:lnSpc>
              <a:spcBef>
                <a:spcPts val="50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Tier 1 invariants and the sampled control arm in production</a:t>
            </a:r>
            <a:endParaRPr/>
          </a:p>
          <a:p>
            <a:pPr marL="144000" marR="0" lvl="0" indent="-144000" algn="l" rtl="0">
              <a:lnSpc>
                <a:spcPct val="130000"/>
              </a:lnSpc>
              <a:spcBef>
                <a:spcPts val="50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Baseline published: today's error rate and hours per close</a:t>
            </a:r>
            <a:endParaRPr/>
          </a:p>
        </p:txBody>
      </p:sp>
      <p:sp>
        <p:nvSpPr>
          <p:cNvPr id="431" name="Google Shape;431;p13"/>
          <p:cNvSpPr txBox="1"/>
          <p:nvPr/>
        </p:nvSpPr>
        <p:spPr>
          <a:xfrm>
            <a:off x="877824" y="4259181"/>
            <a:ext cx="2084831" cy="62179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a:solidFill>
                  <a:srgbClr val="7A3B08"/>
                </a:solidFill>
                <a:latin typeface="Helvetica Neue"/>
                <a:ea typeface="Helvetica Neue"/>
                <a:cs typeface="Helvetica Neue"/>
                <a:sym typeface="Helvetica Neue"/>
              </a:rPr>
              <a:t>Number: zero dual-write diff across three consecutive closes.</a:t>
            </a:r>
            <a:endParaRPr/>
          </a:p>
        </p:txBody>
      </p:sp>
      <p:sp>
        <p:nvSpPr>
          <p:cNvPr id="432" name="Google Shape;432;p13"/>
          <p:cNvSpPr/>
          <p:nvPr/>
        </p:nvSpPr>
        <p:spPr>
          <a:xfrm>
            <a:off x="3438144" y="1572768"/>
            <a:ext cx="2523744" cy="3255264"/>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33" name="Google Shape;433;p13"/>
          <p:cNvSpPr txBox="1"/>
          <p:nvPr/>
        </p:nvSpPr>
        <p:spPr>
          <a:xfrm>
            <a:off x="3657600" y="1737360"/>
            <a:ext cx="2084831" cy="23774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00" b="1">
                <a:solidFill>
                  <a:srgbClr val="0E7490"/>
                </a:solidFill>
                <a:latin typeface="Helvetica Neue"/>
                <a:ea typeface="Helvetica Neue"/>
                <a:cs typeface="Helvetica Neue"/>
                <a:sym typeface="Helvetica Neue"/>
              </a:rPr>
              <a:t>Q2 2027</a:t>
            </a:r>
            <a:endParaRPr/>
          </a:p>
        </p:txBody>
      </p:sp>
      <p:sp>
        <p:nvSpPr>
          <p:cNvPr id="434" name="Google Shape;434;p13"/>
          <p:cNvSpPr txBox="1"/>
          <p:nvPr/>
        </p:nvSpPr>
        <p:spPr>
          <a:xfrm>
            <a:off x="3657600" y="2011680"/>
            <a:ext cx="2084831" cy="512064"/>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50" b="1">
                <a:solidFill>
                  <a:srgbClr val="111A27"/>
                </a:solidFill>
                <a:latin typeface="Helvetica Neue"/>
                <a:ea typeface="Helvetica Neue"/>
                <a:cs typeface="Helvetica Neue"/>
                <a:sym typeface="Helvetica Neue"/>
              </a:rPr>
              <a:t>Autonomy on the top categories</a:t>
            </a:r>
            <a:endParaRPr/>
          </a:p>
        </p:txBody>
      </p:sp>
      <p:sp>
        <p:nvSpPr>
          <p:cNvPr id="435" name="Google Shape;435;p13"/>
          <p:cNvSpPr txBox="1"/>
          <p:nvPr/>
        </p:nvSpPr>
        <p:spPr>
          <a:xfrm>
            <a:off x="3657600" y="2596896"/>
            <a:ext cx="2084831" cy="1463040"/>
          </a:xfrm>
          <a:prstGeom prst="rect">
            <a:avLst/>
          </a:prstGeom>
          <a:noFill/>
          <a:ln>
            <a:noFill/>
          </a:ln>
        </p:spPr>
        <p:txBody>
          <a:bodyPr spcFirstLastPara="1" wrap="square" lIns="0" tIns="0" rIns="0" bIns="0" anchor="t" anchorCtr="0">
            <a:spAutoFit/>
          </a:bodyPr>
          <a:lstStyle/>
          <a:p>
            <a:pPr marL="144000" marR="0" lvl="0" indent="-144000" algn="l" rtl="0">
              <a:lnSpc>
                <a:spcPct val="130000"/>
              </a:lnSpc>
              <a:spcBef>
                <a:spcPts val="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Tier 2 statistical checks and confidence routing live</a:t>
            </a:r>
            <a:endParaRPr/>
          </a:p>
          <a:p>
            <a:pPr marL="144000" marR="0" lvl="0" indent="-144000" algn="l" rtl="0">
              <a:lnSpc>
                <a:spcPct val="130000"/>
              </a:lnSpc>
              <a:spcBef>
                <a:spcPts val="50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Correction loop closed: versioned rules, corpus replay in CI</a:t>
            </a:r>
            <a:endParaRPr/>
          </a:p>
          <a:p>
            <a:pPr marL="144000" marR="0" lvl="0" indent="-144000" algn="l" rtl="0">
              <a:lnSpc>
                <a:spcPct val="130000"/>
              </a:lnSpc>
              <a:spcBef>
                <a:spcPts val="50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Exception console at target reviewer throughput</a:t>
            </a:r>
            <a:endParaRPr/>
          </a:p>
        </p:txBody>
      </p:sp>
      <p:sp>
        <p:nvSpPr>
          <p:cNvPr id="436" name="Google Shape;436;p13"/>
          <p:cNvSpPr txBox="1"/>
          <p:nvPr/>
        </p:nvSpPr>
        <p:spPr>
          <a:xfrm>
            <a:off x="3657600" y="4174960"/>
            <a:ext cx="2084831" cy="62179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a:solidFill>
                  <a:srgbClr val="0E7490"/>
                </a:solidFill>
                <a:latin typeface="Helvetica Neue"/>
                <a:ea typeface="Helvetica Neue"/>
                <a:cs typeface="Helvetica Neue"/>
                <a:sym typeface="Helvetica Neue"/>
              </a:rPr>
              <a:t>Number: auto-post at target on the top five categories, error at or below baseline.</a:t>
            </a:r>
            <a:endParaRPr/>
          </a:p>
        </p:txBody>
      </p:sp>
      <p:sp>
        <p:nvSpPr>
          <p:cNvPr id="437" name="Google Shape;437;p13"/>
          <p:cNvSpPr/>
          <p:nvPr/>
        </p:nvSpPr>
        <p:spPr>
          <a:xfrm>
            <a:off x="6217920" y="1572768"/>
            <a:ext cx="2523744" cy="3255264"/>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38" name="Google Shape;438;p13"/>
          <p:cNvSpPr txBox="1"/>
          <p:nvPr/>
        </p:nvSpPr>
        <p:spPr>
          <a:xfrm>
            <a:off x="6437376" y="1737360"/>
            <a:ext cx="2084831" cy="23774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00" b="1">
                <a:solidFill>
                  <a:srgbClr val="0E7490"/>
                </a:solidFill>
                <a:latin typeface="Helvetica Neue"/>
                <a:ea typeface="Helvetica Neue"/>
                <a:cs typeface="Helvetica Neue"/>
                <a:sym typeface="Helvetica Neue"/>
              </a:rPr>
              <a:t>Q3 2027</a:t>
            </a:r>
            <a:endParaRPr/>
          </a:p>
        </p:txBody>
      </p:sp>
      <p:sp>
        <p:nvSpPr>
          <p:cNvPr id="439" name="Google Shape;439;p13"/>
          <p:cNvSpPr txBox="1"/>
          <p:nvPr/>
        </p:nvSpPr>
        <p:spPr>
          <a:xfrm>
            <a:off x="6437376" y="2011680"/>
            <a:ext cx="2084831" cy="512064"/>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50" b="1">
                <a:solidFill>
                  <a:srgbClr val="111A27"/>
                </a:solidFill>
                <a:latin typeface="Helvetica Neue"/>
                <a:ea typeface="Helvetica Neue"/>
                <a:cs typeface="Helvetica Neue"/>
                <a:sym typeface="Helvetica Neue"/>
              </a:rPr>
              <a:t>Generated interfaces and the long tail</a:t>
            </a:r>
            <a:endParaRPr/>
          </a:p>
        </p:txBody>
      </p:sp>
      <p:sp>
        <p:nvSpPr>
          <p:cNvPr id="440" name="Google Shape;440;p13"/>
          <p:cNvSpPr txBox="1"/>
          <p:nvPr/>
        </p:nvSpPr>
        <p:spPr>
          <a:xfrm>
            <a:off x="6437376" y="2596896"/>
            <a:ext cx="2084831" cy="1463040"/>
          </a:xfrm>
          <a:prstGeom prst="rect">
            <a:avLst/>
          </a:prstGeom>
          <a:noFill/>
          <a:ln>
            <a:noFill/>
          </a:ln>
        </p:spPr>
        <p:txBody>
          <a:bodyPr spcFirstLastPara="1" wrap="square" lIns="0" tIns="0" rIns="0" bIns="0" anchor="t" anchorCtr="0">
            <a:spAutoFit/>
          </a:bodyPr>
          <a:lstStyle/>
          <a:p>
            <a:pPr marL="144000" marR="0" lvl="0" indent="-144000" algn="l" rtl="0">
              <a:lnSpc>
                <a:spcPct val="130000"/>
              </a:lnSpc>
              <a:spcBef>
                <a:spcPts val="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Interfaces generated per customer, then persisted</a:t>
            </a:r>
            <a:endParaRPr/>
          </a:p>
          <a:p>
            <a:pPr marL="144000" marR="0" lvl="0" indent="-144000" algn="l" rtl="0">
              <a:lnSpc>
                <a:spcPct val="130000"/>
              </a:lnSpc>
              <a:spcBef>
                <a:spcPts val="50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Customer-connected integrations, no roadmap dependency</a:t>
            </a:r>
            <a:endParaRPr/>
          </a:p>
          <a:p>
            <a:pPr marL="144000" marR="0" lvl="0" indent="-144000" algn="l" rtl="0">
              <a:lnSpc>
                <a:spcPct val="130000"/>
              </a:lnSpc>
              <a:spcBef>
                <a:spcPts val="50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Long-tail transaction categories onboarded</a:t>
            </a:r>
            <a:endParaRPr/>
          </a:p>
        </p:txBody>
      </p:sp>
      <p:sp>
        <p:nvSpPr>
          <p:cNvPr id="441" name="Google Shape;441;p13"/>
          <p:cNvSpPr txBox="1"/>
          <p:nvPr/>
        </p:nvSpPr>
        <p:spPr>
          <a:xfrm>
            <a:off x="6437376" y="4162928"/>
            <a:ext cx="2084831" cy="62179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a:solidFill>
                  <a:srgbClr val="0E7490"/>
                </a:solidFill>
                <a:latin typeface="Helvetica Neue"/>
                <a:ea typeface="Helvetica Neue"/>
                <a:cs typeface="Helvetica Neue"/>
                <a:sym typeface="Helvetica Neue"/>
              </a:rPr>
              <a:t>Number: hours per close per entity down target, auto-post rate holding as the tail arrives.</a:t>
            </a:r>
            <a:endParaRPr/>
          </a:p>
        </p:txBody>
      </p:sp>
      <p:sp>
        <p:nvSpPr>
          <p:cNvPr id="442" name="Google Shape;442;p13"/>
          <p:cNvSpPr/>
          <p:nvPr/>
        </p:nvSpPr>
        <p:spPr>
          <a:xfrm>
            <a:off x="8997696" y="1572768"/>
            <a:ext cx="2523744" cy="3255264"/>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43" name="Google Shape;443;p13"/>
          <p:cNvSpPr txBox="1"/>
          <p:nvPr/>
        </p:nvSpPr>
        <p:spPr>
          <a:xfrm>
            <a:off x="9217152" y="1737360"/>
            <a:ext cx="2084831" cy="23774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00" b="1">
                <a:solidFill>
                  <a:srgbClr val="0E7490"/>
                </a:solidFill>
                <a:latin typeface="Helvetica Neue"/>
                <a:ea typeface="Helvetica Neue"/>
                <a:cs typeface="Helvetica Neue"/>
                <a:sym typeface="Helvetica Neue"/>
              </a:rPr>
              <a:t>Q4 2027</a:t>
            </a:r>
            <a:endParaRPr/>
          </a:p>
        </p:txBody>
      </p:sp>
      <p:sp>
        <p:nvSpPr>
          <p:cNvPr id="444" name="Google Shape;444;p13"/>
          <p:cNvSpPr txBox="1"/>
          <p:nvPr/>
        </p:nvSpPr>
        <p:spPr>
          <a:xfrm>
            <a:off x="9217152" y="2011680"/>
            <a:ext cx="2084831" cy="512064"/>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50" b="1">
                <a:solidFill>
                  <a:srgbClr val="111A27"/>
                </a:solidFill>
                <a:latin typeface="Helvetica Neue"/>
                <a:ea typeface="Helvetica Neue"/>
                <a:cs typeface="Helvetica Neue"/>
                <a:sym typeface="Helvetica Neue"/>
              </a:rPr>
              <a:t>Output and scale</a:t>
            </a:r>
            <a:endParaRPr/>
          </a:p>
        </p:txBody>
      </p:sp>
      <p:sp>
        <p:nvSpPr>
          <p:cNvPr id="445" name="Google Shape;445;p13"/>
          <p:cNvSpPr txBox="1"/>
          <p:nvPr/>
        </p:nvSpPr>
        <p:spPr>
          <a:xfrm>
            <a:off x="9217152" y="2596896"/>
            <a:ext cx="2084831" cy="1463040"/>
          </a:xfrm>
          <a:prstGeom prst="rect">
            <a:avLst/>
          </a:prstGeom>
          <a:noFill/>
          <a:ln>
            <a:noFill/>
          </a:ln>
        </p:spPr>
        <p:txBody>
          <a:bodyPr spcFirstLastPara="1" wrap="square" lIns="0" tIns="0" rIns="0" bIns="0" anchor="t" anchorCtr="0">
            <a:spAutoFit/>
          </a:bodyPr>
          <a:lstStyle/>
          <a:p>
            <a:pPr marL="144000" marR="0" lvl="0" indent="-144000" algn="l" rtl="0">
              <a:lnSpc>
                <a:spcPct val="130000"/>
              </a:lnSpc>
              <a:spcBef>
                <a:spcPts val="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Filings and client reporting on the same substrate</a:t>
            </a:r>
            <a:endParaRPr/>
          </a:p>
          <a:p>
            <a:pPr marL="144000" marR="0" lvl="0" indent="-144000" algn="l" rtl="0">
              <a:lnSpc>
                <a:spcPct val="130000"/>
              </a:lnSpc>
              <a:spcBef>
                <a:spcPts val="50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Continuous close: books current, not monthly batches</a:t>
            </a:r>
            <a:endParaRPr/>
          </a:p>
          <a:p>
            <a:pPr marL="144000" marR="0" lvl="0" indent="-144000" algn="l" rtl="0">
              <a:lnSpc>
                <a:spcPct val="130000"/>
              </a:lnSpc>
              <a:spcBef>
                <a:spcPts val="500"/>
              </a:spcBef>
              <a:spcAft>
                <a:spcPts val="0"/>
              </a:spcAft>
              <a:buClr>
                <a:srgbClr val="333E4F"/>
              </a:buClr>
              <a:buSzPts val="1050"/>
              <a:buFont typeface="Arial"/>
              <a:buChar char="•"/>
            </a:pPr>
            <a:r>
              <a:rPr lang="en-US" sz="1050" b="0">
                <a:solidFill>
                  <a:srgbClr val="333E4F"/>
                </a:solidFill>
                <a:latin typeface="Helvetica Neue"/>
                <a:ea typeface="Helvetica Neue"/>
                <a:cs typeface="Helvetica Neue"/>
                <a:sym typeface="Helvetica Neue"/>
              </a:rPr>
              <a:t>Entities per reviewer at target</a:t>
            </a:r>
            <a:endParaRPr/>
          </a:p>
        </p:txBody>
      </p:sp>
      <p:sp>
        <p:nvSpPr>
          <p:cNvPr id="446" name="Google Shape;446;p13"/>
          <p:cNvSpPr txBox="1"/>
          <p:nvPr/>
        </p:nvSpPr>
        <p:spPr>
          <a:xfrm>
            <a:off x="9217152" y="4114800"/>
            <a:ext cx="2084831" cy="62179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a:solidFill>
                  <a:srgbClr val="0E7490"/>
                </a:solidFill>
                <a:latin typeface="Helvetica Neue"/>
                <a:ea typeface="Helvetica Neue"/>
                <a:cs typeface="Helvetica Neue"/>
                <a:sym typeface="Helvetica Neue"/>
              </a:rPr>
              <a:t>Number: cost per close below target share of the labour it replaces.</a:t>
            </a:r>
            <a:endParaRPr/>
          </a:p>
        </p:txBody>
      </p:sp>
      <p:sp>
        <p:nvSpPr>
          <p:cNvPr id="447" name="Google Shape;447;p13"/>
          <p:cNvSpPr/>
          <p:nvPr/>
        </p:nvSpPr>
        <p:spPr>
          <a:xfrm>
            <a:off x="658369" y="4983479"/>
            <a:ext cx="10863072" cy="1333099"/>
          </a:xfrm>
          <a:prstGeom prst="roundRect">
            <a:avLst>
              <a:gd name="adj" fmla="val 4000"/>
            </a:avLst>
          </a:prstGeom>
          <a:solidFill>
            <a:srgbClr val="E8EEF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48" name="Google Shape;448;p13"/>
          <p:cNvSpPr txBox="1"/>
          <p:nvPr/>
        </p:nvSpPr>
        <p:spPr>
          <a:xfrm>
            <a:off x="950976" y="5148072"/>
            <a:ext cx="10289743" cy="219456"/>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00" b="1">
                <a:solidFill>
                  <a:srgbClr val="6B7688"/>
                </a:solidFill>
                <a:latin typeface="Helvetica Neue"/>
                <a:ea typeface="Helvetica Neue"/>
                <a:cs typeface="Helvetica Neue"/>
                <a:sym typeface="Helvetica Neue"/>
              </a:rPr>
              <a:t>THE FOUR NUMBERS, UNCHANGED ALL YEAR</a:t>
            </a:r>
            <a:endParaRPr/>
          </a:p>
        </p:txBody>
      </p:sp>
      <p:sp>
        <p:nvSpPr>
          <p:cNvPr id="449" name="Google Shape;449;p13"/>
          <p:cNvSpPr txBox="1"/>
          <p:nvPr/>
        </p:nvSpPr>
        <p:spPr>
          <a:xfrm>
            <a:off x="950976" y="5422392"/>
            <a:ext cx="10289743" cy="41148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200" b="0">
                <a:solidFill>
                  <a:srgbClr val="333E4F"/>
                </a:solidFill>
                <a:latin typeface="Helvetica Neue"/>
                <a:ea typeface="Helvetica Neue"/>
                <a:cs typeface="Helvetica Neue"/>
                <a:sym typeface="Helvetica Neue"/>
              </a:rPr>
              <a:t>Auto-post rate by category, denominators stated  ·  Measured error on the auto-posted path  ·  Hours per close, per entity  ·  Cost per close against the labour it replaces</a:t>
            </a:r>
            <a:endParaRPr/>
          </a:p>
        </p:txBody>
      </p:sp>
      <p:sp>
        <p:nvSpPr>
          <p:cNvPr id="450" name="Google Shape;450;p13"/>
          <p:cNvSpPr txBox="1"/>
          <p:nvPr/>
        </p:nvSpPr>
        <p:spPr>
          <a:xfrm>
            <a:off x="950976" y="5942639"/>
            <a:ext cx="10289743" cy="20116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00" b="1">
                <a:solidFill>
                  <a:srgbClr val="B45309"/>
                </a:solidFill>
                <a:latin typeface="Helvetica Neue"/>
                <a:ea typeface="Helvetica Neue"/>
                <a:cs typeface="Helvetica Neue"/>
                <a:sym typeface="Helvetica Neue"/>
              </a:rPr>
              <a:t>Plus one we cap rather than optimise: restatement rate, held at or below our own measured baseline.</a:t>
            </a:r>
            <a:endParaRPr/>
          </a:p>
        </p:txBody>
      </p:sp>
      <p:sp>
        <p:nvSpPr>
          <p:cNvPr id="451" name="Google Shape;451;p13"/>
          <p:cNvSpPr txBox="1"/>
          <p:nvPr/>
        </p:nvSpPr>
        <p:spPr>
          <a:xfrm>
            <a:off x="10801807" y="6528816"/>
            <a:ext cx="731520" cy="237744"/>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1000" b="0">
                <a:solidFill>
                  <a:srgbClr val="D5DCE4"/>
                </a:solidFill>
                <a:latin typeface="Helvetica Neue"/>
                <a:ea typeface="Helvetica Neue"/>
                <a:cs typeface="Helvetica Neue"/>
                <a:sym typeface="Helvetica Neue"/>
              </a:rPr>
              <a:t>12</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14"/>
          <p:cNvSpPr txBox="1"/>
          <p:nvPr/>
        </p:nvSpPr>
        <p:spPr>
          <a:xfrm>
            <a:off x="658368" y="420624"/>
            <a:ext cx="10874959" cy="256032"/>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100" b="1">
                <a:solidFill>
                  <a:srgbClr val="0E7490"/>
                </a:solidFill>
                <a:latin typeface="Helvetica Neue"/>
                <a:ea typeface="Helvetica Neue"/>
                <a:cs typeface="Helvetica Neue"/>
                <a:sym typeface="Helvetica Neue"/>
              </a:rPr>
              <a:t>BEYOND 2027</a:t>
            </a:r>
            <a:endParaRPr/>
          </a:p>
        </p:txBody>
      </p:sp>
      <p:sp>
        <p:nvSpPr>
          <p:cNvPr id="457" name="Google Shape;457;p14"/>
          <p:cNvSpPr txBox="1"/>
          <p:nvPr/>
        </p:nvSpPr>
        <p:spPr>
          <a:xfrm>
            <a:off x="658368" y="749808"/>
            <a:ext cx="10874959"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600" b="1">
                <a:solidFill>
                  <a:srgbClr val="111A27"/>
                </a:solidFill>
                <a:latin typeface="Helvetica Neue"/>
                <a:ea typeface="Helvetica Neue"/>
                <a:cs typeface="Helvetica Neue"/>
                <a:sym typeface="Helvetica Neue"/>
              </a:rPr>
              <a:t>Advisory on a ledger you can trust</a:t>
            </a:r>
            <a:endParaRPr/>
          </a:p>
        </p:txBody>
      </p:sp>
      <p:sp>
        <p:nvSpPr>
          <p:cNvPr id="458" name="Google Shape;458;p14"/>
          <p:cNvSpPr txBox="1"/>
          <p:nvPr/>
        </p:nvSpPr>
        <p:spPr>
          <a:xfrm>
            <a:off x="658368" y="1335024"/>
            <a:ext cx="10424160" cy="7315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350" b="0">
                <a:solidFill>
                  <a:srgbClr val="333E4F"/>
                </a:solidFill>
                <a:latin typeface="Helvetica Neue"/>
                <a:ea typeface="Helvetica Neue"/>
                <a:cs typeface="Helvetica Neue"/>
                <a:sym typeface="Helvetica Neue"/>
              </a:rPr>
              <a:t>Bookkeeping is billed on effort, so it deflates as we automate it. Advisory is billed on judgement, and it does not. The reason firms cannot simply move up the value chain today is that advice needs data that is current, complete and correct. That is exactly what this substrate produces as a by-product.</a:t>
            </a:r>
            <a:endParaRPr/>
          </a:p>
        </p:txBody>
      </p:sp>
      <p:sp>
        <p:nvSpPr>
          <p:cNvPr id="459" name="Google Shape;459;p14"/>
          <p:cNvSpPr/>
          <p:nvPr/>
        </p:nvSpPr>
        <p:spPr>
          <a:xfrm>
            <a:off x="658368" y="2176272"/>
            <a:ext cx="3465576" cy="224028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60" name="Google Shape;460;p14"/>
          <p:cNvSpPr txBox="1"/>
          <p:nvPr/>
        </p:nvSpPr>
        <p:spPr>
          <a:xfrm>
            <a:off x="896112" y="2377440"/>
            <a:ext cx="2990088" cy="274320"/>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400" b="1">
                <a:solidFill>
                  <a:srgbClr val="0E7490"/>
                </a:solidFill>
                <a:latin typeface="Helvetica Neue"/>
                <a:ea typeface="Helvetica Neue"/>
                <a:cs typeface="Helvetica Neue"/>
                <a:sym typeface="Helvetica Neue"/>
              </a:rPr>
              <a:t>Continuous, not quarterly</a:t>
            </a:r>
            <a:endParaRPr/>
          </a:p>
        </p:txBody>
      </p:sp>
      <p:sp>
        <p:nvSpPr>
          <p:cNvPr id="461" name="Google Shape;461;p14"/>
          <p:cNvSpPr txBox="1"/>
          <p:nvPr/>
        </p:nvSpPr>
        <p:spPr>
          <a:xfrm>
            <a:off x="896112" y="2743200"/>
            <a:ext cx="2990088" cy="150876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a:solidFill>
                  <a:srgbClr val="333E4F"/>
                </a:solidFill>
                <a:latin typeface="Helvetica Neue"/>
                <a:ea typeface="Helvetica Neue"/>
                <a:cs typeface="Helvetica Neue"/>
                <a:sym typeface="Helvetica Neue"/>
              </a:rPr>
              <a:t>Advice is episodic today because assembling the numbers is the expensive part. When the books are always current, cash runway, margin drift and covenant headroom can be watched instead of reconstructed every quarter.</a:t>
            </a:r>
            <a:endParaRPr/>
          </a:p>
        </p:txBody>
      </p:sp>
      <p:sp>
        <p:nvSpPr>
          <p:cNvPr id="462" name="Google Shape;462;p14"/>
          <p:cNvSpPr/>
          <p:nvPr/>
        </p:nvSpPr>
        <p:spPr>
          <a:xfrm>
            <a:off x="4379976" y="2176272"/>
            <a:ext cx="3465576" cy="224028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63" name="Google Shape;463;p14"/>
          <p:cNvSpPr txBox="1"/>
          <p:nvPr/>
        </p:nvSpPr>
        <p:spPr>
          <a:xfrm>
            <a:off x="4617720" y="2377440"/>
            <a:ext cx="2990088" cy="274320"/>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400" b="1">
                <a:solidFill>
                  <a:srgbClr val="0E7490"/>
                </a:solidFill>
                <a:latin typeface="Helvetica Neue"/>
                <a:ea typeface="Helvetica Neue"/>
                <a:cs typeface="Helvetica Neue"/>
                <a:sym typeface="Helvetica Neue"/>
              </a:rPr>
              <a:t>Forward-looking by default</a:t>
            </a:r>
            <a:endParaRPr/>
          </a:p>
        </p:txBody>
      </p:sp>
      <p:sp>
        <p:nvSpPr>
          <p:cNvPr id="464" name="Google Shape;464;p14"/>
          <p:cNvSpPr txBox="1"/>
          <p:nvPr/>
        </p:nvSpPr>
        <p:spPr>
          <a:xfrm>
            <a:off x="4617720" y="2743200"/>
            <a:ext cx="2990088" cy="150876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a:solidFill>
                  <a:srgbClr val="333E4F"/>
                </a:solidFill>
                <a:latin typeface="Helvetica Neue"/>
                <a:ea typeface="Helvetica Neue"/>
                <a:cs typeface="Helvetica Neue"/>
                <a:sym typeface="Helvetica Neue"/>
              </a:rPr>
              <a:t>Obligations and schedules are already structured in the ledger: payables, receivables, leases, payroll, tax. Forecasting becomes a query over known future entries plus a model for the unknown, not a spreadsheet exercise.</a:t>
            </a:r>
            <a:endParaRPr/>
          </a:p>
        </p:txBody>
      </p:sp>
      <p:sp>
        <p:nvSpPr>
          <p:cNvPr id="465" name="Google Shape;465;p14"/>
          <p:cNvSpPr/>
          <p:nvPr/>
        </p:nvSpPr>
        <p:spPr>
          <a:xfrm>
            <a:off x="8101584" y="2176272"/>
            <a:ext cx="3465576" cy="2240280"/>
          </a:xfrm>
          <a:prstGeom prst="roundRect">
            <a:avLst>
              <a:gd name="adj" fmla="val 4000"/>
            </a:avLst>
          </a:prstGeom>
          <a:solidFill>
            <a:srgbClr val="F3F6F8"/>
          </a:solidFill>
          <a:ln w="12700" cap="flat" cmpd="sng">
            <a:solidFill>
              <a:srgbClr val="D5DCE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66" name="Google Shape;466;p14"/>
          <p:cNvSpPr txBox="1"/>
          <p:nvPr/>
        </p:nvSpPr>
        <p:spPr>
          <a:xfrm>
            <a:off x="8339328" y="2377440"/>
            <a:ext cx="2990088" cy="274320"/>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400" b="1">
                <a:solidFill>
                  <a:srgbClr val="0E7490"/>
                </a:solidFill>
                <a:latin typeface="Helvetica Neue"/>
                <a:ea typeface="Helvetica Neue"/>
                <a:cs typeface="Helvetica Neue"/>
                <a:sym typeface="Helvetica Neue"/>
              </a:rPr>
              <a:t>Defensible down to the entry</a:t>
            </a:r>
            <a:endParaRPr/>
          </a:p>
        </p:txBody>
      </p:sp>
      <p:sp>
        <p:nvSpPr>
          <p:cNvPr id="467" name="Google Shape;467;p14"/>
          <p:cNvSpPr txBox="1"/>
          <p:nvPr/>
        </p:nvSpPr>
        <p:spPr>
          <a:xfrm>
            <a:off x="8339328" y="2743200"/>
            <a:ext cx="2990088" cy="150876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a:solidFill>
                  <a:srgbClr val="333E4F"/>
                </a:solidFill>
                <a:latin typeface="Helvetica Neue"/>
                <a:ea typeface="Helvetica Neue"/>
                <a:cs typeface="Helvetica Neue"/>
                <a:sym typeface="Helvetica Neue"/>
              </a:rPr>
              <a:t>A recommendation you can trace to the entries behind it is one a client will act on and an auditor will accept. That is the difference between an opinion and a position.</a:t>
            </a:r>
            <a:endParaRPr/>
          </a:p>
        </p:txBody>
      </p:sp>
      <p:sp>
        <p:nvSpPr>
          <p:cNvPr id="468" name="Google Shape;468;p14"/>
          <p:cNvSpPr/>
          <p:nvPr/>
        </p:nvSpPr>
        <p:spPr>
          <a:xfrm>
            <a:off x="658368" y="4553712"/>
            <a:ext cx="10874959" cy="603504"/>
          </a:xfrm>
          <a:prstGeom prst="roundRect">
            <a:avLst>
              <a:gd name="adj" fmla="val 4000"/>
            </a:avLst>
          </a:prstGeom>
          <a:solidFill>
            <a:srgbClr val="E8EEF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69" name="Google Shape;469;p14"/>
          <p:cNvSpPr txBox="1"/>
          <p:nvPr/>
        </p:nvSpPr>
        <p:spPr>
          <a:xfrm>
            <a:off x="950976" y="4709160"/>
            <a:ext cx="10289743" cy="256032"/>
          </a:xfrm>
          <a:prstGeom prst="rect">
            <a:avLst/>
          </a:prstGeom>
          <a:noFill/>
          <a:ln>
            <a:noFill/>
          </a:ln>
        </p:spPr>
        <p:txBody>
          <a:bodyPr spcFirstLastPara="1" wrap="square" lIns="0" tIns="0" rIns="0" bIns="0" anchor="t" anchorCtr="0">
            <a:spAutoFit/>
          </a:bodyPr>
          <a:lstStyle/>
          <a:p>
            <a:pPr marL="0" marR="0" lvl="0" indent="0" algn="l" rtl="0">
              <a:lnSpc>
                <a:spcPct val="145000"/>
              </a:lnSpc>
              <a:spcBef>
                <a:spcPts val="0"/>
              </a:spcBef>
              <a:spcAft>
                <a:spcPts val="0"/>
              </a:spcAft>
              <a:buNone/>
            </a:pPr>
            <a:r>
              <a:rPr lang="en-US" sz="1200" b="0">
                <a:solidFill>
                  <a:srgbClr val="333E4F"/>
                </a:solidFill>
                <a:latin typeface="Helvetica Neue"/>
                <a:ea typeface="Helvetica Neue"/>
                <a:cs typeface="Helvetica Neue"/>
                <a:sym typeface="Helvetica Neue"/>
              </a:rPr>
              <a:t>In practice: cash runway · working capital · tax positioning · scenario planning · margin analysis</a:t>
            </a:r>
            <a:endParaRPr/>
          </a:p>
        </p:txBody>
      </p:sp>
      <p:sp>
        <p:nvSpPr>
          <p:cNvPr id="470" name="Google Shape;470;p14"/>
          <p:cNvSpPr/>
          <p:nvPr/>
        </p:nvSpPr>
        <p:spPr>
          <a:xfrm>
            <a:off x="658368" y="5349240"/>
            <a:ext cx="10874959" cy="868680"/>
          </a:xfrm>
          <a:prstGeom prst="roundRect">
            <a:avLst>
              <a:gd name="adj" fmla="val 4000"/>
            </a:avLst>
          </a:prstGeom>
          <a:solidFill>
            <a:srgbClr val="111A2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71" name="Google Shape;471;p14"/>
          <p:cNvSpPr txBox="1"/>
          <p:nvPr/>
        </p:nvSpPr>
        <p:spPr>
          <a:xfrm>
            <a:off x="950976" y="5504688"/>
            <a:ext cx="10289743" cy="64008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300" b="1">
                <a:solidFill>
                  <a:srgbClr val="FFFFFF"/>
                </a:solidFill>
                <a:latin typeface="Helvetica Neue"/>
                <a:ea typeface="Helvetica Neue"/>
                <a:cs typeface="Helvetica Neue"/>
                <a:sym typeface="Helvetica Neue"/>
              </a:rPr>
              <a:t>This is where the pricing model changes. The substrate that shrinks our cost base is what opens the line that does not shrink with it. Neither half is reachable by bolting AI onto existing accounting software.</a:t>
            </a:r>
            <a:endParaRPr/>
          </a:p>
        </p:txBody>
      </p:sp>
      <p:sp>
        <p:nvSpPr>
          <p:cNvPr id="472" name="Google Shape;472;p14"/>
          <p:cNvSpPr txBox="1"/>
          <p:nvPr/>
        </p:nvSpPr>
        <p:spPr>
          <a:xfrm>
            <a:off x="10801807" y="6528816"/>
            <a:ext cx="731520" cy="237744"/>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1000" b="0">
                <a:solidFill>
                  <a:srgbClr val="D5DCE4"/>
                </a:solidFill>
                <a:latin typeface="Helvetica Neue"/>
                <a:ea typeface="Helvetica Neue"/>
                <a:cs typeface="Helvetica Neue"/>
                <a:sym typeface="Helvetica Neue"/>
              </a:rPr>
              <a:t>13</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4814</Words>
  <Application>Microsoft Macintosh PowerPoint</Application>
  <PresentationFormat>Widescreen</PresentationFormat>
  <Paragraphs>485</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Helvetica Neue</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Chunliang Lyu</cp:lastModifiedBy>
  <cp:revision>1</cp:revision>
  <dcterms:created xsi:type="dcterms:W3CDTF">2013-01-27T09:14:16Z</dcterms:created>
  <dcterms:modified xsi:type="dcterms:W3CDTF">2026-08-19T00:53:05Z</dcterms:modified>
</cp:coreProperties>
</file>